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399" r:id="rId4"/>
    <p:sldId id="428" r:id="rId5"/>
    <p:sldId id="406" r:id="rId6"/>
    <p:sldId id="437" r:id="rId7"/>
    <p:sldId id="417" r:id="rId8"/>
    <p:sldId id="427" r:id="rId9"/>
    <p:sldId id="439" r:id="rId10"/>
    <p:sldId id="448" r:id="rId11"/>
    <p:sldId id="444" r:id="rId12"/>
    <p:sldId id="431" r:id="rId13"/>
    <p:sldId id="445" r:id="rId14"/>
    <p:sldId id="446" r:id="rId15"/>
    <p:sldId id="447" r:id="rId16"/>
    <p:sldId id="430" r:id="rId17"/>
    <p:sldId id="434" r:id="rId18"/>
    <p:sldId id="435" r:id="rId19"/>
    <p:sldId id="429" r:id="rId20"/>
    <p:sldId id="436" r:id="rId21"/>
    <p:sldId id="432" r:id="rId22"/>
    <p:sldId id="440" r:id="rId23"/>
    <p:sldId id="441" r:id="rId24"/>
    <p:sldId id="442" r:id="rId25"/>
    <p:sldId id="433" r:id="rId26"/>
    <p:sldId id="285" r:id="rId27"/>
    <p:sldId id="25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12" autoAdjust="0"/>
    <p:restoredTop sz="94660"/>
  </p:normalViewPr>
  <p:slideViewPr>
    <p:cSldViewPr snapToGrid="0">
      <p:cViewPr varScale="1">
        <p:scale>
          <a:sx n="75" d="100"/>
          <a:sy n="75" d="100"/>
        </p:scale>
        <p:origin x="61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Jatay\Desktop\Calculati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Jatay\Desktop\Calculati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Sheet1!$O$11:$O$12</c:f>
              <c:strCache>
                <c:ptCount val="2"/>
                <c:pt idx="0">
                  <c:v>Total Energy  claculation</c:v>
                </c:pt>
                <c:pt idx="1">
                  <c:v>Power sources</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cat>
            <c:strRef>
              <c:f>Sheet1!$N$13:$N$22</c:f>
              <c:strCache>
                <c:ptCount val="10"/>
                <c:pt idx="0">
                  <c:v>Required full Power From Grid</c:v>
                </c:pt>
                <c:pt idx="1">
                  <c:v>Solar</c:v>
                </c:pt>
                <c:pt idx="2">
                  <c:v>ESS</c:v>
                </c:pt>
                <c:pt idx="3">
                  <c:v>Grid</c:v>
                </c:pt>
                <c:pt idx="4">
                  <c:v>Total Power saving / Day</c:v>
                </c:pt>
                <c:pt idx="6">
                  <c:v>Total Cost  / Day            12rs / unit</c:v>
                </c:pt>
                <c:pt idx="8">
                  <c:v>Total Cost Saving / Day  12rs / unit</c:v>
                </c:pt>
                <c:pt idx="9">
                  <c:v>Spending Amount</c:v>
                </c:pt>
              </c:strCache>
            </c:strRef>
          </c:cat>
          <c:val>
            <c:numRef>
              <c:f>Sheet1!$O$13:$O$22</c:f>
              <c:numCache>
                <c:formatCode>General</c:formatCode>
                <c:ptCount val="10"/>
              </c:numCache>
            </c:numRef>
          </c:val>
          <c:extLst>
            <c:ext xmlns:c16="http://schemas.microsoft.com/office/drawing/2014/chart" uri="{C3380CC4-5D6E-409C-BE32-E72D297353CC}">
              <c16:uniqueId val="{00000000-0927-4525-83BF-4A1308216AE4}"/>
            </c:ext>
          </c:extLst>
        </c:ser>
        <c:ser>
          <c:idx val="1"/>
          <c:order val="1"/>
          <c:tx>
            <c:strRef>
              <c:f>Sheet1!$P$11:$P$12</c:f>
              <c:strCache>
                <c:ptCount val="2"/>
                <c:pt idx="0">
                  <c:v>Total Energy  claculation</c:v>
                </c:pt>
                <c:pt idx="1">
                  <c:v>KW / day</c:v>
                </c:pt>
              </c:strCache>
            </c:strRef>
          </c:tx>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solidFill>
                <a:schemeClr val="accent2">
                  <a:shade val="95000"/>
                </a:schemeClr>
              </a:solidFill>
              <a:round/>
            </a:ln>
            <a:effectLst/>
          </c:spPr>
          <c:invertIfNegative val="0"/>
          <c:cat>
            <c:strRef>
              <c:f>Sheet1!$N$13:$N$22</c:f>
              <c:strCache>
                <c:ptCount val="10"/>
                <c:pt idx="0">
                  <c:v>Required full Power From Grid</c:v>
                </c:pt>
                <c:pt idx="1">
                  <c:v>Solar</c:v>
                </c:pt>
                <c:pt idx="2">
                  <c:v>ESS</c:v>
                </c:pt>
                <c:pt idx="3">
                  <c:v>Grid</c:v>
                </c:pt>
                <c:pt idx="4">
                  <c:v>Total Power saving / Day</c:v>
                </c:pt>
                <c:pt idx="6">
                  <c:v>Total Cost  / Day            12rs / unit</c:v>
                </c:pt>
                <c:pt idx="8">
                  <c:v>Total Cost Saving / Day  12rs / unit</c:v>
                </c:pt>
                <c:pt idx="9">
                  <c:v>Spending Amount</c:v>
                </c:pt>
              </c:strCache>
            </c:strRef>
          </c:cat>
          <c:val>
            <c:numRef>
              <c:f>Sheet1!$P$13:$P$22</c:f>
              <c:numCache>
                <c:formatCode>#,##0</c:formatCode>
                <c:ptCount val="10"/>
                <c:pt idx="0">
                  <c:v>1816.8</c:v>
                </c:pt>
                <c:pt idx="1">
                  <c:v>1032</c:v>
                </c:pt>
                <c:pt idx="2">
                  <c:v>576</c:v>
                </c:pt>
                <c:pt idx="3">
                  <c:v>208.79999999999998</c:v>
                </c:pt>
                <c:pt idx="4">
                  <c:v>1608</c:v>
                </c:pt>
                <c:pt idx="6">
                  <c:v>21801.599999999999</c:v>
                </c:pt>
                <c:pt idx="8">
                  <c:v>19296</c:v>
                </c:pt>
                <c:pt idx="9">
                  <c:v>2505.5999999999985</c:v>
                </c:pt>
              </c:numCache>
            </c:numRef>
          </c:val>
          <c:extLst>
            <c:ext xmlns:c16="http://schemas.microsoft.com/office/drawing/2014/chart" uri="{C3380CC4-5D6E-409C-BE32-E72D297353CC}">
              <c16:uniqueId val="{00000001-0927-4525-83BF-4A1308216AE4}"/>
            </c:ext>
          </c:extLst>
        </c:ser>
        <c:ser>
          <c:idx val="2"/>
          <c:order val="2"/>
          <c:tx>
            <c:strRef>
              <c:f>Sheet1!$Q$11:$Q$12</c:f>
              <c:strCache>
                <c:ptCount val="2"/>
                <c:pt idx="0">
                  <c:v>Total Energy  claculation</c:v>
                </c:pt>
                <c:pt idx="1">
                  <c:v>KW / Month</c:v>
                </c:pt>
              </c:strCache>
            </c:strRef>
          </c:tx>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9525" cap="flat" cmpd="sng" algn="ctr">
              <a:solidFill>
                <a:schemeClr val="accent3">
                  <a:shade val="95000"/>
                </a:schemeClr>
              </a:solidFill>
              <a:round/>
            </a:ln>
            <a:effectLst/>
          </c:spPr>
          <c:invertIfNegative val="0"/>
          <c:cat>
            <c:strRef>
              <c:f>Sheet1!$N$13:$N$22</c:f>
              <c:strCache>
                <c:ptCount val="10"/>
                <c:pt idx="0">
                  <c:v>Required full Power From Grid</c:v>
                </c:pt>
                <c:pt idx="1">
                  <c:v>Solar</c:v>
                </c:pt>
                <c:pt idx="2">
                  <c:v>ESS</c:v>
                </c:pt>
                <c:pt idx="3">
                  <c:v>Grid</c:v>
                </c:pt>
                <c:pt idx="4">
                  <c:v>Total Power saving / Day</c:v>
                </c:pt>
                <c:pt idx="6">
                  <c:v>Total Cost  / Day            12rs / unit</c:v>
                </c:pt>
                <c:pt idx="8">
                  <c:v>Total Cost Saving / Day  12rs / unit</c:v>
                </c:pt>
                <c:pt idx="9">
                  <c:v>Spending Amount</c:v>
                </c:pt>
              </c:strCache>
            </c:strRef>
          </c:cat>
          <c:val>
            <c:numRef>
              <c:f>Sheet1!$Q$13:$Q$22</c:f>
              <c:numCache>
                <c:formatCode>#,##0</c:formatCode>
                <c:ptCount val="10"/>
                <c:pt idx="0">
                  <c:v>54504</c:v>
                </c:pt>
                <c:pt idx="1">
                  <c:v>30960</c:v>
                </c:pt>
                <c:pt idx="2">
                  <c:v>17280</c:v>
                </c:pt>
                <c:pt idx="3">
                  <c:v>6263.9999999999991</c:v>
                </c:pt>
                <c:pt idx="4">
                  <c:v>48240</c:v>
                </c:pt>
                <c:pt idx="6">
                  <c:v>654048</c:v>
                </c:pt>
                <c:pt idx="8">
                  <c:v>578880</c:v>
                </c:pt>
                <c:pt idx="9">
                  <c:v>75168</c:v>
                </c:pt>
              </c:numCache>
            </c:numRef>
          </c:val>
          <c:extLst>
            <c:ext xmlns:c16="http://schemas.microsoft.com/office/drawing/2014/chart" uri="{C3380CC4-5D6E-409C-BE32-E72D297353CC}">
              <c16:uniqueId val="{00000002-0927-4525-83BF-4A1308216AE4}"/>
            </c:ext>
          </c:extLst>
        </c:ser>
        <c:ser>
          <c:idx val="3"/>
          <c:order val="3"/>
          <c:tx>
            <c:strRef>
              <c:f>Sheet1!$R$11:$R$12</c:f>
              <c:strCache>
                <c:ptCount val="2"/>
                <c:pt idx="0">
                  <c:v>Total Energy  claculation</c:v>
                </c:pt>
                <c:pt idx="1">
                  <c:v>KW / year</c:v>
                </c:pt>
              </c:strCache>
            </c:strRef>
          </c:tx>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9525" cap="flat" cmpd="sng" algn="ctr">
              <a:solidFill>
                <a:schemeClr val="accent4">
                  <a:shade val="95000"/>
                </a:schemeClr>
              </a:solidFill>
              <a:round/>
            </a:ln>
            <a:effectLst/>
          </c:spPr>
          <c:invertIfNegative val="0"/>
          <c:cat>
            <c:strRef>
              <c:f>Sheet1!$N$13:$N$22</c:f>
              <c:strCache>
                <c:ptCount val="10"/>
                <c:pt idx="0">
                  <c:v>Required full Power From Grid</c:v>
                </c:pt>
                <c:pt idx="1">
                  <c:v>Solar</c:v>
                </c:pt>
                <c:pt idx="2">
                  <c:v>ESS</c:v>
                </c:pt>
                <c:pt idx="3">
                  <c:v>Grid</c:v>
                </c:pt>
                <c:pt idx="4">
                  <c:v>Total Power saving / Day</c:v>
                </c:pt>
                <c:pt idx="6">
                  <c:v>Total Cost  / Day            12rs / unit</c:v>
                </c:pt>
                <c:pt idx="8">
                  <c:v>Total Cost Saving / Day  12rs / unit</c:v>
                </c:pt>
                <c:pt idx="9">
                  <c:v>Spending Amount</c:v>
                </c:pt>
              </c:strCache>
            </c:strRef>
          </c:cat>
          <c:val>
            <c:numRef>
              <c:f>Sheet1!$R$13:$R$22</c:f>
              <c:numCache>
                <c:formatCode>#,##0</c:formatCode>
                <c:ptCount val="10"/>
                <c:pt idx="0">
                  <c:v>663132</c:v>
                </c:pt>
                <c:pt idx="1">
                  <c:v>376680</c:v>
                </c:pt>
                <c:pt idx="2">
                  <c:v>210240</c:v>
                </c:pt>
                <c:pt idx="3">
                  <c:v>76212</c:v>
                </c:pt>
                <c:pt idx="4">
                  <c:v>586920</c:v>
                </c:pt>
                <c:pt idx="6">
                  <c:v>7957584</c:v>
                </c:pt>
                <c:pt idx="8">
                  <c:v>7043040</c:v>
                </c:pt>
                <c:pt idx="9">
                  <c:v>914544</c:v>
                </c:pt>
              </c:numCache>
            </c:numRef>
          </c:val>
          <c:extLst>
            <c:ext xmlns:c16="http://schemas.microsoft.com/office/drawing/2014/chart" uri="{C3380CC4-5D6E-409C-BE32-E72D297353CC}">
              <c16:uniqueId val="{00000003-0927-4525-83BF-4A1308216AE4}"/>
            </c:ext>
          </c:extLst>
        </c:ser>
        <c:ser>
          <c:idx val="4"/>
          <c:order val="4"/>
          <c:tx>
            <c:strRef>
              <c:f>Sheet1!$S$11:$S$12</c:f>
              <c:strCache>
                <c:ptCount val="2"/>
                <c:pt idx="0">
                  <c:v>Total Energy  claculation</c:v>
                </c:pt>
                <c:pt idx="1">
                  <c:v>KW / 5 years</c:v>
                </c:pt>
              </c:strCache>
            </c:strRef>
          </c:tx>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invertIfNegative val="0"/>
          <c:cat>
            <c:strRef>
              <c:f>Sheet1!$N$13:$N$22</c:f>
              <c:strCache>
                <c:ptCount val="10"/>
                <c:pt idx="0">
                  <c:v>Required full Power From Grid</c:v>
                </c:pt>
                <c:pt idx="1">
                  <c:v>Solar</c:v>
                </c:pt>
                <c:pt idx="2">
                  <c:v>ESS</c:v>
                </c:pt>
                <c:pt idx="3">
                  <c:v>Grid</c:v>
                </c:pt>
                <c:pt idx="4">
                  <c:v>Total Power saving / Day</c:v>
                </c:pt>
                <c:pt idx="6">
                  <c:v>Total Cost  / Day            12rs / unit</c:v>
                </c:pt>
                <c:pt idx="8">
                  <c:v>Total Cost Saving / Day  12rs / unit</c:v>
                </c:pt>
                <c:pt idx="9">
                  <c:v>Spending Amount</c:v>
                </c:pt>
              </c:strCache>
            </c:strRef>
          </c:cat>
          <c:val>
            <c:numRef>
              <c:f>Sheet1!$S$13:$S$22</c:f>
              <c:numCache>
                <c:formatCode>#,##0</c:formatCode>
                <c:ptCount val="10"/>
                <c:pt idx="0">
                  <c:v>3315660</c:v>
                </c:pt>
                <c:pt idx="1">
                  <c:v>1883400</c:v>
                </c:pt>
                <c:pt idx="2">
                  <c:v>1051200</c:v>
                </c:pt>
                <c:pt idx="3">
                  <c:v>381060</c:v>
                </c:pt>
                <c:pt idx="4">
                  <c:v>2934600</c:v>
                </c:pt>
                <c:pt idx="6">
                  <c:v>39787920</c:v>
                </c:pt>
                <c:pt idx="8">
                  <c:v>35215200</c:v>
                </c:pt>
                <c:pt idx="9">
                  <c:v>4572720</c:v>
                </c:pt>
              </c:numCache>
            </c:numRef>
          </c:val>
          <c:extLst>
            <c:ext xmlns:c16="http://schemas.microsoft.com/office/drawing/2014/chart" uri="{C3380CC4-5D6E-409C-BE32-E72D297353CC}">
              <c16:uniqueId val="{00000004-0927-4525-83BF-4A1308216AE4}"/>
            </c:ext>
          </c:extLst>
        </c:ser>
        <c:dLbls>
          <c:showLegendKey val="0"/>
          <c:showVal val="0"/>
          <c:showCatName val="0"/>
          <c:showSerName val="0"/>
          <c:showPercent val="0"/>
          <c:showBubbleSize val="0"/>
        </c:dLbls>
        <c:gapWidth val="100"/>
        <c:overlap val="-24"/>
        <c:axId val="478262496"/>
        <c:axId val="478254336"/>
      </c:barChart>
      <c:catAx>
        <c:axId val="478262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478254336"/>
        <c:crosses val="autoZero"/>
        <c:auto val="1"/>
        <c:lblAlgn val="ctr"/>
        <c:lblOffset val="100"/>
        <c:noMultiLvlLbl val="0"/>
      </c:catAx>
      <c:valAx>
        <c:axId val="47825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478262496"/>
        <c:crosses val="autoZero"/>
        <c:crossBetween val="between"/>
        <c:majorUnit val="2000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Sheet1!$N$27</c:f>
              <c:strCache>
                <c:ptCount val="1"/>
                <c:pt idx="0">
                  <c:v>Fast charging</c:v>
                </c:pt>
              </c:strCache>
            </c:strRef>
          </c:tx>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invertIfNegative val="0"/>
          <c:cat>
            <c:strRef>
              <c:f>Sheet1!$O$25:$S$26</c:f>
              <c:strCache>
                <c:ptCount val="5"/>
                <c:pt idx="1">
                  <c:v>Per day</c:v>
                </c:pt>
                <c:pt idx="2">
                  <c:v>Per Month</c:v>
                </c:pt>
                <c:pt idx="3">
                  <c:v>Per Year</c:v>
                </c:pt>
                <c:pt idx="4">
                  <c:v>Per 5 Years</c:v>
                </c:pt>
              </c:strCache>
            </c:strRef>
          </c:cat>
          <c:val>
            <c:numRef>
              <c:f>Sheet1!$O$27:$S$27</c:f>
              <c:numCache>
                <c:formatCode>#,##0</c:formatCode>
                <c:ptCount val="5"/>
                <c:pt idx="1">
                  <c:v>26793.75</c:v>
                </c:pt>
                <c:pt idx="2">
                  <c:v>803812.5</c:v>
                </c:pt>
                <c:pt idx="3">
                  <c:v>9779718.75</c:v>
                </c:pt>
                <c:pt idx="4">
                  <c:v>48898593.75</c:v>
                </c:pt>
              </c:numCache>
            </c:numRef>
          </c:val>
          <c:extLst>
            <c:ext xmlns:c16="http://schemas.microsoft.com/office/drawing/2014/chart" uri="{C3380CC4-5D6E-409C-BE32-E72D297353CC}">
              <c16:uniqueId val="{00000000-726D-4FEE-9FC1-6A98E33678CE}"/>
            </c:ext>
          </c:extLst>
        </c:ser>
        <c:ser>
          <c:idx val="1"/>
          <c:order val="1"/>
          <c:tx>
            <c:strRef>
              <c:f>Sheet1!$N$28</c:f>
              <c:strCache>
                <c:ptCount val="1"/>
                <c:pt idx="0">
                  <c:v>Battery Swapping</c:v>
                </c:pt>
              </c:strCache>
            </c:strRef>
          </c:tx>
          <c:spPr>
            <a:gradFill rotWithShape="1">
              <a:gsLst>
                <a:gs pos="0">
                  <a:schemeClr val="accent2">
                    <a:lumMod val="110000"/>
                    <a:satMod val="105000"/>
                    <a:tint val="67000"/>
                  </a:schemeClr>
                </a:gs>
                <a:gs pos="50000">
                  <a:schemeClr val="accent2">
                    <a:lumMod val="105000"/>
                    <a:satMod val="103000"/>
                    <a:tint val="73000"/>
                  </a:schemeClr>
                </a:gs>
                <a:gs pos="100000">
                  <a:schemeClr val="accent2">
                    <a:lumMod val="105000"/>
                    <a:satMod val="109000"/>
                    <a:tint val="81000"/>
                  </a:schemeClr>
                </a:gs>
              </a:gsLst>
              <a:lin ang="5400000" scaled="0"/>
            </a:gradFill>
            <a:ln w="9525" cap="flat" cmpd="sng" algn="ctr">
              <a:solidFill>
                <a:schemeClr val="accent2">
                  <a:shade val="95000"/>
                </a:schemeClr>
              </a:solidFill>
              <a:round/>
            </a:ln>
            <a:effectLst/>
          </c:spPr>
          <c:invertIfNegative val="0"/>
          <c:cat>
            <c:strRef>
              <c:f>Sheet1!$O$25:$S$26</c:f>
              <c:strCache>
                <c:ptCount val="5"/>
                <c:pt idx="1">
                  <c:v>Per day</c:v>
                </c:pt>
                <c:pt idx="2">
                  <c:v>Per Month</c:v>
                </c:pt>
                <c:pt idx="3">
                  <c:v>Per Year</c:v>
                </c:pt>
                <c:pt idx="4">
                  <c:v>Per 5 Years</c:v>
                </c:pt>
              </c:strCache>
            </c:strRef>
          </c:cat>
          <c:val>
            <c:numRef>
              <c:f>Sheet1!$O$28:$S$28</c:f>
              <c:numCache>
                <c:formatCode>#,##0</c:formatCode>
                <c:ptCount val="5"/>
                <c:pt idx="1">
                  <c:v>2700</c:v>
                </c:pt>
                <c:pt idx="2">
                  <c:v>81000</c:v>
                </c:pt>
                <c:pt idx="3">
                  <c:v>985500</c:v>
                </c:pt>
                <c:pt idx="4">
                  <c:v>4927500</c:v>
                </c:pt>
              </c:numCache>
            </c:numRef>
          </c:val>
          <c:extLst>
            <c:ext xmlns:c16="http://schemas.microsoft.com/office/drawing/2014/chart" uri="{C3380CC4-5D6E-409C-BE32-E72D297353CC}">
              <c16:uniqueId val="{00000001-726D-4FEE-9FC1-6A98E33678CE}"/>
            </c:ext>
          </c:extLst>
        </c:ser>
        <c:ser>
          <c:idx val="2"/>
          <c:order val="2"/>
          <c:tx>
            <c:strRef>
              <c:f>Sheet1!$N$29</c:f>
              <c:strCache>
                <c:ptCount val="1"/>
                <c:pt idx="0">
                  <c:v>Total Revenue</c:v>
                </c:pt>
              </c:strCache>
            </c:strRef>
          </c:tx>
          <c:spPr>
            <a:gradFill rotWithShape="1">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lin ang="5400000" scaled="0"/>
            </a:gradFill>
            <a:ln w="9525" cap="flat" cmpd="sng" algn="ctr">
              <a:solidFill>
                <a:schemeClr val="accent3">
                  <a:shade val="95000"/>
                </a:schemeClr>
              </a:solidFill>
              <a:round/>
            </a:ln>
            <a:effectLst/>
          </c:spPr>
          <c:invertIfNegative val="0"/>
          <c:cat>
            <c:strRef>
              <c:f>Sheet1!$O$25:$S$26</c:f>
              <c:strCache>
                <c:ptCount val="5"/>
                <c:pt idx="1">
                  <c:v>Per day</c:v>
                </c:pt>
                <c:pt idx="2">
                  <c:v>Per Month</c:v>
                </c:pt>
                <c:pt idx="3">
                  <c:v>Per Year</c:v>
                </c:pt>
                <c:pt idx="4">
                  <c:v>Per 5 Years</c:v>
                </c:pt>
              </c:strCache>
            </c:strRef>
          </c:cat>
          <c:val>
            <c:numRef>
              <c:f>Sheet1!$O$29:$S$29</c:f>
              <c:numCache>
                <c:formatCode>#,##0</c:formatCode>
                <c:ptCount val="5"/>
                <c:pt idx="1">
                  <c:v>29493.75</c:v>
                </c:pt>
                <c:pt idx="2">
                  <c:v>884812.5</c:v>
                </c:pt>
                <c:pt idx="3">
                  <c:v>10765218.75</c:v>
                </c:pt>
                <c:pt idx="4">
                  <c:v>53826093.75</c:v>
                </c:pt>
              </c:numCache>
            </c:numRef>
          </c:val>
          <c:extLst>
            <c:ext xmlns:c16="http://schemas.microsoft.com/office/drawing/2014/chart" uri="{C3380CC4-5D6E-409C-BE32-E72D297353CC}">
              <c16:uniqueId val="{00000002-726D-4FEE-9FC1-6A98E33678CE}"/>
            </c:ext>
          </c:extLst>
        </c:ser>
        <c:ser>
          <c:idx val="3"/>
          <c:order val="3"/>
          <c:tx>
            <c:strRef>
              <c:f>Sheet1!$N$30</c:f>
              <c:strCache>
                <c:ptCount val="1"/>
                <c:pt idx="0">
                  <c:v>Spending Amount</c:v>
                </c:pt>
              </c:strCache>
            </c:strRef>
          </c:tx>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9525" cap="flat" cmpd="sng" algn="ctr">
              <a:solidFill>
                <a:schemeClr val="accent4">
                  <a:shade val="95000"/>
                </a:schemeClr>
              </a:solidFill>
              <a:round/>
            </a:ln>
            <a:effectLst/>
          </c:spPr>
          <c:invertIfNegative val="0"/>
          <c:cat>
            <c:strRef>
              <c:f>Sheet1!$O$25:$S$26</c:f>
              <c:strCache>
                <c:ptCount val="5"/>
                <c:pt idx="1">
                  <c:v>Per day</c:v>
                </c:pt>
                <c:pt idx="2">
                  <c:v>Per Month</c:v>
                </c:pt>
                <c:pt idx="3">
                  <c:v>Per Year</c:v>
                </c:pt>
                <c:pt idx="4">
                  <c:v>Per 5 Years</c:v>
                </c:pt>
              </c:strCache>
            </c:strRef>
          </c:cat>
          <c:val>
            <c:numRef>
              <c:f>Sheet1!$O$30:$S$30</c:f>
              <c:numCache>
                <c:formatCode>#,##0</c:formatCode>
                <c:ptCount val="5"/>
                <c:pt idx="1">
                  <c:v>2505.5999999999985</c:v>
                </c:pt>
                <c:pt idx="2">
                  <c:v>75168</c:v>
                </c:pt>
                <c:pt idx="3">
                  <c:v>914544</c:v>
                </c:pt>
                <c:pt idx="4">
                  <c:v>4572720</c:v>
                </c:pt>
              </c:numCache>
            </c:numRef>
          </c:val>
          <c:extLst>
            <c:ext xmlns:c16="http://schemas.microsoft.com/office/drawing/2014/chart" uri="{C3380CC4-5D6E-409C-BE32-E72D297353CC}">
              <c16:uniqueId val="{00000003-726D-4FEE-9FC1-6A98E33678CE}"/>
            </c:ext>
          </c:extLst>
        </c:ser>
        <c:ser>
          <c:idx val="4"/>
          <c:order val="4"/>
          <c:tx>
            <c:strRef>
              <c:f>Sheet1!$N$31</c:f>
              <c:strCache>
                <c:ptCount val="1"/>
                <c:pt idx="0">
                  <c:v>Total Profit</c:v>
                </c:pt>
              </c:strCache>
            </c:strRef>
          </c:tx>
          <c:spPr>
            <a:gradFill rotWithShape="1">
              <a:gsLst>
                <a:gs pos="0">
                  <a:schemeClr val="accent5">
                    <a:lumMod val="110000"/>
                    <a:satMod val="105000"/>
                    <a:tint val="67000"/>
                  </a:schemeClr>
                </a:gs>
                <a:gs pos="50000">
                  <a:schemeClr val="accent5">
                    <a:lumMod val="105000"/>
                    <a:satMod val="103000"/>
                    <a:tint val="73000"/>
                  </a:schemeClr>
                </a:gs>
                <a:gs pos="100000">
                  <a:schemeClr val="accent5">
                    <a:lumMod val="105000"/>
                    <a:satMod val="109000"/>
                    <a:tint val="81000"/>
                  </a:schemeClr>
                </a:gs>
              </a:gsLst>
              <a:lin ang="5400000" scaled="0"/>
            </a:gradFill>
            <a:ln w="9525" cap="flat" cmpd="sng" algn="ctr">
              <a:solidFill>
                <a:schemeClr val="accent5">
                  <a:shade val="95000"/>
                </a:schemeClr>
              </a:solidFill>
              <a:round/>
            </a:ln>
            <a:effectLst/>
          </c:spPr>
          <c:invertIfNegative val="0"/>
          <c:cat>
            <c:strRef>
              <c:f>Sheet1!$O$25:$S$26</c:f>
              <c:strCache>
                <c:ptCount val="5"/>
                <c:pt idx="1">
                  <c:v>Per day</c:v>
                </c:pt>
                <c:pt idx="2">
                  <c:v>Per Month</c:v>
                </c:pt>
                <c:pt idx="3">
                  <c:v>Per Year</c:v>
                </c:pt>
                <c:pt idx="4">
                  <c:v>Per 5 Years</c:v>
                </c:pt>
              </c:strCache>
            </c:strRef>
          </c:cat>
          <c:val>
            <c:numRef>
              <c:f>Sheet1!$O$31:$S$31</c:f>
              <c:numCache>
                <c:formatCode>#,##0</c:formatCode>
                <c:ptCount val="5"/>
                <c:pt idx="1">
                  <c:v>26988.15</c:v>
                </c:pt>
                <c:pt idx="2">
                  <c:v>809644.5</c:v>
                </c:pt>
                <c:pt idx="3">
                  <c:v>9850674.75</c:v>
                </c:pt>
                <c:pt idx="4">
                  <c:v>49253373.75</c:v>
                </c:pt>
              </c:numCache>
            </c:numRef>
          </c:val>
          <c:extLst>
            <c:ext xmlns:c16="http://schemas.microsoft.com/office/drawing/2014/chart" uri="{C3380CC4-5D6E-409C-BE32-E72D297353CC}">
              <c16:uniqueId val="{00000004-726D-4FEE-9FC1-6A98E33678CE}"/>
            </c:ext>
          </c:extLst>
        </c:ser>
        <c:dLbls>
          <c:showLegendKey val="0"/>
          <c:showVal val="0"/>
          <c:showCatName val="0"/>
          <c:showSerName val="0"/>
          <c:showPercent val="0"/>
          <c:showBubbleSize val="0"/>
        </c:dLbls>
        <c:gapWidth val="100"/>
        <c:overlap val="-24"/>
        <c:axId val="1557145615"/>
        <c:axId val="1557138895"/>
      </c:barChart>
      <c:catAx>
        <c:axId val="15571456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557138895"/>
        <c:crosses val="autoZero"/>
        <c:auto val="1"/>
        <c:lblAlgn val="ctr"/>
        <c:lblOffset val="100"/>
        <c:noMultiLvlLbl val="0"/>
      </c:catAx>
      <c:valAx>
        <c:axId val="155713889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crossAx val="1557145615"/>
        <c:crosses val="autoZero"/>
        <c:crossBetween val="between"/>
        <c:majorUnit val="300000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50000"/>
                  <a:lumOff val="50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B4F855-3E44-4709-9BAF-6F22C0C6764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FB20CA6-46BB-47C9-AD8E-0BEFA4C39B0C}">
      <dgm:prSet/>
      <dgm:spPr/>
      <dgm:t>
        <a:bodyPr/>
        <a:lstStyle/>
        <a:p>
          <a:r>
            <a:rPr lang="en-US" b="1" i="0"/>
            <a:t>Growth of Electric Vehicles (EVs): </a:t>
          </a:r>
          <a:r>
            <a:rPr lang="en-US" b="0" i="0"/>
            <a:t>The literature emphasizes the increasing adoption of EVs and the urgent need for more charging stations to alleviate range anxiety, with IoT technology playing a crucial role in enhancing station development and monitoring.</a:t>
          </a:r>
          <a:endParaRPr lang="en-US"/>
        </a:p>
      </dgm:t>
    </dgm:pt>
    <dgm:pt modelId="{81C9A26F-2346-4E82-AD5B-875DC2CB3FA4}" type="parTrans" cxnId="{14BE0E3C-5B4C-43B5-A486-BC43436A8BB1}">
      <dgm:prSet/>
      <dgm:spPr/>
      <dgm:t>
        <a:bodyPr/>
        <a:lstStyle/>
        <a:p>
          <a:endParaRPr lang="en-US"/>
        </a:p>
      </dgm:t>
    </dgm:pt>
    <dgm:pt modelId="{BB2F3DAD-2C9D-477E-B842-FBE05B06AE6F}" type="sibTrans" cxnId="{14BE0E3C-5B4C-43B5-A486-BC43436A8BB1}">
      <dgm:prSet phldrT="1" phldr="0"/>
      <dgm:spPr/>
      <dgm:t>
        <a:bodyPr/>
        <a:lstStyle/>
        <a:p>
          <a:endParaRPr lang="en-US"/>
        </a:p>
      </dgm:t>
    </dgm:pt>
    <dgm:pt modelId="{7C1BC0D3-4FC6-435F-B48E-814F9D1031C6}">
      <dgm:prSet/>
      <dgm:spPr/>
      <dgm:t>
        <a:bodyPr/>
        <a:lstStyle/>
        <a:p>
          <a:r>
            <a:rPr lang="en-US" b="0" i="0"/>
            <a:t>Power Quality Management: Research discusses the impact of EV charging on power quality, proposing active filters to mitigate harmonic distortion and improve overall power infrastructure.</a:t>
          </a:r>
          <a:endParaRPr lang="en-US"/>
        </a:p>
      </dgm:t>
    </dgm:pt>
    <dgm:pt modelId="{6E28F690-1309-465E-8039-5E58ACF88A8C}" type="parTrans" cxnId="{4CA4C346-0890-473E-B0BD-BDF6A060CFCA}">
      <dgm:prSet/>
      <dgm:spPr/>
      <dgm:t>
        <a:bodyPr/>
        <a:lstStyle/>
        <a:p>
          <a:endParaRPr lang="en-US"/>
        </a:p>
      </dgm:t>
    </dgm:pt>
    <dgm:pt modelId="{430919C6-1C9B-4C15-AB66-89E6F427A79C}" type="sibTrans" cxnId="{4CA4C346-0890-473E-B0BD-BDF6A060CFCA}">
      <dgm:prSet phldrT="2" phldr="0"/>
      <dgm:spPr/>
      <dgm:t>
        <a:bodyPr/>
        <a:lstStyle/>
        <a:p>
          <a:endParaRPr lang="en-US"/>
        </a:p>
      </dgm:t>
    </dgm:pt>
    <dgm:pt modelId="{C82D9272-C331-4943-85DB-C9872EF5B571}">
      <dgm:prSet/>
      <dgm:spPr/>
      <dgm:t>
        <a:bodyPr/>
        <a:lstStyle/>
        <a:p>
          <a:r>
            <a:rPr lang="en-US" b="1" i="0"/>
            <a:t>Challenges in Residential Charging: </a:t>
          </a:r>
          <a:r>
            <a:rPr lang="en-US" b="0" i="0"/>
            <a:t>High installation costs and limited charging ports are identified as barriers to home EV adoption. IoT solutions can enhance accessibility and user experience, with a holistic approach recommended for effective residential charging infrastructure.</a:t>
          </a:r>
          <a:endParaRPr lang="en-US"/>
        </a:p>
      </dgm:t>
    </dgm:pt>
    <dgm:pt modelId="{7DA5B85F-1632-4B07-8439-8296F41E9AAD}" type="parTrans" cxnId="{FE2851D9-1613-4A77-A78D-9E3D43C196FA}">
      <dgm:prSet/>
      <dgm:spPr/>
      <dgm:t>
        <a:bodyPr/>
        <a:lstStyle/>
        <a:p>
          <a:endParaRPr lang="en-US"/>
        </a:p>
      </dgm:t>
    </dgm:pt>
    <dgm:pt modelId="{0712C41A-6F54-4B17-9D49-54BCC70EB5A9}" type="sibTrans" cxnId="{FE2851D9-1613-4A77-A78D-9E3D43C196FA}">
      <dgm:prSet phldrT="3" phldr="0"/>
      <dgm:spPr/>
      <dgm:t>
        <a:bodyPr/>
        <a:lstStyle/>
        <a:p>
          <a:endParaRPr lang="en-US"/>
        </a:p>
      </dgm:t>
    </dgm:pt>
    <dgm:pt modelId="{6BA67931-848A-420D-BED7-2E04CB55AE49}">
      <dgm:prSet/>
      <dgm:spPr/>
      <dgm:t>
        <a:bodyPr/>
        <a:lstStyle/>
        <a:p>
          <a:r>
            <a:rPr lang="en-US" b="1" i="0"/>
            <a:t>Battery Swapping Integration</a:t>
          </a:r>
          <a:r>
            <a:rPr lang="en-US" b="0" i="0"/>
            <a:t>: Studies explore the integration of battery swapping stations with traditional charging stations, focusing on optimal placement and operational strategies to improve efficiency and support urban mobility initiatives.</a:t>
          </a:r>
          <a:endParaRPr lang="en-US"/>
        </a:p>
      </dgm:t>
    </dgm:pt>
    <dgm:pt modelId="{E3DF8ADD-850A-46BB-A497-8D040B453995}" type="parTrans" cxnId="{F8E30CC9-16BB-4953-A3F9-88D50DFF01A3}">
      <dgm:prSet/>
      <dgm:spPr/>
      <dgm:t>
        <a:bodyPr/>
        <a:lstStyle/>
        <a:p>
          <a:endParaRPr lang="en-US"/>
        </a:p>
      </dgm:t>
    </dgm:pt>
    <dgm:pt modelId="{95543C5A-BEA4-4551-B7CA-1DEFF2F1CEAE}" type="sibTrans" cxnId="{F8E30CC9-16BB-4953-A3F9-88D50DFF01A3}">
      <dgm:prSet phldrT="4" phldr="0"/>
      <dgm:spPr/>
      <dgm:t>
        <a:bodyPr/>
        <a:lstStyle/>
        <a:p>
          <a:endParaRPr lang="en-US"/>
        </a:p>
      </dgm:t>
    </dgm:pt>
    <dgm:pt modelId="{283C086A-920C-4BC3-A255-56F2AF78872D}">
      <dgm:prSet/>
      <dgm:spPr/>
      <dgm:t>
        <a:bodyPr/>
        <a:lstStyle/>
        <a:p>
          <a:r>
            <a:rPr lang="en-US" b="1" i="0"/>
            <a:t>Energy Management Technologies: </a:t>
          </a:r>
          <a:r>
            <a:rPr lang="en-US" b="0" i="0"/>
            <a:t>Various studies highlight the significance of energy management technologies in optimizing energy efficiency within renewable sectors, focusing on factors like energy information collection, economic analysis, and operational strategies for Energy Storage System (ESS) capacity planning.</a:t>
          </a:r>
          <a:endParaRPr lang="en-US"/>
        </a:p>
      </dgm:t>
    </dgm:pt>
    <dgm:pt modelId="{A694F245-8D91-45A2-8890-B689E0939E47}" type="parTrans" cxnId="{6BFDFCE3-DDD3-4E1E-9338-00187DC174C7}">
      <dgm:prSet/>
      <dgm:spPr/>
      <dgm:t>
        <a:bodyPr/>
        <a:lstStyle/>
        <a:p>
          <a:endParaRPr lang="en-US"/>
        </a:p>
      </dgm:t>
    </dgm:pt>
    <dgm:pt modelId="{24F784C4-C6DD-4C24-BCBA-A665D56888A3}" type="sibTrans" cxnId="{6BFDFCE3-DDD3-4E1E-9338-00187DC174C7}">
      <dgm:prSet phldrT="5" phldr="0"/>
      <dgm:spPr/>
      <dgm:t>
        <a:bodyPr/>
        <a:lstStyle/>
        <a:p>
          <a:endParaRPr lang="en-US"/>
        </a:p>
      </dgm:t>
    </dgm:pt>
    <dgm:pt modelId="{62C7F2F3-B051-44D5-B0AC-8EC390E9D0DE}">
      <dgm:prSet/>
      <dgm:spPr/>
      <dgm:t>
        <a:bodyPr/>
        <a:lstStyle/>
        <a:p>
          <a:r>
            <a:rPr lang="en-US" b="1" i="0"/>
            <a:t>Mobile Battery Swapping Services: </a:t>
          </a:r>
          <a:r>
            <a:rPr lang="en-US" b="0" i="0"/>
            <a:t>A novel approach to battery swapping services is presented, detailing structural architecture for efficient operations, user communication via mobile applications, and analysis of power consumption and runtime for swapping units.</a:t>
          </a:r>
          <a:endParaRPr lang="en-US"/>
        </a:p>
      </dgm:t>
    </dgm:pt>
    <dgm:pt modelId="{5B45E591-469A-451E-BD24-1642E434CAEF}" type="parTrans" cxnId="{5BD2AB89-602F-47CC-A547-11858B02174D}">
      <dgm:prSet/>
      <dgm:spPr/>
      <dgm:t>
        <a:bodyPr/>
        <a:lstStyle/>
        <a:p>
          <a:endParaRPr lang="en-US"/>
        </a:p>
      </dgm:t>
    </dgm:pt>
    <dgm:pt modelId="{8E856547-6F00-456C-B6D7-044B5BC539EB}" type="sibTrans" cxnId="{5BD2AB89-602F-47CC-A547-11858B02174D}">
      <dgm:prSet phldrT="6" phldr="0"/>
      <dgm:spPr/>
      <dgm:t>
        <a:bodyPr/>
        <a:lstStyle/>
        <a:p>
          <a:endParaRPr lang="en-US"/>
        </a:p>
      </dgm:t>
    </dgm:pt>
    <dgm:pt modelId="{86F9E9A8-07BD-4C40-9B6C-28569DBDB51F}">
      <dgm:prSet/>
      <dgm:spPr/>
      <dgm:t>
        <a:bodyPr/>
        <a:lstStyle/>
        <a:p>
          <a:r>
            <a:rPr lang="en-US" b="1" i="0" dirty="0"/>
            <a:t>IoT-Enabled Continuous Monitoring: </a:t>
          </a:r>
          <a:r>
            <a:rPr lang="en-US" b="0" i="0" dirty="0"/>
            <a:t>IoT technology facilitates continuous monitoring of EV charging processes, which helps prevent battery damage during charging. This capability ensures optimal charging conditions and enhances the overall lifespan and performance of EV batteries.</a:t>
          </a:r>
          <a:endParaRPr lang="en-US" dirty="0"/>
        </a:p>
      </dgm:t>
    </dgm:pt>
    <dgm:pt modelId="{CB1A623A-4FBD-490D-A52A-607E9597D2D4}" type="parTrans" cxnId="{BA1D7E04-DEEB-46F7-98CE-F98F04EE733D}">
      <dgm:prSet/>
      <dgm:spPr/>
      <dgm:t>
        <a:bodyPr/>
        <a:lstStyle/>
        <a:p>
          <a:endParaRPr lang="en-US"/>
        </a:p>
      </dgm:t>
    </dgm:pt>
    <dgm:pt modelId="{5AB53914-F6A5-4B6E-9A06-2616CE1AABA7}" type="sibTrans" cxnId="{BA1D7E04-DEEB-46F7-98CE-F98F04EE733D}">
      <dgm:prSet phldrT="7" phldr="0"/>
      <dgm:spPr/>
      <dgm:t>
        <a:bodyPr/>
        <a:lstStyle/>
        <a:p>
          <a:endParaRPr lang="en-US"/>
        </a:p>
      </dgm:t>
    </dgm:pt>
    <dgm:pt modelId="{5028A7E1-C11F-471B-872C-2CE4D7F7C695}" type="pres">
      <dgm:prSet presAssocID="{C8B4F855-3E44-4709-9BAF-6F22C0C6764D}" presName="linear" presStyleCnt="0">
        <dgm:presLayoutVars>
          <dgm:animLvl val="lvl"/>
          <dgm:resizeHandles val="exact"/>
        </dgm:presLayoutVars>
      </dgm:prSet>
      <dgm:spPr/>
    </dgm:pt>
    <dgm:pt modelId="{B0472913-9450-497C-9763-520786191A0C}" type="pres">
      <dgm:prSet presAssocID="{6FB20CA6-46BB-47C9-AD8E-0BEFA4C39B0C}" presName="parentText" presStyleLbl="node1" presStyleIdx="0" presStyleCnt="7">
        <dgm:presLayoutVars>
          <dgm:chMax val="0"/>
          <dgm:bulletEnabled val="1"/>
        </dgm:presLayoutVars>
      </dgm:prSet>
      <dgm:spPr/>
    </dgm:pt>
    <dgm:pt modelId="{D155860B-6EDF-4775-BD30-A4318199B0AF}" type="pres">
      <dgm:prSet presAssocID="{BB2F3DAD-2C9D-477E-B842-FBE05B06AE6F}" presName="spacer" presStyleCnt="0"/>
      <dgm:spPr/>
    </dgm:pt>
    <dgm:pt modelId="{D1F55E00-13E2-4A27-87B8-5FB8D913165B}" type="pres">
      <dgm:prSet presAssocID="{7C1BC0D3-4FC6-435F-B48E-814F9D1031C6}" presName="parentText" presStyleLbl="node1" presStyleIdx="1" presStyleCnt="7">
        <dgm:presLayoutVars>
          <dgm:chMax val="0"/>
          <dgm:bulletEnabled val="1"/>
        </dgm:presLayoutVars>
      </dgm:prSet>
      <dgm:spPr/>
    </dgm:pt>
    <dgm:pt modelId="{CD295022-1A2A-485F-BDCC-33A00246D7DE}" type="pres">
      <dgm:prSet presAssocID="{430919C6-1C9B-4C15-AB66-89E6F427A79C}" presName="spacer" presStyleCnt="0"/>
      <dgm:spPr/>
    </dgm:pt>
    <dgm:pt modelId="{A9154EF2-DBFA-4709-9AED-C0A535DE333A}" type="pres">
      <dgm:prSet presAssocID="{C82D9272-C331-4943-85DB-C9872EF5B571}" presName="parentText" presStyleLbl="node1" presStyleIdx="2" presStyleCnt="7">
        <dgm:presLayoutVars>
          <dgm:chMax val="0"/>
          <dgm:bulletEnabled val="1"/>
        </dgm:presLayoutVars>
      </dgm:prSet>
      <dgm:spPr/>
    </dgm:pt>
    <dgm:pt modelId="{7FB1B88F-A4C0-4FE4-B4F7-0C7CE927E354}" type="pres">
      <dgm:prSet presAssocID="{0712C41A-6F54-4B17-9D49-54BCC70EB5A9}" presName="spacer" presStyleCnt="0"/>
      <dgm:spPr/>
    </dgm:pt>
    <dgm:pt modelId="{FBA00269-5610-48FA-A9FD-AEC6147E2FF9}" type="pres">
      <dgm:prSet presAssocID="{6BA67931-848A-420D-BED7-2E04CB55AE49}" presName="parentText" presStyleLbl="node1" presStyleIdx="3" presStyleCnt="7">
        <dgm:presLayoutVars>
          <dgm:chMax val="0"/>
          <dgm:bulletEnabled val="1"/>
        </dgm:presLayoutVars>
      </dgm:prSet>
      <dgm:spPr/>
    </dgm:pt>
    <dgm:pt modelId="{115E07F9-EC9B-475C-B5C0-E664566DAEF5}" type="pres">
      <dgm:prSet presAssocID="{95543C5A-BEA4-4551-B7CA-1DEFF2F1CEAE}" presName="spacer" presStyleCnt="0"/>
      <dgm:spPr/>
    </dgm:pt>
    <dgm:pt modelId="{508C251C-6724-4F73-8CE0-98A6F6246AA0}" type="pres">
      <dgm:prSet presAssocID="{283C086A-920C-4BC3-A255-56F2AF78872D}" presName="parentText" presStyleLbl="node1" presStyleIdx="4" presStyleCnt="7">
        <dgm:presLayoutVars>
          <dgm:chMax val="0"/>
          <dgm:bulletEnabled val="1"/>
        </dgm:presLayoutVars>
      </dgm:prSet>
      <dgm:spPr/>
    </dgm:pt>
    <dgm:pt modelId="{58ED6828-CEAD-4900-A94E-A00A070B54C9}" type="pres">
      <dgm:prSet presAssocID="{24F784C4-C6DD-4C24-BCBA-A665D56888A3}" presName="spacer" presStyleCnt="0"/>
      <dgm:spPr/>
    </dgm:pt>
    <dgm:pt modelId="{D4247C2F-E089-4428-9269-A71A8A987333}" type="pres">
      <dgm:prSet presAssocID="{62C7F2F3-B051-44D5-B0AC-8EC390E9D0DE}" presName="parentText" presStyleLbl="node1" presStyleIdx="5" presStyleCnt="7">
        <dgm:presLayoutVars>
          <dgm:chMax val="0"/>
          <dgm:bulletEnabled val="1"/>
        </dgm:presLayoutVars>
      </dgm:prSet>
      <dgm:spPr/>
    </dgm:pt>
    <dgm:pt modelId="{B95EAEA2-A255-4649-8183-37931FB19533}" type="pres">
      <dgm:prSet presAssocID="{8E856547-6F00-456C-B6D7-044B5BC539EB}" presName="spacer" presStyleCnt="0"/>
      <dgm:spPr/>
    </dgm:pt>
    <dgm:pt modelId="{FC897611-1DDC-4509-83C1-31330C2E98F7}" type="pres">
      <dgm:prSet presAssocID="{86F9E9A8-07BD-4C40-9B6C-28569DBDB51F}" presName="parentText" presStyleLbl="node1" presStyleIdx="6" presStyleCnt="7">
        <dgm:presLayoutVars>
          <dgm:chMax val="0"/>
          <dgm:bulletEnabled val="1"/>
        </dgm:presLayoutVars>
      </dgm:prSet>
      <dgm:spPr/>
    </dgm:pt>
  </dgm:ptLst>
  <dgm:cxnLst>
    <dgm:cxn modelId="{BA1D7E04-DEEB-46F7-98CE-F98F04EE733D}" srcId="{C8B4F855-3E44-4709-9BAF-6F22C0C6764D}" destId="{86F9E9A8-07BD-4C40-9B6C-28569DBDB51F}" srcOrd="6" destOrd="0" parTransId="{CB1A623A-4FBD-490D-A52A-607E9597D2D4}" sibTransId="{5AB53914-F6A5-4B6E-9A06-2616CE1AABA7}"/>
    <dgm:cxn modelId="{9BB71128-9D9A-43A6-81DA-066E40FA10E1}" type="presOf" srcId="{62C7F2F3-B051-44D5-B0AC-8EC390E9D0DE}" destId="{D4247C2F-E089-4428-9269-A71A8A987333}" srcOrd="0" destOrd="0" presId="urn:microsoft.com/office/officeart/2005/8/layout/vList2"/>
    <dgm:cxn modelId="{14BE0E3C-5B4C-43B5-A486-BC43436A8BB1}" srcId="{C8B4F855-3E44-4709-9BAF-6F22C0C6764D}" destId="{6FB20CA6-46BB-47C9-AD8E-0BEFA4C39B0C}" srcOrd="0" destOrd="0" parTransId="{81C9A26F-2346-4E82-AD5B-875DC2CB3FA4}" sibTransId="{BB2F3DAD-2C9D-477E-B842-FBE05B06AE6F}"/>
    <dgm:cxn modelId="{942A855F-4887-4233-B75B-050E6E199C9C}" type="presOf" srcId="{283C086A-920C-4BC3-A255-56F2AF78872D}" destId="{508C251C-6724-4F73-8CE0-98A6F6246AA0}" srcOrd="0" destOrd="0" presId="urn:microsoft.com/office/officeart/2005/8/layout/vList2"/>
    <dgm:cxn modelId="{4CA4C346-0890-473E-B0BD-BDF6A060CFCA}" srcId="{C8B4F855-3E44-4709-9BAF-6F22C0C6764D}" destId="{7C1BC0D3-4FC6-435F-B48E-814F9D1031C6}" srcOrd="1" destOrd="0" parTransId="{6E28F690-1309-465E-8039-5E58ACF88A8C}" sibTransId="{430919C6-1C9B-4C15-AB66-89E6F427A79C}"/>
    <dgm:cxn modelId="{F9DB8C4D-77BF-4D38-910A-66CFBB8A23BD}" type="presOf" srcId="{6BA67931-848A-420D-BED7-2E04CB55AE49}" destId="{FBA00269-5610-48FA-A9FD-AEC6147E2FF9}" srcOrd="0" destOrd="0" presId="urn:microsoft.com/office/officeart/2005/8/layout/vList2"/>
    <dgm:cxn modelId="{96B4767F-6A38-4B98-8AD9-A6121F5FF69D}" type="presOf" srcId="{C8B4F855-3E44-4709-9BAF-6F22C0C6764D}" destId="{5028A7E1-C11F-471B-872C-2CE4D7F7C695}" srcOrd="0" destOrd="0" presId="urn:microsoft.com/office/officeart/2005/8/layout/vList2"/>
    <dgm:cxn modelId="{7AB9C886-2FCC-4890-97CB-1E8D43E69D1D}" type="presOf" srcId="{86F9E9A8-07BD-4C40-9B6C-28569DBDB51F}" destId="{FC897611-1DDC-4509-83C1-31330C2E98F7}" srcOrd="0" destOrd="0" presId="urn:microsoft.com/office/officeart/2005/8/layout/vList2"/>
    <dgm:cxn modelId="{5BD2AB89-602F-47CC-A547-11858B02174D}" srcId="{C8B4F855-3E44-4709-9BAF-6F22C0C6764D}" destId="{62C7F2F3-B051-44D5-B0AC-8EC390E9D0DE}" srcOrd="5" destOrd="0" parTransId="{5B45E591-469A-451E-BD24-1642E434CAEF}" sibTransId="{8E856547-6F00-456C-B6D7-044B5BC539EB}"/>
    <dgm:cxn modelId="{F8E30CC9-16BB-4953-A3F9-88D50DFF01A3}" srcId="{C8B4F855-3E44-4709-9BAF-6F22C0C6764D}" destId="{6BA67931-848A-420D-BED7-2E04CB55AE49}" srcOrd="3" destOrd="0" parTransId="{E3DF8ADD-850A-46BB-A497-8D040B453995}" sibTransId="{95543C5A-BEA4-4551-B7CA-1DEFF2F1CEAE}"/>
    <dgm:cxn modelId="{A6FC52D1-4836-4861-8EEE-576AED8D9BE8}" type="presOf" srcId="{7C1BC0D3-4FC6-435F-B48E-814F9D1031C6}" destId="{D1F55E00-13E2-4A27-87B8-5FB8D913165B}" srcOrd="0" destOrd="0" presId="urn:microsoft.com/office/officeart/2005/8/layout/vList2"/>
    <dgm:cxn modelId="{D17067D6-0B1D-4E1D-86B1-E89291890A3B}" type="presOf" srcId="{C82D9272-C331-4943-85DB-C9872EF5B571}" destId="{A9154EF2-DBFA-4709-9AED-C0A535DE333A}" srcOrd="0" destOrd="0" presId="urn:microsoft.com/office/officeart/2005/8/layout/vList2"/>
    <dgm:cxn modelId="{FE2851D9-1613-4A77-A78D-9E3D43C196FA}" srcId="{C8B4F855-3E44-4709-9BAF-6F22C0C6764D}" destId="{C82D9272-C331-4943-85DB-C9872EF5B571}" srcOrd="2" destOrd="0" parTransId="{7DA5B85F-1632-4B07-8439-8296F41E9AAD}" sibTransId="{0712C41A-6F54-4B17-9D49-54BCC70EB5A9}"/>
    <dgm:cxn modelId="{DB5180D9-D8B8-494C-ACE4-09DAD3A512E4}" type="presOf" srcId="{6FB20CA6-46BB-47C9-AD8E-0BEFA4C39B0C}" destId="{B0472913-9450-497C-9763-520786191A0C}" srcOrd="0" destOrd="0" presId="urn:microsoft.com/office/officeart/2005/8/layout/vList2"/>
    <dgm:cxn modelId="{6BFDFCE3-DDD3-4E1E-9338-00187DC174C7}" srcId="{C8B4F855-3E44-4709-9BAF-6F22C0C6764D}" destId="{283C086A-920C-4BC3-A255-56F2AF78872D}" srcOrd="4" destOrd="0" parTransId="{A694F245-8D91-45A2-8890-B689E0939E47}" sibTransId="{24F784C4-C6DD-4C24-BCBA-A665D56888A3}"/>
    <dgm:cxn modelId="{753FD106-2FB4-41E2-84CF-9BE3A06EF879}" type="presParOf" srcId="{5028A7E1-C11F-471B-872C-2CE4D7F7C695}" destId="{B0472913-9450-497C-9763-520786191A0C}" srcOrd="0" destOrd="0" presId="urn:microsoft.com/office/officeart/2005/8/layout/vList2"/>
    <dgm:cxn modelId="{568CBCA3-BFAF-48A5-B4D9-EA29543F6A7D}" type="presParOf" srcId="{5028A7E1-C11F-471B-872C-2CE4D7F7C695}" destId="{D155860B-6EDF-4775-BD30-A4318199B0AF}" srcOrd="1" destOrd="0" presId="urn:microsoft.com/office/officeart/2005/8/layout/vList2"/>
    <dgm:cxn modelId="{4F72B2D9-D1EC-435E-A17A-637D4D7E6202}" type="presParOf" srcId="{5028A7E1-C11F-471B-872C-2CE4D7F7C695}" destId="{D1F55E00-13E2-4A27-87B8-5FB8D913165B}" srcOrd="2" destOrd="0" presId="urn:microsoft.com/office/officeart/2005/8/layout/vList2"/>
    <dgm:cxn modelId="{74DD9D68-2E3B-403F-B843-E42FCD0A3E79}" type="presParOf" srcId="{5028A7E1-C11F-471B-872C-2CE4D7F7C695}" destId="{CD295022-1A2A-485F-BDCC-33A00246D7DE}" srcOrd="3" destOrd="0" presId="urn:microsoft.com/office/officeart/2005/8/layout/vList2"/>
    <dgm:cxn modelId="{64C186B7-262B-4A1C-84C3-61BF02C55083}" type="presParOf" srcId="{5028A7E1-C11F-471B-872C-2CE4D7F7C695}" destId="{A9154EF2-DBFA-4709-9AED-C0A535DE333A}" srcOrd="4" destOrd="0" presId="urn:microsoft.com/office/officeart/2005/8/layout/vList2"/>
    <dgm:cxn modelId="{A41251D9-F962-4E22-B015-78520122C948}" type="presParOf" srcId="{5028A7E1-C11F-471B-872C-2CE4D7F7C695}" destId="{7FB1B88F-A4C0-4FE4-B4F7-0C7CE927E354}" srcOrd="5" destOrd="0" presId="urn:microsoft.com/office/officeart/2005/8/layout/vList2"/>
    <dgm:cxn modelId="{BB9AA3A0-B36B-4BFE-B30E-70F42E1A7076}" type="presParOf" srcId="{5028A7E1-C11F-471B-872C-2CE4D7F7C695}" destId="{FBA00269-5610-48FA-A9FD-AEC6147E2FF9}" srcOrd="6" destOrd="0" presId="urn:microsoft.com/office/officeart/2005/8/layout/vList2"/>
    <dgm:cxn modelId="{80195074-B21E-41D0-943D-39587341578C}" type="presParOf" srcId="{5028A7E1-C11F-471B-872C-2CE4D7F7C695}" destId="{115E07F9-EC9B-475C-B5C0-E664566DAEF5}" srcOrd="7" destOrd="0" presId="urn:microsoft.com/office/officeart/2005/8/layout/vList2"/>
    <dgm:cxn modelId="{1D2EBCF5-A6E0-4BCC-BE5E-6E440921CC3C}" type="presParOf" srcId="{5028A7E1-C11F-471B-872C-2CE4D7F7C695}" destId="{508C251C-6724-4F73-8CE0-98A6F6246AA0}" srcOrd="8" destOrd="0" presId="urn:microsoft.com/office/officeart/2005/8/layout/vList2"/>
    <dgm:cxn modelId="{C1A87F05-D03B-445B-9E18-54D04D15A7D2}" type="presParOf" srcId="{5028A7E1-C11F-471B-872C-2CE4D7F7C695}" destId="{58ED6828-CEAD-4900-A94E-A00A070B54C9}" srcOrd="9" destOrd="0" presId="urn:microsoft.com/office/officeart/2005/8/layout/vList2"/>
    <dgm:cxn modelId="{A77F8C0E-435E-468C-A5BD-CF0C80CCCCCA}" type="presParOf" srcId="{5028A7E1-C11F-471B-872C-2CE4D7F7C695}" destId="{D4247C2F-E089-4428-9269-A71A8A987333}" srcOrd="10" destOrd="0" presId="urn:microsoft.com/office/officeart/2005/8/layout/vList2"/>
    <dgm:cxn modelId="{E8401E5F-B107-4892-96CB-CE0CAD3ECC3E}" type="presParOf" srcId="{5028A7E1-C11F-471B-872C-2CE4D7F7C695}" destId="{B95EAEA2-A255-4649-8183-37931FB19533}" srcOrd="11" destOrd="0" presId="urn:microsoft.com/office/officeart/2005/8/layout/vList2"/>
    <dgm:cxn modelId="{663B3572-2D79-40A4-B4EC-803AF09E359E}" type="presParOf" srcId="{5028A7E1-C11F-471B-872C-2CE4D7F7C695}" destId="{FC897611-1DDC-4509-83C1-31330C2E98F7}"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472913-9450-497C-9763-520786191A0C}">
      <dsp:nvSpPr>
        <dsp:cNvPr id="0" name=""/>
        <dsp:cNvSpPr/>
      </dsp:nvSpPr>
      <dsp:spPr>
        <a:xfrm>
          <a:off x="0" y="92706"/>
          <a:ext cx="11803625" cy="78316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Growth of Electric Vehicles (EVs): </a:t>
          </a:r>
          <a:r>
            <a:rPr lang="en-US" sz="1400" b="0" i="0" kern="1200"/>
            <a:t>The literature emphasizes the increasing adoption of EVs and the urgent need for more charging stations to alleviate range anxiety, with IoT technology playing a crucial role in enhancing station development and monitoring.</a:t>
          </a:r>
          <a:endParaRPr lang="en-US" sz="1400" kern="1200"/>
        </a:p>
      </dsp:txBody>
      <dsp:txXfrm>
        <a:off x="38231" y="130937"/>
        <a:ext cx="11727163" cy="706706"/>
      </dsp:txXfrm>
    </dsp:sp>
    <dsp:sp modelId="{D1F55E00-13E2-4A27-87B8-5FB8D913165B}">
      <dsp:nvSpPr>
        <dsp:cNvPr id="0" name=""/>
        <dsp:cNvSpPr/>
      </dsp:nvSpPr>
      <dsp:spPr>
        <a:xfrm>
          <a:off x="0" y="916195"/>
          <a:ext cx="11803625" cy="78316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0" i="0" kern="1200"/>
            <a:t>Power Quality Management: Research discusses the impact of EV charging on power quality, proposing active filters to mitigate harmonic distortion and improve overall power infrastructure.</a:t>
          </a:r>
          <a:endParaRPr lang="en-US" sz="1400" kern="1200"/>
        </a:p>
      </dsp:txBody>
      <dsp:txXfrm>
        <a:off x="38231" y="954426"/>
        <a:ext cx="11727163" cy="706706"/>
      </dsp:txXfrm>
    </dsp:sp>
    <dsp:sp modelId="{A9154EF2-DBFA-4709-9AED-C0A535DE333A}">
      <dsp:nvSpPr>
        <dsp:cNvPr id="0" name=""/>
        <dsp:cNvSpPr/>
      </dsp:nvSpPr>
      <dsp:spPr>
        <a:xfrm>
          <a:off x="0" y="1739683"/>
          <a:ext cx="11803625" cy="78316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Challenges in Residential Charging: </a:t>
          </a:r>
          <a:r>
            <a:rPr lang="en-US" sz="1400" b="0" i="0" kern="1200"/>
            <a:t>High installation costs and limited charging ports are identified as barriers to home EV adoption. IoT solutions can enhance accessibility and user experience, with a holistic approach recommended for effective residential charging infrastructure.</a:t>
          </a:r>
          <a:endParaRPr lang="en-US" sz="1400" kern="1200"/>
        </a:p>
      </dsp:txBody>
      <dsp:txXfrm>
        <a:off x="38231" y="1777914"/>
        <a:ext cx="11727163" cy="706706"/>
      </dsp:txXfrm>
    </dsp:sp>
    <dsp:sp modelId="{FBA00269-5610-48FA-A9FD-AEC6147E2FF9}">
      <dsp:nvSpPr>
        <dsp:cNvPr id="0" name=""/>
        <dsp:cNvSpPr/>
      </dsp:nvSpPr>
      <dsp:spPr>
        <a:xfrm>
          <a:off x="0" y="2563172"/>
          <a:ext cx="11803625" cy="78316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Battery Swapping Integration</a:t>
          </a:r>
          <a:r>
            <a:rPr lang="en-US" sz="1400" b="0" i="0" kern="1200"/>
            <a:t>: Studies explore the integration of battery swapping stations with traditional charging stations, focusing on optimal placement and operational strategies to improve efficiency and support urban mobility initiatives.</a:t>
          </a:r>
          <a:endParaRPr lang="en-US" sz="1400" kern="1200"/>
        </a:p>
      </dsp:txBody>
      <dsp:txXfrm>
        <a:off x="38231" y="2601403"/>
        <a:ext cx="11727163" cy="706706"/>
      </dsp:txXfrm>
    </dsp:sp>
    <dsp:sp modelId="{508C251C-6724-4F73-8CE0-98A6F6246AA0}">
      <dsp:nvSpPr>
        <dsp:cNvPr id="0" name=""/>
        <dsp:cNvSpPr/>
      </dsp:nvSpPr>
      <dsp:spPr>
        <a:xfrm>
          <a:off x="0" y="3386661"/>
          <a:ext cx="11803625" cy="78316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Energy Management Technologies: </a:t>
          </a:r>
          <a:r>
            <a:rPr lang="en-US" sz="1400" b="0" i="0" kern="1200"/>
            <a:t>Various studies highlight the significance of energy management technologies in optimizing energy efficiency within renewable sectors, focusing on factors like energy information collection, economic analysis, and operational strategies for Energy Storage System (ESS) capacity planning.</a:t>
          </a:r>
          <a:endParaRPr lang="en-US" sz="1400" kern="1200"/>
        </a:p>
      </dsp:txBody>
      <dsp:txXfrm>
        <a:off x="38231" y="3424892"/>
        <a:ext cx="11727163" cy="706706"/>
      </dsp:txXfrm>
    </dsp:sp>
    <dsp:sp modelId="{D4247C2F-E089-4428-9269-A71A8A987333}">
      <dsp:nvSpPr>
        <dsp:cNvPr id="0" name=""/>
        <dsp:cNvSpPr/>
      </dsp:nvSpPr>
      <dsp:spPr>
        <a:xfrm>
          <a:off x="0" y="4210150"/>
          <a:ext cx="11803625" cy="78316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a:t>Mobile Battery Swapping Services: </a:t>
          </a:r>
          <a:r>
            <a:rPr lang="en-US" sz="1400" b="0" i="0" kern="1200"/>
            <a:t>A novel approach to battery swapping services is presented, detailing structural architecture for efficient operations, user communication via mobile applications, and analysis of power consumption and runtime for swapping units.</a:t>
          </a:r>
          <a:endParaRPr lang="en-US" sz="1400" kern="1200"/>
        </a:p>
      </dsp:txBody>
      <dsp:txXfrm>
        <a:off x="38231" y="4248381"/>
        <a:ext cx="11727163" cy="706706"/>
      </dsp:txXfrm>
    </dsp:sp>
    <dsp:sp modelId="{FC897611-1DDC-4509-83C1-31330C2E98F7}">
      <dsp:nvSpPr>
        <dsp:cNvPr id="0" name=""/>
        <dsp:cNvSpPr/>
      </dsp:nvSpPr>
      <dsp:spPr>
        <a:xfrm>
          <a:off x="0" y="5033638"/>
          <a:ext cx="11803625" cy="78316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dirty="0"/>
            <a:t>IoT-Enabled Continuous Monitoring: </a:t>
          </a:r>
          <a:r>
            <a:rPr lang="en-US" sz="1400" b="0" i="0" kern="1200" dirty="0"/>
            <a:t>IoT technology facilitates continuous monitoring of EV charging processes, which helps prevent battery damage during charging. This capability ensures optimal charging conditions and enhances the overall lifespan and performance of EV batteries.</a:t>
          </a:r>
          <a:endParaRPr lang="en-US" sz="1400" kern="1200" dirty="0"/>
        </a:p>
      </dsp:txBody>
      <dsp:txXfrm>
        <a:off x="38231" y="5071869"/>
        <a:ext cx="11727163" cy="70670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D0B98-875F-725B-4BDD-D7F5FB1089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69B5E79-A344-D063-C313-65996D06F1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C07519-5617-5BA2-BFDC-309CAF2CEAD8}"/>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5" name="Footer Placeholder 4">
            <a:extLst>
              <a:ext uri="{FF2B5EF4-FFF2-40B4-BE49-F238E27FC236}">
                <a16:creationId xmlns:a16="http://schemas.microsoft.com/office/drawing/2014/main" id="{AE011FD4-5B08-1C58-174F-8F76C5545D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49CCB4-1BEF-58ED-1DC9-C2EE85654EDF}"/>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1584407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7E8D2-F76E-D35B-55BF-187968AED8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E6B903-0373-28F6-053F-A02924F955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146C68-27B5-3CC5-4863-E7E771EEB26C}"/>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5" name="Footer Placeholder 4">
            <a:extLst>
              <a:ext uri="{FF2B5EF4-FFF2-40B4-BE49-F238E27FC236}">
                <a16:creationId xmlns:a16="http://schemas.microsoft.com/office/drawing/2014/main" id="{A7E74CB9-AE83-2822-D1F5-20BD01272C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A2C67-5EA1-3082-E6DA-ECB12197C0F5}"/>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370025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1414-AACE-1D89-AC8A-0BE1A288BE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8614EC1-9F4A-C099-CA9D-6AC0526276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FD828A-0938-8724-07C9-02F91E9B1189}"/>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5" name="Footer Placeholder 4">
            <a:extLst>
              <a:ext uri="{FF2B5EF4-FFF2-40B4-BE49-F238E27FC236}">
                <a16:creationId xmlns:a16="http://schemas.microsoft.com/office/drawing/2014/main" id="{44BC9442-648A-025B-9F3B-0F4F2199D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DCB13D-11E4-0AD2-3921-C2991B7F16E8}"/>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2682069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FB613-33AB-1666-71D0-AC28386ECF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749638-4538-0E49-3E59-F8CB096E98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96210A-CDBC-A359-8EBA-65F2EC62C5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551B19-8070-2E82-CF83-911025AF38EC}"/>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6" name="Footer Placeholder 5">
            <a:extLst>
              <a:ext uri="{FF2B5EF4-FFF2-40B4-BE49-F238E27FC236}">
                <a16:creationId xmlns:a16="http://schemas.microsoft.com/office/drawing/2014/main" id="{9F72AA50-7299-2421-D347-FB697CEC78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98CF7D-DA9E-160D-2249-67CF83CA6807}"/>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1046090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A64B3-1CC9-854A-B338-3479BF9211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224AAE-7A40-9B44-4383-4A202D86AA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E92A65-FA3D-9E59-9BA8-9F5CC3BE00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C636E3-5F01-FBDD-2D03-AB21EF1029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DC6391-20A3-2A6E-816B-9640006575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7D1D28-C6A4-54C6-F28D-153C65913E8A}"/>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8" name="Footer Placeholder 7">
            <a:extLst>
              <a:ext uri="{FF2B5EF4-FFF2-40B4-BE49-F238E27FC236}">
                <a16:creationId xmlns:a16="http://schemas.microsoft.com/office/drawing/2014/main" id="{B34CB6F7-2374-1D5A-D163-A83461C51A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9E7983-1059-F540-8DF0-3F9963F4562C}"/>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1576389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15618-B4C0-DE40-29A1-46B08E1C1A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2D2AD1-8618-08C2-3041-41E35E223CF9}"/>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4" name="Footer Placeholder 3">
            <a:extLst>
              <a:ext uri="{FF2B5EF4-FFF2-40B4-BE49-F238E27FC236}">
                <a16:creationId xmlns:a16="http://schemas.microsoft.com/office/drawing/2014/main" id="{AD061758-BF6F-8F9B-6459-A3297CB002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7B0742-276B-85CF-720A-3F32EE614A13}"/>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697876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98DADA-E766-76AF-F548-E720E16E11F2}"/>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3" name="Footer Placeholder 2">
            <a:extLst>
              <a:ext uri="{FF2B5EF4-FFF2-40B4-BE49-F238E27FC236}">
                <a16:creationId xmlns:a16="http://schemas.microsoft.com/office/drawing/2014/main" id="{71066BCD-0539-8A36-0D40-EB6FF77B9E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4E0ECD-8C65-15B5-198E-545F9A03733A}"/>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39503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FD545-6342-1112-16D6-A64C484CD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6C1DCE-E53A-847E-990C-54D019B09A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80A743-D555-2A1D-5FAF-77FBE45C8F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FA43E5-3CEA-1261-D5AD-A3FC3C56E3F4}"/>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6" name="Footer Placeholder 5">
            <a:extLst>
              <a:ext uri="{FF2B5EF4-FFF2-40B4-BE49-F238E27FC236}">
                <a16:creationId xmlns:a16="http://schemas.microsoft.com/office/drawing/2014/main" id="{0CBE14E8-865D-C17C-A03B-1C82C181BC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BF3E6C-FFC4-B452-F911-4C9FC1F75FC4}"/>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822908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D715A-6666-AA3E-A070-6AD4F2ACF1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B11CED-7229-04C2-57BD-3453D8A1AD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DC7FD1-FAC9-A279-F1F2-5E6663286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772478-897E-E648-8973-AA853290EC06}"/>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6" name="Footer Placeholder 5">
            <a:extLst>
              <a:ext uri="{FF2B5EF4-FFF2-40B4-BE49-F238E27FC236}">
                <a16:creationId xmlns:a16="http://schemas.microsoft.com/office/drawing/2014/main" id="{5AA16DA2-99E3-BEA7-F04A-61F6136DEF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8EF967-E547-8BDE-5CE7-903C862CFBFE}"/>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3537244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A2024-E50C-7997-9273-45313A5214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098BC0-434E-B171-2502-536FAF49AD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EF0A6B-5B8F-421B-F5B9-5BDEC89A1DDF}"/>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5" name="Footer Placeholder 4">
            <a:extLst>
              <a:ext uri="{FF2B5EF4-FFF2-40B4-BE49-F238E27FC236}">
                <a16:creationId xmlns:a16="http://schemas.microsoft.com/office/drawing/2014/main" id="{DAF34A8E-B7DB-0F57-A13D-FE514424E4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CB6EA4-BC4D-D3EC-B26A-1FB23137574C}"/>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2246733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030033-1314-9892-ECEF-39EA666E6F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A1CDA5-5F99-9429-998E-3F445612FF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37B646-F7E3-C9A2-332F-988B3D32C648}"/>
              </a:ext>
            </a:extLst>
          </p:cNvPr>
          <p:cNvSpPr>
            <a:spLocks noGrp="1"/>
          </p:cNvSpPr>
          <p:nvPr>
            <p:ph type="dt" sz="half" idx="10"/>
          </p:nvPr>
        </p:nvSpPr>
        <p:spPr/>
        <p:txBody>
          <a:bodyPr/>
          <a:lstStyle/>
          <a:p>
            <a:fld id="{06231873-2B03-489C-8358-BE215BA0DBA1}" type="datetimeFigureOut">
              <a:rPr lang="en-US" smtClean="0"/>
              <a:t>4/20/2025</a:t>
            </a:fld>
            <a:endParaRPr lang="en-US"/>
          </a:p>
        </p:txBody>
      </p:sp>
      <p:sp>
        <p:nvSpPr>
          <p:cNvPr id="5" name="Footer Placeholder 4">
            <a:extLst>
              <a:ext uri="{FF2B5EF4-FFF2-40B4-BE49-F238E27FC236}">
                <a16:creationId xmlns:a16="http://schemas.microsoft.com/office/drawing/2014/main" id="{8917E3EE-ED10-C64A-4B19-0F1553074E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189016-D11D-D936-DA2E-863D4A03FED2}"/>
              </a:ext>
            </a:extLst>
          </p:cNvPr>
          <p:cNvSpPr>
            <a:spLocks noGrp="1"/>
          </p:cNvSpPr>
          <p:nvPr>
            <p:ph type="sldNum" sz="quarter" idx="12"/>
          </p:nvPr>
        </p:nvSpPr>
        <p:spPr/>
        <p:txBody>
          <a:bodyPr/>
          <a:lstStyle/>
          <a:p>
            <a:fld id="{EB554631-D2A8-4C4E-8B91-AA218F10F8DD}" type="slidenum">
              <a:rPr lang="en-US" smtClean="0"/>
              <a:t>‹#›</a:t>
            </a:fld>
            <a:endParaRPr lang="en-US"/>
          </a:p>
        </p:txBody>
      </p:sp>
    </p:spTree>
    <p:extLst>
      <p:ext uri="{BB962C8B-B14F-4D97-AF65-F5344CB8AC3E}">
        <p14:creationId xmlns:p14="http://schemas.microsoft.com/office/powerpoint/2010/main" val="4244007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94559F-58C5-16FE-CBCE-EC1F3F07C8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62D25A-52C9-CE45-DF01-D02F75A95E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2718A0-2FD7-37D8-F68A-86A93EB081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231873-2B03-489C-8358-BE215BA0DBA1}" type="datetimeFigureOut">
              <a:rPr lang="en-US" smtClean="0"/>
              <a:t>4/20/2025</a:t>
            </a:fld>
            <a:endParaRPr lang="en-US"/>
          </a:p>
        </p:txBody>
      </p:sp>
      <p:sp>
        <p:nvSpPr>
          <p:cNvPr id="5" name="Footer Placeholder 4">
            <a:extLst>
              <a:ext uri="{FF2B5EF4-FFF2-40B4-BE49-F238E27FC236}">
                <a16:creationId xmlns:a16="http://schemas.microsoft.com/office/drawing/2014/main" id="{BC206AC2-AD6A-A088-6AE1-26CFAD9004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796A8B-D7C7-A31C-0DDD-1ABA593FF7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554631-D2A8-4C4E-8B91-AA218F10F8DD}" type="slidenum">
              <a:rPr lang="en-US" smtClean="0"/>
              <a:t>‹#›</a:t>
            </a:fld>
            <a:endParaRPr lang="en-US"/>
          </a:p>
        </p:txBody>
      </p:sp>
    </p:spTree>
    <p:extLst>
      <p:ext uri="{BB962C8B-B14F-4D97-AF65-F5344CB8AC3E}">
        <p14:creationId xmlns:p14="http://schemas.microsoft.com/office/powerpoint/2010/main" val="120083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8" Type="http://schemas.openxmlformats.org/officeDocument/2006/relationships/image" Target="../media/image20.jpe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jpeg"/><Relationship Id="rId12"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jpeg"/><Relationship Id="rId5" Type="http://schemas.openxmlformats.org/officeDocument/2006/relationships/image" Target="../media/image17.jpeg"/><Relationship Id="rId15" Type="http://schemas.openxmlformats.org/officeDocument/2006/relationships/image" Target="../media/image27.svg"/><Relationship Id="rId10" Type="http://schemas.openxmlformats.org/officeDocument/2006/relationships/image" Target="../media/image22.jpeg"/><Relationship Id="rId4" Type="http://schemas.openxmlformats.org/officeDocument/2006/relationships/image" Target="../media/image16.jpeg"/><Relationship Id="rId9" Type="http://schemas.openxmlformats.org/officeDocument/2006/relationships/image" Target="../media/image21.jpeg"/><Relationship Id="rId1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1.jpeg"/><Relationship Id="rId7" Type="http://schemas.openxmlformats.org/officeDocument/2006/relationships/image" Target="../media/image33.jpe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42.jpeg"/><Relationship Id="rId7" Type="http://schemas.openxmlformats.org/officeDocument/2006/relationships/image" Target="../media/image46.png"/><Relationship Id="rId2" Type="http://schemas.openxmlformats.org/officeDocument/2006/relationships/image" Target="../media/image41.jpe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jpg"/><Relationship Id="rId4" Type="http://schemas.openxmlformats.org/officeDocument/2006/relationships/image" Target="../media/image43.png"/><Relationship Id="rId9" Type="http://schemas.openxmlformats.org/officeDocument/2006/relationships/image" Target="../media/image48.jpe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14.png"/><Relationship Id="rId7" Type="http://schemas.openxmlformats.org/officeDocument/2006/relationships/image" Target="../media/image54.jpe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3.jpeg"/><Relationship Id="rId5" Type="http://schemas.openxmlformats.org/officeDocument/2006/relationships/image" Target="../media/image18.png"/><Relationship Id="rId10" Type="http://schemas.openxmlformats.org/officeDocument/2006/relationships/image" Target="../media/image21.jpeg"/><Relationship Id="rId4" Type="http://schemas.openxmlformats.org/officeDocument/2006/relationships/image" Target="../media/image16.jpeg"/><Relationship Id="rId9"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9.jpeg"/></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21.jpeg"/><Relationship Id="rId2" Type="http://schemas.openxmlformats.org/officeDocument/2006/relationships/image" Target="../media/image59.jpeg"/><Relationship Id="rId1" Type="http://schemas.openxmlformats.org/officeDocument/2006/relationships/slideLayout" Target="../slideLayouts/slideLayout2.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6357" y="711243"/>
            <a:ext cx="6493448" cy="1352712"/>
          </a:xfrm>
        </p:spPr>
        <p:txBody>
          <a:bodyPr vert="horz" lIns="91440" tIns="45720" rIns="91440" bIns="45720" rtlCol="0" anchor="t">
            <a:noAutofit/>
          </a:bodyPr>
          <a:lstStyle/>
          <a:p>
            <a:pPr algn="l">
              <a:lnSpc>
                <a:spcPct val="150000"/>
              </a:lnSpc>
            </a:pPr>
            <a:r>
              <a:rPr lang="en-US" sz="1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Title – </a:t>
            </a:r>
            <a:br>
              <a:rPr lang="en-US" sz="2800" kern="1200" spc="3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br>
            <a:r>
              <a:rPr lang="en-US" sz="2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Design of IOT Architecture for</a:t>
            </a:r>
            <a:br>
              <a:rPr lang="en-US" sz="2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br>
            <a:r>
              <a:rPr lang="en-US" sz="2800" kern="12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Battery Charging Management Technology</a:t>
            </a:r>
          </a:p>
        </p:txBody>
      </p:sp>
      <p:sp>
        <p:nvSpPr>
          <p:cNvPr id="4" name="Date Placeholder 3"/>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D350E611-2993-456E-8445-FEE8351BB19B}" type="datetime1">
              <a:rPr lang="en-US" smtClean="0"/>
              <a:pPr>
                <a:spcAft>
                  <a:spcPts val="600"/>
                </a:spcAft>
              </a:pPr>
              <a:t>4/20/2025</a:t>
            </a:fld>
            <a:endParaRPr lang="en-US"/>
          </a:p>
        </p:txBody>
      </p:sp>
      <p:sp>
        <p:nvSpPr>
          <p:cNvPr id="6" name="Footer Placeholder 5"/>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Jagadeesh_AP2312210002</a:t>
            </a:r>
          </a:p>
        </p:txBody>
      </p:sp>
      <p:sp>
        <p:nvSpPr>
          <p:cNvPr id="7" name="Slide Number Placeholder 6"/>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15FCCAAF-6324-40D0-99C1-825B83CC9B2F}" type="slidenum">
              <a:rPr lang="en-US" smtClean="0"/>
              <a:pPr>
                <a:spcAft>
                  <a:spcPts val="600"/>
                </a:spcAft>
              </a:pPr>
              <a:t>1</a:t>
            </a:fld>
            <a:endParaRPr lang="en-US"/>
          </a:p>
        </p:txBody>
      </p:sp>
      <p:sp>
        <p:nvSpPr>
          <p:cNvPr id="8" name="TextBox 7">
            <a:extLst>
              <a:ext uri="{FF2B5EF4-FFF2-40B4-BE49-F238E27FC236}">
                <a16:creationId xmlns:a16="http://schemas.microsoft.com/office/drawing/2014/main" id="{AE14C790-7258-76B7-ED0C-3952226A849A}"/>
              </a:ext>
            </a:extLst>
          </p:cNvPr>
          <p:cNvSpPr txBox="1"/>
          <p:nvPr/>
        </p:nvSpPr>
        <p:spPr>
          <a:xfrm>
            <a:off x="82329" y="5152400"/>
            <a:ext cx="5003867" cy="830997"/>
          </a:xfrm>
          <a:prstGeom prst="rect">
            <a:avLst/>
          </a:prstGeom>
          <a:noFill/>
        </p:spPr>
        <p:txBody>
          <a:bodyPr wrap="square" rtlCol="0">
            <a:spAutoFit/>
          </a:bodyPr>
          <a:lstStyle/>
          <a:p>
            <a:pPr algn="ctr"/>
            <a:r>
              <a:rPr lang="en-US" sz="1600" b="1" kern="1200" dirty="0">
                <a:solidFill>
                  <a:schemeClr val="tx2"/>
                </a:solidFill>
                <a:latin typeface="+mj-lt"/>
                <a:ea typeface="+mj-ea"/>
                <a:cs typeface="+mj-cs"/>
              </a:rPr>
              <a:t>School of Engineering and Sciences (SEAS)</a:t>
            </a:r>
            <a:br>
              <a:rPr lang="en-US" sz="1600" b="1" kern="1200" dirty="0">
                <a:solidFill>
                  <a:schemeClr val="tx2"/>
                </a:solidFill>
                <a:latin typeface="+mj-lt"/>
                <a:ea typeface="+mj-ea"/>
                <a:cs typeface="+mj-cs"/>
              </a:rPr>
            </a:br>
            <a:r>
              <a:rPr lang="en-US" sz="1600" b="1" kern="1200" dirty="0">
                <a:solidFill>
                  <a:schemeClr val="tx2"/>
                </a:solidFill>
                <a:latin typeface="+mj-lt"/>
                <a:ea typeface="+mj-ea"/>
                <a:cs typeface="+mj-cs"/>
              </a:rPr>
              <a:t>Department of Electronics and Communication Engineering</a:t>
            </a:r>
            <a:br>
              <a:rPr lang="en-US" sz="1600" b="1" kern="1200" dirty="0">
                <a:solidFill>
                  <a:schemeClr val="tx2"/>
                </a:solidFill>
                <a:latin typeface="+mj-lt"/>
                <a:ea typeface="+mj-ea"/>
                <a:cs typeface="+mj-cs"/>
              </a:rPr>
            </a:br>
            <a:r>
              <a:rPr lang="en-US" sz="1600" kern="1200" dirty="0">
                <a:solidFill>
                  <a:schemeClr val="tx2"/>
                </a:solidFill>
                <a:latin typeface="+mj-lt"/>
                <a:ea typeface="+mj-ea"/>
                <a:cs typeface="+mj-cs"/>
              </a:rPr>
              <a:t> SRM University, Andhra Pradesh (SRM AP) </a:t>
            </a:r>
            <a:endParaRPr lang="en-US" sz="1600" dirty="0"/>
          </a:p>
        </p:txBody>
      </p:sp>
      <p:sp>
        <p:nvSpPr>
          <p:cNvPr id="11" name="TextBox 10">
            <a:extLst>
              <a:ext uri="{FF2B5EF4-FFF2-40B4-BE49-F238E27FC236}">
                <a16:creationId xmlns:a16="http://schemas.microsoft.com/office/drawing/2014/main" id="{A5F8596C-750C-6011-6B31-33F7DF8A40B1}"/>
              </a:ext>
            </a:extLst>
          </p:cNvPr>
          <p:cNvSpPr txBox="1"/>
          <p:nvPr/>
        </p:nvSpPr>
        <p:spPr>
          <a:xfrm>
            <a:off x="8086225" y="32914"/>
            <a:ext cx="4105470" cy="707886"/>
          </a:xfrm>
          <a:prstGeom prst="rect">
            <a:avLst/>
          </a:prstGeom>
          <a:noFill/>
        </p:spPr>
        <p:txBody>
          <a:bodyPr wrap="square" rtlCol="0">
            <a:spAutoFit/>
          </a:bodyPr>
          <a:lstStyle/>
          <a:p>
            <a:pPr algn="ctr"/>
            <a:r>
              <a:rPr lang="en-US" sz="2000" b="1" kern="1200" dirty="0">
                <a:solidFill>
                  <a:schemeClr val="tx2"/>
                </a:solidFill>
                <a:latin typeface="+mj-lt"/>
                <a:ea typeface="+mj-ea"/>
                <a:cs typeface="+mj-cs"/>
              </a:rPr>
              <a:t>Presentation on </a:t>
            </a:r>
            <a:endParaRPr lang="en-US" sz="2000" b="1" dirty="0"/>
          </a:p>
          <a:p>
            <a:pPr algn="ctr"/>
            <a:r>
              <a:rPr lang="en-US" sz="2000" b="1" dirty="0">
                <a:solidFill>
                  <a:schemeClr val="tx2"/>
                </a:solidFill>
                <a:latin typeface="+mj-lt"/>
                <a:ea typeface="+mj-ea"/>
                <a:cs typeface="+mj-cs"/>
              </a:rPr>
              <a:t>Major project</a:t>
            </a:r>
            <a:endParaRPr lang="en-US" sz="2000" b="1" dirty="0"/>
          </a:p>
        </p:txBody>
      </p:sp>
      <p:pic>
        <p:nvPicPr>
          <p:cNvPr id="10" name="Picture 9" descr="A black and green logo&#10;&#10;Description automatically generated">
            <a:extLst>
              <a:ext uri="{FF2B5EF4-FFF2-40B4-BE49-F238E27FC236}">
                <a16:creationId xmlns:a16="http://schemas.microsoft.com/office/drawing/2014/main" id="{00387109-12A4-BD5A-150C-D499C1EE4A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0555" y="3934215"/>
            <a:ext cx="3832911" cy="1196156"/>
          </a:xfrm>
          <a:prstGeom prst="rect">
            <a:avLst/>
          </a:prstGeom>
        </p:spPr>
      </p:pic>
      <p:cxnSp>
        <p:nvCxnSpPr>
          <p:cNvPr id="5" name="Straight Connector 4">
            <a:extLst>
              <a:ext uri="{FF2B5EF4-FFF2-40B4-BE49-F238E27FC236}">
                <a16:creationId xmlns:a16="http://schemas.microsoft.com/office/drawing/2014/main" id="{69F68C0E-BDE4-8591-032A-D863A5568E60}"/>
              </a:ext>
            </a:extLst>
          </p:cNvPr>
          <p:cNvCxnSpPr/>
          <p:nvPr/>
        </p:nvCxnSpPr>
        <p:spPr>
          <a:xfrm flipH="1">
            <a:off x="0" y="3783964"/>
            <a:ext cx="49265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4A9853-8C9C-9FB2-2020-54A6CCFE56E7}"/>
              </a:ext>
            </a:extLst>
          </p:cNvPr>
          <p:cNvSpPr txBox="1"/>
          <p:nvPr/>
        </p:nvSpPr>
        <p:spPr>
          <a:xfrm>
            <a:off x="440555" y="1398472"/>
            <a:ext cx="4287416" cy="2031325"/>
          </a:xfrm>
          <a:prstGeom prst="rect">
            <a:avLst/>
          </a:prstGeom>
          <a:noFill/>
        </p:spPr>
        <p:txBody>
          <a:bodyPr wrap="square" rtlCol="0">
            <a:spAutoFit/>
          </a:bodyPr>
          <a:lstStyle/>
          <a:p>
            <a:pPr algn="ctr"/>
            <a:r>
              <a:rPr lang="en-US" sz="1800" kern="1200" dirty="0">
                <a:solidFill>
                  <a:schemeClr val="tx2"/>
                </a:solidFill>
                <a:latin typeface="+mj-lt"/>
                <a:ea typeface="+mj-ea"/>
                <a:cs typeface="+mj-cs"/>
              </a:rPr>
              <a:t>Presented by</a:t>
            </a:r>
            <a:br>
              <a:rPr lang="en-US" sz="1800" kern="1200" dirty="0">
                <a:solidFill>
                  <a:schemeClr val="tx2"/>
                </a:solidFill>
                <a:latin typeface="+mj-lt"/>
                <a:ea typeface="+mj-ea"/>
                <a:cs typeface="+mj-cs"/>
              </a:rPr>
            </a:br>
            <a:r>
              <a:rPr lang="en-US" sz="1800" b="1" kern="1200" dirty="0">
                <a:solidFill>
                  <a:schemeClr val="tx2"/>
                </a:solidFill>
                <a:latin typeface="+mj-lt"/>
                <a:ea typeface="+mj-ea"/>
                <a:cs typeface="+mj-cs"/>
              </a:rPr>
              <a:t>Jagadeesh_(AP2312210002)</a:t>
            </a:r>
            <a:endParaRPr lang="en-US" sz="1800" kern="1200" dirty="0">
              <a:solidFill>
                <a:schemeClr val="tx2"/>
              </a:solidFill>
              <a:latin typeface="+mj-lt"/>
              <a:ea typeface="+mj-ea"/>
              <a:cs typeface="+mj-cs"/>
            </a:endParaRPr>
          </a:p>
          <a:p>
            <a:pPr algn="ctr"/>
            <a:endParaRPr lang="en-US" dirty="0">
              <a:solidFill>
                <a:schemeClr val="tx2"/>
              </a:solidFill>
              <a:latin typeface="+mj-lt"/>
              <a:ea typeface="+mj-ea"/>
              <a:cs typeface="+mj-cs"/>
            </a:endParaRPr>
          </a:p>
          <a:p>
            <a:pPr algn="ctr"/>
            <a:r>
              <a:rPr lang="en-US" sz="1800" dirty="0">
                <a:latin typeface="Times New Roman" panose="02020603050405020304" pitchFamily="18" charset="0"/>
                <a:cs typeface="Times New Roman" panose="02020603050405020304" pitchFamily="18" charset="0"/>
              </a:rPr>
              <a:t>under the Esteemed guidance of</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b="1" dirty="0">
                <a:solidFill>
                  <a:srgbClr val="008E40"/>
                </a:solidFill>
                <a:latin typeface="Times New Roman" panose="02020603050405020304" pitchFamily="18" charset="0"/>
                <a:cs typeface="Times New Roman" panose="02020603050405020304" pitchFamily="18" charset="0"/>
              </a:rPr>
              <a:t>Dr. Sujith </a:t>
            </a:r>
            <a:r>
              <a:rPr lang="en-US" sz="1800" b="1" dirty="0" err="1">
                <a:solidFill>
                  <a:srgbClr val="008E40"/>
                </a:solidFill>
                <a:latin typeface="Times New Roman" panose="02020603050405020304" pitchFamily="18" charset="0"/>
                <a:cs typeface="Times New Roman" panose="02020603050405020304" pitchFamily="18" charset="0"/>
              </a:rPr>
              <a:t>Kalluri</a:t>
            </a:r>
            <a:r>
              <a:rPr lang="en-US" sz="1800" b="1" dirty="0">
                <a:solidFill>
                  <a:srgbClr val="008E40"/>
                </a:solidFill>
                <a:latin typeface="Times New Roman" panose="02020603050405020304" pitchFamily="18" charset="0"/>
                <a:cs typeface="Times New Roman" panose="02020603050405020304" pitchFamily="18" charset="0"/>
              </a:rPr>
              <a:t> </a:t>
            </a:r>
            <a:r>
              <a:rPr lang="en-US" sz="1800" b="1" dirty="0" err="1">
                <a:solidFill>
                  <a:srgbClr val="008E40"/>
                </a:solidFill>
                <a:latin typeface="Times New Roman" panose="02020603050405020304" pitchFamily="18" charset="0"/>
                <a:cs typeface="Times New Roman" panose="02020603050405020304" pitchFamily="18" charset="0"/>
              </a:rPr>
              <a:t>Ph.D</a:t>
            </a:r>
            <a:br>
              <a:rPr lang="en-US" sz="1800" b="1" dirty="0">
                <a:solidFill>
                  <a:srgbClr val="008E40"/>
                </a:solidFill>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Associate Professor</a:t>
            </a:r>
            <a:endParaRPr lang="en-US" dirty="0"/>
          </a:p>
        </p:txBody>
      </p:sp>
      <p:pic>
        <p:nvPicPr>
          <p:cNvPr id="2050" name="Picture 2" descr="intuions.com">
            <a:extLst>
              <a:ext uri="{FF2B5EF4-FFF2-40B4-BE49-F238E27FC236}">
                <a16:creationId xmlns:a16="http://schemas.microsoft.com/office/drawing/2014/main" id="{0FCAFF62-4320-AD69-DB79-6DCD656F32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896" t="24409" r="25999"/>
          <a:stretch/>
        </p:blipFill>
        <p:spPr bwMode="auto">
          <a:xfrm>
            <a:off x="9537430" y="2698985"/>
            <a:ext cx="2326076" cy="1759004"/>
          </a:xfrm>
          <a:prstGeom prst="decagon">
            <a:avLst/>
          </a:prstGeom>
          <a:noFill/>
          <a:extLst>
            <a:ext uri="{909E8E84-426E-40DD-AFC4-6F175D3DCCD1}">
              <a14:hiddenFill xmlns:a14="http://schemas.microsoft.com/office/drawing/2010/main">
                <a:solidFill>
                  <a:srgbClr val="FFFFFF"/>
                </a:solidFill>
              </a14:hiddenFill>
            </a:ext>
          </a:extLst>
        </p:spPr>
      </p:pic>
      <p:pic>
        <p:nvPicPr>
          <p:cNvPr id="2052" name="Picture 4" descr="The Role Of IoT In Smart Grid Tech - Intuz">
            <a:extLst>
              <a:ext uri="{FF2B5EF4-FFF2-40B4-BE49-F238E27FC236}">
                <a16:creationId xmlns:a16="http://schemas.microsoft.com/office/drawing/2014/main" id="{CDF7FA1B-5A62-DE3D-001C-A0EDF44D58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131" y="4321403"/>
            <a:ext cx="3828249" cy="2012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169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062" y="267383"/>
            <a:ext cx="3888526" cy="807646"/>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Outline</a:t>
            </a:r>
            <a:endParaRPr lang="en-IN" b="1" dirty="0">
              <a:solidFill>
                <a:srgbClr val="00206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6C19B6FD-226A-4CFB-95DA-A1309CA70088}" type="datetime1">
              <a:rPr lang="en-US" smtClean="0"/>
              <a:pPr>
                <a:spcAft>
                  <a:spcPts val="600"/>
                </a:spcAft>
              </a:pPr>
              <a:t>4/20/2025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2</a:t>
            </a:fld>
            <a:endParaRPr lang="en-IN"/>
          </a:p>
        </p:txBody>
      </p:sp>
      <p:pic>
        <p:nvPicPr>
          <p:cNvPr id="9" name="Picture 8" descr="A black and green logo&#10;&#10;Description automatically generated">
            <a:extLst>
              <a:ext uri="{FF2B5EF4-FFF2-40B4-BE49-F238E27FC236}">
                <a16:creationId xmlns:a16="http://schemas.microsoft.com/office/drawing/2014/main" id="{A4E8363D-BD78-CB08-68C5-EF4C2730BC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96977" y="698090"/>
            <a:ext cx="3498609" cy="1254624"/>
          </a:xfrm>
          <a:prstGeom prst="rect">
            <a:avLst/>
          </a:prstGeom>
        </p:spPr>
      </p:pic>
      <p:sp>
        <p:nvSpPr>
          <p:cNvPr id="11" name="TextBox 10">
            <a:extLst>
              <a:ext uri="{FF2B5EF4-FFF2-40B4-BE49-F238E27FC236}">
                <a16:creationId xmlns:a16="http://schemas.microsoft.com/office/drawing/2014/main" id="{64245924-1534-2B33-F883-AB95C8907383}"/>
              </a:ext>
            </a:extLst>
          </p:cNvPr>
          <p:cNvSpPr txBox="1"/>
          <p:nvPr/>
        </p:nvSpPr>
        <p:spPr>
          <a:xfrm>
            <a:off x="371062" y="1953468"/>
            <a:ext cx="3867563" cy="2951064"/>
          </a:xfrm>
          <a:prstGeom prst="rect">
            <a:avLst/>
          </a:prstGeom>
          <a:noFill/>
          <a:ln w="28575">
            <a:solidFill>
              <a:srgbClr val="002060"/>
            </a:solidFill>
          </a:ln>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Abstract</a:t>
            </a:r>
          </a:p>
          <a:p>
            <a:pPr>
              <a:lnSpc>
                <a:spcPct val="150000"/>
              </a:lnSpc>
            </a:pPr>
            <a:r>
              <a:rPr lang="en-US" dirty="0">
                <a:latin typeface="Times New Roman" panose="02020603050405020304" pitchFamily="18" charset="0"/>
                <a:cs typeface="Times New Roman" panose="02020603050405020304" pitchFamily="18" charset="0"/>
              </a:rPr>
              <a:t>Problem Statement and Research Gap</a:t>
            </a:r>
          </a:p>
          <a:p>
            <a:pPr>
              <a:lnSpc>
                <a:spcPct val="150000"/>
              </a:lnSpc>
            </a:pPr>
            <a:r>
              <a:rPr lang="en-US" dirty="0">
                <a:latin typeface="Times New Roman" panose="02020603050405020304" pitchFamily="18" charset="0"/>
                <a:cs typeface="Times New Roman" panose="02020603050405020304" pitchFamily="18" charset="0"/>
              </a:rPr>
              <a:t>Types of Charging Technology</a:t>
            </a:r>
          </a:p>
          <a:p>
            <a:pPr>
              <a:lnSpc>
                <a:spcPct val="150000"/>
              </a:lnSpc>
            </a:pPr>
            <a:r>
              <a:rPr lang="en-US" dirty="0">
                <a:latin typeface="Times New Roman" panose="02020603050405020304" pitchFamily="18" charset="0"/>
                <a:cs typeface="Times New Roman" panose="02020603050405020304" pitchFamily="18" charset="0"/>
              </a:rPr>
              <a:t>Literature survey</a:t>
            </a:r>
          </a:p>
          <a:p>
            <a:pPr>
              <a:lnSpc>
                <a:spcPct val="150000"/>
              </a:lnSpc>
            </a:pPr>
            <a:r>
              <a:rPr lang="en-US" dirty="0">
                <a:latin typeface="Times New Roman" panose="02020603050405020304" pitchFamily="18" charset="0"/>
                <a:cs typeface="Times New Roman" panose="02020603050405020304" pitchFamily="18" charset="0"/>
              </a:rPr>
              <a:t>Proposed Methodology</a:t>
            </a:r>
          </a:p>
          <a:p>
            <a:pPr>
              <a:lnSpc>
                <a:spcPct val="150000"/>
              </a:lnSpc>
            </a:pPr>
            <a:r>
              <a:rPr lang="en-US" dirty="0">
                <a:latin typeface="Times New Roman" panose="02020603050405020304" pitchFamily="18" charset="0"/>
                <a:cs typeface="Times New Roman" panose="02020603050405020304" pitchFamily="18" charset="0"/>
              </a:rPr>
              <a:t>Conclusion</a:t>
            </a:r>
          </a:p>
          <a:p>
            <a:pPr>
              <a:lnSpc>
                <a:spcPct val="150000"/>
              </a:lnSpc>
            </a:pPr>
            <a:r>
              <a:rPr lang="en-US" dirty="0">
                <a:latin typeface="Times New Roman" panose="02020603050405020304" pitchFamily="18" charset="0"/>
                <a:cs typeface="Times New Roman" panose="02020603050405020304" pitchFamily="18" charset="0"/>
              </a:rPr>
              <a:t>Tools used</a:t>
            </a:r>
          </a:p>
        </p:txBody>
      </p:sp>
      <p:sp>
        <p:nvSpPr>
          <p:cNvPr id="3" name="TextBox 2">
            <a:extLst>
              <a:ext uri="{FF2B5EF4-FFF2-40B4-BE49-F238E27FC236}">
                <a16:creationId xmlns:a16="http://schemas.microsoft.com/office/drawing/2014/main" id="{2593E92C-2D0C-16E3-CDFF-3B28CC2FD055}"/>
              </a:ext>
            </a:extLst>
          </p:cNvPr>
          <p:cNvSpPr txBox="1"/>
          <p:nvPr/>
        </p:nvSpPr>
        <p:spPr>
          <a:xfrm>
            <a:off x="6096000" y="2121934"/>
            <a:ext cx="5924963" cy="3366563"/>
          </a:xfrm>
          <a:prstGeom prst="rect">
            <a:avLst/>
          </a:prstGeom>
          <a:noFill/>
          <a:ln w="28575">
            <a:solidFill>
              <a:srgbClr val="002060"/>
            </a:solidFill>
          </a:ln>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IOT Architecture for Battery charging management</a:t>
            </a:r>
          </a:p>
          <a:p>
            <a:pPr>
              <a:lnSpc>
                <a:spcPct val="150000"/>
              </a:lnSpc>
            </a:pPr>
            <a:r>
              <a:rPr lang="en-US" dirty="0">
                <a:latin typeface="Times New Roman" panose="02020603050405020304" pitchFamily="18" charset="0"/>
                <a:cs typeface="Times New Roman" panose="02020603050405020304" pitchFamily="18" charset="0"/>
              </a:rPr>
              <a:t>PCC integration and Automation</a:t>
            </a:r>
          </a:p>
          <a:p>
            <a:pPr>
              <a:lnSpc>
                <a:spcPct val="150000"/>
              </a:lnSpc>
            </a:pPr>
            <a:r>
              <a:rPr lang="en-US" dirty="0">
                <a:latin typeface="Times New Roman" panose="02020603050405020304" pitchFamily="18" charset="0"/>
                <a:cs typeface="Times New Roman" panose="02020603050405020304" pitchFamily="18" charset="0"/>
              </a:rPr>
              <a:t>Algorithms</a:t>
            </a:r>
          </a:p>
          <a:p>
            <a:pPr>
              <a:lnSpc>
                <a:spcPct val="150000"/>
              </a:lnSpc>
            </a:pPr>
            <a:r>
              <a:rPr lang="en-US" dirty="0">
                <a:latin typeface="Times New Roman" panose="02020603050405020304" pitchFamily="18" charset="0"/>
                <a:cs typeface="Times New Roman" panose="02020603050405020304" pitchFamily="18" charset="0"/>
              </a:rPr>
              <a:t>Designed Proposed Simulation Model in MATAB Simulation</a:t>
            </a:r>
          </a:p>
          <a:p>
            <a:pPr>
              <a:lnSpc>
                <a:spcPct val="150000"/>
              </a:lnSpc>
            </a:pPr>
            <a:r>
              <a:rPr lang="en-US" dirty="0">
                <a:latin typeface="Times New Roman" panose="02020603050405020304" pitchFamily="18" charset="0"/>
                <a:cs typeface="Times New Roman" panose="02020603050405020304" pitchFamily="18" charset="0"/>
              </a:rPr>
              <a:t>Integrated PCC –Fully Automated &amp; Logically connected</a:t>
            </a:r>
          </a:p>
          <a:p>
            <a:pPr>
              <a:lnSpc>
                <a:spcPct val="150000"/>
              </a:lnSpc>
            </a:pPr>
            <a:r>
              <a:rPr lang="en-US" dirty="0">
                <a:latin typeface="Times New Roman" panose="02020603050405020304" pitchFamily="18" charset="0"/>
                <a:cs typeface="Times New Roman" panose="02020603050405020304" pitchFamily="18" charset="0"/>
              </a:rPr>
              <a:t>Swapping Station and DC Fast Charging</a:t>
            </a:r>
          </a:p>
          <a:p>
            <a:pPr>
              <a:lnSpc>
                <a:spcPct val="150000"/>
              </a:lnSpc>
            </a:pPr>
            <a:r>
              <a:rPr lang="en-US" dirty="0">
                <a:latin typeface="Times New Roman" panose="02020603050405020304" pitchFamily="18" charset="0"/>
                <a:cs typeface="Times New Roman" panose="02020603050405020304" pitchFamily="18" charset="0"/>
              </a:rPr>
              <a:t>Central Monitoring Station</a:t>
            </a:r>
          </a:p>
          <a:p>
            <a:pPr>
              <a:lnSpc>
                <a:spcPct val="150000"/>
              </a:lnSpc>
            </a:pPr>
            <a:r>
              <a:rPr lang="en-US" dirty="0">
                <a:latin typeface="Times New Roman" panose="02020603050405020304" pitchFamily="18" charset="0"/>
                <a:cs typeface="Times New Roman" panose="02020603050405020304" pitchFamily="18" charset="0"/>
              </a:rPr>
              <a:t>Calculated Spread sheet</a:t>
            </a:r>
          </a:p>
        </p:txBody>
      </p:sp>
      <p:cxnSp>
        <p:nvCxnSpPr>
          <p:cNvPr id="8" name="Connector: Elbow 7">
            <a:extLst>
              <a:ext uri="{FF2B5EF4-FFF2-40B4-BE49-F238E27FC236}">
                <a16:creationId xmlns:a16="http://schemas.microsoft.com/office/drawing/2014/main" id="{359A9745-6693-C492-162F-6474ACD99E0E}"/>
              </a:ext>
            </a:extLst>
          </p:cNvPr>
          <p:cNvCxnSpPr>
            <a:endCxn id="3" idx="1"/>
          </p:cNvCxnSpPr>
          <p:nvPr/>
        </p:nvCxnSpPr>
        <p:spPr>
          <a:xfrm flipV="1">
            <a:off x="2615381" y="3805216"/>
            <a:ext cx="3480619" cy="137519"/>
          </a:xfrm>
          <a:prstGeom prst="bentConnector3">
            <a:avLst>
              <a:gd name="adj1" fmla="val 64689"/>
            </a:avLst>
          </a:prstGeom>
          <a:ln w="28575">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6997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12" y="69634"/>
            <a:ext cx="10515600" cy="572602"/>
          </a:xfrm>
        </p:spPr>
        <p:txBody>
          <a:bodyPr>
            <a:normAutofit fontScale="90000"/>
          </a:bodyPr>
          <a:lstStyle/>
          <a:p>
            <a:r>
              <a:rPr lang="en-US" b="1" dirty="0">
                <a:solidFill>
                  <a:srgbClr val="002060"/>
                </a:solidFill>
                <a:latin typeface="Times New Roman" panose="02020603050405020304" pitchFamily="18" charset="0"/>
                <a:cs typeface="Times New Roman" panose="02020603050405020304" pitchFamily="18" charset="0"/>
              </a:rPr>
              <a:t>Abstract</a:t>
            </a:r>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E4F1191F-5C3D-423D-ABD6-BD3A147E22C1}" type="datetime1">
              <a:rPr lang="en-US" smtClean="0"/>
              <a:pPr>
                <a:spcAft>
                  <a:spcPts val="600"/>
                </a:spcAft>
              </a:pPr>
              <a:t>4/20/2025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3</a:t>
            </a:fld>
            <a:endParaRPr lang="en-IN"/>
          </a:p>
        </p:txBody>
      </p:sp>
      <p:sp>
        <p:nvSpPr>
          <p:cNvPr id="8" name="Rectangle 2">
            <a:extLst>
              <a:ext uri="{FF2B5EF4-FFF2-40B4-BE49-F238E27FC236}">
                <a16:creationId xmlns:a16="http://schemas.microsoft.com/office/drawing/2014/main" id="{A34404C8-E894-A196-EACB-B369F0290F0A}"/>
              </a:ext>
            </a:extLst>
          </p:cNvPr>
          <p:cNvSpPr>
            <a:spLocks noChangeArrowheads="1"/>
          </p:cNvSpPr>
          <p:nvPr/>
        </p:nvSpPr>
        <p:spPr bwMode="auto">
          <a:xfrm>
            <a:off x="75267" y="1198984"/>
            <a:ext cx="11780519" cy="397608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400" b="0" i="0" u="none" strike="noStrike" cap="none" normalizeH="0" baseline="0" dirty="0">
              <a:ln>
                <a:noFill/>
              </a:ln>
              <a:effectLst/>
            </a:endParaRPr>
          </a:p>
        </p:txBody>
      </p:sp>
      <p:pic>
        <p:nvPicPr>
          <p:cNvPr id="3" name="Picture 2" descr="A black and green logo&#10;&#10;Description automatically generated">
            <a:extLst>
              <a:ext uri="{FF2B5EF4-FFF2-40B4-BE49-F238E27FC236}">
                <a16:creationId xmlns:a16="http://schemas.microsoft.com/office/drawing/2014/main" id="{4FBA0B4A-D14C-DA47-559C-B498081504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77373" y="55806"/>
            <a:ext cx="1928015" cy="691398"/>
          </a:xfrm>
          <a:prstGeom prst="rect">
            <a:avLst/>
          </a:prstGeom>
        </p:spPr>
      </p:pic>
      <p:sp>
        <p:nvSpPr>
          <p:cNvPr id="11" name="TextBox 10">
            <a:extLst>
              <a:ext uri="{FF2B5EF4-FFF2-40B4-BE49-F238E27FC236}">
                <a16:creationId xmlns:a16="http://schemas.microsoft.com/office/drawing/2014/main" id="{4BB79985-7FA5-227B-16C1-362DD738E7B0}"/>
              </a:ext>
            </a:extLst>
          </p:cNvPr>
          <p:cNvSpPr txBox="1"/>
          <p:nvPr/>
        </p:nvSpPr>
        <p:spPr>
          <a:xfrm>
            <a:off x="186612" y="910639"/>
            <a:ext cx="12005388" cy="3892732"/>
          </a:xfrm>
          <a:prstGeom prst="rect">
            <a:avLst/>
          </a:prstGeom>
          <a:noFill/>
        </p:spPr>
        <p:txBody>
          <a:bodyPr wrap="square" rtlCol="0">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Problem:</a:t>
            </a:r>
            <a:r>
              <a:rPr kumimoji="0" lang="en-US" altLang="en-US" b="0" i="0" u="none" strike="noStrike" cap="none" normalizeH="0" baseline="0" dirty="0">
                <a:ln>
                  <a:noFill/>
                </a:ln>
                <a:solidFill>
                  <a:schemeClr val="tx1"/>
                </a:solidFill>
                <a:effectLst/>
              </a:rPr>
              <a:t> Rapid EV adoption faces challenges like range anxiety, inconsistent charging, and limited infrastructure.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Solution:</a:t>
            </a:r>
            <a:r>
              <a:rPr kumimoji="0" lang="en-US" altLang="en-US" b="0" i="0" u="none" strike="noStrike" cap="none" normalizeH="0" baseline="0" dirty="0">
                <a:ln>
                  <a:noFill/>
                </a:ln>
                <a:solidFill>
                  <a:schemeClr val="tx1"/>
                </a:solidFill>
                <a:effectLst/>
              </a:rPr>
              <a:t> IoT-based architecture for efficient battery charging.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Features:</a:t>
            </a:r>
            <a:r>
              <a:rPr kumimoji="0" lang="en-US" altLang="en-US" b="0" i="0" u="none" strike="noStrike" cap="none" normalizeH="0" baseline="0" dirty="0">
                <a:ln>
                  <a:noFill/>
                </a:ln>
                <a:solidFill>
                  <a:schemeClr val="tx1"/>
                </a:solidFill>
                <a:effectLst/>
              </a:rPr>
              <a:t> Real-time monitoring, predictive analytics, mobile charging units, centralized cloud platform, and user-friendly mobile app.</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Benefits:</a:t>
            </a:r>
            <a:r>
              <a:rPr kumimoji="0" lang="en-US" altLang="en-US" b="0" i="0" u="none" strike="noStrike" cap="none" normalizeH="0" baseline="0" dirty="0">
                <a:ln>
                  <a:noFill/>
                </a:ln>
                <a:solidFill>
                  <a:schemeClr val="tx1"/>
                </a:solidFill>
                <a:effectLst/>
              </a:rPr>
              <a:t> Enhanced user experience, optimized energy management, improved accessibility, and promotion of EVs and sustainable energy.</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Significance:</a:t>
            </a:r>
            <a:r>
              <a:rPr kumimoji="0" lang="en-US" altLang="en-US" b="0" i="0" u="none" strike="noStrike" cap="none" normalizeH="0" baseline="0" dirty="0">
                <a:ln>
                  <a:noFill/>
                </a:ln>
                <a:solidFill>
                  <a:schemeClr val="tx1"/>
                </a:solidFill>
                <a:effectLst/>
              </a:rPr>
              <a:t> Addresses critical issues in EV charging, contributes to a cleaner future, and drives technological advancement. </a:t>
            </a:r>
          </a:p>
        </p:txBody>
      </p:sp>
    </p:spTree>
    <p:extLst>
      <p:ext uri="{BB962C8B-B14F-4D97-AF65-F5344CB8AC3E}">
        <p14:creationId xmlns:p14="http://schemas.microsoft.com/office/powerpoint/2010/main" val="174835603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74D5C4C-8A5F-1BE6-FDA1-84E25E0274D5}"/>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EFD7FDD5-97B2-1112-B5CC-B64F6E386E3A}"/>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B305F3A4-3E3B-625E-0905-DCFE0830E037}"/>
              </a:ext>
            </a:extLst>
          </p:cNvPr>
          <p:cNvSpPr>
            <a:spLocks noGrp="1"/>
          </p:cNvSpPr>
          <p:nvPr>
            <p:ph type="sldNum" sz="quarter" idx="12"/>
          </p:nvPr>
        </p:nvSpPr>
        <p:spPr/>
        <p:txBody>
          <a:bodyPr/>
          <a:lstStyle/>
          <a:p>
            <a:fld id="{15FCCAAF-6324-40D0-99C1-825B83CC9B2F}" type="slidenum">
              <a:rPr lang="en-IN" smtClean="0"/>
              <a:t>4</a:t>
            </a:fld>
            <a:endParaRPr lang="en-IN"/>
          </a:p>
        </p:txBody>
      </p:sp>
      <p:pic>
        <p:nvPicPr>
          <p:cNvPr id="1026" name="Picture 2" descr="A EV Charging Station  66KV with grid and Load with 30nos EV Swapping Station and 4 Fast charging Station with vehicles. Image 3 of 4">
            <a:extLst>
              <a:ext uri="{FF2B5EF4-FFF2-40B4-BE49-F238E27FC236}">
                <a16:creationId xmlns:a16="http://schemas.microsoft.com/office/drawing/2014/main" id="{C4190998-36CE-B16F-F702-8706976E1A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3450" y="612291"/>
            <a:ext cx="3046348" cy="20951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ower generation plat Non renable energy. Image 3 of 4">
            <a:extLst>
              <a:ext uri="{FF2B5EF4-FFF2-40B4-BE49-F238E27FC236}">
                <a16:creationId xmlns:a16="http://schemas.microsoft.com/office/drawing/2014/main" id="{C71A6AFB-78A3-3F38-C36B-D5BBC095EE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005" y="545387"/>
            <a:ext cx="2897620" cy="209517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9A3A2F3B-93BF-24E1-3E80-0F24820A3971}"/>
              </a:ext>
            </a:extLst>
          </p:cNvPr>
          <p:cNvCxnSpPr>
            <a:cxnSpLocks/>
            <a:stCxn id="1028" idx="3"/>
          </p:cNvCxnSpPr>
          <p:nvPr/>
        </p:nvCxnSpPr>
        <p:spPr>
          <a:xfrm flipV="1">
            <a:off x="3954625" y="1577392"/>
            <a:ext cx="3048825" cy="1558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9C8326FE-ECE3-FFAE-7DCF-9795936B7F83}"/>
              </a:ext>
            </a:extLst>
          </p:cNvPr>
          <p:cNvSpPr txBox="1"/>
          <p:nvPr/>
        </p:nvSpPr>
        <p:spPr>
          <a:xfrm>
            <a:off x="223934" y="2731414"/>
            <a:ext cx="11843607" cy="461665"/>
          </a:xfrm>
          <a:prstGeom prst="rect">
            <a:avLst/>
          </a:prstGeom>
          <a:noFill/>
        </p:spPr>
        <p:txBody>
          <a:bodyPr wrap="square" rtlCol="0">
            <a:spAutoFit/>
          </a:bodyPr>
          <a:lstStyle/>
          <a:p>
            <a:r>
              <a:rPr lang="en-US" sz="2400" dirty="0"/>
              <a:t>Lack of Pollution – need More Transportation – Need coal mines – More Generation cost </a:t>
            </a:r>
          </a:p>
        </p:txBody>
      </p:sp>
      <p:sp>
        <p:nvSpPr>
          <p:cNvPr id="13" name="TextBox 12">
            <a:extLst>
              <a:ext uri="{FF2B5EF4-FFF2-40B4-BE49-F238E27FC236}">
                <a16:creationId xmlns:a16="http://schemas.microsoft.com/office/drawing/2014/main" id="{0E9FF802-91D5-D240-CE18-D27913D3478A}"/>
              </a:ext>
            </a:extLst>
          </p:cNvPr>
          <p:cNvSpPr txBox="1"/>
          <p:nvPr/>
        </p:nvSpPr>
        <p:spPr>
          <a:xfrm>
            <a:off x="553566" y="3193081"/>
            <a:ext cx="11513975" cy="2677656"/>
          </a:xfrm>
          <a:prstGeom prst="rect">
            <a:avLst/>
          </a:prstGeom>
          <a:noFill/>
        </p:spPr>
        <p:txBody>
          <a:bodyPr wrap="square" rtlCol="0">
            <a:spAutoFit/>
          </a:bodyPr>
          <a:lstStyle/>
          <a:p>
            <a:r>
              <a:rPr lang="en-US" sz="2400" b="1" dirty="0">
                <a:solidFill>
                  <a:srgbClr val="C00000"/>
                </a:solidFill>
              </a:rPr>
              <a:t>Why IOT needed</a:t>
            </a:r>
          </a:p>
          <a:p>
            <a:endParaRPr lang="en-US" sz="2400" b="1" dirty="0">
              <a:solidFill>
                <a:srgbClr val="C00000"/>
              </a:solidFill>
            </a:endParaRPr>
          </a:p>
          <a:p>
            <a:r>
              <a:rPr lang="en-US" sz="2400" dirty="0">
                <a:solidFill>
                  <a:srgbClr val="002060"/>
                </a:solidFill>
              </a:rPr>
              <a:t>Real Time Data Monitoring</a:t>
            </a:r>
          </a:p>
          <a:p>
            <a:r>
              <a:rPr lang="en-US" sz="2400" dirty="0">
                <a:solidFill>
                  <a:srgbClr val="002060"/>
                </a:solidFill>
              </a:rPr>
              <a:t>Pre estimation Power Demand</a:t>
            </a:r>
          </a:p>
          <a:p>
            <a:r>
              <a:rPr lang="en-US" sz="2400" dirty="0">
                <a:solidFill>
                  <a:srgbClr val="002060"/>
                </a:solidFill>
              </a:rPr>
              <a:t>To Reuse Harmonic's Imbalance</a:t>
            </a:r>
          </a:p>
          <a:p>
            <a:r>
              <a:rPr lang="en-US" sz="2400" dirty="0">
                <a:solidFill>
                  <a:srgbClr val="002060"/>
                </a:solidFill>
              </a:rPr>
              <a:t>Central Monitoring System</a:t>
            </a:r>
          </a:p>
          <a:p>
            <a:r>
              <a:rPr lang="en-US" sz="2400" dirty="0">
                <a:solidFill>
                  <a:srgbClr val="002060"/>
                </a:solidFill>
              </a:rPr>
              <a:t>End User Integration</a:t>
            </a:r>
          </a:p>
        </p:txBody>
      </p:sp>
      <p:sp>
        <p:nvSpPr>
          <p:cNvPr id="14" name="TextBox 13">
            <a:extLst>
              <a:ext uri="{FF2B5EF4-FFF2-40B4-BE49-F238E27FC236}">
                <a16:creationId xmlns:a16="http://schemas.microsoft.com/office/drawing/2014/main" id="{218CEBE6-B980-448B-6F98-72EE278685C8}"/>
              </a:ext>
            </a:extLst>
          </p:cNvPr>
          <p:cNvSpPr txBox="1"/>
          <p:nvPr/>
        </p:nvSpPr>
        <p:spPr>
          <a:xfrm>
            <a:off x="5120248" y="4313050"/>
            <a:ext cx="7071752" cy="1200329"/>
          </a:xfrm>
          <a:prstGeom prst="rect">
            <a:avLst/>
          </a:prstGeom>
          <a:solidFill>
            <a:schemeClr val="accent2">
              <a:lumMod val="60000"/>
              <a:lumOff val="40000"/>
            </a:schemeClr>
          </a:solidFill>
        </p:spPr>
        <p:txBody>
          <a:bodyPr wrap="square" rtlCol="0">
            <a:spAutoFit/>
          </a:bodyPr>
          <a:lstStyle/>
          <a:p>
            <a:r>
              <a:rPr lang="en-US" sz="2400" dirty="0">
                <a:solidFill>
                  <a:srgbClr val="002060"/>
                </a:solidFill>
              </a:rPr>
              <a:t>EV are Rapidly Increasing in the world Automotive Market</a:t>
            </a:r>
          </a:p>
          <a:p>
            <a:r>
              <a:rPr lang="en-US" sz="2400" dirty="0">
                <a:solidFill>
                  <a:srgbClr val="002060"/>
                </a:solidFill>
              </a:rPr>
              <a:t>So, There is a Demand of Charging Infra</a:t>
            </a:r>
          </a:p>
        </p:txBody>
      </p:sp>
      <p:sp>
        <p:nvSpPr>
          <p:cNvPr id="15" name="TextBox 14">
            <a:extLst>
              <a:ext uri="{FF2B5EF4-FFF2-40B4-BE49-F238E27FC236}">
                <a16:creationId xmlns:a16="http://schemas.microsoft.com/office/drawing/2014/main" id="{AE53C5A8-2068-3B71-FF1C-D3C455AB9C48}"/>
              </a:ext>
            </a:extLst>
          </p:cNvPr>
          <p:cNvSpPr txBox="1"/>
          <p:nvPr/>
        </p:nvSpPr>
        <p:spPr>
          <a:xfrm>
            <a:off x="223934" y="40970"/>
            <a:ext cx="9405258" cy="523220"/>
          </a:xfrm>
          <a:prstGeom prst="rect">
            <a:avLst/>
          </a:prstGeom>
          <a:noFill/>
        </p:spPr>
        <p:txBody>
          <a:bodyPr wrap="square" rtlCol="0">
            <a:spAutoFit/>
          </a:bodyPr>
          <a:lstStyle/>
          <a:p>
            <a:r>
              <a:rPr lang="en-IN" sz="2800" b="1" dirty="0">
                <a:solidFill>
                  <a:srgbClr val="002060"/>
                </a:solidFill>
              </a:rPr>
              <a:t>Problem Statement and Research Gap with IOT Tech</a:t>
            </a:r>
            <a:endParaRPr lang="en-US" sz="2800" b="1" dirty="0">
              <a:solidFill>
                <a:srgbClr val="002060"/>
              </a:solidFill>
            </a:endParaRPr>
          </a:p>
        </p:txBody>
      </p:sp>
    </p:spTree>
    <p:extLst>
      <p:ext uri="{BB962C8B-B14F-4D97-AF65-F5344CB8AC3E}">
        <p14:creationId xmlns:p14="http://schemas.microsoft.com/office/powerpoint/2010/main" val="3728971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727" y="35393"/>
            <a:ext cx="10515600" cy="916330"/>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Types of Charging Technology</a:t>
            </a:r>
            <a:endParaRPr lang="en-IN" sz="3600" b="1" dirty="0"/>
          </a:p>
        </p:txBody>
      </p:sp>
      <p:sp>
        <p:nvSpPr>
          <p:cNvPr id="4" name="Date Placeholder 3"/>
          <p:cNvSpPr>
            <a:spLocks noGrp="1"/>
          </p:cNvSpPr>
          <p:nvPr>
            <p:ph type="dt" sz="half" idx="10"/>
          </p:nvPr>
        </p:nvSpPr>
        <p:spPr>
          <a:xfrm>
            <a:off x="838200" y="6356350"/>
            <a:ext cx="2743200" cy="365125"/>
          </a:xfrm>
        </p:spPr>
        <p:txBody>
          <a:bodyPr>
            <a:normAutofit/>
          </a:bodyPr>
          <a:lstStyle/>
          <a:p>
            <a:pPr>
              <a:spcAft>
                <a:spcPts val="600"/>
              </a:spcAft>
            </a:pPr>
            <a:fld id="{72F3F584-AB94-4E26-95EA-676D8A883815}" type="datetime1">
              <a:rPr lang="en-US" smtClean="0"/>
              <a:pPr>
                <a:spcAft>
                  <a:spcPts val="600"/>
                </a:spcAft>
              </a:pPr>
              <a:t>4/20/2025</a:t>
            </a:fld>
            <a:endParaRPr lang="en-IN"/>
          </a:p>
        </p:txBody>
      </p:sp>
      <p:sp>
        <p:nvSpPr>
          <p:cNvPr id="5" name="Footer Placeholder 4"/>
          <p:cNvSpPr>
            <a:spLocks noGrp="1"/>
          </p:cNvSpPr>
          <p:nvPr>
            <p:ph type="ftr" sz="quarter" idx="11"/>
          </p:nvPr>
        </p:nvSpPr>
        <p:spPr>
          <a:xfrm>
            <a:off x="4038600" y="6356350"/>
            <a:ext cx="4114800" cy="365125"/>
          </a:xfrm>
        </p:spPr>
        <p:txBody>
          <a:bodyPr>
            <a:normAutofit/>
          </a:bodyPr>
          <a:lstStyle/>
          <a:p>
            <a:pPr>
              <a:spcAft>
                <a:spcPts val="600"/>
              </a:spcAft>
            </a:pPr>
            <a:r>
              <a:rPr lang="en-US" dirty="0"/>
              <a:t>Jagadeesh_AP2312210002</a:t>
            </a:r>
            <a:endParaRPr lang="en-IN"/>
          </a:p>
        </p:txBody>
      </p:sp>
      <p:sp>
        <p:nvSpPr>
          <p:cNvPr id="6" name="Slide Number Placeholder 5"/>
          <p:cNvSpPr>
            <a:spLocks noGrp="1"/>
          </p:cNvSpPr>
          <p:nvPr>
            <p:ph type="sldNum" sz="quarter" idx="12"/>
          </p:nvPr>
        </p:nvSpPr>
        <p:spPr>
          <a:xfrm>
            <a:off x="8610600" y="6356350"/>
            <a:ext cx="2743200" cy="365125"/>
          </a:xfrm>
        </p:spPr>
        <p:txBody>
          <a:bodyPr>
            <a:normAutofit/>
          </a:bodyPr>
          <a:lstStyle/>
          <a:p>
            <a:pPr>
              <a:spcAft>
                <a:spcPts val="600"/>
              </a:spcAft>
            </a:pPr>
            <a:fld id="{15FCCAAF-6324-40D0-99C1-825B83CC9B2F}" type="slidenum">
              <a:rPr lang="en-IN" smtClean="0"/>
              <a:pPr>
                <a:spcAft>
                  <a:spcPts val="600"/>
                </a:spcAft>
              </a:pPr>
              <a:t>5</a:t>
            </a:fld>
            <a:endParaRPr lang="en-IN"/>
          </a:p>
        </p:txBody>
      </p:sp>
      <p:pic>
        <p:nvPicPr>
          <p:cNvPr id="3" name="Picture 2" descr="A black and green logo&#10;&#10;Description automatically generated">
            <a:extLst>
              <a:ext uri="{FF2B5EF4-FFF2-40B4-BE49-F238E27FC236}">
                <a16:creationId xmlns:a16="http://schemas.microsoft.com/office/drawing/2014/main" id="{7F205177-D1E2-BD30-F1CF-624DACEEF3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770" y="145857"/>
            <a:ext cx="1928015" cy="691398"/>
          </a:xfrm>
          <a:prstGeom prst="rect">
            <a:avLst/>
          </a:prstGeom>
        </p:spPr>
      </p:pic>
      <p:sp>
        <p:nvSpPr>
          <p:cNvPr id="8" name="Content Placeholder 7">
            <a:extLst>
              <a:ext uri="{FF2B5EF4-FFF2-40B4-BE49-F238E27FC236}">
                <a16:creationId xmlns:a16="http://schemas.microsoft.com/office/drawing/2014/main" id="{5F10A82E-6924-1535-7B46-36437EFE4BB1}"/>
              </a:ext>
            </a:extLst>
          </p:cNvPr>
          <p:cNvSpPr>
            <a:spLocks noGrp="1"/>
          </p:cNvSpPr>
          <p:nvPr>
            <p:ph idx="1"/>
          </p:nvPr>
        </p:nvSpPr>
        <p:spPr>
          <a:xfrm>
            <a:off x="4518242" y="5070429"/>
            <a:ext cx="3180530" cy="890208"/>
          </a:xfrm>
        </p:spPr>
        <p:txBody>
          <a:bodyPr>
            <a:normAutofit/>
          </a:bodyPr>
          <a:lstStyle/>
          <a:p>
            <a:pPr marL="0" indent="0" algn="l">
              <a:buNone/>
            </a:pPr>
            <a:r>
              <a:rPr lang="en-US" b="0" i="0" dirty="0">
                <a:effectLst/>
                <a:latin typeface="var(--font-fk-grotesk)"/>
              </a:rPr>
              <a:t>Vehicle-to-Grid (V2G) Technology</a:t>
            </a:r>
          </a:p>
        </p:txBody>
      </p:sp>
      <p:pic>
        <p:nvPicPr>
          <p:cNvPr id="1026" name="Picture 2" descr="5 Differences Between AC and DC Charging">
            <a:extLst>
              <a:ext uri="{FF2B5EF4-FFF2-40B4-BE49-F238E27FC236}">
                <a16:creationId xmlns:a16="http://schemas.microsoft.com/office/drawing/2014/main" id="{9C7E5A01-7B5C-D84F-A569-F150FD192E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837255"/>
            <a:ext cx="2776538" cy="17335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ttery standardisation on the horizon ...">
            <a:extLst>
              <a:ext uri="{FF2B5EF4-FFF2-40B4-BE49-F238E27FC236}">
                <a16:creationId xmlns:a16="http://schemas.microsoft.com/office/drawing/2014/main" id="{12898CCF-5046-04A2-A588-B4334E7C40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6744" y="856815"/>
            <a:ext cx="2638425" cy="17335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ireless Electric Vehicle Charging ...">
            <a:extLst>
              <a:ext uri="{FF2B5EF4-FFF2-40B4-BE49-F238E27FC236}">
                <a16:creationId xmlns:a16="http://schemas.microsoft.com/office/drawing/2014/main" id="{6A502FB7-7735-C327-FB41-E55F6347F9B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6848"/>
          <a:stretch/>
        </p:blipFill>
        <p:spPr bwMode="auto">
          <a:xfrm>
            <a:off x="7778853" y="768941"/>
            <a:ext cx="2609850" cy="173355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C Fast Chargers For (EV) Electric ...">
            <a:extLst>
              <a:ext uri="{FF2B5EF4-FFF2-40B4-BE49-F238E27FC236}">
                <a16:creationId xmlns:a16="http://schemas.microsoft.com/office/drawing/2014/main" id="{80EB0B01-E99E-AED7-EF84-14B346481E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450" y="3655453"/>
            <a:ext cx="2943225" cy="155257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p 5 V2G Startups: Will You Join the ...">
            <a:extLst>
              <a:ext uri="{FF2B5EF4-FFF2-40B4-BE49-F238E27FC236}">
                <a16:creationId xmlns:a16="http://schemas.microsoft.com/office/drawing/2014/main" id="{7B8EB809-7FE0-2818-B8AA-5ABA7F4FC4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2077" y="3584529"/>
            <a:ext cx="3067050" cy="14859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Electric car charging from a power ...">
            <a:extLst>
              <a:ext uri="{FF2B5EF4-FFF2-40B4-BE49-F238E27FC236}">
                <a16:creationId xmlns:a16="http://schemas.microsoft.com/office/drawing/2014/main" id="{6E5BEE42-0F41-FB7F-7E65-E05842A45D1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11972"/>
          <a:stretch/>
        </p:blipFill>
        <p:spPr bwMode="auto">
          <a:xfrm>
            <a:off x="8502557" y="3584529"/>
            <a:ext cx="2419350" cy="166855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7">
            <a:extLst>
              <a:ext uri="{FF2B5EF4-FFF2-40B4-BE49-F238E27FC236}">
                <a16:creationId xmlns:a16="http://schemas.microsoft.com/office/drawing/2014/main" id="{87B57311-EA03-B25E-2F75-1146CD9E182D}"/>
              </a:ext>
            </a:extLst>
          </p:cNvPr>
          <p:cNvSpPr txBox="1">
            <a:spLocks/>
          </p:cNvSpPr>
          <p:nvPr/>
        </p:nvSpPr>
        <p:spPr>
          <a:xfrm>
            <a:off x="301824" y="5274535"/>
            <a:ext cx="3520675" cy="36512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var(--font-fk-grotesk)"/>
              </a:rPr>
              <a:t>Fast Charging Technologies</a:t>
            </a:r>
          </a:p>
        </p:txBody>
      </p:sp>
      <p:sp>
        <p:nvSpPr>
          <p:cNvPr id="9" name="Content Placeholder 7">
            <a:extLst>
              <a:ext uri="{FF2B5EF4-FFF2-40B4-BE49-F238E27FC236}">
                <a16:creationId xmlns:a16="http://schemas.microsoft.com/office/drawing/2014/main" id="{843B9EDC-0024-91F5-7220-ADF248AEA66E}"/>
              </a:ext>
            </a:extLst>
          </p:cNvPr>
          <p:cNvSpPr txBox="1">
            <a:spLocks/>
          </p:cNvSpPr>
          <p:nvPr/>
        </p:nvSpPr>
        <p:spPr>
          <a:xfrm>
            <a:off x="8052750" y="2544624"/>
            <a:ext cx="2839027" cy="365125"/>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var(--font-fk-grotesk)"/>
              </a:rPr>
              <a:t>Wireless Charging</a:t>
            </a:r>
          </a:p>
        </p:txBody>
      </p:sp>
      <p:sp>
        <p:nvSpPr>
          <p:cNvPr id="10" name="Content Placeholder 7">
            <a:extLst>
              <a:ext uri="{FF2B5EF4-FFF2-40B4-BE49-F238E27FC236}">
                <a16:creationId xmlns:a16="http://schemas.microsoft.com/office/drawing/2014/main" id="{5B72FE38-1AA6-10DD-2703-F32ACDEE7550}"/>
              </a:ext>
            </a:extLst>
          </p:cNvPr>
          <p:cNvSpPr txBox="1">
            <a:spLocks/>
          </p:cNvSpPr>
          <p:nvPr/>
        </p:nvSpPr>
        <p:spPr>
          <a:xfrm>
            <a:off x="4426744" y="2631774"/>
            <a:ext cx="2743200" cy="4939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var(--font-fk-grotesk)"/>
              </a:rPr>
              <a:t>Battery Swapping</a:t>
            </a:r>
          </a:p>
        </p:txBody>
      </p:sp>
      <p:sp>
        <p:nvSpPr>
          <p:cNvPr id="11" name="Content Placeholder 7">
            <a:extLst>
              <a:ext uri="{FF2B5EF4-FFF2-40B4-BE49-F238E27FC236}">
                <a16:creationId xmlns:a16="http://schemas.microsoft.com/office/drawing/2014/main" id="{B9A53AE1-F2AF-47EF-5331-A4210E58FAAF}"/>
              </a:ext>
            </a:extLst>
          </p:cNvPr>
          <p:cNvSpPr txBox="1">
            <a:spLocks/>
          </p:cNvSpPr>
          <p:nvPr/>
        </p:nvSpPr>
        <p:spPr>
          <a:xfrm>
            <a:off x="863473" y="2597425"/>
            <a:ext cx="1977230" cy="10635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US" dirty="0">
                <a:latin typeface="var(--font-fk-grotesk)"/>
              </a:rPr>
              <a:t>AC Charging</a:t>
            </a:r>
          </a:p>
          <a:p>
            <a:pPr marL="0" indent="0">
              <a:lnSpc>
                <a:spcPct val="100000"/>
              </a:lnSpc>
              <a:buFont typeface="Arial" panose="020B0604020202020204" pitchFamily="34" charset="0"/>
              <a:buNone/>
            </a:pPr>
            <a:r>
              <a:rPr lang="en-US" dirty="0">
                <a:latin typeface="var(--font-fk-grotesk)"/>
              </a:rPr>
              <a:t>DC Charging</a:t>
            </a:r>
          </a:p>
        </p:txBody>
      </p:sp>
      <p:sp>
        <p:nvSpPr>
          <p:cNvPr id="12" name="Content Placeholder 7">
            <a:extLst>
              <a:ext uri="{FF2B5EF4-FFF2-40B4-BE49-F238E27FC236}">
                <a16:creationId xmlns:a16="http://schemas.microsoft.com/office/drawing/2014/main" id="{2AE7E9BE-B158-9D06-E9CD-39DC2A210A21}"/>
              </a:ext>
            </a:extLst>
          </p:cNvPr>
          <p:cNvSpPr txBox="1">
            <a:spLocks/>
          </p:cNvSpPr>
          <p:nvPr/>
        </p:nvSpPr>
        <p:spPr>
          <a:xfrm>
            <a:off x="8610600" y="5208028"/>
            <a:ext cx="2666918" cy="52145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var(--font-fk-grotesk)"/>
              </a:rPr>
              <a:t>Mobile charging</a:t>
            </a:r>
          </a:p>
        </p:txBody>
      </p:sp>
    </p:spTree>
    <p:extLst>
      <p:ext uri="{BB962C8B-B14F-4D97-AF65-F5344CB8AC3E}">
        <p14:creationId xmlns:p14="http://schemas.microsoft.com/office/powerpoint/2010/main" val="34097631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4C1E2-9D1D-91B6-1801-BDBA32419E20}"/>
              </a:ext>
            </a:extLst>
          </p:cNvPr>
          <p:cNvSpPr>
            <a:spLocks noGrp="1"/>
          </p:cNvSpPr>
          <p:nvPr>
            <p:ph type="title"/>
          </p:nvPr>
        </p:nvSpPr>
        <p:spPr>
          <a:xfrm>
            <a:off x="81117" y="217642"/>
            <a:ext cx="10515600" cy="588604"/>
          </a:xfrm>
        </p:spPr>
        <p:txBody>
          <a:bodyPr>
            <a:normAutofit fontScale="90000"/>
          </a:bodyPr>
          <a:lstStyle/>
          <a:p>
            <a:r>
              <a:rPr lang="en-US" sz="4000" b="1">
                <a:solidFill>
                  <a:srgbClr val="002060"/>
                </a:solidFill>
                <a:latin typeface="Times New Roman" panose="02020603050405020304" pitchFamily="18" charset="0"/>
                <a:cs typeface="Times New Roman" panose="02020603050405020304" pitchFamily="18" charset="0"/>
              </a:rPr>
              <a:t>Literature survey</a:t>
            </a:r>
            <a:endParaRPr lang="en-US" sz="40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19F81179-5B1F-7866-BFB4-20009F69FC34}"/>
              </a:ext>
            </a:extLst>
          </p:cNvPr>
          <p:cNvGraphicFramePr>
            <a:graphicFrameLocks noGrp="1"/>
          </p:cNvGraphicFramePr>
          <p:nvPr>
            <p:ph idx="1"/>
            <p:extLst>
              <p:ext uri="{D42A27DB-BD31-4B8C-83A1-F6EECF244321}">
                <p14:modId xmlns:p14="http://schemas.microsoft.com/office/powerpoint/2010/main" val="2351539366"/>
              </p:ext>
            </p:extLst>
          </p:nvPr>
        </p:nvGraphicFramePr>
        <p:xfrm>
          <a:off x="307257" y="806246"/>
          <a:ext cx="11803625" cy="59095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3136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CF1617A-68F7-451A-B322-43A9274F3A5B}"/>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1BEE81F4-4FBF-BA17-1569-C844F3B0F8A5}"/>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4B7E9104-700E-891F-B04F-D88439DEAB9A}"/>
              </a:ext>
            </a:extLst>
          </p:cNvPr>
          <p:cNvSpPr>
            <a:spLocks noGrp="1"/>
          </p:cNvSpPr>
          <p:nvPr>
            <p:ph type="sldNum" sz="quarter" idx="12"/>
          </p:nvPr>
        </p:nvSpPr>
        <p:spPr/>
        <p:txBody>
          <a:bodyPr/>
          <a:lstStyle/>
          <a:p>
            <a:fld id="{15FCCAAF-6324-40D0-99C1-825B83CC9B2F}" type="slidenum">
              <a:rPr lang="en-IN" smtClean="0"/>
              <a:t>7</a:t>
            </a:fld>
            <a:endParaRPr lang="en-IN"/>
          </a:p>
        </p:txBody>
      </p:sp>
      <p:pic>
        <p:nvPicPr>
          <p:cNvPr id="1026" name="Picture 2" descr="Buy High Quality 170W/12V Polycrystalline Solar Panel Online | Luminous">
            <a:extLst>
              <a:ext uri="{FF2B5EF4-FFF2-40B4-BE49-F238E27FC236}">
                <a16:creationId xmlns:a16="http://schemas.microsoft.com/office/drawing/2014/main" id="{B9F6085E-6013-CB47-F189-7A66F21D6A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197" t="11840" r="29706" b="12562"/>
          <a:stretch/>
        </p:blipFill>
        <p:spPr bwMode="auto">
          <a:xfrm>
            <a:off x="102637" y="319088"/>
            <a:ext cx="1373901" cy="178678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PPT Solar Inverter &amp; Charge Controller in India | Enertech">
            <a:extLst>
              <a:ext uri="{FF2B5EF4-FFF2-40B4-BE49-F238E27FC236}">
                <a16:creationId xmlns:a16="http://schemas.microsoft.com/office/drawing/2014/main" id="{66C5D335-3642-242D-39D8-8D863EB176A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2483" y="319088"/>
            <a:ext cx="1373901" cy="166622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15-Year Life Battery Solar 12V 400ah Solar Battery Bank Solar Panel with  Integrated Battery - Solar Battery Bank, Solar Panel with Integrated Battery  | Made-in-China.com">
            <a:extLst>
              <a:ext uri="{FF2B5EF4-FFF2-40B4-BE49-F238E27FC236}">
                <a16:creationId xmlns:a16="http://schemas.microsoft.com/office/drawing/2014/main" id="{682E1BDB-9B98-8395-6A08-769D838CB6C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290" t="16668" r="5967" b="18005"/>
          <a:stretch/>
        </p:blipFill>
        <p:spPr bwMode="auto">
          <a:xfrm>
            <a:off x="3783627" y="59533"/>
            <a:ext cx="2547257" cy="194076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c-dc Converter Module Price-China Ac-dc Converter Module Price  Manufacturers &amp; Suppliers | Made in China">
            <a:extLst>
              <a:ext uri="{FF2B5EF4-FFF2-40B4-BE49-F238E27FC236}">
                <a16:creationId xmlns:a16="http://schemas.microsoft.com/office/drawing/2014/main" id="{6705A5DC-3A9C-2F34-6305-AA6AA7017C8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7879" b="25182"/>
          <a:stretch/>
        </p:blipFill>
        <p:spPr bwMode="auto">
          <a:xfrm>
            <a:off x="6615531" y="342601"/>
            <a:ext cx="1524000" cy="86774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remium Vector | Supports of the highvoltage power grid Vector illustration  of utility electric transmission networks Power lines isolated on white  background">
            <a:extLst>
              <a:ext uri="{FF2B5EF4-FFF2-40B4-BE49-F238E27FC236}">
                <a16:creationId xmlns:a16="http://schemas.microsoft.com/office/drawing/2014/main" id="{2A873CD7-CAD5-EBCB-106F-96BDD154C3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45718" y="439674"/>
            <a:ext cx="1786784" cy="126698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Battery Swapping Infrastructure – An ...">
            <a:extLst>
              <a:ext uri="{FF2B5EF4-FFF2-40B4-BE49-F238E27FC236}">
                <a16:creationId xmlns:a16="http://schemas.microsoft.com/office/drawing/2014/main" id="{71E5126C-CA1C-7AE1-409A-BB93C44B0B5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5" y="2730500"/>
            <a:ext cx="2600325" cy="17621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descr="Battery Swapping Infrastructure – An ...">
            <a:extLst>
              <a:ext uri="{FF2B5EF4-FFF2-40B4-BE49-F238E27FC236}">
                <a16:creationId xmlns:a16="http://schemas.microsoft.com/office/drawing/2014/main" id="{A34DACB7-6C65-8381-1B12-E045A17790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75" y="4634706"/>
            <a:ext cx="2600325" cy="176212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Buck Boost DC-DC Converter 25A/50A/100A - Camper-Camper">
            <a:extLst>
              <a:ext uri="{FF2B5EF4-FFF2-40B4-BE49-F238E27FC236}">
                <a16:creationId xmlns:a16="http://schemas.microsoft.com/office/drawing/2014/main" id="{447DB487-027E-0627-C52F-D4E222199BA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604790" y="2850057"/>
            <a:ext cx="1007221" cy="10072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Electric Vehicle Charging and the ...">
            <a:extLst>
              <a:ext uri="{FF2B5EF4-FFF2-40B4-BE49-F238E27FC236}">
                <a16:creationId xmlns:a16="http://schemas.microsoft.com/office/drawing/2014/main" id="{28C14378-D5EA-1120-7A46-D2BD2991684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56384" y="4612040"/>
            <a:ext cx="3260369" cy="156209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690BE462-8D30-C559-8707-FAB487EB0757}"/>
              </a:ext>
            </a:extLst>
          </p:cNvPr>
          <p:cNvSpPr/>
          <p:nvPr/>
        </p:nvSpPr>
        <p:spPr>
          <a:xfrm>
            <a:off x="6726383" y="1766305"/>
            <a:ext cx="5256276" cy="238663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266DB0E-E630-E8FD-F273-E928EEEE66C3}"/>
              </a:ext>
            </a:extLst>
          </p:cNvPr>
          <p:cNvSpPr txBox="1"/>
          <p:nvPr/>
        </p:nvSpPr>
        <p:spPr>
          <a:xfrm>
            <a:off x="6844553" y="1826610"/>
            <a:ext cx="5046693" cy="369332"/>
          </a:xfrm>
          <a:prstGeom prst="rect">
            <a:avLst/>
          </a:prstGeom>
          <a:solidFill>
            <a:srgbClr val="FFC000"/>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b="1" dirty="0"/>
              <a:t>Central Control Monitoring </a:t>
            </a:r>
          </a:p>
        </p:txBody>
      </p:sp>
      <p:pic>
        <p:nvPicPr>
          <p:cNvPr id="1042" name="Picture 18" descr="EV Charging Station Finder App ...">
            <a:extLst>
              <a:ext uri="{FF2B5EF4-FFF2-40B4-BE49-F238E27FC236}">
                <a16:creationId xmlns:a16="http://schemas.microsoft.com/office/drawing/2014/main" id="{6473DBCF-6A86-870B-78F1-360B2BCE356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64227" y="5296913"/>
            <a:ext cx="1815168" cy="103898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EV Charging Station Booking Web ...">
            <a:extLst>
              <a:ext uri="{FF2B5EF4-FFF2-40B4-BE49-F238E27FC236}">
                <a16:creationId xmlns:a16="http://schemas.microsoft.com/office/drawing/2014/main" id="{5D2EF5E6-DB12-829C-753C-CCD119173D2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263298" y="5396516"/>
            <a:ext cx="1314943" cy="736368"/>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Ev Dashboard designs, themes, templates and downloadable graphic elements  on Dribbble">
            <a:extLst>
              <a:ext uri="{FF2B5EF4-FFF2-40B4-BE49-F238E27FC236}">
                <a16:creationId xmlns:a16="http://schemas.microsoft.com/office/drawing/2014/main" id="{3D965FF7-8BF5-E55A-95F4-D59FFCE6175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52321" y="2255588"/>
            <a:ext cx="5038925" cy="170612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The six different types of cloud briefly introduced">
            <a:extLst>
              <a:ext uri="{FF2B5EF4-FFF2-40B4-BE49-F238E27FC236}">
                <a16:creationId xmlns:a16="http://schemas.microsoft.com/office/drawing/2014/main" id="{129C6762-D7CB-1D6A-48B3-4A0FB9404F22}"/>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100483" y="4271099"/>
            <a:ext cx="690470" cy="44305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D2B6A3F-9C22-7C7B-AFDB-987162CEC81B}"/>
              </a:ext>
            </a:extLst>
          </p:cNvPr>
          <p:cNvSpPr txBox="1"/>
          <p:nvPr/>
        </p:nvSpPr>
        <p:spPr>
          <a:xfrm>
            <a:off x="9094237" y="4374301"/>
            <a:ext cx="830424" cy="369332"/>
          </a:xfrm>
          <a:prstGeom prst="rect">
            <a:avLst/>
          </a:prstGeom>
          <a:noFill/>
        </p:spPr>
        <p:txBody>
          <a:bodyPr wrap="square" rtlCol="0">
            <a:spAutoFit/>
          </a:bodyPr>
          <a:lstStyle/>
          <a:p>
            <a:r>
              <a:rPr lang="en-US" dirty="0"/>
              <a:t>Cloud</a:t>
            </a:r>
          </a:p>
        </p:txBody>
      </p:sp>
      <p:sp>
        <p:nvSpPr>
          <p:cNvPr id="13" name="TextBox 12">
            <a:extLst>
              <a:ext uri="{FF2B5EF4-FFF2-40B4-BE49-F238E27FC236}">
                <a16:creationId xmlns:a16="http://schemas.microsoft.com/office/drawing/2014/main" id="{0FCE9137-E61F-2EB0-E511-9731521E05AF}"/>
              </a:ext>
            </a:extLst>
          </p:cNvPr>
          <p:cNvSpPr txBox="1"/>
          <p:nvPr/>
        </p:nvSpPr>
        <p:spPr>
          <a:xfrm>
            <a:off x="374375" y="2120583"/>
            <a:ext cx="830424" cy="369332"/>
          </a:xfrm>
          <a:prstGeom prst="rect">
            <a:avLst/>
          </a:prstGeom>
          <a:noFill/>
        </p:spPr>
        <p:txBody>
          <a:bodyPr wrap="square" rtlCol="0">
            <a:spAutoFit/>
          </a:bodyPr>
          <a:lstStyle/>
          <a:p>
            <a:pPr algn="ctr"/>
            <a:r>
              <a:rPr lang="en-US" dirty="0"/>
              <a:t>Solar</a:t>
            </a:r>
          </a:p>
        </p:txBody>
      </p:sp>
      <p:sp>
        <p:nvSpPr>
          <p:cNvPr id="14" name="TextBox 13">
            <a:extLst>
              <a:ext uri="{FF2B5EF4-FFF2-40B4-BE49-F238E27FC236}">
                <a16:creationId xmlns:a16="http://schemas.microsoft.com/office/drawing/2014/main" id="{CAC13550-198C-C692-19A4-D1FEB18D4E1E}"/>
              </a:ext>
            </a:extLst>
          </p:cNvPr>
          <p:cNvSpPr txBox="1"/>
          <p:nvPr/>
        </p:nvSpPr>
        <p:spPr>
          <a:xfrm>
            <a:off x="2080678" y="1687019"/>
            <a:ext cx="830424" cy="369332"/>
          </a:xfrm>
          <a:prstGeom prst="rect">
            <a:avLst/>
          </a:prstGeom>
          <a:noFill/>
        </p:spPr>
        <p:txBody>
          <a:bodyPr wrap="square" rtlCol="0">
            <a:spAutoFit/>
          </a:bodyPr>
          <a:lstStyle/>
          <a:p>
            <a:pPr algn="ctr"/>
            <a:r>
              <a:rPr lang="en-US" dirty="0"/>
              <a:t>MPPT </a:t>
            </a:r>
          </a:p>
        </p:txBody>
      </p:sp>
      <p:sp>
        <p:nvSpPr>
          <p:cNvPr id="15" name="TextBox 14">
            <a:extLst>
              <a:ext uri="{FF2B5EF4-FFF2-40B4-BE49-F238E27FC236}">
                <a16:creationId xmlns:a16="http://schemas.microsoft.com/office/drawing/2014/main" id="{3979C8AD-CBEA-9A91-E158-EACFA57E4601}"/>
              </a:ext>
            </a:extLst>
          </p:cNvPr>
          <p:cNvSpPr txBox="1"/>
          <p:nvPr/>
        </p:nvSpPr>
        <p:spPr>
          <a:xfrm>
            <a:off x="4582537" y="2056351"/>
            <a:ext cx="830424" cy="369332"/>
          </a:xfrm>
          <a:prstGeom prst="rect">
            <a:avLst/>
          </a:prstGeom>
          <a:noFill/>
        </p:spPr>
        <p:txBody>
          <a:bodyPr wrap="square" rtlCol="0">
            <a:spAutoFit/>
          </a:bodyPr>
          <a:lstStyle/>
          <a:p>
            <a:pPr algn="ctr"/>
            <a:r>
              <a:rPr lang="en-US" dirty="0"/>
              <a:t>ESS</a:t>
            </a:r>
          </a:p>
        </p:txBody>
      </p:sp>
      <p:sp>
        <p:nvSpPr>
          <p:cNvPr id="16" name="TextBox 15">
            <a:extLst>
              <a:ext uri="{FF2B5EF4-FFF2-40B4-BE49-F238E27FC236}">
                <a16:creationId xmlns:a16="http://schemas.microsoft.com/office/drawing/2014/main" id="{0126504E-E39A-2860-DB4E-E81C9AD9B988}"/>
              </a:ext>
            </a:extLst>
          </p:cNvPr>
          <p:cNvSpPr txBox="1"/>
          <p:nvPr/>
        </p:nvSpPr>
        <p:spPr>
          <a:xfrm>
            <a:off x="6734124" y="1100496"/>
            <a:ext cx="1642145" cy="646331"/>
          </a:xfrm>
          <a:prstGeom prst="rect">
            <a:avLst/>
          </a:prstGeom>
          <a:noFill/>
        </p:spPr>
        <p:txBody>
          <a:bodyPr wrap="square" rtlCol="0">
            <a:spAutoFit/>
          </a:bodyPr>
          <a:lstStyle/>
          <a:p>
            <a:pPr algn="ctr"/>
            <a:r>
              <a:rPr lang="en-US" dirty="0"/>
              <a:t>Bi directional converter</a:t>
            </a:r>
          </a:p>
        </p:txBody>
      </p:sp>
      <p:sp>
        <p:nvSpPr>
          <p:cNvPr id="17" name="TextBox 16">
            <a:extLst>
              <a:ext uri="{FF2B5EF4-FFF2-40B4-BE49-F238E27FC236}">
                <a16:creationId xmlns:a16="http://schemas.microsoft.com/office/drawing/2014/main" id="{81C68D2B-4FBE-D32B-3A0D-67D03A0B9985}"/>
              </a:ext>
            </a:extLst>
          </p:cNvPr>
          <p:cNvSpPr txBox="1"/>
          <p:nvPr/>
        </p:nvSpPr>
        <p:spPr>
          <a:xfrm>
            <a:off x="10339110" y="1182155"/>
            <a:ext cx="830424" cy="369332"/>
          </a:xfrm>
          <a:prstGeom prst="rect">
            <a:avLst/>
          </a:prstGeom>
          <a:noFill/>
        </p:spPr>
        <p:txBody>
          <a:bodyPr wrap="square" rtlCol="0">
            <a:spAutoFit/>
          </a:bodyPr>
          <a:lstStyle/>
          <a:p>
            <a:pPr algn="ctr"/>
            <a:r>
              <a:rPr lang="en-US" dirty="0"/>
              <a:t>Grid</a:t>
            </a:r>
          </a:p>
        </p:txBody>
      </p:sp>
      <p:sp>
        <p:nvSpPr>
          <p:cNvPr id="18" name="TextBox 17">
            <a:extLst>
              <a:ext uri="{FF2B5EF4-FFF2-40B4-BE49-F238E27FC236}">
                <a16:creationId xmlns:a16="http://schemas.microsoft.com/office/drawing/2014/main" id="{A15A945D-D3BE-FEF7-03D7-C67A6B941D17}"/>
              </a:ext>
            </a:extLst>
          </p:cNvPr>
          <p:cNvSpPr txBox="1"/>
          <p:nvPr/>
        </p:nvSpPr>
        <p:spPr>
          <a:xfrm>
            <a:off x="1035698" y="6169580"/>
            <a:ext cx="1478553" cy="369332"/>
          </a:xfrm>
          <a:prstGeom prst="rect">
            <a:avLst/>
          </a:prstGeom>
          <a:noFill/>
        </p:spPr>
        <p:txBody>
          <a:bodyPr wrap="square" rtlCol="0">
            <a:spAutoFit/>
          </a:bodyPr>
          <a:lstStyle/>
          <a:p>
            <a:pPr algn="ctr"/>
            <a:r>
              <a:rPr lang="en-US" dirty="0"/>
              <a:t>Swapping </a:t>
            </a:r>
          </a:p>
        </p:txBody>
      </p:sp>
      <p:sp>
        <p:nvSpPr>
          <p:cNvPr id="19" name="TextBox 18">
            <a:extLst>
              <a:ext uri="{FF2B5EF4-FFF2-40B4-BE49-F238E27FC236}">
                <a16:creationId xmlns:a16="http://schemas.microsoft.com/office/drawing/2014/main" id="{8DE736A9-64CE-F745-167B-8BE03206282D}"/>
              </a:ext>
            </a:extLst>
          </p:cNvPr>
          <p:cNvSpPr txBox="1"/>
          <p:nvPr/>
        </p:nvSpPr>
        <p:spPr>
          <a:xfrm>
            <a:off x="4108400" y="6132884"/>
            <a:ext cx="1478553" cy="369332"/>
          </a:xfrm>
          <a:prstGeom prst="rect">
            <a:avLst/>
          </a:prstGeom>
          <a:noFill/>
        </p:spPr>
        <p:txBody>
          <a:bodyPr wrap="square" rtlCol="0">
            <a:spAutoFit/>
          </a:bodyPr>
          <a:lstStyle/>
          <a:p>
            <a:pPr algn="ctr"/>
            <a:r>
              <a:rPr lang="en-US" dirty="0"/>
              <a:t>Fast Charging</a:t>
            </a:r>
          </a:p>
        </p:txBody>
      </p:sp>
      <p:sp>
        <p:nvSpPr>
          <p:cNvPr id="20" name="TextBox 19">
            <a:extLst>
              <a:ext uri="{FF2B5EF4-FFF2-40B4-BE49-F238E27FC236}">
                <a16:creationId xmlns:a16="http://schemas.microsoft.com/office/drawing/2014/main" id="{EE8A2863-DC45-60DF-EDAC-AAA422F086AD}"/>
              </a:ext>
            </a:extLst>
          </p:cNvPr>
          <p:cNvSpPr txBox="1"/>
          <p:nvPr/>
        </p:nvSpPr>
        <p:spPr>
          <a:xfrm>
            <a:off x="8937648" y="6134987"/>
            <a:ext cx="2089104" cy="369332"/>
          </a:xfrm>
          <a:prstGeom prst="rect">
            <a:avLst/>
          </a:prstGeom>
          <a:noFill/>
        </p:spPr>
        <p:txBody>
          <a:bodyPr wrap="square" rtlCol="0">
            <a:spAutoFit/>
          </a:bodyPr>
          <a:lstStyle/>
          <a:p>
            <a:pPr algn="ctr"/>
            <a:r>
              <a:rPr lang="en-US" dirty="0"/>
              <a:t>User Interface</a:t>
            </a:r>
          </a:p>
        </p:txBody>
      </p:sp>
      <p:sp>
        <p:nvSpPr>
          <p:cNvPr id="21" name="TextBox 20">
            <a:extLst>
              <a:ext uri="{FF2B5EF4-FFF2-40B4-BE49-F238E27FC236}">
                <a16:creationId xmlns:a16="http://schemas.microsoft.com/office/drawing/2014/main" id="{63061994-B443-340D-80A2-3F81634E8AC5}"/>
              </a:ext>
            </a:extLst>
          </p:cNvPr>
          <p:cNvSpPr txBox="1"/>
          <p:nvPr/>
        </p:nvSpPr>
        <p:spPr>
          <a:xfrm>
            <a:off x="3350845" y="3812453"/>
            <a:ext cx="1478553" cy="646331"/>
          </a:xfrm>
          <a:prstGeom prst="rect">
            <a:avLst/>
          </a:prstGeom>
          <a:noFill/>
        </p:spPr>
        <p:txBody>
          <a:bodyPr wrap="square" rtlCol="0">
            <a:spAutoFit/>
          </a:bodyPr>
          <a:lstStyle/>
          <a:p>
            <a:pPr algn="ctr"/>
            <a:r>
              <a:rPr lang="en-US" dirty="0"/>
              <a:t>Buck – Boost converter</a:t>
            </a:r>
          </a:p>
        </p:txBody>
      </p:sp>
      <p:sp>
        <p:nvSpPr>
          <p:cNvPr id="22" name="Arrow: Right 21">
            <a:extLst>
              <a:ext uri="{FF2B5EF4-FFF2-40B4-BE49-F238E27FC236}">
                <a16:creationId xmlns:a16="http://schemas.microsoft.com/office/drawing/2014/main" id="{1EB37A30-7752-DEC5-E7E5-59399A31BAEA}"/>
              </a:ext>
            </a:extLst>
          </p:cNvPr>
          <p:cNvSpPr/>
          <p:nvPr/>
        </p:nvSpPr>
        <p:spPr>
          <a:xfrm>
            <a:off x="1544269" y="1277010"/>
            <a:ext cx="456807" cy="898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C67CB3B4-D02C-730A-92F3-22C514EB5235}"/>
              </a:ext>
            </a:extLst>
          </p:cNvPr>
          <p:cNvSpPr/>
          <p:nvPr/>
        </p:nvSpPr>
        <p:spPr>
          <a:xfrm>
            <a:off x="3176270" y="1265704"/>
            <a:ext cx="456807" cy="898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AB1D696E-DFE6-4518-04D2-93B756B84D01}"/>
              </a:ext>
            </a:extLst>
          </p:cNvPr>
          <p:cNvSpPr/>
          <p:nvPr/>
        </p:nvSpPr>
        <p:spPr>
          <a:xfrm>
            <a:off x="6218435" y="883908"/>
            <a:ext cx="456807" cy="898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97864166-20CC-2B5C-E2DE-25B29E8B540E}"/>
              </a:ext>
            </a:extLst>
          </p:cNvPr>
          <p:cNvSpPr/>
          <p:nvPr/>
        </p:nvSpPr>
        <p:spPr>
          <a:xfrm>
            <a:off x="8542215" y="1265704"/>
            <a:ext cx="903503" cy="898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row: Right 25">
            <a:extLst>
              <a:ext uri="{FF2B5EF4-FFF2-40B4-BE49-F238E27FC236}">
                <a16:creationId xmlns:a16="http://schemas.microsoft.com/office/drawing/2014/main" id="{D636E99B-FF50-8804-1D4D-05F8E729A8E1}"/>
              </a:ext>
            </a:extLst>
          </p:cNvPr>
          <p:cNvSpPr/>
          <p:nvPr/>
        </p:nvSpPr>
        <p:spPr>
          <a:xfrm rot="10800000">
            <a:off x="8536219" y="1062690"/>
            <a:ext cx="903503" cy="848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F4C45763-C240-87F9-3D26-349BF2DF6A8D}"/>
              </a:ext>
            </a:extLst>
          </p:cNvPr>
          <p:cNvSpPr/>
          <p:nvPr/>
        </p:nvSpPr>
        <p:spPr>
          <a:xfrm rot="5400000">
            <a:off x="9211318" y="4936798"/>
            <a:ext cx="456807" cy="898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62BB23D4-9143-31FE-9CDE-8FB872B66184}"/>
              </a:ext>
            </a:extLst>
          </p:cNvPr>
          <p:cNvSpPr/>
          <p:nvPr/>
        </p:nvSpPr>
        <p:spPr>
          <a:xfrm rot="5400000">
            <a:off x="3828657" y="2387023"/>
            <a:ext cx="858900" cy="671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26C609F7-3737-DC89-A700-79F09D45C6AD}"/>
              </a:ext>
            </a:extLst>
          </p:cNvPr>
          <p:cNvSpPr/>
          <p:nvPr/>
        </p:nvSpPr>
        <p:spPr>
          <a:xfrm rot="10800000">
            <a:off x="3056570" y="3352547"/>
            <a:ext cx="456807" cy="898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6FE8FF38-DE27-5B6D-BED1-F6C88FD5344B}"/>
              </a:ext>
            </a:extLst>
          </p:cNvPr>
          <p:cNvSpPr/>
          <p:nvPr/>
        </p:nvSpPr>
        <p:spPr>
          <a:xfrm rot="5400000">
            <a:off x="4225957" y="3263667"/>
            <a:ext cx="2512489" cy="978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c 30" descr="Wi-Fi with solid fill">
            <a:extLst>
              <a:ext uri="{FF2B5EF4-FFF2-40B4-BE49-F238E27FC236}">
                <a16:creationId xmlns:a16="http://schemas.microsoft.com/office/drawing/2014/main" id="{052A63D8-C1B5-B968-C4D7-009A6078480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72660" y="2024093"/>
            <a:ext cx="369332" cy="369332"/>
          </a:xfrm>
          <a:prstGeom prst="rect">
            <a:avLst/>
          </a:prstGeom>
        </p:spPr>
      </p:pic>
      <p:pic>
        <p:nvPicPr>
          <p:cNvPr id="32" name="Graphic 31" descr="Wi-Fi with solid fill">
            <a:extLst>
              <a:ext uri="{FF2B5EF4-FFF2-40B4-BE49-F238E27FC236}">
                <a16:creationId xmlns:a16="http://schemas.microsoft.com/office/drawing/2014/main" id="{8DB07203-A62A-86E6-AD9B-5B767EAA016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09575" y="1685091"/>
            <a:ext cx="369332" cy="369332"/>
          </a:xfrm>
          <a:prstGeom prst="rect">
            <a:avLst/>
          </a:prstGeom>
        </p:spPr>
      </p:pic>
      <p:pic>
        <p:nvPicPr>
          <p:cNvPr id="33" name="Graphic 32" descr="Wi-Fi with solid fill">
            <a:extLst>
              <a:ext uri="{FF2B5EF4-FFF2-40B4-BE49-F238E27FC236}">
                <a16:creationId xmlns:a16="http://schemas.microsoft.com/office/drawing/2014/main" id="{C6145898-0866-9B6D-7599-8D2EB8D8CE3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969778" y="544295"/>
            <a:ext cx="369332" cy="369332"/>
          </a:xfrm>
          <a:prstGeom prst="rect">
            <a:avLst/>
          </a:prstGeom>
        </p:spPr>
      </p:pic>
      <p:pic>
        <p:nvPicPr>
          <p:cNvPr id="34" name="Graphic 33" descr="Wi-Fi with solid fill">
            <a:extLst>
              <a:ext uri="{FF2B5EF4-FFF2-40B4-BE49-F238E27FC236}">
                <a16:creationId xmlns:a16="http://schemas.microsoft.com/office/drawing/2014/main" id="{AE09660B-2920-3B38-5A5A-96CB82E6E6D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427680" y="2411070"/>
            <a:ext cx="369332" cy="369332"/>
          </a:xfrm>
          <a:prstGeom prst="rect">
            <a:avLst/>
          </a:prstGeom>
        </p:spPr>
      </p:pic>
      <p:sp>
        <p:nvSpPr>
          <p:cNvPr id="2" name="TextBox 1">
            <a:extLst>
              <a:ext uri="{FF2B5EF4-FFF2-40B4-BE49-F238E27FC236}">
                <a16:creationId xmlns:a16="http://schemas.microsoft.com/office/drawing/2014/main" id="{CCEA9BD2-5A10-17D9-B6A8-800FCAC93C78}"/>
              </a:ext>
            </a:extLst>
          </p:cNvPr>
          <p:cNvSpPr txBox="1"/>
          <p:nvPr/>
        </p:nvSpPr>
        <p:spPr>
          <a:xfrm>
            <a:off x="8239433" y="96306"/>
            <a:ext cx="3824250" cy="461665"/>
          </a:xfrm>
          <a:prstGeom prst="rect">
            <a:avLst/>
          </a:prstGeom>
          <a:noFill/>
        </p:spPr>
        <p:txBody>
          <a:bodyPr wrap="square" rtlCol="0">
            <a:spAutoFit/>
          </a:bodyPr>
          <a:lstStyle/>
          <a:p>
            <a:r>
              <a:rPr lang="en-US" sz="2400" b="1" dirty="0">
                <a:solidFill>
                  <a:srgbClr val="002060"/>
                </a:solidFill>
                <a:highlight>
                  <a:srgbClr val="FFFF00"/>
                </a:highlight>
              </a:rPr>
              <a:t>Proposed Methodology</a:t>
            </a:r>
          </a:p>
        </p:txBody>
      </p:sp>
    </p:spTree>
    <p:extLst>
      <p:ext uri="{BB962C8B-B14F-4D97-AF65-F5344CB8AC3E}">
        <p14:creationId xmlns:p14="http://schemas.microsoft.com/office/powerpoint/2010/main" val="2672581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AB516-F818-CDE4-855F-234D33FF3708}"/>
              </a:ext>
            </a:extLst>
          </p:cNvPr>
          <p:cNvSpPr>
            <a:spLocks noGrp="1"/>
          </p:cNvSpPr>
          <p:nvPr>
            <p:ph type="title"/>
          </p:nvPr>
        </p:nvSpPr>
        <p:spPr>
          <a:xfrm>
            <a:off x="382555" y="1623527"/>
            <a:ext cx="5924938" cy="395320"/>
          </a:xfrm>
        </p:spPr>
        <p:txBody>
          <a:bodyPr>
            <a:noAutofit/>
          </a:bodyPr>
          <a:lstStyle/>
          <a:p>
            <a:pPr algn="ctr"/>
            <a:r>
              <a:rPr lang="en-US" sz="1400" b="1" dirty="0"/>
              <a:t>                              User Interface Application Layer</a:t>
            </a:r>
          </a:p>
        </p:txBody>
      </p:sp>
      <p:sp>
        <p:nvSpPr>
          <p:cNvPr id="4" name="Date Placeholder 3">
            <a:extLst>
              <a:ext uri="{FF2B5EF4-FFF2-40B4-BE49-F238E27FC236}">
                <a16:creationId xmlns:a16="http://schemas.microsoft.com/office/drawing/2014/main" id="{87FE98B3-3A70-D290-CB82-57B0CA8D8456}"/>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3638FFDC-2C2F-F265-A86F-E70C1F186A3F}"/>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48779567-80D9-9909-47BD-426BBBF4F9B4}"/>
              </a:ext>
            </a:extLst>
          </p:cNvPr>
          <p:cNvSpPr>
            <a:spLocks noGrp="1"/>
          </p:cNvSpPr>
          <p:nvPr>
            <p:ph type="sldNum" sz="quarter" idx="12"/>
          </p:nvPr>
        </p:nvSpPr>
        <p:spPr/>
        <p:txBody>
          <a:bodyPr/>
          <a:lstStyle/>
          <a:p>
            <a:fld id="{15FCCAAF-6324-40D0-99C1-825B83CC9B2F}" type="slidenum">
              <a:rPr lang="en-IN" smtClean="0"/>
              <a:t>8</a:t>
            </a:fld>
            <a:endParaRPr lang="en-IN"/>
          </a:p>
        </p:txBody>
      </p:sp>
      <p:sp>
        <p:nvSpPr>
          <p:cNvPr id="18" name="Rectangle 17">
            <a:extLst>
              <a:ext uri="{FF2B5EF4-FFF2-40B4-BE49-F238E27FC236}">
                <a16:creationId xmlns:a16="http://schemas.microsoft.com/office/drawing/2014/main" id="{A1861328-839A-07D2-AA86-F6CDE426E1C2}"/>
              </a:ext>
            </a:extLst>
          </p:cNvPr>
          <p:cNvSpPr/>
          <p:nvPr/>
        </p:nvSpPr>
        <p:spPr>
          <a:xfrm>
            <a:off x="615820" y="1623528"/>
            <a:ext cx="5691674" cy="1912774"/>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itle 1">
            <a:extLst>
              <a:ext uri="{FF2B5EF4-FFF2-40B4-BE49-F238E27FC236}">
                <a16:creationId xmlns:a16="http://schemas.microsoft.com/office/drawing/2014/main" id="{CC159BCA-0E5A-74A4-9D2B-C2F0C1420C9C}"/>
              </a:ext>
            </a:extLst>
          </p:cNvPr>
          <p:cNvSpPr txBox="1">
            <a:spLocks/>
          </p:cNvSpPr>
          <p:nvPr/>
        </p:nvSpPr>
        <p:spPr>
          <a:xfrm>
            <a:off x="382555" y="2052997"/>
            <a:ext cx="5924938" cy="39532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b="1" dirty="0"/>
              <a:t>Cloud Server Layer                                                 Data storage</a:t>
            </a:r>
          </a:p>
        </p:txBody>
      </p:sp>
      <p:sp>
        <p:nvSpPr>
          <p:cNvPr id="21" name="Title 1">
            <a:extLst>
              <a:ext uri="{FF2B5EF4-FFF2-40B4-BE49-F238E27FC236}">
                <a16:creationId xmlns:a16="http://schemas.microsoft.com/office/drawing/2014/main" id="{2F247DA0-51E8-5EE4-2110-F5BDF86BEA9F}"/>
              </a:ext>
            </a:extLst>
          </p:cNvPr>
          <p:cNvSpPr txBox="1">
            <a:spLocks/>
          </p:cNvSpPr>
          <p:nvPr/>
        </p:nvSpPr>
        <p:spPr>
          <a:xfrm>
            <a:off x="475861" y="3140983"/>
            <a:ext cx="5924938" cy="39532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b="1" dirty="0"/>
              <a:t>                 Sensor Layer</a:t>
            </a:r>
          </a:p>
        </p:txBody>
      </p:sp>
      <p:sp>
        <p:nvSpPr>
          <p:cNvPr id="22" name="Title 1">
            <a:extLst>
              <a:ext uri="{FF2B5EF4-FFF2-40B4-BE49-F238E27FC236}">
                <a16:creationId xmlns:a16="http://schemas.microsoft.com/office/drawing/2014/main" id="{C45A69AC-0424-B273-F1AE-E255E945B06D}"/>
              </a:ext>
            </a:extLst>
          </p:cNvPr>
          <p:cNvSpPr txBox="1">
            <a:spLocks/>
          </p:cNvSpPr>
          <p:nvPr/>
        </p:nvSpPr>
        <p:spPr>
          <a:xfrm>
            <a:off x="601829" y="2405695"/>
            <a:ext cx="5705664" cy="39532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400" b="1" dirty="0"/>
              <a:t>Communication Layer                    IoT Gateway Layer         Processing Layer</a:t>
            </a:r>
          </a:p>
        </p:txBody>
      </p:sp>
      <p:sp>
        <p:nvSpPr>
          <p:cNvPr id="23" name="Title 1">
            <a:extLst>
              <a:ext uri="{FF2B5EF4-FFF2-40B4-BE49-F238E27FC236}">
                <a16:creationId xmlns:a16="http://schemas.microsoft.com/office/drawing/2014/main" id="{90DA6EB9-8CE1-3277-F437-C17B16883838}"/>
              </a:ext>
            </a:extLst>
          </p:cNvPr>
          <p:cNvSpPr txBox="1">
            <a:spLocks/>
          </p:cNvSpPr>
          <p:nvPr/>
        </p:nvSpPr>
        <p:spPr>
          <a:xfrm>
            <a:off x="269386" y="2741912"/>
            <a:ext cx="6131413" cy="50712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1200" b="1" dirty="0"/>
              <a:t>         Microcontroller Layer  BMS Layer         Data Acquisition Layer      Processing Unit Layer</a:t>
            </a:r>
          </a:p>
        </p:txBody>
      </p:sp>
      <p:cxnSp>
        <p:nvCxnSpPr>
          <p:cNvPr id="25" name="Straight Connector 24">
            <a:extLst>
              <a:ext uri="{FF2B5EF4-FFF2-40B4-BE49-F238E27FC236}">
                <a16:creationId xmlns:a16="http://schemas.microsoft.com/office/drawing/2014/main" id="{CC37EDC0-7686-965A-4F5C-9D4F35C2A25E}"/>
              </a:ext>
            </a:extLst>
          </p:cNvPr>
          <p:cNvCxnSpPr/>
          <p:nvPr/>
        </p:nvCxnSpPr>
        <p:spPr>
          <a:xfrm>
            <a:off x="615820" y="2018847"/>
            <a:ext cx="569167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5AFD2D2F-3C02-813F-33C1-EA7C7F038144}"/>
              </a:ext>
            </a:extLst>
          </p:cNvPr>
          <p:cNvCxnSpPr/>
          <p:nvPr/>
        </p:nvCxnSpPr>
        <p:spPr>
          <a:xfrm>
            <a:off x="615819" y="2405695"/>
            <a:ext cx="569167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7032CE54-46CB-7108-B005-6CB7A7A761A8}"/>
              </a:ext>
            </a:extLst>
          </p:cNvPr>
          <p:cNvCxnSpPr/>
          <p:nvPr/>
        </p:nvCxnSpPr>
        <p:spPr>
          <a:xfrm>
            <a:off x="615819" y="2791111"/>
            <a:ext cx="569167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462EBB10-913A-0C00-1BA9-8CAFFD6AB2CC}"/>
              </a:ext>
            </a:extLst>
          </p:cNvPr>
          <p:cNvCxnSpPr/>
          <p:nvPr/>
        </p:nvCxnSpPr>
        <p:spPr>
          <a:xfrm>
            <a:off x="615819" y="3190724"/>
            <a:ext cx="569167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16B5B509-E325-41F7-A69E-41C4680C768B}"/>
              </a:ext>
            </a:extLst>
          </p:cNvPr>
          <p:cNvCxnSpPr/>
          <p:nvPr/>
        </p:nvCxnSpPr>
        <p:spPr>
          <a:xfrm>
            <a:off x="3817374" y="2017415"/>
            <a:ext cx="0" cy="386848"/>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E65AC96B-ECCA-58AC-31E9-98DB5E53F1D6}"/>
              </a:ext>
            </a:extLst>
          </p:cNvPr>
          <p:cNvCxnSpPr/>
          <p:nvPr/>
        </p:nvCxnSpPr>
        <p:spPr>
          <a:xfrm>
            <a:off x="4688632" y="2404263"/>
            <a:ext cx="0" cy="386848"/>
          </a:xfrm>
          <a:prstGeom prst="line">
            <a:avLst/>
          </a:prstGeom>
          <a:ln w="28575"/>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798BB796-81FE-68A5-8E72-43FA6CE2E548}"/>
              </a:ext>
            </a:extLst>
          </p:cNvPr>
          <p:cNvCxnSpPr/>
          <p:nvPr/>
        </p:nvCxnSpPr>
        <p:spPr>
          <a:xfrm>
            <a:off x="2992066" y="2404263"/>
            <a:ext cx="0" cy="386848"/>
          </a:xfrm>
          <a:prstGeom prst="line">
            <a:avLst/>
          </a:prstGeom>
          <a:ln w="28575"/>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CC9FDE99-1D13-F0BA-C2B1-6A6C47792384}"/>
              </a:ext>
            </a:extLst>
          </p:cNvPr>
          <p:cNvCxnSpPr/>
          <p:nvPr/>
        </p:nvCxnSpPr>
        <p:spPr>
          <a:xfrm>
            <a:off x="4688632" y="2801015"/>
            <a:ext cx="0" cy="386848"/>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09A32DCF-99A6-2CE7-3BA7-BAB0A78AC74C}"/>
              </a:ext>
            </a:extLst>
          </p:cNvPr>
          <p:cNvCxnSpPr/>
          <p:nvPr/>
        </p:nvCxnSpPr>
        <p:spPr>
          <a:xfrm>
            <a:off x="2992066" y="2801015"/>
            <a:ext cx="0" cy="386848"/>
          </a:xfrm>
          <a:prstGeom prst="line">
            <a:avLst/>
          </a:prstGeom>
          <a:ln w="28575"/>
        </p:spPr>
        <p:style>
          <a:lnRef idx="1">
            <a:schemeClr val="dk1"/>
          </a:lnRef>
          <a:fillRef idx="0">
            <a:schemeClr val="dk1"/>
          </a:fillRef>
          <a:effectRef idx="0">
            <a:schemeClr val="dk1"/>
          </a:effectRef>
          <a:fontRef idx="minor">
            <a:schemeClr val="tx1"/>
          </a:fontRef>
        </p:style>
      </p:cxnSp>
      <p:graphicFrame>
        <p:nvGraphicFramePr>
          <p:cNvPr id="35" name="Table 34">
            <a:extLst>
              <a:ext uri="{FF2B5EF4-FFF2-40B4-BE49-F238E27FC236}">
                <a16:creationId xmlns:a16="http://schemas.microsoft.com/office/drawing/2014/main" id="{8F7C209D-8B14-B7A4-634A-CFA51C8D6F14}"/>
              </a:ext>
            </a:extLst>
          </p:cNvPr>
          <p:cNvGraphicFramePr>
            <a:graphicFrameLocks noGrp="1"/>
          </p:cNvGraphicFramePr>
          <p:nvPr/>
        </p:nvGraphicFramePr>
        <p:xfrm>
          <a:off x="7635549" y="1117832"/>
          <a:ext cx="1628195" cy="3041910"/>
        </p:xfrm>
        <a:graphic>
          <a:graphicData uri="http://schemas.openxmlformats.org/drawingml/2006/table">
            <a:tbl>
              <a:tblPr>
                <a:tableStyleId>{5C22544A-7EE6-4342-B048-85BDC9FD1C3A}</a:tableStyleId>
              </a:tblPr>
              <a:tblGrid>
                <a:gridCol w="1628195">
                  <a:extLst>
                    <a:ext uri="{9D8B030D-6E8A-4147-A177-3AD203B41FA5}">
                      <a16:colId xmlns:a16="http://schemas.microsoft.com/office/drawing/2014/main" val="1882114574"/>
                    </a:ext>
                  </a:extLst>
                </a:gridCol>
              </a:tblGrid>
              <a:tr h="424435">
                <a:tc>
                  <a:txBody>
                    <a:bodyPr/>
                    <a:lstStyle/>
                    <a:p>
                      <a:pPr algn="ctr" fontAlgn="b"/>
                      <a:r>
                        <a:rPr lang="en-US" sz="1600" b="1" u="none" strike="noStrike">
                          <a:effectLst/>
                        </a:rPr>
                        <a:t>Application Layer</a:t>
                      </a:r>
                      <a:endParaRPr lang="en-US" sz="16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84929084"/>
                  </a:ext>
                </a:extLst>
              </a:tr>
              <a:tr h="424435">
                <a:tc>
                  <a:txBody>
                    <a:bodyPr/>
                    <a:lstStyle/>
                    <a:p>
                      <a:pPr algn="ctr" fontAlgn="b"/>
                      <a:r>
                        <a:rPr lang="en-US" sz="1600" b="1" u="none" strike="noStrike">
                          <a:effectLst/>
                        </a:rPr>
                        <a:t>Presentation Layer</a:t>
                      </a:r>
                      <a:endParaRPr lang="en-US" sz="16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132610049"/>
                  </a:ext>
                </a:extLst>
              </a:tr>
              <a:tr h="424435">
                <a:tc>
                  <a:txBody>
                    <a:bodyPr/>
                    <a:lstStyle/>
                    <a:p>
                      <a:pPr algn="ctr" fontAlgn="b"/>
                      <a:r>
                        <a:rPr lang="en-US" sz="1600" b="1" u="none" strike="noStrike">
                          <a:effectLst/>
                        </a:rPr>
                        <a:t>Session Layer</a:t>
                      </a:r>
                      <a:endParaRPr lang="en-US" sz="16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09849792"/>
                  </a:ext>
                </a:extLst>
              </a:tr>
              <a:tr h="424435">
                <a:tc>
                  <a:txBody>
                    <a:bodyPr/>
                    <a:lstStyle/>
                    <a:p>
                      <a:pPr algn="ctr" fontAlgn="b"/>
                      <a:r>
                        <a:rPr lang="en-US" sz="1600" b="1" u="none" strike="noStrike" dirty="0">
                          <a:effectLst/>
                        </a:rPr>
                        <a:t>Transport Layer</a:t>
                      </a:r>
                      <a:endParaRPr lang="en-US" sz="16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68042238"/>
                  </a:ext>
                </a:extLst>
              </a:tr>
              <a:tr h="424435">
                <a:tc>
                  <a:txBody>
                    <a:bodyPr/>
                    <a:lstStyle/>
                    <a:p>
                      <a:pPr algn="ctr" fontAlgn="b"/>
                      <a:r>
                        <a:rPr lang="en-US" sz="1600" b="1" u="none" strike="noStrike">
                          <a:effectLst/>
                        </a:rPr>
                        <a:t>Network Layer</a:t>
                      </a:r>
                      <a:endParaRPr lang="en-US" sz="16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407641867"/>
                  </a:ext>
                </a:extLst>
              </a:tr>
              <a:tr h="424435">
                <a:tc>
                  <a:txBody>
                    <a:bodyPr/>
                    <a:lstStyle/>
                    <a:p>
                      <a:pPr algn="ctr" fontAlgn="b"/>
                      <a:r>
                        <a:rPr lang="en-US" sz="1600" b="1" u="none" strike="noStrike">
                          <a:effectLst/>
                        </a:rPr>
                        <a:t>Data Link Layer</a:t>
                      </a:r>
                      <a:endParaRPr lang="en-US" sz="16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49658639"/>
                  </a:ext>
                </a:extLst>
              </a:tr>
              <a:tr h="424435">
                <a:tc>
                  <a:txBody>
                    <a:bodyPr/>
                    <a:lstStyle/>
                    <a:p>
                      <a:pPr algn="ctr" fontAlgn="b"/>
                      <a:r>
                        <a:rPr lang="en-US" sz="1600" b="1" u="none" strike="noStrike" dirty="0">
                          <a:effectLst/>
                        </a:rPr>
                        <a:t>Physical Layer</a:t>
                      </a:r>
                      <a:endParaRPr lang="en-US" sz="1600" b="1"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3103966"/>
                  </a:ext>
                </a:extLst>
              </a:tr>
            </a:tbl>
          </a:graphicData>
        </a:graphic>
      </p:graphicFrame>
      <p:sp>
        <p:nvSpPr>
          <p:cNvPr id="41" name="Arrow: Right 40">
            <a:extLst>
              <a:ext uri="{FF2B5EF4-FFF2-40B4-BE49-F238E27FC236}">
                <a16:creationId xmlns:a16="http://schemas.microsoft.com/office/drawing/2014/main" id="{1D9221D2-E741-8C33-BC74-DFA6582B7CB4}"/>
              </a:ext>
            </a:extLst>
          </p:cNvPr>
          <p:cNvSpPr/>
          <p:nvPr/>
        </p:nvSpPr>
        <p:spPr>
          <a:xfrm>
            <a:off x="9263744" y="1262929"/>
            <a:ext cx="874526" cy="11800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3" name="Graphic 42" descr="Ui Ux with solid fill">
            <a:extLst>
              <a:ext uri="{FF2B5EF4-FFF2-40B4-BE49-F238E27FC236}">
                <a16:creationId xmlns:a16="http://schemas.microsoft.com/office/drawing/2014/main" id="{CE9B2F2D-F78F-DE4F-3DAC-B68A6DC955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52148" y="864730"/>
            <a:ext cx="914400" cy="914400"/>
          </a:xfrm>
          <a:prstGeom prst="rect">
            <a:avLst/>
          </a:prstGeom>
        </p:spPr>
      </p:pic>
      <p:sp>
        <p:nvSpPr>
          <p:cNvPr id="44" name="TextBox 43">
            <a:extLst>
              <a:ext uri="{FF2B5EF4-FFF2-40B4-BE49-F238E27FC236}">
                <a16:creationId xmlns:a16="http://schemas.microsoft.com/office/drawing/2014/main" id="{7D54EEF6-573C-5AA9-1A7C-6109FDA7D9BE}"/>
              </a:ext>
            </a:extLst>
          </p:cNvPr>
          <p:cNvSpPr txBox="1"/>
          <p:nvPr/>
        </p:nvSpPr>
        <p:spPr>
          <a:xfrm>
            <a:off x="138403" y="4561"/>
            <a:ext cx="11954069" cy="646331"/>
          </a:xfrm>
          <a:prstGeom prst="rect">
            <a:avLst/>
          </a:prstGeom>
          <a:noFill/>
        </p:spPr>
        <p:txBody>
          <a:bodyPr wrap="square" rtlCol="0">
            <a:spAutoFit/>
          </a:bodyPr>
          <a:lstStyle/>
          <a:p>
            <a:pPr algn="ctr"/>
            <a:r>
              <a:rPr lang="en-US" sz="3600" b="1" dirty="0">
                <a:solidFill>
                  <a:srgbClr val="002060"/>
                </a:solidFill>
                <a:latin typeface="Times New Roman" panose="02020603050405020304" pitchFamily="18" charset="0"/>
                <a:ea typeface="+mj-ea"/>
                <a:cs typeface="Times New Roman" panose="02020603050405020304" pitchFamily="18" charset="0"/>
              </a:rPr>
              <a:t>IOT Architecture for Battery charging management</a:t>
            </a:r>
          </a:p>
        </p:txBody>
      </p:sp>
    </p:spTree>
    <p:extLst>
      <p:ext uri="{BB962C8B-B14F-4D97-AF65-F5344CB8AC3E}">
        <p14:creationId xmlns:p14="http://schemas.microsoft.com/office/powerpoint/2010/main" val="3389594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9FA2BEA-9126-10E1-7CA5-376478EB96BC}"/>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591CDEDC-470D-65D0-02BA-7C3261027F81}"/>
              </a:ext>
            </a:extLst>
          </p:cNvPr>
          <p:cNvSpPr>
            <a:spLocks noGrp="1"/>
          </p:cNvSpPr>
          <p:nvPr>
            <p:ph type="ftr" sz="quarter" idx="11"/>
          </p:nvPr>
        </p:nvSpPr>
        <p:spPr/>
        <p:txBody>
          <a:bodyPr/>
          <a:lstStyle/>
          <a:p>
            <a:r>
              <a:rPr lang="en-US" dirty="0"/>
              <a:t>Jagadeesh_AP2312210002</a:t>
            </a:r>
            <a:endParaRPr lang="en-IN" dirty="0"/>
          </a:p>
        </p:txBody>
      </p:sp>
      <p:sp>
        <p:nvSpPr>
          <p:cNvPr id="6" name="Slide Number Placeholder 5">
            <a:extLst>
              <a:ext uri="{FF2B5EF4-FFF2-40B4-BE49-F238E27FC236}">
                <a16:creationId xmlns:a16="http://schemas.microsoft.com/office/drawing/2014/main" id="{EC3AAEB9-6268-ED19-29D6-379C30A36A23}"/>
              </a:ext>
            </a:extLst>
          </p:cNvPr>
          <p:cNvSpPr>
            <a:spLocks noGrp="1"/>
          </p:cNvSpPr>
          <p:nvPr>
            <p:ph type="sldNum" sz="quarter" idx="12"/>
          </p:nvPr>
        </p:nvSpPr>
        <p:spPr/>
        <p:txBody>
          <a:bodyPr/>
          <a:lstStyle/>
          <a:p>
            <a:fld id="{15FCCAAF-6324-40D0-99C1-825B83CC9B2F}" type="slidenum">
              <a:rPr lang="en-IN" smtClean="0"/>
              <a:t>9</a:t>
            </a:fld>
            <a:endParaRPr lang="en-IN"/>
          </a:p>
        </p:txBody>
      </p:sp>
      <p:sp>
        <p:nvSpPr>
          <p:cNvPr id="7" name="TextBox 6">
            <a:extLst>
              <a:ext uri="{FF2B5EF4-FFF2-40B4-BE49-F238E27FC236}">
                <a16:creationId xmlns:a16="http://schemas.microsoft.com/office/drawing/2014/main" id="{9EF86C99-9C5C-B515-E3CD-DD2FD0693E39}"/>
              </a:ext>
            </a:extLst>
          </p:cNvPr>
          <p:cNvSpPr txBox="1"/>
          <p:nvPr/>
        </p:nvSpPr>
        <p:spPr>
          <a:xfrm>
            <a:off x="5518730" y="1341099"/>
            <a:ext cx="1690396" cy="369332"/>
          </a:xfrm>
          <a:prstGeom prst="rect">
            <a:avLst/>
          </a:prstGeom>
          <a:noFill/>
        </p:spPr>
        <p:txBody>
          <a:bodyPr wrap="square" rtlCol="0">
            <a:spAutoFit/>
          </a:bodyPr>
          <a:lstStyle/>
          <a:p>
            <a:r>
              <a:rPr lang="en-US" dirty="0"/>
              <a:t>Collected Data </a:t>
            </a:r>
          </a:p>
        </p:txBody>
      </p:sp>
      <p:pic>
        <p:nvPicPr>
          <p:cNvPr id="1028" name="Picture 4" descr="Node-RED - Wikipedia">
            <a:extLst>
              <a:ext uri="{FF2B5EF4-FFF2-40B4-BE49-F238E27FC236}">
                <a16:creationId xmlns:a16="http://schemas.microsoft.com/office/drawing/2014/main" id="{8E65646E-73C3-4CAD-42F0-542EFF57A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5804" y="2230212"/>
            <a:ext cx="1176946" cy="117694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ode-red-dashboard (node) - Node-RED">
            <a:extLst>
              <a:ext uri="{FF2B5EF4-FFF2-40B4-BE49-F238E27FC236}">
                <a16:creationId xmlns:a16="http://schemas.microsoft.com/office/drawing/2014/main" id="{307B573F-E874-BA50-56C9-8F3CC0F78F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6054" y="3785753"/>
            <a:ext cx="1756445" cy="135163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troduction to Cloud Security with AWS ...">
            <a:extLst>
              <a:ext uri="{FF2B5EF4-FFF2-40B4-BE49-F238E27FC236}">
                <a16:creationId xmlns:a16="http://schemas.microsoft.com/office/drawing/2014/main" id="{A66D98DC-2689-6811-B859-DFD4B4FED6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9124" y="2209061"/>
            <a:ext cx="1406602" cy="105359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81B04D8-77CB-80FA-C08C-E912EAD3AE79}"/>
              </a:ext>
            </a:extLst>
          </p:cNvPr>
          <p:cNvSpPr txBox="1"/>
          <p:nvPr/>
        </p:nvSpPr>
        <p:spPr>
          <a:xfrm>
            <a:off x="8773452" y="3458530"/>
            <a:ext cx="1690396" cy="369332"/>
          </a:xfrm>
          <a:prstGeom prst="rect">
            <a:avLst/>
          </a:prstGeom>
          <a:noFill/>
        </p:spPr>
        <p:txBody>
          <a:bodyPr wrap="square" rtlCol="0">
            <a:spAutoFit/>
          </a:bodyPr>
          <a:lstStyle/>
          <a:p>
            <a:r>
              <a:rPr lang="en-US" dirty="0"/>
              <a:t>Storage</a:t>
            </a:r>
          </a:p>
        </p:txBody>
      </p:sp>
      <p:pic>
        <p:nvPicPr>
          <p:cNvPr id="10" name="Picture 18" descr="EV Charging Station Finder App ...">
            <a:extLst>
              <a:ext uri="{FF2B5EF4-FFF2-40B4-BE49-F238E27FC236}">
                <a16:creationId xmlns:a16="http://schemas.microsoft.com/office/drawing/2014/main" id="{10632EEA-3FC2-DABC-0F16-08730DD66D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8725" y="4248602"/>
            <a:ext cx="1815168" cy="103898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0" descr="EV Charging Station Booking Web ...">
            <a:extLst>
              <a:ext uri="{FF2B5EF4-FFF2-40B4-BE49-F238E27FC236}">
                <a16:creationId xmlns:a16="http://schemas.microsoft.com/office/drawing/2014/main" id="{E46E4AB5-A8C5-BA07-B6A0-A198AEEABE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36654" y="4449694"/>
            <a:ext cx="1314943" cy="73636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073F084-A452-1E58-A913-C9601FF05016}"/>
              </a:ext>
            </a:extLst>
          </p:cNvPr>
          <p:cNvSpPr txBox="1"/>
          <p:nvPr/>
        </p:nvSpPr>
        <p:spPr>
          <a:xfrm>
            <a:off x="9579716" y="5302161"/>
            <a:ext cx="1690396" cy="369332"/>
          </a:xfrm>
          <a:prstGeom prst="rect">
            <a:avLst/>
          </a:prstGeom>
          <a:noFill/>
        </p:spPr>
        <p:txBody>
          <a:bodyPr wrap="square" rtlCol="0">
            <a:spAutoFit/>
          </a:bodyPr>
          <a:lstStyle/>
          <a:p>
            <a:r>
              <a:rPr lang="en-US" dirty="0"/>
              <a:t>User Interface</a:t>
            </a:r>
          </a:p>
        </p:txBody>
      </p:sp>
      <p:sp>
        <p:nvSpPr>
          <p:cNvPr id="13" name="TextBox 12">
            <a:extLst>
              <a:ext uri="{FF2B5EF4-FFF2-40B4-BE49-F238E27FC236}">
                <a16:creationId xmlns:a16="http://schemas.microsoft.com/office/drawing/2014/main" id="{56985F1D-E242-D303-42CD-BA3E7190BD65}"/>
              </a:ext>
            </a:extLst>
          </p:cNvPr>
          <p:cNvSpPr txBox="1"/>
          <p:nvPr/>
        </p:nvSpPr>
        <p:spPr>
          <a:xfrm>
            <a:off x="5152254" y="5146655"/>
            <a:ext cx="2423349" cy="369332"/>
          </a:xfrm>
          <a:prstGeom prst="rect">
            <a:avLst/>
          </a:prstGeom>
          <a:noFill/>
        </p:spPr>
        <p:txBody>
          <a:bodyPr wrap="square" rtlCol="0">
            <a:spAutoFit/>
          </a:bodyPr>
          <a:lstStyle/>
          <a:p>
            <a:r>
              <a:rPr lang="en-US" dirty="0"/>
              <a:t>Central control Pannel</a:t>
            </a:r>
          </a:p>
        </p:txBody>
      </p:sp>
      <p:sp>
        <p:nvSpPr>
          <p:cNvPr id="14" name="Arrow: Right 13">
            <a:extLst>
              <a:ext uri="{FF2B5EF4-FFF2-40B4-BE49-F238E27FC236}">
                <a16:creationId xmlns:a16="http://schemas.microsoft.com/office/drawing/2014/main" id="{13F171DF-0133-62C0-B5B4-0467DBCC9791}"/>
              </a:ext>
            </a:extLst>
          </p:cNvPr>
          <p:cNvSpPr/>
          <p:nvPr/>
        </p:nvSpPr>
        <p:spPr>
          <a:xfrm rot="5400000">
            <a:off x="6095997" y="1861981"/>
            <a:ext cx="369333" cy="1665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C7C9C68F-8D1D-C656-EE49-329090989762}"/>
              </a:ext>
            </a:extLst>
          </p:cNvPr>
          <p:cNvSpPr/>
          <p:nvPr/>
        </p:nvSpPr>
        <p:spPr>
          <a:xfrm rot="5400000">
            <a:off x="6012731" y="3508559"/>
            <a:ext cx="369333" cy="1665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78C5DB0A-E79F-7E4F-0558-4AA702F51719}"/>
              </a:ext>
            </a:extLst>
          </p:cNvPr>
          <p:cNvSpPr/>
          <p:nvPr/>
        </p:nvSpPr>
        <p:spPr>
          <a:xfrm>
            <a:off x="6906453" y="2733899"/>
            <a:ext cx="1512271" cy="1319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06851082-CED1-5932-863E-61C54F78A0B4}"/>
              </a:ext>
            </a:extLst>
          </p:cNvPr>
          <p:cNvSpPr/>
          <p:nvPr/>
        </p:nvSpPr>
        <p:spPr>
          <a:xfrm rot="5400000">
            <a:off x="8954493" y="3205092"/>
            <a:ext cx="369333" cy="1665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C400A9F5-1472-85B7-E245-2645F02FF776}"/>
              </a:ext>
            </a:extLst>
          </p:cNvPr>
          <p:cNvSpPr/>
          <p:nvPr/>
        </p:nvSpPr>
        <p:spPr>
          <a:xfrm rot="5400000">
            <a:off x="8954492" y="3940471"/>
            <a:ext cx="369333" cy="1665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Crash Course on MATLAB &amp; Simulink - IIES">
            <a:extLst>
              <a:ext uri="{FF2B5EF4-FFF2-40B4-BE49-F238E27FC236}">
                <a16:creationId xmlns:a16="http://schemas.microsoft.com/office/drawing/2014/main" id="{E9ADC74B-9667-FBCD-6EAD-AA780E6192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3373" y="1001765"/>
            <a:ext cx="2129869" cy="1417331"/>
          </a:xfrm>
          <a:prstGeom prst="rect">
            <a:avLst/>
          </a:prstGeom>
          <a:noFill/>
          <a:extLst>
            <a:ext uri="{909E8E84-426E-40DD-AFC4-6F175D3DCCD1}">
              <a14:hiddenFill xmlns:a14="http://schemas.microsoft.com/office/drawing/2010/main">
                <a:solidFill>
                  <a:srgbClr val="FFFFFF"/>
                </a:solidFill>
              </a14:hiddenFill>
            </a:ext>
          </a:extLst>
        </p:spPr>
      </p:pic>
      <p:sp>
        <p:nvSpPr>
          <p:cNvPr id="2" name="Arrow: Right 1">
            <a:extLst>
              <a:ext uri="{FF2B5EF4-FFF2-40B4-BE49-F238E27FC236}">
                <a16:creationId xmlns:a16="http://schemas.microsoft.com/office/drawing/2014/main" id="{B7A3FD48-B987-9ADA-03B8-3138E61B342B}"/>
              </a:ext>
            </a:extLst>
          </p:cNvPr>
          <p:cNvSpPr/>
          <p:nvPr/>
        </p:nvSpPr>
        <p:spPr>
          <a:xfrm>
            <a:off x="3282464" y="1578461"/>
            <a:ext cx="1512271" cy="1319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C02DF5B-D76F-23A4-C737-B2F6ED5E23F2}"/>
              </a:ext>
            </a:extLst>
          </p:cNvPr>
          <p:cNvSpPr txBox="1"/>
          <p:nvPr/>
        </p:nvSpPr>
        <p:spPr>
          <a:xfrm>
            <a:off x="138403" y="4561"/>
            <a:ext cx="11954069" cy="646331"/>
          </a:xfrm>
          <a:prstGeom prst="rect">
            <a:avLst/>
          </a:prstGeom>
          <a:noFill/>
        </p:spPr>
        <p:txBody>
          <a:bodyPr wrap="square" rtlCol="0">
            <a:spAutoFit/>
          </a:bodyPr>
          <a:lstStyle/>
          <a:p>
            <a:pPr algn="ctr"/>
            <a:r>
              <a:rPr lang="en-US" sz="3600" b="1" dirty="0">
                <a:solidFill>
                  <a:srgbClr val="002060"/>
                </a:solidFill>
                <a:latin typeface="Times New Roman" panose="02020603050405020304" pitchFamily="18" charset="0"/>
                <a:ea typeface="+mj-ea"/>
                <a:cs typeface="Times New Roman" panose="02020603050405020304" pitchFamily="18" charset="0"/>
              </a:rPr>
              <a:t>Flow of Project</a:t>
            </a:r>
          </a:p>
        </p:txBody>
      </p:sp>
    </p:spTree>
    <p:extLst>
      <p:ext uri="{BB962C8B-B14F-4D97-AF65-F5344CB8AC3E}">
        <p14:creationId xmlns:p14="http://schemas.microsoft.com/office/powerpoint/2010/main" val="1648561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Introduction to Cloud Security with AWS ...">
            <a:extLst>
              <a:ext uri="{FF2B5EF4-FFF2-40B4-BE49-F238E27FC236}">
                <a16:creationId xmlns:a16="http://schemas.microsoft.com/office/drawing/2014/main" id="{2C092495-6277-0182-38BA-DA8E2CB3F0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627" y="1592826"/>
            <a:ext cx="4408408" cy="330205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FD92A89-8ABE-2FD7-B29B-282B06B54AB8}"/>
              </a:ext>
            </a:extLst>
          </p:cNvPr>
          <p:cNvSpPr txBox="1"/>
          <p:nvPr/>
        </p:nvSpPr>
        <p:spPr>
          <a:xfrm>
            <a:off x="5220929" y="1986116"/>
            <a:ext cx="5801033" cy="2554545"/>
          </a:xfrm>
          <a:prstGeom prst="rect">
            <a:avLst/>
          </a:prstGeom>
          <a:noFill/>
        </p:spPr>
        <p:txBody>
          <a:bodyPr wrap="square" rtlCol="0">
            <a:spAutoFit/>
          </a:bodyPr>
          <a:lstStyle/>
          <a:p>
            <a:r>
              <a:rPr lang="en-US" sz="3200" dirty="0">
                <a:solidFill>
                  <a:srgbClr val="002060"/>
                </a:solidFill>
                <a:latin typeface="Amasis MT Pro Black" panose="02040A04050005020304" pitchFamily="18" charset="0"/>
              </a:rPr>
              <a:t>Cloud Based Data Storage</a:t>
            </a:r>
          </a:p>
          <a:p>
            <a:endParaRPr lang="en-US" sz="3200" dirty="0">
              <a:solidFill>
                <a:srgbClr val="002060"/>
              </a:solidFill>
              <a:latin typeface="Amasis MT Pro Black" panose="02040A04050005020304" pitchFamily="18" charset="0"/>
            </a:endParaRPr>
          </a:p>
          <a:p>
            <a:r>
              <a:rPr lang="en-US" sz="3200" dirty="0">
                <a:solidFill>
                  <a:srgbClr val="002060"/>
                </a:solidFill>
                <a:latin typeface="Amasis MT Pro Black" panose="02040A04050005020304" pitchFamily="18" charset="0"/>
              </a:rPr>
              <a:t>Alerts</a:t>
            </a:r>
          </a:p>
          <a:p>
            <a:endParaRPr lang="en-US" sz="3200" dirty="0">
              <a:solidFill>
                <a:srgbClr val="002060"/>
              </a:solidFill>
              <a:latin typeface="Amasis MT Pro Black" panose="02040A04050005020304" pitchFamily="18" charset="0"/>
            </a:endParaRPr>
          </a:p>
          <a:p>
            <a:r>
              <a:rPr lang="en-US" sz="3200" dirty="0">
                <a:solidFill>
                  <a:srgbClr val="002060"/>
                </a:solidFill>
                <a:latin typeface="Amasis MT Pro Black" panose="02040A04050005020304" pitchFamily="18" charset="0"/>
              </a:rPr>
              <a:t>User data Visualization </a:t>
            </a:r>
          </a:p>
        </p:txBody>
      </p:sp>
      <p:sp>
        <p:nvSpPr>
          <p:cNvPr id="6" name="Arrow: Right 5">
            <a:extLst>
              <a:ext uri="{FF2B5EF4-FFF2-40B4-BE49-F238E27FC236}">
                <a16:creationId xmlns:a16="http://schemas.microsoft.com/office/drawing/2014/main" id="{E0F0956C-02C0-939E-5CF7-F852850C641A}"/>
              </a:ext>
            </a:extLst>
          </p:cNvPr>
          <p:cNvSpPr/>
          <p:nvPr/>
        </p:nvSpPr>
        <p:spPr>
          <a:xfrm rot="20260366">
            <a:off x="4322637" y="2554063"/>
            <a:ext cx="991384" cy="1336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B82832AA-2CCF-21CB-776B-D106D9A33E9F}"/>
              </a:ext>
            </a:extLst>
          </p:cNvPr>
          <p:cNvSpPr/>
          <p:nvPr/>
        </p:nvSpPr>
        <p:spPr>
          <a:xfrm>
            <a:off x="4406054" y="3180679"/>
            <a:ext cx="824550" cy="1654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68BEAF7B-57C9-ECBF-6B01-176C0AE4011B}"/>
              </a:ext>
            </a:extLst>
          </p:cNvPr>
          <p:cNvSpPr/>
          <p:nvPr/>
        </p:nvSpPr>
        <p:spPr>
          <a:xfrm rot="1103757">
            <a:off x="4378238" y="3920148"/>
            <a:ext cx="816362" cy="1336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7762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27D7247-F14B-84C6-FA87-638DA5F0149B}"/>
              </a:ext>
            </a:extLst>
          </p:cNvPr>
          <p:cNvSpPr txBox="1"/>
          <p:nvPr/>
        </p:nvSpPr>
        <p:spPr>
          <a:xfrm>
            <a:off x="6113178" y="431902"/>
            <a:ext cx="783771" cy="369332"/>
          </a:xfrm>
          <a:prstGeom prst="rect">
            <a:avLst/>
          </a:prstGeom>
          <a:noFill/>
          <a:ln>
            <a:solidFill>
              <a:schemeClr val="tx1"/>
            </a:solidFill>
          </a:ln>
        </p:spPr>
        <p:txBody>
          <a:bodyPr wrap="square" rtlCol="0">
            <a:spAutoFit/>
          </a:bodyPr>
          <a:lstStyle/>
          <a:p>
            <a:pPr algn="ctr"/>
            <a:r>
              <a:rPr lang="en-US" dirty="0"/>
              <a:t>Start</a:t>
            </a:r>
          </a:p>
        </p:txBody>
      </p:sp>
      <p:sp>
        <p:nvSpPr>
          <p:cNvPr id="9" name="TextBox 8">
            <a:extLst>
              <a:ext uri="{FF2B5EF4-FFF2-40B4-BE49-F238E27FC236}">
                <a16:creationId xmlns:a16="http://schemas.microsoft.com/office/drawing/2014/main" id="{A01C34A8-06AB-DBAF-F8C5-8EADB82D4D01}"/>
              </a:ext>
            </a:extLst>
          </p:cNvPr>
          <p:cNvSpPr txBox="1"/>
          <p:nvPr/>
        </p:nvSpPr>
        <p:spPr>
          <a:xfrm>
            <a:off x="6089073" y="1867287"/>
            <a:ext cx="783771" cy="369332"/>
          </a:xfrm>
          <a:prstGeom prst="rect">
            <a:avLst/>
          </a:prstGeom>
          <a:noFill/>
          <a:ln>
            <a:solidFill>
              <a:schemeClr val="tx1"/>
            </a:solidFill>
          </a:ln>
        </p:spPr>
        <p:txBody>
          <a:bodyPr wrap="square" rtlCol="0">
            <a:spAutoFit/>
          </a:bodyPr>
          <a:lstStyle/>
          <a:p>
            <a:pPr algn="ctr"/>
            <a:r>
              <a:rPr lang="en-US" dirty="0"/>
              <a:t>ESS</a:t>
            </a:r>
          </a:p>
        </p:txBody>
      </p:sp>
      <p:sp>
        <p:nvSpPr>
          <p:cNvPr id="11" name="TextBox 10">
            <a:extLst>
              <a:ext uri="{FF2B5EF4-FFF2-40B4-BE49-F238E27FC236}">
                <a16:creationId xmlns:a16="http://schemas.microsoft.com/office/drawing/2014/main" id="{64DC9727-3223-55FD-E7C9-048ED812FCCF}"/>
              </a:ext>
            </a:extLst>
          </p:cNvPr>
          <p:cNvSpPr txBox="1"/>
          <p:nvPr/>
        </p:nvSpPr>
        <p:spPr>
          <a:xfrm>
            <a:off x="3989688" y="1867287"/>
            <a:ext cx="783771" cy="369332"/>
          </a:xfrm>
          <a:prstGeom prst="rect">
            <a:avLst/>
          </a:prstGeom>
          <a:noFill/>
          <a:ln>
            <a:solidFill>
              <a:schemeClr val="tx1"/>
            </a:solidFill>
          </a:ln>
        </p:spPr>
        <p:txBody>
          <a:bodyPr wrap="square" rtlCol="0">
            <a:spAutoFit/>
          </a:bodyPr>
          <a:lstStyle/>
          <a:p>
            <a:pPr algn="ctr"/>
            <a:r>
              <a:rPr lang="en-US" dirty="0"/>
              <a:t>Solar</a:t>
            </a:r>
          </a:p>
        </p:txBody>
      </p:sp>
      <p:sp>
        <p:nvSpPr>
          <p:cNvPr id="12" name="TextBox 11">
            <a:extLst>
              <a:ext uri="{FF2B5EF4-FFF2-40B4-BE49-F238E27FC236}">
                <a16:creationId xmlns:a16="http://schemas.microsoft.com/office/drawing/2014/main" id="{276674C2-29F1-252D-02BF-2EF4B6DC197B}"/>
              </a:ext>
            </a:extLst>
          </p:cNvPr>
          <p:cNvSpPr txBox="1"/>
          <p:nvPr/>
        </p:nvSpPr>
        <p:spPr>
          <a:xfrm>
            <a:off x="3989688" y="1138300"/>
            <a:ext cx="5030749" cy="369332"/>
          </a:xfrm>
          <a:prstGeom prst="rect">
            <a:avLst/>
          </a:prstGeom>
          <a:noFill/>
          <a:ln>
            <a:solidFill>
              <a:schemeClr val="tx1"/>
            </a:solidFill>
          </a:ln>
        </p:spPr>
        <p:txBody>
          <a:bodyPr wrap="square" rtlCol="0">
            <a:spAutoFit/>
          </a:bodyPr>
          <a:lstStyle/>
          <a:p>
            <a:pPr algn="ctr"/>
            <a:r>
              <a:rPr lang="en-US" dirty="0"/>
              <a:t>Check for the power source</a:t>
            </a:r>
          </a:p>
        </p:txBody>
      </p:sp>
      <p:sp>
        <p:nvSpPr>
          <p:cNvPr id="15" name="TextBox 14">
            <a:extLst>
              <a:ext uri="{FF2B5EF4-FFF2-40B4-BE49-F238E27FC236}">
                <a16:creationId xmlns:a16="http://schemas.microsoft.com/office/drawing/2014/main" id="{ABF0880A-05B1-2B00-58E8-F686A052CDF9}"/>
              </a:ext>
            </a:extLst>
          </p:cNvPr>
          <p:cNvSpPr txBox="1"/>
          <p:nvPr/>
        </p:nvSpPr>
        <p:spPr>
          <a:xfrm>
            <a:off x="7684939" y="4730009"/>
            <a:ext cx="1922106" cy="646331"/>
          </a:xfrm>
          <a:prstGeom prst="rect">
            <a:avLst/>
          </a:prstGeom>
          <a:noFill/>
          <a:ln>
            <a:solidFill>
              <a:schemeClr val="tx1"/>
            </a:solidFill>
          </a:ln>
        </p:spPr>
        <p:txBody>
          <a:bodyPr wrap="square" rtlCol="0">
            <a:spAutoFit/>
          </a:bodyPr>
          <a:lstStyle/>
          <a:p>
            <a:pPr algn="ctr"/>
            <a:r>
              <a:rPr lang="en-US" dirty="0"/>
              <a:t>DC Fast Charging Station</a:t>
            </a:r>
          </a:p>
        </p:txBody>
      </p:sp>
      <p:sp>
        <p:nvSpPr>
          <p:cNvPr id="16" name="TextBox 15">
            <a:extLst>
              <a:ext uri="{FF2B5EF4-FFF2-40B4-BE49-F238E27FC236}">
                <a16:creationId xmlns:a16="http://schemas.microsoft.com/office/drawing/2014/main" id="{694D1356-B028-712B-CC4E-599CE393F68B}"/>
              </a:ext>
            </a:extLst>
          </p:cNvPr>
          <p:cNvSpPr txBox="1"/>
          <p:nvPr/>
        </p:nvSpPr>
        <p:spPr>
          <a:xfrm>
            <a:off x="3161908" y="4776613"/>
            <a:ext cx="2017745" cy="646331"/>
          </a:xfrm>
          <a:prstGeom prst="rect">
            <a:avLst/>
          </a:prstGeom>
          <a:noFill/>
          <a:ln>
            <a:solidFill>
              <a:schemeClr val="tx1"/>
            </a:solidFill>
          </a:ln>
        </p:spPr>
        <p:txBody>
          <a:bodyPr wrap="square" rtlCol="0">
            <a:spAutoFit/>
          </a:bodyPr>
          <a:lstStyle/>
          <a:p>
            <a:pPr algn="ctr"/>
            <a:r>
              <a:rPr lang="en-US" dirty="0"/>
              <a:t>Battery Swapping Station</a:t>
            </a:r>
          </a:p>
        </p:txBody>
      </p:sp>
      <p:sp>
        <p:nvSpPr>
          <p:cNvPr id="17" name="TextBox 16">
            <a:extLst>
              <a:ext uri="{FF2B5EF4-FFF2-40B4-BE49-F238E27FC236}">
                <a16:creationId xmlns:a16="http://schemas.microsoft.com/office/drawing/2014/main" id="{4546C4F2-1F08-80A0-E450-5671FBC31145}"/>
              </a:ext>
            </a:extLst>
          </p:cNvPr>
          <p:cNvSpPr txBox="1"/>
          <p:nvPr/>
        </p:nvSpPr>
        <p:spPr>
          <a:xfrm>
            <a:off x="2911927" y="2631667"/>
            <a:ext cx="7067804" cy="1754326"/>
          </a:xfrm>
          <a:prstGeom prst="rect">
            <a:avLst/>
          </a:prstGeom>
          <a:noFill/>
          <a:ln>
            <a:solidFill>
              <a:schemeClr val="tx1"/>
            </a:solidFill>
          </a:ln>
        </p:spPr>
        <p:txBody>
          <a:bodyPr wrap="square" rtlCol="0">
            <a:spAutoFit/>
          </a:bodyPr>
          <a:lstStyle/>
          <a:p>
            <a:pPr algn="ctr"/>
            <a:r>
              <a:rPr lang="en-US" b="1" dirty="0"/>
              <a:t>PCC – Point of Common Coupling</a:t>
            </a:r>
          </a:p>
          <a:p>
            <a:pPr marL="342900" indent="-342900">
              <a:buAutoNum type="arabicPeriod"/>
            </a:pPr>
            <a:r>
              <a:rPr lang="en-US" sz="1800" dirty="0"/>
              <a:t>Solar – ON   </a:t>
            </a:r>
            <a:r>
              <a:rPr lang="en-US" sz="1800" dirty="0">
                <a:sym typeface="Wingdings" panose="05000000000000000000" pitchFamily="2" charset="2"/>
              </a:rPr>
              <a:t>  ESS Charge      Grid OFF                	 Load ON</a:t>
            </a:r>
          </a:p>
          <a:p>
            <a:pPr marL="342900" indent="-342900">
              <a:buFontTx/>
              <a:buAutoNum type="arabicPeriod"/>
            </a:pPr>
            <a:r>
              <a:rPr lang="en-US" sz="1800" dirty="0"/>
              <a:t>Solar – ON   </a:t>
            </a:r>
            <a:r>
              <a:rPr lang="en-US" sz="1800" dirty="0">
                <a:sym typeface="Wingdings" panose="05000000000000000000" pitchFamily="2" charset="2"/>
              </a:rPr>
              <a:t>  ESS &gt;80%         [Grid DC- AC] ON  	 Load ON </a:t>
            </a:r>
          </a:p>
          <a:p>
            <a:pPr marL="342900" indent="-342900">
              <a:buFontTx/>
              <a:buAutoNum type="arabicPeriod"/>
            </a:pPr>
            <a:r>
              <a:rPr lang="en-US" sz="1800" dirty="0"/>
              <a:t>Solar – OFF </a:t>
            </a:r>
            <a:r>
              <a:rPr lang="en-US" sz="1800" dirty="0">
                <a:sym typeface="Wingdings" panose="05000000000000000000" pitchFamily="2" charset="2"/>
              </a:rPr>
              <a:t>  ESS ON              Grid OFF                	  Load ON</a:t>
            </a:r>
          </a:p>
          <a:p>
            <a:pPr marL="342900" indent="-342900">
              <a:buFontTx/>
              <a:buAutoNum type="arabicPeriod"/>
            </a:pPr>
            <a:r>
              <a:rPr lang="en-US" sz="1800" dirty="0"/>
              <a:t>Solar – OFF </a:t>
            </a:r>
            <a:r>
              <a:rPr lang="en-US" sz="1800" dirty="0">
                <a:sym typeface="Wingdings" panose="05000000000000000000" pitchFamily="2" charset="2"/>
              </a:rPr>
              <a:t>  ESS &lt;20%         [</a:t>
            </a:r>
            <a:r>
              <a:rPr lang="en-US" sz="1800">
                <a:sym typeface="Wingdings" panose="05000000000000000000" pitchFamily="2" charset="2"/>
              </a:rPr>
              <a:t>Grid </a:t>
            </a:r>
            <a:r>
              <a:rPr lang="en-US">
                <a:sym typeface="Wingdings" panose="05000000000000000000" pitchFamily="2" charset="2"/>
              </a:rPr>
              <a:t>AC</a:t>
            </a:r>
            <a:r>
              <a:rPr lang="en-US" sz="1800">
                <a:sym typeface="Wingdings" panose="05000000000000000000" pitchFamily="2" charset="2"/>
              </a:rPr>
              <a:t>- </a:t>
            </a:r>
            <a:r>
              <a:rPr lang="en-US" dirty="0">
                <a:sym typeface="Wingdings" panose="05000000000000000000" pitchFamily="2" charset="2"/>
              </a:rPr>
              <a:t>D</a:t>
            </a:r>
            <a:r>
              <a:rPr lang="en-US" sz="1800">
                <a:sym typeface="Wingdings" panose="05000000000000000000" pitchFamily="2" charset="2"/>
              </a:rPr>
              <a:t>C</a:t>
            </a:r>
            <a:r>
              <a:rPr lang="en-US" sz="1800" dirty="0">
                <a:sym typeface="Wingdings" panose="05000000000000000000" pitchFamily="2" charset="2"/>
              </a:rPr>
              <a:t>] ON 	  Load ON</a:t>
            </a:r>
          </a:p>
          <a:p>
            <a:pPr marL="342900" indent="-342900">
              <a:buFontTx/>
              <a:buAutoNum type="arabicPeriod"/>
            </a:pPr>
            <a:r>
              <a:rPr lang="en-US" sz="1800" dirty="0"/>
              <a:t>Solar – OFF </a:t>
            </a:r>
            <a:r>
              <a:rPr lang="en-US" sz="1800" dirty="0">
                <a:sym typeface="Wingdings" panose="05000000000000000000" pitchFamily="2" charset="2"/>
              </a:rPr>
              <a:t>  ESS  charge     [Grid AC- </a:t>
            </a:r>
            <a:r>
              <a:rPr lang="en-US" dirty="0">
                <a:sym typeface="Wingdings" panose="05000000000000000000" pitchFamily="2" charset="2"/>
              </a:rPr>
              <a:t>D</a:t>
            </a:r>
            <a:r>
              <a:rPr lang="en-US" sz="1800" dirty="0">
                <a:sym typeface="Wingdings" panose="05000000000000000000" pitchFamily="2" charset="2"/>
              </a:rPr>
              <a:t>C] ON 	  Load OFF</a:t>
            </a:r>
          </a:p>
        </p:txBody>
      </p:sp>
      <p:sp>
        <p:nvSpPr>
          <p:cNvPr id="18" name="TextBox 17">
            <a:extLst>
              <a:ext uri="{FF2B5EF4-FFF2-40B4-BE49-F238E27FC236}">
                <a16:creationId xmlns:a16="http://schemas.microsoft.com/office/drawing/2014/main" id="{A864B83A-3170-4D64-7C4B-A50EDDA13F8B}"/>
              </a:ext>
            </a:extLst>
          </p:cNvPr>
          <p:cNvSpPr txBox="1"/>
          <p:nvPr/>
        </p:nvSpPr>
        <p:spPr>
          <a:xfrm>
            <a:off x="8236670" y="1855228"/>
            <a:ext cx="783771" cy="369332"/>
          </a:xfrm>
          <a:prstGeom prst="rect">
            <a:avLst/>
          </a:prstGeom>
          <a:noFill/>
          <a:ln>
            <a:solidFill>
              <a:schemeClr val="tx1"/>
            </a:solidFill>
          </a:ln>
        </p:spPr>
        <p:txBody>
          <a:bodyPr wrap="square" rtlCol="0">
            <a:spAutoFit/>
          </a:bodyPr>
          <a:lstStyle/>
          <a:p>
            <a:pPr algn="ctr"/>
            <a:r>
              <a:rPr lang="en-US" dirty="0"/>
              <a:t>Grid</a:t>
            </a:r>
          </a:p>
        </p:txBody>
      </p:sp>
      <p:cxnSp>
        <p:nvCxnSpPr>
          <p:cNvPr id="20" name="Straight Arrow Connector 19">
            <a:extLst>
              <a:ext uri="{FF2B5EF4-FFF2-40B4-BE49-F238E27FC236}">
                <a16:creationId xmlns:a16="http://schemas.microsoft.com/office/drawing/2014/main" id="{06FA4D4B-2E13-8D72-E8F1-011365965F74}"/>
              </a:ext>
            </a:extLst>
          </p:cNvPr>
          <p:cNvCxnSpPr>
            <a:cxnSpLocks/>
            <a:endCxn id="12" idx="0"/>
          </p:cNvCxnSpPr>
          <p:nvPr/>
        </p:nvCxnSpPr>
        <p:spPr>
          <a:xfrm>
            <a:off x="6505062" y="801234"/>
            <a:ext cx="1" cy="33706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612620B7-EA06-34AD-DFDE-88D589BBC8C8}"/>
              </a:ext>
            </a:extLst>
          </p:cNvPr>
          <p:cNvCxnSpPr/>
          <p:nvPr/>
        </p:nvCxnSpPr>
        <p:spPr>
          <a:xfrm flipH="1">
            <a:off x="4381573" y="1562487"/>
            <a:ext cx="2" cy="304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2C9B4B6C-F235-B9F6-8794-3A700A4BDB84}"/>
              </a:ext>
            </a:extLst>
          </p:cNvPr>
          <p:cNvCxnSpPr/>
          <p:nvPr/>
        </p:nvCxnSpPr>
        <p:spPr>
          <a:xfrm flipH="1">
            <a:off x="6505061" y="1529030"/>
            <a:ext cx="2" cy="304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9C376114-1B2E-C02A-7971-19848502F0F3}"/>
              </a:ext>
            </a:extLst>
          </p:cNvPr>
          <p:cNvCxnSpPr/>
          <p:nvPr/>
        </p:nvCxnSpPr>
        <p:spPr>
          <a:xfrm flipH="1">
            <a:off x="8604440" y="1529030"/>
            <a:ext cx="2" cy="304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B1AFE245-A68E-A6D4-F887-CD91C70F3FF1}"/>
              </a:ext>
            </a:extLst>
          </p:cNvPr>
          <p:cNvCxnSpPr/>
          <p:nvPr/>
        </p:nvCxnSpPr>
        <p:spPr>
          <a:xfrm flipH="1">
            <a:off x="4381569" y="2309873"/>
            <a:ext cx="2" cy="304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CA1B0CDF-B874-67E5-1165-34E4E219F5AF}"/>
              </a:ext>
            </a:extLst>
          </p:cNvPr>
          <p:cNvCxnSpPr/>
          <p:nvPr/>
        </p:nvCxnSpPr>
        <p:spPr>
          <a:xfrm flipH="1">
            <a:off x="6493002" y="2287772"/>
            <a:ext cx="2" cy="304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390228AA-D412-BA6D-ED04-7839FAC3EA62}"/>
              </a:ext>
            </a:extLst>
          </p:cNvPr>
          <p:cNvCxnSpPr>
            <a:cxnSpLocks/>
          </p:cNvCxnSpPr>
          <p:nvPr/>
        </p:nvCxnSpPr>
        <p:spPr>
          <a:xfrm flipH="1">
            <a:off x="8604435" y="2267356"/>
            <a:ext cx="7" cy="36431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F21CFEA6-A25D-3481-87DB-427A1B4B5996}"/>
              </a:ext>
            </a:extLst>
          </p:cNvPr>
          <p:cNvCxnSpPr>
            <a:cxnSpLocks/>
          </p:cNvCxnSpPr>
          <p:nvPr/>
        </p:nvCxnSpPr>
        <p:spPr>
          <a:xfrm flipH="1">
            <a:off x="4170781" y="4393897"/>
            <a:ext cx="7" cy="36431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65C80CBF-5A7B-0AC1-9D15-EC2108FA26A3}"/>
              </a:ext>
            </a:extLst>
          </p:cNvPr>
          <p:cNvCxnSpPr>
            <a:cxnSpLocks/>
          </p:cNvCxnSpPr>
          <p:nvPr/>
        </p:nvCxnSpPr>
        <p:spPr>
          <a:xfrm flipH="1">
            <a:off x="8645992" y="4375846"/>
            <a:ext cx="7" cy="36431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3" name="Title 1">
            <a:extLst>
              <a:ext uri="{FF2B5EF4-FFF2-40B4-BE49-F238E27FC236}">
                <a16:creationId xmlns:a16="http://schemas.microsoft.com/office/drawing/2014/main" id="{190C43B1-3E01-C2EC-B232-74368BADB1B2}"/>
              </a:ext>
            </a:extLst>
          </p:cNvPr>
          <p:cNvSpPr>
            <a:spLocks noGrp="1"/>
          </p:cNvSpPr>
          <p:nvPr>
            <p:ph type="title"/>
          </p:nvPr>
        </p:nvSpPr>
        <p:spPr>
          <a:xfrm>
            <a:off x="-265965" y="-723038"/>
            <a:ext cx="10515600" cy="681037"/>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End to End Flow</a:t>
            </a:r>
          </a:p>
        </p:txBody>
      </p:sp>
    </p:spTree>
    <p:extLst>
      <p:ext uri="{BB962C8B-B14F-4D97-AF65-F5344CB8AC3E}">
        <p14:creationId xmlns:p14="http://schemas.microsoft.com/office/powerpoint/2010/main" val="22185034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2B3B6605-08B1-4BF6-0EA2-370F37A2B254}"/>
              </a:ext>
            </a:extLst>
          </p:cNvPr>
          <p:cNvSpPr/>
          <p:nvPr/>
        </p:nvSpPr>
        <p:spPr>
          <a:xfrm>
            <a:off x="7003089" y="3427321"/>
            <a:ext cx="5042732" cy="276107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Rounded Corners 21">
            <a:extLst>
              <a:ext uri="{FF2B5EF4-FFF2-40B4-BE49-F238E27FC236}">
                <a16:creationId xmlns:a16="http://schemas.microsoft.com/office/drawing/2014/main" id="{BDD01C3C-2A6E-16FF-4A17-ADD36FA005B2}"/>
              </a:ext>
            </a:extLst>
          </p:cNvPr>
          <p:cNvSpPr/>
          <p:nvPr/>
        </p:nvSpPr>
        <p:spPr>
          <a:xfrm>
            <a:off x="5964748" y="578102"/>
            <a:ext cx="3721013" cy="2485818"/>
          </a:xfrm>
          <a:prstGeom prst="round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CC98CA29-B55B-CAB7-9F72-C47A0075DA02}"/>
              </a:ext>
            </a:extLst>
          </p:cNvPr>
          <p:cNvSpPr/>
          <p:nvPr/>
        </p:nvSpPr>
        <p:spPr>
          <a:xfrm>
            <a:off x="1622375" y="1170194"/>
            <a:ext cx="4021494" cy="2646772"/>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E99D5FC6-C20D-4B6A-264A-4E1B979E45CB}"/>
              </a:ext>
            </a:extLst>
          </p:cNvPr>
          <p:cNvSpPr txBox="1"/>
          <p:nvPr/>
        </p:nvSpPr>
        <p:spPr>
          <a:xfrm>
            <a:off x="3518417" y="563726"/>
            <a:ext cx="783771" cy="369332"/>
          </a:xfrm>
          <a:prstGeom prst="rect">
            <a:avLst/>
          </a:prstGeom>
          <a:noFill/>
          <a:ln>
            <a:solidFill>
              <a:schemeClr val="tx1"/>
            </a:solidFill>
          </a:ln>
        </p:spPr>
        <p:txBody>
          <a:bodyPr wrap="square" rtlCol="0">
            <a:spAutoFit/>
          </a:bodyPr>
          <a:lstStyle/>
          <a:p>
            <a:pPr algn="ctr"/>
            <a:r>
              <a:rPr lang="en-US" dirty="0"/>
              <a:t>Start</a:t>
            </a:r>
          </a:p>
        </p:txBody>
      </p:sp>
      <p:sp>
        <p:nvSpPr>
          <p:cNvPr id="36" name="Flowchart: Decision 35">
            <a:extLst>
              <a:ext uri="{FF2B5EF4-FFF2-40B4-BE49-F238E27FC236}">
                <a16:creationId xmlns:a16="http://schemas.microsoft.com/office/drawing/2014/main" id="{0D569CE4-41B4-F4E0-92B3-145CD537463B}"/>
              </a:ext>
            </a:extLst>
          </p:cNvPr>
          <p:cNvSpPr/>
          <p:nvPr/>
        </p:nvSpPr>
        <p:spPr>
          <a:xfrm>
            <a:off x="6080630" y="967748"/>
            <a:ext cx="1618055" cy="1337562"/>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485FD8D2-120B-3B1C-4F40-91032B7BD59A}"/>
              </a:ext>
            </a:extLst>
          </p:cNvPr>
          <p:cNvSpPr txBox="1"/>
          <p:nvPr/>
        </p:nvSpPr>
        <p:spPr>
          <a:xfrm>
            <a:off x="3464765" y="1271403"/>
            <a:ext cx="1115012" cy="923330"/>
          </a:xfrm>
          <a:prstGeom prst="rect">
            <a:avLst/>
          </a:prstGeom>
          <a:noFill/>
          <a:ln>
            <a:noFill/>
          </a:ln>
        </p:spPr>
        <p:txBody>
          <a:bodyPr wrap="square" rtlCol="0">
            <a:spAutoFit/>
          </a:bodyPr>
          <a:lstStyle/>
          <a:p>
            <a:pPr algn="ctr"/>
            <a:r>
              <a:rPr lang="en-US" dirty="0"/>
              <a:t>IF </a:t>
            </a:r>
          </a:p>
          <a:p>
            <a:pPr algn="ctr"/>
            <a:r>
              <a:rPr lang="en-US" dirty="0"/>
              <a:t>Solar Available</a:t>
            </a:r>
          </a:p>
        </p:txBody>
      </p:sp>
      <p:sp>
        <p:nvSpPr>
          <p:cNvPr id="40" name="TextBox 39">
            <a:extLst>
              <a:ext uri="{FF2B5EF4-FFF2-40B4-BE49-F238E27FC236}">
                <a16:creationId xmlns:a16="http://schemas.microsoft.com/office/drawing/2014/main" id="{5B07D3F9-DF5A-1AD4-60DB-70056588689F}"/>
              </a:ext>
            </a:extLst>
          </p:cNvPr>
          <p:cNvSpPr txBox="1"/>
          <p:nvPr/>
        </p:nvSpPr>
        <p:spPr>
          <a:xfrm>
            <a:off x="2506235" y="2471732"/>
            <a:ext cx="1033730" cy="369332"/>
          </a:xfrm>
          <a:prstGeom prst="rect">
            <a:avLst/>
          </a:prstGeom>
          <a:noFill/>
          <a:ln>
            <a:solidFill>
              <a:schemeClr val="tx1"/>
            </a:solidFill>
          </a:ln>
        </p:spPr>
        <p:txBody>
          <a:bodyPr wrap="square" rtlCol="0">
            <a:spAutoFit/>
          </a:bodyPr>
          <a:lstStyle/>
          <a:p>
            <a:pPr algn="ctr"/>
            <a:r>
              <a:rPr lang="en-US" dirty="0"/>
              <a:t>Load On</a:t>
            </a:r>
          </a:p>
        </p:txBody>
      </p:sp>
      <p:sp>
        <p:nvSpPr>
          <p:cNvPr id="41" name="TextBox 40">
            <a:extLst>
              <a:ext uri="{FF2B5EF4-FFF2-40B4-BE49-F238E27FC236}">
                <a16:creationId xmlns:a16="http://schemas.microsoft.com/office/drawing/2014/main" id="{641D96C7-B463-A698-78E6-B4C722163B74}"/>
              </a:ext>
            </a:extLst>
          </p:cNvPr>
          <p:cNvSpPr txBox="1"/>
          <p:nvPr/>
        </p:nvSpPr>
        <p:spPr>
          <a:xfrm>
            <a:off x="1763075" y="1447193"/>
            <a:ext cx="983616" cy="369332"/>
          </a:xfrm>
          <a:prstGeom prst="rect">
            <a:avLst/>
          </a:prstGeom>
          <a:noFill/>
          <a:ln>
            <a:solidFill>
              <a:schemeClr val="tx1"/>
            </a:solidFill>
          </a:ln>
        </p:spPr>
        <p:txBody>
          <a:bodyPr wrap="square" rtlCol="0">
            <a:spAutoFit/>
          </a:bodyPr>
          <a:lstStyle/>
          <a:p>
            <a:pPr algn="ctr"/>
            <a:r>
              <a:rPr lang="en-US" dirty="0"/>
              <a:t>Grid Off</a:t>
            </a:r>
          </a:p>
        </p:txBody>
      </p:sp>
      <p:sp>
        <p:nvSpPr>
          <p:cNvPr id="42" name="TextBox 41">
            <a:extLst>
              <a:ext uri="{FF2B5EF4-FFF2-40B4-BE49-F238E27FC236}">
                <a16:creationId xmlns:a16="http://schemas.microsoft.com/office/drawing/2014/main" id="{C23E65D7-3D9F-6B8F-1259-3D6432A26115}"/>
              </a:ext>
            </a:extLst>
          </p:cNvPr>
          <p:cNvSpPr txBox="1"/>
          <p:nvPr/>
        </p:nvSpPr>
        <p:spPr>
          <a:xfrm>
            <a:off x="3745968" y="2442241"/>
            <a:ext cx="1676843" cy="646331"/>
          </a:xfrm>
          <a:prstGeom prst="rect">
            <a:avLst/>
          </a:prstGeom>
          <a:noFill/>
          <a:ln>
            <a:solidFill>
              <a:schemeClr val="tx1"/>
            </a:solidFill>
          </a:ln>
        </p:spPr>
        <p:txBody>
          <a:bodyPr wrap="square" rtlCol="0">
            <a:spAutoFit/>
          </a:bodyPr>
          <a:lstStyle/>
          <a:p>
            <a:pPr algn="ctr"/>
            <a:r>
              <a:rPr lang="en-US" dirty="0"/>
              <a:t>ESS Charging &gt; 80%</a:t>
            </a:r>
          </a:p>
        </p:txBody>
      </p:sp>
      <p:sp>
        <p:nvSpPr>
          <p:cNvPr id="7" name="Pentagon 6">
            <a:extLst>
              <a:ext uri="{FF2B5EF4-FFF2-40B4-BE49-F238E27FC236}">
                <a16:creationId xmlns:a16="http://schemas.microsoft.com/office/drawing/2014/main" id="{CE7C2851-C7AD-9B34-0BC6-1734F08618CF}"/>
              </a:ext>
            </a:extLst>
          </p:cNvPr>
          <p:cNvSpPr/>
          <p:nvPr/>
        </p:nvSpPr>
        <p:spPr>
          <a:xfrm>
            <a:off x="3012233" y="1271403"/>
            <a:ext cx="1884784" cy="923330"/>
          </a:xfrm>
          <a:prstGeom prst="pentag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49455AE-B7CA-0B7B-8A9C-F84BA879CF39}"/>
              </a:ext>
            </a:extLst>
          </p:cNvPr>
          <p:cNvSpPr txBox="1"/>
          <p:nvPr/>
        </p:nvSpPr>
        <p:spPr>
          <a:xfrm>
            <a:off x="6332151" y="1167599"/>
            <a:ext cx="1115012" cy="923330"/>
          </a:xfrm>
          <a:prstGeom prst="rect">
            <a:avLst/>
          </a:prstGeom>
          <a:noFill/>
          <a:ln>
            <a:noFill/>
          </a:ln>
        </p:spPr>
        <p:txBody>
          <a:bodyPr wrap="square" rtlCol="0">
            <a:spAutoFit/>
          </a:bodyPr>
          <a:lstStyle/>
          <a:p>
            <a:pPr algn="ctr"/>
            <a:r>
              <a:rPr lang="en-US" dirty="0"/>
              <a:t>IF </a:t>
            </a:r>
          </a:p>
          <a:p>
            <a:pPr algn="ctr"/>
            <a:r>
              <a:rPr lang="en-US" dirty="0"/>
              <a:t>Solar Not Available</a:t>
            </a:r>
          </a:p>
        </p:txBody>
      </p:sp>
      <p:sp>
        <p:nvSpPr>
          <p:cNvPr id="18" name="TextBox 17">
            <a:extLst>
              <a:ext uri="{FF2B5EF4-FFF2-40B4-BE49-F238E27FC236}">
                <a16:creationId xmlns:a16="http://schemas.microsoft.com/office/drawing/2014/main" id="{27E51519-17FC-6E5A-5FE9-487BAA6E625B}"/>
              </a:ext>
            </a:extLst>
          </p:cNvPr>
          <p:cNvSpPr txBox="1"/>
          <p:nvPr/>
        </p:nvSpPr>
        <p:spPr>
          <a:xfrm>
            <a:off x="7639978" y="760401"/>
            <a:ext cx="983616" cy="369332"/>
          </a:xfrm>
          <a:prstGeom prst="rect">
            <a:avLst/>
          </a:prstGeom>
          <a:noFill/>
          <a:ln>
            <a:solidFill>
              <a:schemeClr val="tx1"/>
            </a:solidFill>
          </a:ln>
        </p:spPr>
        <p:txBody>
          <a:bodyPr wrap="square" rtlCol="0">
            <a:spAutoFit/>
          </a:bodyPr>
          <a:lstStyle/>
          <a:p>
            <a:pPr algn="ctr"/>
            <a:r>
              <a:rPr lang="en-US" dirty="0"/>
              <a:t>Grid Off</a:t>
            </a:r>
          </a:p>
        </p:txBody>
      </p:sp>
      <p:sp>
        <p:nvSpPr>
          <p:cNvPr id="19" name="TextBox 18">
            <a:extLst>
              <a:ext uri="{FF2B5EF4-FFF2-40B4-BE49-F238E27FC236}">
                <a16:creationId xmlns:a16="http://schemas.microsoft.com/office/drawing/2014/main" id="{752ACA3C-B9B0-C47F-3F7E-58F452B9D476}"/>
              </a:ext>
            </a:extLst>
          </p:cNvPr>
          <p:cNvSpPr txBox="1"/>
          <p:nvPr/>
        </p:nvSpPr>
        <p:spPr>
          <a:xfrm>
            <a:off x="7981370" y="1479862"/>
            <a:ext cx="1437865" cy="369332"/>
          </a:xfrm>
          <a:prstGeom prst="rect">
            <a:avLst/>
          </a:prstGeom>
          <a:noFill/>
          <a:ln>
            <a:solidFill>
              <a:schemeClr val="tx1"/>
            </a:solidFill>
          </a:ln>
        </p:spPr>
        <p:txBody>
          <a:bodyPr wrap="square" rtlCol="0">
            <a:spAutoFit/>
          </a:bodyPr>
          <a:lstStyle/>
          <a:p>
            <a:pPr algn="ctr"/>
            <a:r>
              <a:rPr lang="en-US" dirty="0"/>
              <a:t>ESS ON</a:t>
            </a:r>
          </a:p>
        </p:txBody>
      </p:sp>
      <p:sp>
        <p:nvSpPr>
          <p:cNvPr id="20" name="TextBox 19">
            <a:extLst>
              <a:ext uri="{FF2B5EF4-FFF2-40B4-BE49-F238E27FC236}">
                <a16:creationId xmlns:a16="http://schemas.microsoft.com/office/drawing/2014/main" id="{18EDAE97-0183-4863-454E-168D8CCA69BB}"/>
              </a:ext>
            </a:extLst>
          </p:cNvPr>
          <p:cNvSpPr txBox="1"/>
          <p:nvPr/>
        </p:nvSpPr>
        <p:spPr>
          <a:xfrm>
            <a:off x="6452282" y="2578502"/>
            <a:ext cx="1033730" cy="369332"/>
          </a:xfrm>
          <a:prstGeom prst="rect">
            <a:avLst/>
          </a:prstGeom>
          <a:noFill/>
          <a:ln>
            <a:solidFill>
              <a:schemeClr val="tx1"/>
            </a:solidFill>
          </a:ln>
        </p:spPr>
        <p:txBody>
          <a:bodyPr wrap="square" rtlCol="0">
            <a:spAutoFit/>
          </a:bodyPr>
          <a:lstStyle/>
          <a:p>
            <a:pPr algn="ctr"/>
            <a:r>
              <a:rPr lang="en-US" dirty="0"/>
              <a:t>Load On</a:t>
            </a:r>
          </a:p>
        </p:txBody>
      </p:sp>
      <p:sp>
        <p:nvSpPr>
          <p:cNvPr id="23" name="TextBox 22">
            <a:extLst>
              <a:ext uri="{FF2B5EF4-FFF2-40B4-BE49-F238E27FC236}">
                <a16:creationId xmlns:a16="http://schemas.microsoft.com/office/drawing/2014/main" id="{65D20D3F-C24D-FEBB-AFDE-3EFA2F6F1A6D}"/>
              </a:ext>
            </a:extLst>
          </p:cNvPr>
          <p:cNvSpPr txBox="1"/>
          <p:nvPr/>
        </p:nvSpPr>
        <p:spPr>
          <a:xfrm>
            <a:off x="3745968" y="3401468"/>
            <a:ext cx="1569545" cy="369332"/>
          </a:xfrm>
          <a:prstGeom prst="rect">
            <a:avLst/>
          </a:prstGeom>
          <a:noFill/>
          <a:ln>
            <a:solidFill>
              <a:schemeClr val="tx1"/>
            </a:solidFill>
          </a:ln>
        </p:spPr>
        <p:txBody>
          <a:bodyPr wrap="square" rtlCol="0">
            <a:spAutoFit/>
          </a:bodyPr>
          <a:lstStyle/>
          <a:p>
            <a:pPr algn="ctr"/>
            <a:r>
              <a:rPr lang="en-US" dirty="0"/>
              <a:t>Power to Grid</a:t>
            </a:r>
          </a:p>
        </p:txBody>
      </p:sp>
      <p:sp>
        <p:nvSpPr>
          <p:cNvPr id="24" name="TextBox 23">
            <a:extLst>
              <a:ext uri="{FF2B5EF4-FFF2-40B4-BE49-F238E27FC236}">
                <a16:creationId xmlns:a16="http://schemas.microsoft.com/office/drawing/2014/main" id="{10511963-1A47-CF54-09C9-482193033C17}"/>
              </a:ext>
            </a:extLst>
          </p:cNvPr>
          <p:cNvSpPr txBox="1"/>
          <p:nvPr/>
        </p:nvSpPr>
        <p:spPr>
          <a:xfrm>
            <a:off x="8467097" y="2207796"/>
            <a:ext cx="1033730" cy="646331"/>
          </a:xfrm>
          <a:prstGeom prst="rect">
            <a:avLst/>
          </a:prstGeom>
          <a:noFill/>
          <a:ln>
            <a:solidFill>
              <a:schemeClr val="tx1"/>
            </a:solidFill>
          </a:ln>
        </p:spPr>
        <p:txBody>
          <a:bodyPr wrap="square" rtlCol="0">
            <a:spAutoFit/>
          </a:bodyPr>
          <a:lstStyle/>
          <a:p>
            <a:pPr algn="ctr"/>
            <a:r>
              <a:rPr lang="en-US" dirty="0"/>
              <a:t>ESS</a:t>
            </a:r>
          </a:p>
          <a:p>
            <a:pPr algn="ctr"/>
            <a:r>
              <a:rPr lang="en-US" dirty="0"/>
              <a:t>&lt; 20%</a:t>
            </a:r>
          </a:p>
        </p:txBody>
      </p:sp>
      <p:sp>
        <p:nvSpPr>
          <p:cNvPr id="27" name="Flowchart: Decision 26">
            <a:extLst>
              <a:ext uri="{FF2B5EF4-FFF2-40B4-BE49-F238E27FC236}">
                <a16:creationId xmlns:a16="http://schemas.microsoft.com/office/drawing/2014/main" id="{4F82128A-3278-2428-1655-B7016910D751}"/>
              </a:ext>
            </a:extLst>
          </p:cNvPr>
          <p:cNvSpPr/>
          <p:nvPr/>
        </p:nvSpPr>
        <p:spPr>
          <a:xfrm>
            <a:off x="8526625" y="3519177"/>
            <a:ext cx="1618055" cy="1337562"/>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9046C19-7B73-5E1B-2FA5-FE164259591F}"/>
              </a:ext>
            </a:extLst>
          </p:cNvPr>
          <p:cNvSpPr txBox="1"/>
          <p:nvPr/>
        </p:nvSpPr>
        <p:spPr>
          <a:xfrm>
            <a:off x="8778146" y="3719028"/>
            <a:ext cx="1115012" cy="923330"/>
          </a:xfrm>
          <a:prstGeom prst="rect">
            <a:avLst/>
          </a:prstGeom>
          <a:noFill/>
          <a:ln>
            <a:noFill/>
          </a:ln>
        </p:spPr>
        <p:txBody>
          <a:bodyPr wrap="square" rtlCol="0">
            <a:spAutoFit/>
          </a:bodyPr>
          <a:lstStyle/>
          <a:p>
            <a:pPr algn="ctr"/>
            <a:r>
              <a:rPr lang="en-US" dirty="0"/>
              <a:t>Grid </a:t>
            </a:r>
          </a:p>
          <a:p>
            <a:pPr algn="ctr"/>
            <a:r>
              <a:rPr lang="en-US" dirty="0"/>
              <a:t>Power </a:t>
            </a:r>
          </a:p>
          <a:p>
            <a:pPr algn="ctr"/>
            <a:r>
              <a:rPr lang="en-US" dirty="0"/>
              <a:t>ON</a:t>
            </a:r>
          </a:p>
        </p:txBody>
      </p:sp>
      <p:sp>
        <p:nvSpPr>
          <p:cNvPr id="29" name="TextBox 28">
            <a:extLst>
              <a:ext uri="{FF2B5EF4-FFF2-40B4-BE49-F238E27FC236}">
                <a16:creationId xmlns:a16="http://schemas.microsoft.com/office/drawing/2014/main" id="{AB54133A-D3AE-032C-CF55-D777BC7E36F3}"/>
              </a:ext>
            </a:extLst>
          </p:cNvPr>
          <p:cNvSpPr txBox="1"/>
          <p:nvPr/>
        </p:nvSpPr>
        <p:spPr>
          <a:xfrm>
            <a:off x="7181820" y="4016963"/>
            <a:ext cx="1033730" cy="369332"/>
          </a:xfrm>
          <a:prstGeom prst="rect">
            <a:avLst/>
          </a:prstGeom>
          <a:noFill/>
          <a:ln>
            <a:solidFill>
              <a:schemeClr val="tx1"/>
            </a:solidFill>
          </a:ln>
        </p:spPr>
        <p:txBody>
          <a:bodyPr wrap="square" rtlCol="0">
            <a:spAutoFit/>
          </a:bodyPr>
          <a:lstStyle/>
          <a:p>
            <a:pPr algn="ctr"/>
            <a:r>
              <a:rPr lang="en-US" dirty="0"/>
              <a:t>Load On</a:t>
            </a:r>
          </a:p>
        </p:txBody>
      </p:sp>
      <p:sp>
        <p:nvSpPr>
          <p:cNvPr id="30" name="TextBox 29">
            <a:extLst>
              <a:ext uri="{FF2B5EF4-FFF2-40B4-BE49-F238E27FC236}">
                <a16:creationId xmlns:a16="http://schemas.microsoft.com/office/drawing/2014/main" id="{D2EA12FB-AA1A-D19E-0B1C-817D52C79F74}"/>
              </a:ext>
            </a:extLst>
          </p:cNvPr>
          <p:cNvSpPr txBox="1"/>
          <p:nvPr/>
        </p:nvSpPr>
        <p:spPr>
          <a:xfrm>
            <a:off x="10355425" y="3996027"/>
            <a:ext cx="1033730" cy="369332"/>
          </a:xfrm>
          <a:prstGeom prst="rect">
            <a:avLst/>
          </a:prstGeom>
          <a:noFill/>
          <a:ln>
            <a:solidFill>
              <a:schemeClr val="tx1"/>
            </a:solidFill>
          </a:ln>
        </p:spPr>
        <p:txBody>
          <a:bodyPr wrap="square" rtlCol="0">
            <a:spAutoFit/>
          </a:bodyPr>
          <a:lstStyle/>
          <a:p>
            <a:pPr algn="ctr"/>
            <a:r>
              <a:rPr lang="en-US" dirty="0"/>
              <a:t>No Load</a:t>
            </a:r>
          </a:p>
        </p:txBody>
      </p:sp>
      <p:sp>
        <p:nvSpPr>
          <p:cNvPr id="31" name="TextBox 30">
            <a:extLst>
              <a:ext uri="{FF2B5EF4-FFF2-40B4-BE49-F238E27FC236}">
                <a16:creationId xmlns:a16="http://schemas.microsoft.com/office/drawing/2014/main" id="{867E9FDD-6D23-6B48-5124-905D1D82485C}"/>
              </a:ext>
            </a:extLst>
          </p:cNvPr>
          <p:cNvSpPr txBox="1"/>
          <p:nvPr/>
        </p:nvSpPr>
        <p:spPr>
          <a:xfrm>
            <a:off x="10230481" y="4862488"/>
            <a:ext cx="1562810" cy="369332"/>
          </a:xfrm>
          <a:prstGeom prst="rect">
            <a:avLst/>
          </a:prstGeom>
          <a:noFill/>
          <a:ln>
            <a:solidFill>
              <a:schemeClr val="tx1"/>
            </a:solidFill>
          </a:ln>
        </p:spPr>
        <p:txBody>
          <a:bodyPr wrap="square" rtlCol="0">
            <a:spAutoFit/>
          </a:bodyPr>
          <a:lstStyle/>
          <a:p>
            <a:pPr algn="ctr"/>
            <a:r>
              <a:rPr lang="en-US" dirty="0"/>
              <a:t>ESS Charging</a:t>
            </a:r>
          </a:p>
        </p:txBody>
      </p:sp>
      <p:sp>
        <p:nvSpPr>
          <p:cNvPr id="32" name="TextBox 31">
            <a:extLst>
              <a:ext uri="{FF2B5EF4-FFF2-40B4-BE49-F238E27FC236}">
                <a16:creationId xmlns:a16="http://schemas.microsoft.com/office/drawing/2014/main" id="{7FC60850-F581-E3FF-F1E3-58CEF2BFABED}"/>
              </a:ext>
            </a:extLst>
          </p:cNvPr>
          <p:cNvSpPr txBox="1"/>
          <p:nvPr/>
        </p:nvSpPr>
        <p:spPr>
          <a:xfrm>
            <a:off x="8628085" y="5386944"/>
            <a:ext cx="1437865" cy="646331"/>
          </a:xfrm>
          <a:prstGeom prst="rect">
            <a:avLst/>
          </a:prstGeom>
          <a:noFill/>
          <a:ln>
            <a:solidFill>
              <a:schemeClr val="tx1"/>
            </a:solidFill>
          </a:ln>
        </p:spPr>
        <p:txBody>
          <a:bodyPr wrap="square" rtlCol="0">
            <a:spAutoFit/>
          </a:bodyPr>
          <a:lstStyle/>
          <a:p>
            <a:pPr algn="ctr"/>
            <a:r>
              <a:rPr lang="en-US" dirty="0" err="1"/>
              <a:t>Upto</a:t>
            </a:r>
            <a:r>
              <a:rPr lang="en-US" dirty="0"/>
              <a:t> Solar Available</a:t>
            </a:r>
          </a:p>
        </p:txBody>
      </p:sp>
      <p:sp>
        <p:nvSpPr>
          <p:cNvPr id="34" name="TextBox 33">
            <a:extLst>
              <a:ext uri="{FF2B5EF4-FFF2-40B4-BE49-F238E27FC236}">
                <a16:creationId xmlns:a16="http://schemas.microsoft.com/office/drawing/2014/main" id="{F0E7F585-B322-A05F-EAD1-ABA1B4796823}"/>
              </a:ext>
            </a:extLst>
          </p:cNvPr>
          <p:cNvSpPr txBox="1"/>
          <p:nvPr/>
        </p:nvSpPr>
        <p:spPr>
          <a:xfrm>
            <a:off x="8440825" y="6320717"/>
            <a:ext cx="2167260" cy="369332"/>
          </a:xfrm>
          <a:prstGeom prst="rect">
            <a:avLst/>
          </a:prstGeom>
          <a:noFill/>
          <a:ln>
            <a:solidFill>
              <a:schemeClr val="tx1"/>
            </a:solidFill>
          </a:ln>
        </p:spPr>
        <p:txBody>
          <a:bodyPr wrap="square" rtlCol="0">
            <a:spAutoFit/>
          </a:bodyPr>
          <a:lstStyle/>
          <a:p>
            <a:pPr algn="ctr"/>
            <a:r>
              <a:rPr lang="en-US" dirty="0"/>
              <a:t>Cycle Continuous </a:t>
            </a:r>
          </a:p>
        </p:txBody>
      </p:sp>
      <p:cxnSp>
        <p:nvCxnSpPr>
          <p:cNvPr id="43" name="Straight Arrow Connector 42">
            <a:extLst>
              <a:ext uri="{FF2B5EF4-FFF2-40B4-BE49-F238E27FC236}">
                <a16:creationId xmlns:a16="http://schemas.microsoft.com/office/drawing/2014/main" id="{58678F42-4738-CA1E-9D55-969EC779AE9D}"/>
              </a:ext>
            </a:extLst>
          </p:cNvPr>
          <p:cNvCxnSpPr/>
          <p:nvPr/>
        </p:nvCxnSpPr>
        <p:spPr>
          <a:xfrm flipH="1">
            <a:off x="9428561" y="6035999"/>
            <a:ext cx="2" cy="304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95E4F17C-AAE3-A766-11A3-870D81FC3005}"/>
              </a:ext>
            </a:extLst>
          </p:cNvPr>
          <p:cNvCxnSpPr/>
          <p:nvPr/>
        </p:nvCxnSpPr>
        <p:spPr>
          <a:xfrm flipH="1">
            <a:off x="8982762" y="1882717"/>
            <a:ext cx="2" cy="304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F1386E4A-60F4-4C30-462A-59D151E8AA2D}"/>
              </a:ext>
            </a:extLst>
          </p:cNvPr>
          <p:cNvCxnSpPr/>
          <p:nvPr/>
        </p:nvCxnSpPr>
        <p:spPr>
          <a:xfrm flipH="1">
            <a:off x="6889657" y="2280666"/>
            <a:ext cx="2" cy="304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DEDF9F08-1AA7-8F45-43A5-95A880BDE345}"/>
              </a:ext>
            </a:extLst>
          </p:cNvPr>
          <p:cNvCxnSpPr/>
          <p:nvPr/>
        </p:nvCxnSpPr>
        <p:spPr>
          <a:xfrm flipH="1">
            <a:off x="4607764" y="3103661"/>
            <a:ext cx="2" cy="304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F7C96C53-7A6F-E96F-871E-32EF9C1F020A}"/>
              </a:ext>
            </a:extLst>
          </p:cNvPr>
          <p:cNvCxnSpPr>
            <a:cxnSpLocks/>
            <a:stCxn id="7" idx="4"/>
          </p:cNvCxnSpPr>
          <p:nvPr/>
        </p:nvCxnSpPr>
        <p:spPr>
          <a:xfrm>
            <a:off x="4537054" y="2194731"/>
            <a:ext cx="0" cy="2024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8EF01D5D-2AD7-849E-9758-86C0A9ED81EC}"/>
              </a:ext>
            </a:extLst>
          </p:cNvPr>
          <p:cNvCxnSpPr>
            <a:cxnSpLocks/>
          </p:cNvCxnSpPr>
          <p:nvPr/>
        </p:nvCxnSpPr>
        <p:spPr>
          <a:xfrm flipH="1">
            <a:off x="10094855" y="5614084"/>
            <a:ext cx="881053"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2209C5FF-6555-2313-77A3-2D60D6493E8C}"/>
              </a:ext>
            </a:extLst>
          </p:cNvPr>
          <p:cNvCxnSpPr/>
          <p:nvPr/>
        </p:nvCxnSpPr>
        <p:spPr>
          <a:xfrm flipH="1">
            <a:off x="3946835" y="966603"/>
            <a:ext cx="2" cy="3048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EEFA05F9-910F-EC03-35A1-F37FE6799CBB}"/>
              </a:ext>
            </a:extLst>
          </p:cNvPr>
          <p:cNvCxnSpPr>
            <a:cxnSpLocks/>
          </p:cNvCxnSpPr>
          <p:nvPr/>
        </p:nvCxnSpPr>
        <p:spPr>
          <a:xfrm flipH="1">
            <a:off x="8215550" y="4201629"/>
            <a:ext cx="31107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5" name="Straight Arrow Connector 54">
            <a:extLst>
              <a:ext uri="{FF2B5EF4-FFF2-40B4-BE49-F238E27FC236}">
                <a16:creationId xmlns:a16="http://schemas.microsoft.com/office/drawing/2014/main" id="{196AC491-C832-A3BA-8337-A6F488F23A40}"/>
              </a:ext>
            </a:extLst>
          </p:cNvPr>
          <p:cNvCxnSpPr>
            <a:cxnSpLocks/>
            <a:endCxn id="30" idx="1"/>
          </p:cNvCxnSpPr>
          <p:nvPr/>
        </p:nvCxnSpPr>
        <p:spPr>
          <a:xfrm>
            <a:off x="10144680" y="4180693"/>
            <a:ext cx="21074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330F167A-026E-CB6C-B66F-32375BE8DEB5}"/>
              </a:ext>
            </a:extLst>
          </p:cNvPr>
          <p:cNvCxnSpPr>
            <a:cxnSpLocks/>
          </p:cNvCxnSpPr>
          <p:nvPr/>
        </p:nvCxnSpPr>
        <p:spPr>
          <a:xfrm flipH="1">
            <a:off x="2751663" y="1636529"/>
            <a:ext cx="26057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9" name="Straight Arrow Connector 58">
            <a:extLst>
              <a:ext uri="{FF2B5EF4-FFF2-40B4-BE49-F238E27FC236}">
                <a16:creationId xmlns:a16="http://schemas.microsoft.com/office/drawing/2014/main" id="{4FD28727-A2B5-074E-E6C2-DDEB18C22CC6}"/>
              </a:ext>
            </a:extLst>
          </p:cNvPr>
          <p:cNvCxnSpPr>
            <a:cxnSpLocks/>
          </p:cNvCxnSpPr>
          <p:nvPr/>
        </p:nvCxnSpPr>
        <p:spPr>
          <a:xfrm>
            <a:off x="3451590" y="2207796"/>
            <a:ext cx="0" cy="26393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5AD31E74-4A08-E4CC-5754-2C1AC2D09196}"/>
              </a:ext>
            </a:extLst>
          </p:cNvPr>
          <p:cNvCxnSpPr>
            <a:cxnSpLocks/>
          </p:cNvCxnSpPr>
          <p:nvPr/>
        </p:nvCxnSpPr>
        <p:spPr>
          <a:xfrm>
            <a:off x="7698685" y="1629264"/>
            <a:ext cx="28268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A3BB0ECB-AC14-719A-1A12-496EBCA1D0E8}"/>
              </a:ext>
            </a:extLst>
          </p:cNvPr>
          <p:cNvCxnSpPr>
            <a:cxnSpLocks/>
          </p:cNvCxnSpPr>
          <p:nvPr/>
        </p:nvCxnSpPr>
        <p:spPr>
          <a:xfrm flipV="1">
            <a:off x="6889657" y="929506"/>
            <a:ext cx="756883" cy="3709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9780D65F-0DB8-D3A9-13E3-0DB2C4357D80}"/>
              </a:ext>
            </a:extLst>
          </p:cNvPr>
          <p:cNvCxnSpPr>
            <a:cxnSpLocks/>
            <a:endCxn id="36" idx="1"/>
          </p:cNvCxnSpPr>
          <p:nvPr/>
        </p:nvCxnSpPr>
        <p:spPr>
          <a:xfrm flipV="1">
            <a:off x="4897017" y="1636529"/>
            <a:ext cx="1183613" cy="373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24947464-D1A1-DE01-19AF-0F1C42EDA215}"/>
              </a:ext>
            </a:extLst>
          </p:cNvPr>
          <p:cNvCxnSpPr>
            <a:cxnSpLocks/>
          </p:cNvCxnSpPr>
          <p:nvPr/>
        </p:nvCxnSpPr>
        <p:spPr>
          <a:xfrm>
            <a:off x="10975908" y="4418043"/>
            <a:ext cx="0" cy="43869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4901EBF2-79CD-0C45-1C33-1820CC393A35}"/>
              </a:ext>
            </a:extLst>
          </p:cNvPr>
          <p:cNvCxnSpPr>
            <a:cxnSpLocks/>
          </p:cNvCxnSpPr>
          <p:nvPr/>
        </p:nvCxnSpPr>
        <p:spPr>
          <a:xfrm>
            <a:off x="9332535" y="2874406"/>
            <a:ext cx="0" cy="6927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A21498BC-7F4B-29C6-248E-FF100F2C3E91}"/>
              </a:ext>
            </a:extLst>
          </p:cNvPr>
          <p:cNvCxnSpPr/>
          <p:nvPr/>
        </p:nvCxnSpPr>
        <p:spPr>
          <a:xfrm flipV="1">
            <a:off x="10975908" y="5231820"/>
            <a:ext cx="0" cy="38226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3" name="Connector: Curved 82">
            <a:extLst>
              <a:ext uri="{FF2B5EF4-FFF2-40B4-BE49-F238E27FC236}">
                <a16:creationId xmlns:a16="http://schemas.microsoft.com/office/drawing/2014/main" id="{A3E8252F-58BE-84C0-2457-F94B80153BE2}"/>
              </a:ext>
            </a:extLst>
          </p:cNvPr>
          <p:cNvCxnSpPr>
            <a:cxnSpLocks/>
            <a:stCxn id="34" idx="1"/>
            <a:endCxn id="35" idx="1"/>
          </p:cNvCxnSpPr>
          <p:nvPr/>
        </p:nvCxnSpPr>
        <p:spPr>
          <a:xfrm rot="10800000">
            <a:off x="3518417" y="748393"/>
            <a:ext cx="4922408" cy="5756991"/>
          </a:xfrm>
          <a:prstGeom prst="curvedConnector3">
            <a:avLst>
              <a:gd name="adj1" fmla="val 157530"/>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9" name="Title 1">
            <a:extLst>
              <a:ext uri="{FF2B5EF4-FFF2-40B4-BE49-F238E27FC236}">
                <a16:creationId xmlns:a16="http://schemas.microsoft.com/office/drawing/2014/main" id="{D5DED5DA-39B3-B09B-CDA5-1C655E350AFD}"/>
              </a:ext>
            </a:extLst>
          </p:cNvPr>
          <p:cNvSpPr>
            <a:spLocks noGrp="1"/>
          </p:cNvSpPr>
          <p:nvPr>
            <p:ph type="title"/>
          </p:nvPr>
        </p:nvSpPr>
        <p:spPr>
          <a:xfrm>
            <a:off x="92485" y="0"/>
            <a:ext cx="10515600" cy="681037"/>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PCC integration and Automation</a:t>
            </a:r>
          </a:p>
        </p:txBody>
      </p:sp>
    </p:spTree>
    <p:extLst>
      <p:ext uri="{BB962C8B-B14F-4D97-AF65-F5344CB8AC3E}">
        <p14:creationId xmlns:p14="http://schemas.microsoft.com/office/powerpoint/2010/main" val="3052293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2F92DEB-17F8-2444-A563-F8B2053FE7AC}"/>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06E63101-F82C-094A-31EA-29495DDB695F}"/>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7F04D0CD-C114-CACE-8BCE-D11843D074AD}"/>
              </a:ext>
            </a:extLst>
          </p:cNvPr>
          <p:cNvSpPr>
            <a:spLocks noGrp="1"/>
          </p:cNvSpPr>
          <p:nvPr>
            <p:ph type="sldNum" sz="quarter" idx="12"/>
          </p:nvPr>
        </p:nvSpPr>
        <p:spPr/>
        <p:txBody>
          <a:bodyPr/>
          <a:lstStyle/>
          <a:p>
            <a:fld id="{15FCCAAF-6324-40D0-99C1-825B83CC9B2F}" type="slidenum">
              <a:rPr lang="en-IN" smtClean="0"/>
              <a:t>13</a:t>
            </a:fld>
            <a:endParaRPr lang="en-IN"/>
          </a:p>
        </p:txBody>
      </p:sp>
      <p:sp>
        <p:nvSpPr>
          <p:cNvPr id="7" name="Title 1">
            <a:extLst>
              <a:ext uri="{FF2B5EF4-FFF2-40B4-BE49-F238E27FC236}">
                <a16:creationId xmlns:a16="http://schemas.microsoft.com/office/drawing/2014/main" id="{BCA56E02-494F-9449-5519-ADBEE1C75CC7}"/>
              </a:ext>
            </a:extLst>
          </p:cNvPr>
          <p:cNvSpPr>
            <a:spLocks noGrp="1"/>
          </p:cNvSpPr>
          <p:nvPr>
            <p:ph type="title"/>
          </p:nvPr>
        </p:nvSpPr>
        <p:spPr>
          <a:xfrm>
            <a:off x="92485" y="0"/>
            <a:ext cx="10515600" cy="681037"/>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Algorithms</a:t>
            </a:r>
          </a:p>
        </p:txBody>
      </p:sp>
      <p:sp>
        <p:nvSpPr>
          <p:cNvPr id="8" name="TextBox 7">
            <a:extLst>
              <a:ext uri="{FF2B5EF4-FFF2-40B4-BE49-F238E27FC236}">
                <a16:creationId xmlns:a16="http://schemas.microsoft.com/office/drawing/2014/main" id="{759D6726-08C9-E898-15AF-BC7D27E0F174}"/>
              </a:ext>
            </a:extLst>
          </p:cNvPr>
          <p:cNvSpPr txBox="1"/>
          <p:nvPr/>
        </p:nvSpPr>
        <p:spPr>
          <a:xfrm>
            <a:off x="240307" y="574040"/>
            <a:ext cx="1343608" cy="369332"/>
          </a:xfrm>
          <a:prstGeom prst="rect">
            <a:avLst/>
          </a:prstGeom>
          <a:noFill/>
        </p:spPr>
        <p:txBody>
          <a:bodyPr wrap="square" rtlCol="0">
            <a:spAutoFit/>
          </a:bodyPr>
          <a:lstStyle/>
          <a:p>
            <a:r>
              <a:rPr lang="en-US" dirty="0"/>
              <a:t>Solar MPPT</a:t>
            </a:r>
          </a:p>
        </p:txBody>
      </p:sp>
      <p:sp>
        <p:nvSpPr>
          <p:cNvPr id="9" name="TextBox 8">
            <a:extLst>
              <a:ext uri="{FF2B5EF4-FFF2-40B4-BE49-F238E27FC236}">
                <a16:creationId xmlns:a16="http://schemas.microsoft.com/office/drawing/2014/main" id="{D5869F7D-3B78-18D7-2845-A391A0677979}"/>
              </a:ext>
            </a:extLst>
          </p:cNvPr>
          <p:cNvSpPr txBox="1"/>
          <p:nvPr/>
        </p:nvSpPr>
        <p:spPr>
          <a:xfrm>
            <a:off x="238017" y="1052526"/>
            <a:ext cx="6246759" cy="4524315"/>
          </a:xfrm>
          <a:prstGeom prst="rect">
            <a:avLst/>
          </a:prstGeom>
          <a:noFill/>
        </p:spPr>
        <p:txBody>
          <a:bodyPr wrap="square" rtlCol="0">
            <a:spAutoFit/>
          </a:bodyPr>
          <a:lstStyle/>
          <a:p>
            <a:pPr marL="171450" indent="-171450" algn="l">
              <a:buFont typeface="Wingdings" panose="05000000000000000000" pitchFamily="2" charset="2"/>
              <a:buChar char="Ø"/>
            </a:pPr>
            <a:r>
              <a:rPr lang="en-US" sz="1200" b="0" i="0" dirty="0">
                <a:effectLst/>
                <a:latin typeface="__fkGroteskNeue_598ab8"/>
              </a:rPr>
              <a:t>Initialize Variables Check if input parameters </a:t>
            </a:r>
            <a:r>
              <a:rPr lang="en-US" sz="1200" b="0" i="0" dirty="0">
                <a:effectLst/>
                <a:latin typeface="KaTeX_Main"/>
              </a:rPr>
              <a:t>V</a:t>
            </a:r>
            <a:r>
              <a:rPr lang="en-US" sz="1200" b="0" i="1" dirty="0">
                <a:effectLst/>
                <a:latin typeface="KaTeX_Math"/>
              </a:rPr>
              <a:t>V</a:t>
            </a:r>
            <a:r>
              <a:rPr lang="en-US" sz="1200" b="0" i="0" dirty="0">
                <a:effectLst/>
                <a:latin typeface="__fkGroteskNeue_598ab8"/>
              </a:rPr>
              <a:t> (voltage), </a:t>
            </a:r>
            <a:r>
              <a:rPr lang="en-US" sz="1200" b="0" i="0" dirty="0">
                <a:effectLst/>
                <a:latin typeface="KaTeX_Main"/>
              </a:rPr>
              <a:t>I</a:t>
            </a:r>
            <a:r>
              <a:rPr lang="en-US" sz="1200" b="0" i="1" dirty="0">
                <a:effectLst/>
                <a:latin typeface="KaTeX_Math"/>
              </a:rPr>
              <a:t>I</a:t>
            </a:r>
            <a:r>
              <a:rPr lang="en-US" sz="1200" b="0" i="0" dirty="0">
                <a:effectLst/>
                <a:latin typeface="__fkGroteskNeue_598ab8"/>
              </a:rPr>
              <a:t> (current), and </a:t>
            </a:r>
            <a:r>
              <a:rPr lang="en-US" sz="1200" b="0" i="0" dirty="0">
                <a:effectLst/>
                <a:latin typeface="KaTeX_Main"/>
              </a:rPr>
              <a:t>T</a:t>
            </a:r>
            <a:r>
              <a:rPr lang="en-US" sz="1200" b="0" i="1" dirty="0">
                <a:effectLst/>
                <a:latin typeface="KaTeX_Math"/>
              </a:rPr>
              <a:t>T</a:t>
            </a:r>
            <a:r>
              <a:rPr lang="en-US" sz="1200" b="0" i="0" dirty="0">
                <a:effectLst/>
                <a:latin typeface="__fkGroteskNeue_598ab8"/>
              </a:rPr>
              <a:t> (time) are empty.</a:t>
            </a:r>
          </a:p>
          <a:p>
            <a:pPr marL="171450" indent="-171450" algn="l">
              <a:buFont typeface="Wingdings" panose="05000000000000000000" pitchFamily="2" charset="2"/>
              <a:buChar char="Ø"/>
            </a:pPr>
            <a:r>
              <a:rPr lang="en-US" sz="1200" b="0" i="0" dirty="0">
                <a:effectLst/>
                <a:latin typeface="__fkGroteskNeue_598ab8"/>
              </a:rPr>
              <a:t>Set default values if any parameter is </a:t>
            </a:r>
            <a:r>
              <a:rPr lang="en-US" sz="1200" b="0" i="0" dirty="0" err="1">
                <a:effectLst/>
                <a:latin typeface="__fkGroteskNeue_598ab8"/>
              </a:rPr>
              <a:t>empty:</a:t>
            </a:r>
            <a:r>
              <a:rPr lang="en-US" sz="1200" b="0" i="0" dirty="0" err="1">
                <a:effectLst/>
                <a:latin typeface="KaTeX_Main"/>
              </a:rPr>
              <a:t>V</a:t>
            </a:r>
            <a:r>
              <a:rPr lang="en-US" sz="1200" b="0" i="0" dirty="0">
                <a:effectLst/>
                <a:latin typeface="KaTeX_Main"/>
              </a:rPr>
              <a:t>=370</a:t>
            </a:r>
            <a:r>
              <a:rPr lang="en-US" sz="1200" b="0" i="1" dirty="0">
                <a:effectLst/>
                <a:latin typeface="KaTeX_Math"/>
              </a:rPr>
              <a:t>V</a:t>
            </a:r>
            <a:r>
              <a:rPr lang="en-US" sz="1200" b="0" i="0" dirty="0">
                <a:effectLst/>
                <a:latin typeface="KaTeX_Main"/>
              </a:rPr>
              <a:t>=370</a:t>
            </a:r>
            <a:endParaRPr lang="en-US" sz="1200" b="0" i="0" dirty="0">
              <a:effectLst/>
              <a:latin typeface="__fkGroteskNeue_598ab8"/>
            </a:endParaRPr>
          </a:p>
          <a:p>
            <a:pPr marL="171450" indent="-171450" algn="l">
              <a:buFont typeface="Wingdings" panose="05000000000000000000" pitchFamily="2" charset="2"/>
              <a:buChar char="Ø"/>
            </a:pPr>
            <a:r>
              <a:rPr lang="en-US" sz="1200" b="0" i="0" dirty="0">
                <a:effectLst/>
                <a:latin typeface="KaTeX_Main"/>
              </a:rPr>
              <a:t>I=0</a:t>
            </a:r>
            <a:r>
              <a:rPr lang="en-US" sz="1200" b="0" i="1" dirty="0">
                <a:effectLst/>
                <a:latin typeface="KaTeX_Math"/>
              </a:rPr>
              <a:t>I</a:t>
            </a:r>
            <a:r>
              <a:rPr lang="en-US" sz="1200" b="0" i="0" dirty="0">
                <a:effectLst/>
                <a:latin typeface="KaTeX_Main"/>
              </a:rPr>
              <a:t>=0, P2=0</a:t>
            </a:r>
            <a:r>
              <a:rPr lang="en-US" sz="1200" b="0" i="1" dirty="0">
                <a:effectLst/>
                <a:latin typeface="KaTeX_Math"/>
              </a:rPr>
              <a:t>P</a:t>
            </a:r>
            <a:r>
              <a:rPr lang="en-US" sz="1200" b="0" i="0" dirty="0">
                <a:effectLst/>
                <a:latin typeface="KaTeX_Main"/>
              </a:rPr>
              <a:t>2=0, P1=0</a:t>
            </a:r>
            <a:r>
              <a:rPr lang="en-US" sz="1200" b="0" i="1" dirty="0">
                <a:effectLst/>
                <a:latin typeface="KaTeX_Math"/>
              </a:rPr>
              <a:t>P</a:t>
            </a:r>
            <a:r>
              <a:rPr lang="en-US" sz="1200" b="0" i="0" dirty="0">
                <a:effectLst/>
                <a:latin typeface="KaTeX_Main"/>
              </a:rPr>
              <a:t>1=0, </a:t>
            </a:r>
            <a:r>
              <a:rPr lang="en-US" sz="1200" b="0" i="0" dirty="0" err="1">
                <a:effectLst/>
                <a:latin typeface="KaTeX_Main"/>
              </a:rPr>
              <a:t>dP</a:t>
            </a:r>
            <a:r>
              <a:rPr lang="en-US" sz="1200" b="0" i="0" dirty="0">
                <a:effectLst/>
                <a:latin typeface="KaTeX_Main"/>
              </a:rPr>
              <a:t>=0</a:t>
            </a:r>
            <a:r>
              <a:rPr lang="en-US" sz="1200" b="0" i="1" dirty="0">
                <a:effectLst/>
                <a:latin typeface="KaTeX_Math"/>
              </a:rPr>
              <a:t>dP</a:t>
            </a:r>
            <a:r>
              <a:rPr lang="en-US" sz="1200" b="0" i="0" dirty="0">
                <a:effectLst/>
                <a:latin typeface="KaTeX_Main"/>
              </a:rPr>
              <a:t>=0, d=1</a:t>
            </a:r>
            <a:r>
              <a:rPr lang="en-US" sz="1200" b="0" i="1" dirty="0">
                <a:effectLst/>
                <a:latin typeface="KaTeX_Math"/>
              </a:rPr>
              <a:t>d</a:t>
            </a:r>
            <a:r>
              <a:rPr lang="en-US" sz="1200" b="0" i="0" dirty="0">
                <a:effectLst/>
                <a:latin typeface="KaTeX_Main"/>
              </a:rPr>
              <a:t>=1, dd=0</a:t>
            </a:r>
            <a:r>
              <a:rPr lang="en-US" sz="1200" b="0" i="1" dirty="0">
                <a:effectLst/>
                <a:latin typeface="KaTeX_Math"/>
              </a:rPr>
              <a:t>dd</a:t>
            </a:r>
            <a:r>
              <a:rPr lang="en-US" sz="1200" b="0" i="0" dirty="0">
                <a:effectLst/>
                <a:latin typeface="KaTeX_Main"/>
              </a:rPr>
              <a:t>=0, n=1</a:t>
            </a:r>
            <a:r>
              <a:rPr lang="en-US" sz="1200" b="0" i="1" dirty="0">
                <a:effectLst/>
                <a:latin typeface="KaTeX_Math"/>
              </a:rPr>
              <a:t>n</a:t>
            </a:r>
            <a:r>
              <a:rPr lang="en-US" sz="1200" b="0" i="0" dirty="0">
                <a:effectLst/>
                <a:latin typeface="KaTeX_Main"/>
              </a:rPr>
              <a:t>=1</a:t>
            </a:r>
            <a:endParaRPr lang="en-US" sz="1200" b="0" i="0" dirty="0">
              <a:effectLst/>
              <a:latin typeface="__fkGroteskNeue_598ab8"/>
            </a:endParaRPr>
          </a:p>
          <a:p>
            <a:pPr marL="171450" indent="-171450" algn="l">
              <a:buFont typeface="Wingdings" panose="05000000000000000000" pitchFamily="2" charset="2"/>
              <a:buChar char="Ø"/>
            </a:pPr>
            <a:r>
              <a:rPr lang="en-US" sz="1200" b="0" i="0" dirty="0">
                <a:effectLst/>
                <a:latin typeface="__fkGroteskNeue_598ab8"/>
              </a:rPr>
              <a:t>Check Time </a:t>
            </a:r>
            <a:r>
              <a:rPr lang="en-US" sz="1200" b="0" i="0" dirty="0" err="1">
                <a:effectLst/>
                <a:latin typeface="__fkGroteskNeue_598ab8"/>
              </a:rPr>
              <a:t>ConditionIf</a:t>
            </a:r>
            <a:r>
              <a:rPr lang="en-US" sz="1200" b="0" i="0" dirty="0">
                <a:effectLst/>
                <a:latin typeface="__fkGroteskNeue_598ab8"/>
              </a:rPr>
              <a:t> </a:t>
            </a:r>
            <a:r>
              <a:rPr lang="en-US" sz="1200" b="0" i="0" dirty="0">
                <a:effectLst/>
                <a:latin typeface="KaTeX_Main"/>
              </a:rPr>
              <a:t>T&gt;n∗0.02</a:t>
            </a:r>
            <a:r>
              <a:rPr lang="en-US" sz="1200" b="0" i="1" dirty="0">
                <a:effectLst/>
                <a:latin typeface="KaTeX_Math"/>
              </a:rPr>
              <a:t>T</a:t>
            </a:r>
            <a:r>
              <a:rPr lang="en-US" sz="1200" b="0" i="0" dirty="0">
                <a:effectLst/>
                <a:latin typeface="KaTeX_Main"/>
              </a:rPr>
              <a:t>&gt;</a:t>
            </a:r>
            <a:r>
              <a:rPr lang="en-US" sz="1200" b="0" i="1" dirty="0">
                <a:effectLst/>
                <a:latin typeface="KaTeX_Math"/>
              </a:rPr>
              <a:t>n</a:t>
            </a:r>
            <a:r>
              <a:rPr lang="en-US" sz="1200" b="0" i="0" dirty="0">
                <a:effectLst/>
                <a:latin typeface="KaTeX_Main"/>
              </a:rPr>
              <a:t>∗0.02</a:t>
            </a:r>
            <a:r>
              <a:rPr lang="en-US" sz="1200" b="0" i="0" dirty="0">
                <a:effectLst/>
                <a:latin typeface="__fkGroteskNeue_598ab8"/>
              </a:rPr>
              <a:t>:Increment </a:t>
            </a:r>
            <a:r>
              <a:rPr lang="en-US" sz="1200" b="0" i="0" dirty="0" err="1">
                <a:effectLst/>
                <a:latin typeface="KaTeX_Main"/>
              </a:rPr>
              <a:t>n</a:t>
            </a:r>
            <a:r>
              <a:rPr lang="en-US" sz="1200" b="0" i="1" dirty="0" err="1">
                <a:effectLst/>
                <a:latin typeface="KaTeX_Math"/>
              </a:rPr>
              <a:t>n</a:t>
            </a:r>
            <a:r>
              <a:rPr lang="en-US" sz="1200" b="0" i="0" dirty="0">
                <a:effectLst/>
                <a:latin typeface="__fkGroteskNeue_598ab8"/>
              </a:rPr>
              <a:t> by 1</a:t>
            </a:r>
          </a:p>
          <a:p>
            <a:pPr marL="171450" indent="-171450" algn="l">
              <a:buFont typeface="Wingdings" panose="05000000000000000000" pitchFamily="2" charset="2"/>
              <a:buChar char="Ø"/>
            </a:pPr>
            <a:r>
              <a:rPr lang="en-US" sz="1200" b="0" i="0" dirty="0">
                <a:effectLst/>
                <a:latin typeface="__fkGroteskNeue_598ab8"/>
              </a:rPr>
              <a:t>Update previous power values:</a:t>
            </a:r>
            <a:r>
              <a:rPr lang="en-US" sz="1200" b="0" i="0" dirty="0">
                <a:effectLst/>
                <a:latin typeface="KaTeX_Main"/>
              </a:rPr>
              <a:t>P1=P2</a:t>
            </a:r>
            <a:r>
              <a:rPr lang="en-US" sz="1200" b="0" i="1" dirty="0">
                <a:effectLst/>
                <a:latin typeface="KaTeX_Math"/>
              </a:rPr>
              <a:t>P</a:t>
            </a:r>
            <a:r>
              <a:rPr lang="en-US" sz="1200" b="0" i="0" dirty="0">
                <a:effectLst/>
                <a:latin typeface="KaTeX_Main"/>
              </a:rPr>
              <a:t>1=</a:t>
            </a:r>
            <a:r>
              <a:rPr lang="en-US" sz="1200" b="0" i="1" dirty="0">
                <a:effectLst/>
                <a:latin typeface="KaTeX_Math"/>
              </a:rPr>
              <a:t>P</a:t>
            </a:r>
            <a:r>
              <a:rPr lang="en-US" sz="1200" b="0" i="0" dirty="0">
                <a:effectLst/>
                <a:latin typeface="KaTeX_Main"/>
              </a:rPr>
              <a:t>2</a:t>
            </a:r>
            <a:endParaRPr lang="en-US" sz="1200" b="0" i="0" dirty="0">
              <a:effectLst/>
              <a:latin typeface="__fkGroteskNeue_598ab8"/>
            </a:endParaRPr>
          </a:p>
          <a:p>
            <a:pPr marL="171450" indent="-171450" algn="l">
              <a:buFont typeface="Wingdings" panose="05000000000000000000" pitchFamily="2" charset="2"/>
              <a:buChar char="Ø"/>
            </a:pPr>
            <a:r>
              <a:rPr lang="en-US" sz="1200" b="0" i="0" dirty="0">
                <a:effectLst/>
                <a:latin typeface="KaTeX_Main"/>
              </a:rPr>
              <a:t>P2=V∗I</a:t>
            </a:r>
            <a:r>
              <a:rPr lang="en-US" sz="1200" b="0" i="1" dirty="0">
                <a:effectLst/>
                <a:latin typeface="KaTeX_Math"/>
              </a:rPr>
              <a:t>P</a:t>
            </a:r>
            <a:r>
              <a:rPr lang="en-US" sz="1200" b="0" i="0" dirty="0">
                <a:effectLst/>
                <a:latin typeface="KaTeX_Main"/>
              </a:rPr>
              <a:t>2=</a:t>
            </a:r>
            <a:r>
              <a:rPr lang="en-US" sz="1200" b="0" i="1" dirty="0">
                <a:effectLst/>
                <a:latin typeface="KaTeX_Math"/>
              </a:rPr>
              <a:t>V</a:t>
            </a:r>
            <a:r>
              <a:rPr lang="en-US" sz="1200" b="0" i="0" dirty="0">
                <a:effectLst/>
                <a:latin typeface="KaTeX_Main"/>
              </a:rPr>
              <a:t>∗</a:t>
            </a:r>
            <a:r>
              <a:rPr lang="en-US" sz="1200" b="0" i="1" dirty="0">
                <a:effectLst/>
                <a:latin typeface="KaTeX_Math"/>
              </a:rPr>
              <a:t>I</a:t>
            </a:r>
            <a:r>
              <a:rPr lang="en-US" sz="1200" b="0" i="0" dirty="0">
                <a:effectLst/>
                <a:latin typeface="__fkGroteskNeue_598ab8"/>
              </a:rPr>
              <a:t> (Calculate current power)</a:t>
            </a:r>
          </a:p>
          <a:p>
            <a:pPr marL="171450" indent="-171450" algn="l">
              <a:buFont typeface="Wingdings" panose="05000000000000000000" pitchFamily="2" charset="2"/>
              <a:buChar char="Ø"/>
            </a:pPr>
            <a:r>
              <a:rPr lang="en-US" sz="1200" b="0" i="0" dirty="0">
                <a:effectLst/>
                <a:latin typeface="__fkGroteskNeue_598ab8"/>
              </a:rPr>
              <a:t>Calculate Power </a:t>
            </a:r>
            <a:r>
              <a:rPr lang="en-US" sz="1200" b="0" i="0" dirty="0" err="1">
                <a:effectLst/>
                <a:latin typeface="__fkGroteskNeue_598ab8"/>
              </a:rPr>
              <a:t>ChangeCalculate</a:t>
            </a:r>
            <a:r>
              <a:rPr lang="en-US" sz="1200" b="0" i="0" dirty="0">
                <a:effectLst/>
                <a:latin typeface="__fkGroteskNeue_598ab8"/>
              </a:rPr>
              <a:t> change in </a:t>
            </a:r>
            <a:r>
              <a:rPr lang="en-US" sz="1200" b="0" i="0" dirty="0" err="1">
                <a:effectLst/>
                <a:latin typeface="__fkGroteskNeue_598ab8"/>
              </a:rPr>
              <a:t>power:</a:t>
            </a:r>
            <a:r>
              <a:rPr lang="en-US" sz="1200" b="0" i="0" dirty="0" err="1">
                <a:effectLst/>
                <a:latin typeface="KaTeX_Main"/>
              </a:rPr>
              <a:t>dP</a:t>
            </a:r>
            <a:r>
              <a:rPr lang="en-US" sz="1200" b="0" i="0" dirty="0">
                <a:effectLst/>
                <a:latin typeface="KaTeX_Main"/>
              </a:rPr>
              <a:t>=P2−P1</a:t>
            </a:r>
            <a:r>
              <a:rPr lang="en-US" sz="1200" b="0" i="1" dirty="0">
                <a:effectLst/>
                <a:latin typeface="KaTeX_Math"/>
              </a:rPr>
              <a:t>dP</a:t>
            </a:r>
            <a:r>
              <a:rPr lang="en-US" sz="1200" b="0" i="0" dirty="0">
                <a:effectLst/>
                <a:latin typeface="KaTeX_Main"/>
              </a:rPr>
              <a:t>=</a:t>
            </a:r>
            <a:r>
              <a:rPr lang="en-US" sz="1200" b="0" i="1" dirty="0">
                <a:effectLst/>
                <a:latin typeface="KaTeX_Math"/>
              </a:rPr>
              <a:t>P</a:t>
            </a:r>
            <a:r>
              <a:rPr lang="en-US" sz="1200" b="0" i="0" dirty="0">
                <a:effectLst/>
                <a:latin typeface="KaTeX_Main"/>
              </a:rPr>
              <a:t>2−</a:t>
            </a:r>
            <a:r>
              <a:rPr lang="en-US" sz="1200" b="0" i="1" dirty="0">
                <a:effectLst/>
                <a:latin typeface="KaTeX_Math"/>
              </a:rPr>
              <a:t>P</a:t>
            </a:r>
            <a:r>
              <a:rPr lang="en-US" sz="1200" b="0" i="0" dirty="0">
                <a:effectLst/>
                <a:latin typeface="KaTeX_Main"/>
              </a:rPr>
              <a:t>1</a:t>
            </a:r>
            <a:endParaRPr lang="en-US" sz="1200" b="0" i="0" dirty="0">
              <a:effectLst/>
              <a:latin typeface="__fkGroteskNeue_598ab8"/>
            </a:endParaRPr>
          </a:p>
          <a:p>
            <a:pPr marL="171450" indent="-171450" algn="l">
              <a:buFont typeface="Wingdings" panose="05000000000000000000" pitchFamily="2" charset="2"/>
              <a:buChar char="Ø"/>
            </a:pPr>
            <a:r>
              <a:rPr lang="en-US" sz="1200" b="0" i="0" dirty="0">
                <a:effectLst/>
                <a:latin typeface="__fkGroteskNeue_598ab8"/>
              </a:rPr>
              <a:t>Adjust Duty Cycle Based on Power </a:t>
            </a:r>
            <a:r>
              <a:rPr lang="en-US" sz="1200" b="0" i="0" dirty="0" err="1">
                <a:effectLst/>
                <a:latin typeface="__fkGroteskNeue_598ab8"/>
              </a:rPr>
              <a:t>ChangeIf</a:t>
            </a:r>
            <a:r>
              <a:rPr lang="en-US" sz="1200" b="0" i="0" dirty="0">
                <a:effectLst/>
                <a:latin typeface="__fkGroteskNeue_598ab8"/>
              </a:rPr>
              <a:t> </a:t>
            </a:r>
            <a:r>
              <a:rPr lang="en-US" sz="1200" b="0" i="0" dirty="0">
                <a:effectLst/>
                <a:latin typeface="KaTeX_Main"/>
              </a:rPr>
              <a:t>dd==0</a:t>
            </a:r>
            <a:r>
              <a:rPr lang="en-US" sz="1200" b="0" i="1" dirty="0">
                <a:effectLst/>
                <a:latin typeface="KaTeX_Math"/>
              </a:rPr>
              <a:t>dd</a:t>
            </a:r>
            <a:r>
              <a:rPr lang="en-US" sz="1200" b="0" i="0" dirty="0">
                <a:effectLst/>
                <a:latin typeface="KaTeX_Main"/>
              </a:rPr>
              <a:t>==0</a:t>
            </a:r>
            <a:r>
              <a:rPr lang="en-US" sz="1200" b="0" i="0" dirty="0">
                <a:effectLst/>
                <a:latin typeface="__fkGroteskNeue_598ab8"/>
              </a:rPr>
              <a:t>:If </a:t>
            </a:r>
            <a:r>
              <a:rPr lang="en-US" sz="1200" b="0" i="0" dirty="0" err="1">
                <a:effectLst/>
                <a:latin typeface="KaTeX_Main"/>
              </a:rPr>
              <a:t>dP</a:t>
            </a:r>
            <a:r>
              <a:rPr lang="en-US" sz="1200" b="0" i="0" dirty="0">
                <a:effectLst/>
                <a:latin typeface="KaTeX_Main"/>
              </a:rPr>
              <a:t>&gt;1</a:t>
            </a:r>
            <a:r>
              <a:rPr lang="en-US" sz="1200" b="0" i="1" dirty="0">
                <a:effectLst/>
                <a:latin typeface="KaTeX_Math"/>
              </a:rPr>
              <a:t>dP</a:t>
            </a:r>
            <a:r>
              <a:rPr lang="en-US" sz="1200" b="0" i="0" dirty="0">
                <a:effectLst/>
                <a:latin typeface="KaTeX_Main"/>
              </a:rPr>
              <a:t>&gt;1</a:t>
            </a:r>
            <a:r>
              <a:rPr lang="en-US" sz="1200" b="0" i="0" dirty="0">
                <a:effectLst/>
                <a:latin typeface="__fkGroteskNeue_598ab8"/>
              </a:rPr>
              <a:t>:Set </a:t>
            </a:r>
            <a:r>
              <a:rPr lang="en-US" sz="1200" b="0" i="0" dirty="0">
                <a:effectLst/>
                <a:latin typeface="KaTeX_Main"/>
              </a:rPr>
              <a:t>dd=0.01</a:t>
            </a:r>
            <a:r>
              <a:rPr lang="en-US" sz="1200" b="0" i="1" dirty="0">
                <a:effectLst/>
                <a:latin typeface="KaTeX_Math"/>
              </a:rPr>
              <a:t>dd</a:t>
            </a:r>
            <a:r>
              <a:rPr lang="en-US" sz="1200" b="0" i="0" dirty="0">
                <a:effectLst/>
                <a:latin typeface="KaTeX_Main"/>
              </a:rPr>
              <a:t>=0.01</a:t>
            </a:r>
            <a:endParaRPr lang="en-US" sz="1200" b="0" i="0" dirty="0">
              <a:effectLst/>
              <a:latin typeface="__fkGroteskNeue_598ab8"/>
            </a:endParaRPr>
          </a:p>
          <a:p>
            <a:pPr marL="171450" indent="-171450" algn="l">
              <a:buFont typeface="Wingdings" panose="05000000000000000000" pitchFamily="2" charset="2"/>
              <a:buChar char="Ø"/>
            </a:pPr>
            <a:r>
              <a:rPr lang="en-US" sz="1200" b="0" i="0" dirty="0">
                <a:effectLst/>
                <a:latin typeface="__fkGroteskNeue_598ab8"/>
              </a:rPr>
              <a:t>Increment </a:t>
            </a:r>
            <a:r>
              <a:rPr lang="en-US" sz="1200" b="0" i="0" dirty="0">
                <a:effectLst/>
                <a:latin typeface="KaTeX_Main"/>
              </a:rPr>
              <a:t>d</a:t>
            </a:r>
            <a:r>
              <a:rPr lang="en-US" sz="1200" b="0" i="1" dirty="0">
                <a:effectLst/>
                <a:latin typeface="KaTeX_Math"/>
              </a:rPr>
              <a:t>d</a:t>
            </a:r>
            <a:r>
              <a:rPr lang="en-US" sz="1200" b="0" i="0" dirty="0">
                <a:effectLst/>
                <a:latin typeface="__fkGroteskNeue_598ab8"/>
              </a:rPr>
              <a:t> by </a:t>
            </a:r>
            <a:r>
              <a:rPr lang="en-US" sz="1200" b="0" i="0" dirty="0" err="1">
                <a:effectLst/>
                <a:latin typeface="KaTeX_Main"/>
              </a:rPr>
              <a:t>dd</a:t>
            </a:r>
            <a:r>
              <a:rPr lang="en-US" sz="1200" b="0" i="1" dirty="0" err="1">
                <a:effectLst/>
                <a:latin typeface="KaTeX_Math"/>
              </a:rPr>
              <a:t>dd</a:t>
            </a:r>
            <a:endParaRPr lang="en-US" sz="1200" b="0" i="0" dirty="0">
              <a:effectLst/>
              <a:latin typeface="__fkGroteskNeue_598ab8"/>
            </a:endParaRPr>
          </a:p>
          <a:p>
            <a:pPr marL="171450" indent="-171450" algn="l">
              <a:buFont typeface="Wingdings" panose="05000000000000000000" pitchFamily="2" charset="2"/>
              <a:buChar char="Ø"/>
            </a:pPr>
            <a:r>
              <a:rPr lang="en-US" sz="1200" b="0" i="0" dirty="0">
                <a:effectLst/>
                <a:latin typeface="__fkGroteskNeue_598ab8"/>
              </a:rPr>
              <a:t>Else if </a:t>
            </a:r>
            <a:r>
              <a:rPr lang="en-US" sz="1200" b="0" i="0" dirty="0" err="1">
                <a:effectLst/>
                <a:latin typeface="KaTeX_Main"/>
              </a:rPr>
              <a:t>dP</a:t>
            </a:r>
            <a:r>
              <a:rPr lang="en-US" sz="1200" b="0" i="0" dirty="0">
                <a:effectLst/>
                <a:latin typeface="KaTeX_Main"/>
              </a:rPr>
              <a:t>&lt;−1</a:t>
            </a:r>
            <a:r>
              <a:rPr lang="en-US" sz="1200" b="0" i="1" dirty="0">
                <a:effectLst/>
                <a:latin typeface="KaTeX_Math"/>
              </a:rPr>
              <a:t>dP</a:t>
            </a:r>
            <a:r>
              <a:rPr lang="en-US" sz="1200" b="0" i="0" dirty="0">
                <a:effectLst/>
                <a:latin typeface="KaTeX_Main"/>
              </a:rPr>
              <a:t>&lt;−1</a:t>
            </a:r>
            <a:r>
              <a:rPr lang="en-US" sz="1200" b="0" i="0" dirty="0">
                <a:effectLst/>
                <a:latin typeface="__fkGroteskNeue_598ab8"/>
              </a:rPr>
              <a:t>:Set </a:t>
            </a:r>
            <a:r>
              <a:rPr lang="en-US" sz="1200" b="0" i="0" dirty="0">
                <a:effectLst/>
                <a:latin typeface="KaTeX_Main"/>
              </a:rPr>
              <a:t>dd=−0.01</a:t>
            </a:r>
            <a:r>
              <a:rPr lang="en-US" sz="1200" b="0" i="1" dirty="0">
                <a:effectLst/>
                <a:latin typeface="KaTeX_Math"/>
              </a:rPr>
              <a:t>dd</a:t>
            </a:r>
            <a:r>
              <a:rPr lang="en-US" sz="1200" b="0" i="0" dirty="0">
                <a:effectLst/>
                <a:latin typeface="KaTeX_Main"/>
              </a:rPr>
              <a:t>=−0.01</a:t>
            </a:r>
            <a:endParaRPr lang="en-US" sz="1200" b="0" i="0" dirty="0">
              <a:effectLst/>
              <a:latin typeface="__fkGroteskNeue_598ab8"/>
            </a:endParaRPr>
          </a:p>
          <a:p>
            <a:pPr marL="171450" indent="-171450" algn="l">
              <a:buFont typeface="Wingdings" panose="05000000000000000000" pitchFamily="2" charset="2"/>
              <a:buChar char="Ø"/>
            </a:pPr>
            <a:r>
              <a:rPr lang="en-US" sz="1200" b="0" i="0" dirty="0">
                <a:effectLst/>
                <a:latin typeface="__fkGroteskNeue_598ab8"/>
              </a:rPr>
              <a:t>Increment </a:t>
            </a:r>
            <a:r>
              <a:rPr lang="en-US" sz="1200" b="0" i="0" dirty="0">
                <a:effectLst/>
                <a:latin typeface="KaTeX_Main"/>
              </a:rPr>
              <a:t>d</a:t>
            </a:r>
            <a:r>
              <a:rPr lang="en-US" sz="1200" b="0" i="1" dirty="0">
                <a:effectLst/>
                <a:latin typeface="KaTeX_Math"/>
              </a:rPr>
              <a:t>d</a:t>
            </a:r>
            <a:r>
              <a:rPr lang="en-US" sz="1200" b="0" i="0" dirty="0">
                <a:effectLst/>
                <a:latin typeface="__fkGroteskNeue_598ab8"/>
              </a:rPr>
              <a:t> by </a:t>
            </a:r>
            <a:r>
              <a:rPr lang="en-US" sz="1200" b="0" i="0" dirty="0" err="1">
                <a:effectLst/>
                <a:latin typeface="KaTeX_Main"/>
              </a:rPr>
              <a:t>dd</a:t>
            </a:r>
            <a:r>
              <a:rPr lang="en-US" sz="1200" b="0" i="1" dirty="0" err="1">
                <a:effectLst/>
                <a:latin typeface="KaTeX_Math"/>
              </a:rPr>
              <a:t>dd</a:t>
            </a:r>
            <a:endParaRPr lang="en-US" sz="1200" b="0" i="0" dirty="0">
              <a:effectLst/>
              <a:latin typeface="__fkGroteskNeue_598ab8"/>
            </a:endParaRPr>
          </a:p>
          <a:p>
            <a:pPr marL="171450" indent="-171450" algn="l">
              <a:buFont typeface="Wingdings" panose="05000000000000000000" pitchFamily="2" charset="2"/>
              <a:buChar char="Ø"/>
            </a:pPr>
            <a:r>
              <a:rPr lang="en-US" sz="1200" b="0" i="0" dirty="0" err="1">
                <a:effectLst/>
                <a:latin typeface="__fkGroteskNeue_598ab8"/>
              </a:rPr>
              <a:t>Else:Set</a:t>
            </a:r>
            <a:r>
              <a:rPr lang="en-US" sz="1200" b="0" i="0" dirty="0">
                <a:effectLst/>
                <a:latin typeface="__fkGroteskNeue_598ab8"/>
              </a:rPr>
              <a:t> </a:t>
            </a:r>
            <a:r>
              <a:rPr lang="en-US" sz="1200" b="0" i="0" dirty="0">
                <a:effectLst/>
                <a:latin typeface="KaTeX_Main"/>
              </a:rPr>
              <a:t>dd=0</a:t>
            </a:r>
            <a:r>
              <a:rPr lang="en-US" sz="1200" b="0" i="1" dirty="0">
                <a:effectLst/>
                <a:latin typeface="KaTeX_Math"/>
              </a:rPr>
              <a:t>dd</a:t>
            </a:r>
            <a:r>
              <a:rPr lang="en-US" sz="1200" b="0" i="0" dirty="0">
                <a:effectLst/>
                <a:latin typeface="KaTeX_Main"/>
              </a:rPr>
              <a:t>=0</a:t>
            </a:r>
            <a:endParaRPr lang="en-US" sz="1200" b="0" i="0" dirty="0">
              <a:effectLst/>
              <a:latin typeface="__fkGroteskNeue_598ab8"/>
            </a:endParaRPr>
          </a:p>
          <a:p>
            <a:pPr marL="171450" indent="-171450" algn="l">
              <a:buFont typeface="Wingdings" panose="05000000000000000000" pitchFamily="2" charset="2"/>
              <a:buChar char="Ø"/>
            </a:pPr>
            <a:r>
              <a:rPr lang="en-US" sz="1200" b="0" i="0" dirty="0">
                <a:effectLst/>
                <a:latin typeface="__fkGroteskNeue_598ab8"/>
              </a:rPr>
              <a:t>If Duty Cycle Adjustment is </a:t>
            </a:r>
            <a:r>
              <a:rPr lang="en-US" sz="1200" b="0" i="0" dirty="0" err="1">
                <a:effectLst/>
                <a:latin typeface="__fkGroteskNeue_598ab8"/>
              </a:rPr>
              <a:t>ActiveIf</a:t>
            </a:r>
            <a:r>
              <a:rPr lang="en-US" sz="1200" b="0" i="0" dirty="0">
                <a:effectLst/>
                <a:latin typeface="__fkGroteskNeue_598ab8"/>
              </a:rPr>
              <a:t> (</a:t>
            </a:r>
            <a:r>
              <a:rPr lang="en-US" sz="1200" b="0" i="0" dirty="0" err="1">
                <a:effectLst/>
                <a:latin typeface="__fkGroteskNeue_598ab8"/>
              </a:rPr>
              <a:t>dP</a:t>
            </a:r>
            <a:r>
              <a:rPr lang="en-US" sz="1200" b="0" i="0" dirty="0">
                <a:effectLst/>
                <a:latin typeface="__fkGroteskNeue_598ab8"/>
              </a:rPr>
              <a:t>&lt;1)&amp;&amp;(</a:t>
            </a:r>
            <a:r>
              <a:rPr lang="en-US" sz="1200" b="0" i="0" dirty="0" err="1">
                <a:effectLst/>
                <a:latin typeface="__fkGroteskNeue_598ab8"/>
              </a:rPr>
              <a:t>dP</a:t>
            </a:r>
            <a:r>
              <a:rPr lang="en-US" sz="1200" b="0" i="0" dirty="0">
                <a:effectLst/>
                <a:latin typeface="__fkGroteskNeue_598ab8"/>
              </a:rPr>
              <a:t>&gt;-1):Set dd=0</a:t>
            </a:r>
          </a:p>
          <a:p>
            <a:pPr marL="171450" indent="-171450" algn="l">
              <a:buFont typeface="Wingdings" panose="05000000000000000000" pitchFamily="2" charset="2"/>
              <a:buChar char="Ø"/>
            </a:pPr>
            <a:r>
              <a:rPr lang="en-US" sz="1200" b="0" i="0" dirty="0">
                <a:effectLst/>
                <a:latin typeface="__fkGroteskNeue_598ab8"/>
              </a:rPr>
              <a:t>Increment d by dd</a:t>
            </a:r>
          </a:p>
          <a:p>
            <a:pPr marL="171450" indent="-171450" algn="l">
              <a:buFont typeface="Wingdings" panose="05000000000000000000" pitchFamily="2" charset="2"/>
              <a:buChar char="Ø"/>
            </a:pPr>
            <a:r>
              <a:rPr lang="en-US" sz="1200" b="0" i="0" dirty="0" err="1">
                <a:effectLst/>
                <a:latin typeface="__fkGroteskNeue_598ab8"/>
              </a:rPr>
              <a:t>Else:If</a:t>
            </a:r>
            <a:r>
              <a:rPr lang="en-US" sz="1200" b="0" i="0" dirty="0">
                <a:effectLst/>
                <a:latin typeface="__fkGroteskNeue_598ab8"/>
              </a:rPr>
              <a:t> (</a:t>
            </a:r>
            <a:r>
              <a:rPr lang="en-US" sz="1200" b="0" i="0" dirty="0" err="1">
                <a:effectLst/>
                <a:latin typeface="__fkGroteskNeue_598ab8"/>
              </a:rPr>
              <a:t>dP</a:t>
            </a:r>
            <a:r>
              <a:rPr lang="en-US" sz="1200" b="0" i="0" dirty="0">
                <a:effectLst/>
                <a:latin typeface="__fkGroteskNeue_598ab8"/>
              </a:rPr>
              <a:t>/dd)&gt;0:Set dd=0.01</a:t>
            </a:r>
          </a:p>
          <a:p>
            <a:pPr marL="171450" indent="-171450" algn="l">
              <a:buFont typeface="Wingdings" panose="05000000000000000000" pitchFamily="2" charset="2"/>
              <a:buChar char="Ø"/>
            </a:pPr>
            <a:r>
              <a:rPr lang="en-US" sz="1200" b="0" i="0" dirty="0">
                <a:effectLst/>
                <a:latin typeface="__fkGroteskNeue_598ab8"/>
              </a:rPr>
              <a:t>Increment d by dd</a:t>
            </a:r>
          </a:p>
          <a:p>
            <a:pPr marL="171450" indent="-171450" algn="l">
              <a:buFont typeface="Wingdings" panose="05000000000000000000" pitchFamily="2" charset="2"/>
              <a:buChar char="Ø"/>
            </a:pPr>
            <a:r>
              <a:rPr lang="en-US" sz="1200" b="0" i="0" dirty="0" err="1">
                <a:effectLst/>
                <a:latin typeface="__fkGroteskNeue_598ab8"/>
              </a:rPr>
              <a:t>Else:Set</a:t>
            </a:r>
            <a:r>
              <a:rPr lang="en-US" sz="1200" b="0" i="0" dirty="0">
                <a:effectLst/>
                <a:latin typeface="__fkGroteskNeue_598ab8"/>
              </a:rPr>
              <a:t> dd=-0.01</a:t>
            </a:r>
          </a:p>
          <a:p>
            <a:pPr marL="171450" indent="-171450" algn="l">
              <a:buFont typeface="Wingdings" panose="05000000000000000000" pitchFamily="2" charset="2"/>
              <a:buChar char="Ø"/>
            </a:pPr>
            <a:r>
              <a:rPr lang="en-US" sz="1200" b="0" i="0" dirty="0">
                <a:effectLst/>
                <a:latin typeface="__fkGroteskNeue_598ab8"/>
              </a:rPr>
              <a:t>Increment d by dd</a:t>
            </a:r>
          </a:p>
          <a:p>
            <a:pPr marL="171450" indent="-171450" algn="l">
              <a:buFont typeface="Wingdings" panose="05000000000000000000" pitchFamily="2" charset="2"/>
              <a:buChar char="Ø"/>
            </a:pPr>
            <a:r>
              <a:rPr lang="en-US" sz="1200" b="0" i="0" dirty="0">
                <a:effectLst/>
                <a:latin typeface="__fkGroteskNeue_598ab8"/>
              </a:rPr>
              <a:t>Calculate Duty Cycle </a:t>
            </a:r>
            <a:r>
              <a:rPr lang="en-US" sz="1200" b="0" i="0" dirty="0" err="1">
                <a:effectLst/>
                <a:latin typeface="__fkGroteskNeue_598ab8"/>
              </a:rPr>
              <a:t>DCalculate</a:t>
            </a:r>
            <a:r>
              <a:rPr lang="en-US" sz="1200" b="0" i="0" dirty="0">
                <a:effectLst/>
                <a:latin typeface="__fkGroteskNeue_598ab8"/>
              </a:rPr>
              <a:t> duty </a:t>
            </a:r>
            <a:r>
              <a:rPr lang="en-US" sz="1200" b="0" i="0" dirty="0" err="1">
                <a:effectLst/>
                <a:latin typeface="__fkGroteskNeue_598ab8"/>
              </a:rPr>
              <a:t>cycle:D</a:t>
            </a:r>
            <a:r>
              <a:rPr lang="en-US" sz="1200" b="0" i="0" dirty="0">
                <a:effectLst/>
                <a:latin typeface="__fkGroteskNeue_598ab8"/>
              </a:rPr>
              <a:t>=d/(d+1)</a:t>
            </a:r>
          </a:p>
          <a:p>
            <a:pPr marL="171450" indent="-171450" algn="l">
              <a:buFont typeface="Wingdings" panose="05000000000000000000" pitchFamily="2" charset="2"/>
              <a:buChar char="Ø"/>
            </a:pPr>
            <a:r>
              <a:rPr lang="en-US" sz="1200" b="0" i="0" dirty="0">
                <a:effectLst/>
                <a:latin typeface="__fkGroteskNeue_598ab8"/>
              </a:rPr>
              <a:t>Limit Duty Cycle </a:t>
            </a:r>
            <a:r>
              <a:rPr lang="en-US" sz="1200" b="0" i="0" dirty="0" err="1">
                <a:effectLst/>
                <a:latin typeface="__fkGroteskNeue_598ab8"/>
              </a:rPr>
              <a:t>ValuesIf</a:t>
            </a:r>
            <a:r>
              <a:rPr lang="en-US" sz="1200" b="0" i="0" dirty="0">
                <a:effectLst/>
                <a:latin typeface="__fkGroteskNeue_598ab8"/>
              </a:rPr>
              <a:t> D&lt;0.4:Set D=0.4</a:t>
            </a:r>
          </a:p>
          <a:p>
            <a:pPr marL="171450" indent="-171450" algn="l">
              <a:buFont typeface="Wingdings" panose="05000000000000000000" pitchFamily="2" charset="2"/>
              <a:buChar char="Ø"/>
            </a:pPr>
            <a:r>
              <a:rPr lang="en-US" sz="1200" b="0" i="0" dirty="0">
                <a:effectLst/>
                <a:latin typeface="__fkGroteskNeue_598ab8"/>
              </a:rPr>
              <a:t>Update duty </a:t>
            </a:r>
            <a:r>
              <a:rPr lang="en-US" sz="1200" b="0" i="0" dirty="0" err="1">
                <a:effectLst/>
                <a:latin typeface="__fkGroteskNeue_598ab8"/>
              </a:rPr>
              <a:t>cycle:d</a:t>
            </a:r>
            <a:r>
              <a:rPr lang="en-US" sz="1200" b="0" i="0" dirty="0">
                <a:effectLst/>
                <a:latin typeface="__fkGroteskNeue_598ab8"/>
              </a:rPr>
              <a:t>=D/(1-D)</a:t>
            </a:r>
          </a:p>
          <a:p>
            <a:pPr marL="171450" indent="-171450" algn="l">
              <a:buFont typeface="Wingdings" panose="05000000000000000000" pitchFamily="2" charset="2"/>
              <a:buChar char="Ø"/>
            </a:pPr>
            <a:r>
              <a:rPr lang="en-US" sz="1200" b="0" i="0" dirty="0">
                <a:effectLst/>
                <a:latin typeface="__fkGroteskNeue_598ab8"/>
              </a:rPr>
              <a:t>Else if D&gt;0.9:Set D=0.9</a:t>
            </a:r>
          </a:p>
          <a:p>
            <a:pPr marL="171450" indent="-171450" algn="l">
              <a:buFont typeface="Wingdings" panose="05000000000000000000" pitchFamily="2" charset="2"/>
              <a:buChar char="Ø"/>
            </a:pPr>
            <a:r>
              <a:rPr lang="en-US" sz="1200" b="0" i="0" dirty="0">
                <a:effectLst/>
                <a:latin typeface="__fkGroteskNeue_598ab8"/>
              </a:rPr>
              <a:t>Update duty </a:t>
            </a:r>
            <a:r>
              <a:rPr lang="en-US" sz="1200" b="0" i="0" dirty="0" err="1">
                <a:effectLst/>
                <a:latin typeface="__fkGroteskNeue_598ab8"/>
              </a:rPr>
              <a:t>cycle:d</a:t>
            </a:r>
            <a:r>
              <a:rPr lang="en-US" sz="1200" b="0" i="0" dirty="0">
                <a:effectLst/>
                <a:latin typeface="__fkGroteskNeue_598ab8"/>
              </a:rPr>
              <a:t>=D/(1-D)</a:t>
            </a:r>
          </a:p>
          <a:p>
            <a:pPr marL="171450" indent="-171450" algn="l">
              <a:buFont typeface="Wingdings" panose="05000000000000000000" pitchFamily="2" charset="2"/>
              <a:buChar char="Ø"/>
            </a:pPr>
            <a:r>
              <a:rPr lang="en-US" sz="1200" b="0" i="0" dirty="0">
                <a:effectLst/>
                <a:latin typeface="__fkGroteskNeue_598ab8"/>
              </a:rPr>
              <a:t>End of Algorithm Return the final value of duty cycle D.</a:t>
            </a:r>
          </a:p>
        </p:txBody>
      </p:sp>
      <p:pic>
        <p:nvPicPr>
          <p:cNvPr id="12" name="Picture 11">
            <a:extLst>
              <a:ext uri="{FF2B5EF4-FFF2-40B4-BE49-F238E27FC236}">
                <a16:creationId xmlns:a16="http://schemas.microsoft.com/office/drawing/2014/main" id="{4CCD5573-7732-F99C-3F8D-CAACC51914AD}"/>
              </a:ext>
            </a:extLst>
          </p:cNvPr>
          <p:cNvPicPr>
            <a:picLocks noChangeAspect="1"/>
          </p:cNvPicPr>
          <p:nvPr/>
        </p:nvPicPr>
        <p:blipFill>
          <a:blip r:embed="rId2"/>
          <a:stretch>
            <a:fillRect/>
          </a:stretch>
        </p:blipFill>
        <p:spPr>
          <a:xfrm>
            <a:off x="7275928" y="340518"/>
            <a:ext cx="4675765" cy="5520310"/>
          </a:xfrm>
          <a:prstGeom prst="rect">
            <a:avLst/>
          </a:prstGeom>
        </p:spPr>
      </p:pic>
    </p:spTree>
    <p:extLst>
      <p:ext uri="{BB962C8B-B14F-4D97-AF65-F5344CB8AC3E}">
        <p14:creationId xmlns:p14="http://schemas.microsoft.com/office/powerpoint/2010/main" val="2979050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CF241-B1F5-04F0-B823-B0FA7C55F4E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79A2CBE-B8E6-3AC9-8115-53B1BE1A5080}"/>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0CE4CA7A-578D-BFBB-6655-9A8635338F1C}"/>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824606D9-317B-D563-C7FC-A04BC57B4268}"/>
              </a:ext>
            </a:extLst>
          </p:cNvPr>
          <p:cNvSpPr>
            <a:spLocks noGrp="1"/>
          </p:cNvSpPr>
          <p:nvPr>
            <p:ph type="sldNum" sz="quarter" idx="12"/>
          </p:nvPr>
        </p:nvSpPr>
        <p:spPr/>
        <p:txBody>
          <a:bodyPr/>
          <a:lstStyle/>
          <a:p>
            <a:fld id="{15FCCAAF-6324-40D0-99C1-825B83CC9B2F}" type="slidenum">
              <a:rPr lang="en-IN" smtClean="0"/>
              <a:t>14</a:t>
            </a:fld>
            <a:endParaRPr lang="en-IN"/>
          </a:p>
        </p:txBody>
      </p:sp>
      <p:sp>
        <p:nvSpPr>
          <p:cNvPr id="7" name="Title 1">
            <a:extLst>
              <a:ext uri="{FF2B5EF4-FFF2-40B4-BE49-F238E27FC236}">
                <a16:creationId xmlns:a16="http://schemas.microsoft.com/office/drawing/2014/main" id="{8B01AF3A-83D0-5AA8-FB00-FD67E43DA2D8}"/>
              </a:ext>
            </a:extLst>
          </p:cNvPr>
          <p:cNvSpPr>
            <a:spLocks noGrp="1"/>
          </p:cNvSpPr>
          <p:nvPr>
            <p:ph type="title"/>
          </p:nvPr>
        </p:nvSpPr>
        <p:spPr>
          <a:xfrm>
            <a:off x="92485" y="0"/>
            <a:ext cx="10515600" cy="681037"/>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Algorithms</a:t>
            </a:r>
          </a:p>
        </p:txBody>
      </p:sp>
      <p:sp>
        <p:nvSpPr>
          <p:cNvPr id="8" name="TextBox 7">
            <a:extLst>
              <a:ext uri="{FF2B5EF4-FFF2-40B4-BE49-F238E27FC236}">
                <a16:creationId xmlns:a16="http://schemas.microsoft.com/office/drawing/2014/main" id="{47B3727F-17AB-0B64-67E7-4E2161DBFD3F}"/>
              </a:ext>
            </a:extLst>
          </p:cNvPr>
          <p:cNvSpPr txBox="1"/>
          <p:nvPr/>
        </p:nvSpPr>
        <p:spPr>
          <a:xfrm>
            <a:off x="240306" y="574040"/>
            <a:ext cx="3958469" cy="369332"/>
          </a:xfrm>
          <a:prstGeom prst="rect">
            <a:avLst/>
          </a:prstGeom>
          <a:noFill/>
        </p:spPr>
        <p:txBody>
          <a:bodyPr wrap="square" rtlCol="0">
            <a:spAutoFit/>
          </a:bodyPr>
          <a:lstStyle/>
          <a:p>
            <a:r>
              <a:rPr lang="en-US" dirty="0"/>
              <a:t>Battery Swapping Station -- Charging</a:t>
            </a:r>
          </a:p>
        </p:txBody>
      </p:sp>
      <p:sp>
        <p:nvSpPr>
          <p:cNvPr id="11" name="Rectangle 3">
            <a:extLst>
              <a:ext uri="{FF2B5EF4-FFF2-40B4-BE49-F238E27FC236}">
                <a16:creationId xmlns:a16="http://schemas.microsoft.com/office/drawing/2014/main" id="{9FE3991D-75D4-4AFC-F491-68189C0F3756}"/>
              </a:ext>
            </a:extLst>
          </p:cNvPr>
          <p:cNvSpPr>
            <a:spLocks noChangeArrowheads="1"/>
          </p:cNvSpPr>
          <p:nvPr/>
        </p:nvSpPr>
        <p:spPr bwMode="auto">
          <a:xfrm>
            <a:off x="92485" y="681037"/>
            <a:ext cx="5839835" cy="5226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19025" rIns="0" bIns="11902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__fkGroteskNeue_598ab8"/>
              </a:rPr>
              <a:t>Initialize Persistent Variables: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Check if </a:t>
            </a:r>
            <a:r>
              <a:rPr kumimoji="0" lang="en-US" altLang="en-US" b="0" i="0" u="none" strike="noStrike" cap="none" normalizeH="0" baseline="0" dirty="0" err="1">
                <a:ln>
                  <a:noFill/>
                </a:ln>
                <a:solidFill>
                  <a:schemeClr val="tx1"/>
                </a:solidFill>
                <a:effectLst/>
                <a:latin typeface="var(--font-berkeley-mono)"/>
              </a:rPr>
              <a:t>LoadOnPersistent</a:t>
            </a:r>
            <a:r>
              <a:rPr kumimoji="0" lang="en-US" altLang="en-US" sz="1200" b="0" i="0" u="none" strike="noStrike" cap="none" normalizeH="0" baseline="0" dirty="0">
                <a:ln>
                  <a:noFill/>
                </a:ln>
                <a:solidFill>
                  <a:schemeClr val="tx1"/>
                </a:solidFill>
                <a:effectLst/>
                <a:latin typeface="__fkGroteskNeue_598ab8"/>
              </a:rPr>
              <a:t> and </a:t>
            </a:r>
            <a:r>
              <a:rPr kumimoji="0" lang="en-US" altLang="en-US" b="0" i="0" u="none" strike="noStrike" cap="none" normalizeH="0" baseline="0" dirty="0" err="1">
                <a:ln>
                  <a:noFill/>
                </a:ln>
                <a:solidFill>
                  <a:schemeClr val="tx1"/>
                </a:solidFill>
                <a:effectLst/>
                <a:latin typeface="var(--font-berkeley-mono)"/>
              </a:rPr>
              <a:t>ChargingOnPersistent</a:t>
            </a:r>
            <a:r>
              <a:rPr kumimoji="0" lang="en-US" altLang="en-US" sz="1200" b="0" i="0" u="none" strike="noStrike" cap="none" normalizeH="0" baseline="0" dirty="0">
                <a:ln>
                  <a:noFill/>
                </a:ln>
                <a:solidFill>
                  <a:schemeClr val="tx1"/>
                </a:solidFill>
                <a:effectLst/>
                <a:latin typeface="__fkGroteskNeue_598ab8"/>
              </a:rPr>
              <a:t> are empty.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If empty, set: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var(--font-berkeley-mono)"/>
              </a:rPr>
              <a:t>LoadOnPersistent</a:t>
            </a:r>
            <a:r>
              <a:rPr kumimoji="0" lang="en-US" altLang="en-US" b="0" i="0" u="none" strike="noStrike" cap="none" normalizeH="0" baseline="0" dirty="0">
                <a:ln>
                  <a:noFill/>
                </a:ln>
                <a:solidFill>
                  <a:schemeClr val="tx1"/>
                </a:solidFill>
                <a:effectLst/>
                <a:latin typeface="var(--font-berkeley-mono)"/>
              </a:rPr>
              <a:t> = 1</a:t>
            </a:r>
            <a:r>
              <a:rPr kumimoji="0" lang="en-US" altLang="en-US" sz="1200" b="0" i="0" u="none" strike="noStrike" cap="none" normalizeH="0" baseline="0" dirty="0">
                <a:ln>
                  <a:noFill/>
                </a:ln>
                <a:solidFill>
                  <a:schemeClr val="tx1"/>
                </a:solidFill>
                <a:effectLst/>
                <a:latin typeface="__fkGroteskNeue_598ab8"/>
              </a:rPr>
              <a:t> (Load is initially ON)</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var(--font-berkeley-mono)"/>
              </a:rPr>
              <a:t>ChargingOnPersistent</a:t>
            </a:r>
            <a:r>
              <a:rPr kumimoji="0" lang="en-US" altLang="en-US" b="0" i="0" u="none" strike="noStrike" cap="none" normalizeH="0" baseline="0" dirty="0">
                <a:ln>
                  <a:noFill/>
                </a:ln>
                <a:solidFill>
                  <a:schemeClr val="tx1"/>
                </a:solidFill>
                <a:effectLst/>
                <a:latin typeface="var(--font-berkeley-mono)"/>
              </a:rPr>
              <a:t> = 0</a:t>
            </a:r>
            <a:r>
              <a:rPr kumimoji="0" lang="en-US" altLang="en-US" sz="1200" b="0" i="0" u="none" strike="noStrike" cap="none" normalizeH="0" baseline="0" dirty="0">
                <a:ln>
                  <a:noFill/>
                </a:ln>
                <a:solidFill>
                  <a:schemeClr val="tx1"/>
                </a:solidFill>
                <a:effectLst/>
                <a:latin typeface="__fkGroteskNeue_598ab8"/>
              </a:rPr>
              <a:t> (Charging is initially OFF)</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chemeClr val="tx1"/>
                </a:solidFill>
                <a:effectLst/>
                <a:latin typeface="__fkGroteskNeue_598ab8"/>
              </a:rPr>
              <a:t>Check State of Charge (SOC):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If </a:t>
            </a:r>
            <a:r>
              <a:rPr kumimoji="0" lang="en-US" altLang="en-US" b="0" i="0" u="none" strike="noStrike" cap="none" normalizeH="0" baseline="0" dirty="0">
                <a:ln>
                  <a:noFill/>
                </a:ln>
                <a:solidFill>
                  <a:schemeClr val="tx1"/>
                </a:solidFill>
                <a:effectLst/>
                <a:latin typeface="var(--font-berkeley-mono)"/>
              </a:rPr>
              <a:t>SOC &gt; 80</a:t>
            </a:r>
            <a:r>
              <a:rPr kumimoji="0" lang="en-US" altLang="en-US" sz="1200" b="0" i="0" u="none" strike="noStrike" cap="none" normalizeH="0" baseline="0" dirty="0">
                <a:ln>
                  <a:noFill/>
                </a:ln>
                <a:solidFill>
                  <a:schemeClr val="tx1"/>
                </a:solidFill>
                <a:effectLst/>
                <a:latin typeface="__fkGroteskNeue_598ab8"/>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Set </a:t>
            </a:r>
            <a:r>
              <a:rPr kumimoji="0" lang="en-US" altLang="en-US" b="0" i="0" u="none" strike="noStrike" cap="none" normalizeH="0" baseline="0" dirty="0" err="1">
                <a:ln>
                  <a:noFill/>
                </a:ln>
                <a:solidFill>
                  <a:schemeClr val="tx1"/>
                </a:solidFill>
                <a:effectLst/>
                <a:latin typeface="var(--font-berkeley-mono)"/>
              </a:rPr>
              <a:t>LoadOnPersistent</a:t>
            </a:r>
            <a:r>
              <a:rPr kumimoji="0" lang="en-US" altLang="en-US" b="0" i="0" u="none" strike="noStrike" cap="none" normalizeH="0" baseline="0" dirty="0">
                <a:ln>
                  <a:noFill/>
                </a:ln>
                <a:solidFill>
                  <a:schemeClr val="tx1"/>
                </a:solidFill>
                <a:effectLst/>
                <a:latin typeface="var(--font-berkeley-mono)"/>
              </a:rPr>
              <a:t> = 1</a:t>
            </a:r>
            <a:r>
              <a:rPr kumimoji="0" lang="en-US" altLang="en-US" sz="1200" b="0" i="0" u="none" strike="noStrike" cap="none" normalizeH="0" baseline="0" dirty="0">
                <a:ln>
                  <a:noFill/>
                </a:ln>
                <a:solidFill>
                  <a:schemeClr val="tx1"/>
                </a:solidFill>
                <a:effectLst/>
                <a:latin typeface="__fkGroteskNeue_598ab8"/>
              </a:rPr>
              <a:t> (Turn load ON)</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Set </a:t>
            </a:r>
            <a:r>
              <a:rPr kumimoji="0" lang="en-US" altLang="en-US" b="0" i="0" u="none" strike="noStrike" cap="none" normalizeH="0" baseline="0" dirty="0" err="1">
                <a:ln>
                  <a:noFill/>
                </a:ln>
                <a:solidFill>
                  <a:schemeClr val="tx1"/>
                </a:solidFill>
                <a:effectLst/>
                <a:latin typeface="var(--font-berkeley-mono)"/>
              </a:rPr>
              <a:t>ChargingOnPersistent</a:t>
            </a:r>
            <a:r>
              <a:rPr kumimoji="0" lang="en-US" altLang="en-US" b="0" i="0" u="none" strike="noStrike" cap="none" normalizeH="0" baseline="0" dirty="0">
                <a:ln>
                  <a:noFill/>
                </a:ln>
                <a:solidFill>
                  <a:schemeClr val="tx1"/>
                </a:solidFill>
                <a:effectLst/>
                <a:latin typeface="var(--font-berkeley-mono)"/>
              </a:rPr>
              <a:t> = 0</a:t>
            </a:r>
            <a:r>
              <a:rPr kumimoji="0" lang="en-US" altLang="en-US" sz="1200" b="0" i="0" u="none" strike="noStrike" cap="none" normalizeH="0" baseline="0" dirty="0">
                <a:ln>
                  <a:noFill/>
                </a:ln>
                <a:solidFill>
                  <a:schemeClr val="tx1"/>
                </a:solidFill>
                <a:effectLst/>
                <a:latin typeface="__fkGroteskNeue_598ab8"/>
              </a:rPr>
              <a:t> (Turn charging OFF)</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Else if </a:t>
            </a:r>
            <a:r>
              <a:rPr kumimoji="0" lang="en-US" altLang="en-US" b="0" i="0" u="none" strike="noStrike" cap="none" normalizeH="0" baseline="0" dirty="0">
                <a:ln>
                  <a:noFill/>
                </a:ln>
                <a:solidFill>
                  <a:schemeClr val="tx1"/>
                </a:solidFill>
                <a:effectLst/>
                <a:latin typeface="var(--font-berkeley-mono)"/>
              </a:rPr>
              <a:t>SOC &lt; 40</a:t>
            </a:r>
            <a:r>
              <a:rPr kumimoji="0" lang="en-US" altLang="en-US" sz="1200" b="0" i="0" u="none" strike="noStrike" cap="none" normalizeH="0" baseline="0" dirty="0">
                <a:ln>
                  <a:noFill/>
                </a:ln>
                <a:solidFill>
                  <a:schemeClr val="tx1"/>
                </a:solidFill>
                <a:effectLst/>
                <a:latin typeface="__fkGroteskNeue_598ab8"/>
              </a:rPr>
              <a:t>:</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Set </a:t>
            </a:r>
            <a:r>
              <a:rPr kumimoji="0" lang="en-US" altLang="en-US" b="0" i="0" u="none" strike="noStrike" cap="none" normalizeH="0" baseline="0" dirty="0" err="1">
                <a:ln>
                  <a:noFill/>
                </a:ln>
                <a:solidFill>
                  <a:schemeClr val="tx1"/>
                </a:solidFill>
                <a:effectLst/>
                <a:latin typeface="var(--font-berkeley-mono)"/>
              </a:rPr>
              <a:t>LoadOnPersistent</a:t>
            </a:r>
            <a:r>
              <a:rPr kumimoji="0" lang="en-US" altLang="en-US" b="0" i="0" u="none" strike="noStrike" cap="none" normalizeH="0" baseline="0" dirty="0">
                <a:ln>
                  <a:noFill/>
                </a:ln>
                <a:solidFill>
                  <a:schemeClr val="tx1"/>
                </a:solidFill>
                <a:effectLst/>
                <a:latin typeface="var(--font-berkeley-mono)"/>
              </a:rPr>
              <a:t> = 0</a:t>
            </a:r>
            <a:r>
              <a:rPr kumimoji="0" lang="en-US" altLang="en-US" sz="1200" b="0" i="0" u="none" strike="noStrike" cap="none" normalizeH="0" baseline="0" dirty="0">
                <a:ln>
                  <a:noFill/>
                </a:ln>
                <a:solidFill>
                  <a:schemeClr val="tx1"/>
                </a:solidFill>
                <a:effectLst/>
                <a:latin typeface="__fkGroteskNeue_598ab8"/>
              </a:rPr>
              <a:t> (Turn load OFF)</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Set </a:t>
            </a:r>
            <a:r>
              <a:rPr kumimoji="0" lang="en-US" altLang="en-US" b="0" i="0" u="none" strike="noStrike" cap="none" normalizeH="0" baseline="0" dirty="0" err="1">
                <a:ln>
                  <a:noFill/>
                </a:ln>
                <a:solidFill>
                  <a:schemeClr val="tx1"/>
                </a:solidFill>
                <a:effectLst/>
                <a:latin typeface="var(--font-berkeley-mono)"/>
              </a:rPr>
              <a:t>ChargingOnPersistent</a:t>
            </a:r>
            <a:r>
              <a:rPr kumimoji="0" lang="en-US" altLang="en-US" b="0" i="0" u="none" strike="noStrike" cap="none" normalizeH="0" baseline="0" dirty="0">
                <a:ln>
                  <a:noFill/>
                </a:ln>
                <a:solidFill>
                  <a:schemeClr val="tx1"/>
                </a:solidFill>
                <a:effectLst/>
                <a:latin typeface="var(--font-berkeley-mono)"/>
              </a:rPr>
              <a:t> = 1</a:t>
            </a:r>
            <a:r>
              <a:rPr kumimoji="0" lang="en-US" altLang="en-US" sz="1200" b="0" i="0" u="none" strike="noStrike" cap="none" normalizeH="0" baseline="0" dirty="0">
                <a:ln>
                  <a:noFill/>
                </a:ln>
                <a:solidFill>
                  <a:schemeClr val="tx1"/>
                </a:solidFill>
                <a:effectLst/>
                <a:latin typeface="__fkGroteskNeue_598ab8"/>
              </a:rPr>
              <a:t> (Start charging)</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chemeClr val="tx1"/>
                </a:solidFill>
                <a:effectLst/>
                <a:latin typeface="__fkGroteskNeue_598ab8"/>
              </a:rPr>
              <a:t>Assign Output Values: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Assign output values: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var(--font-berkeley-mono)"/>
              </a:rPr>
              <a:t>LoadOn</a:t>
            </a:r>
            <a:r>
              <a:rPr kumimoji="0" lang="en-US" altLang="en-US" b="0" i="0" u="none" strike="noStrike" cap="none" normalizeH="0" baseline="0" dirty="0">
                <a:ln>
                  <a:noFill/>
                </a:ln>
                <a:solidFill>
                  <a:schemeClr val="tx1"/>
                </a:solidFill>
                <a:effectLst/>
                <a:latin typeface="var(--font-berkeley-mono)"/>
              </a:rPr>
              <a:t> = </a:t>
            </a:r>
            <a:r>
              <a:rPr kumimoji="0" lang="en-US" altLang="en-US" b="0" i="0" u="none" strike="noStrike" cap="none" normalizeH="0" baseline="0" dirty="0" err="1">
                <a:ln>
                  <a:noFill/>
                </a:ln>
                <a:solidFill>
                  <a:schemeClr val="tx1"/>
                </a:solidFill>
                <a:effectLst/>
                <a:latin typeface="var(--font-berkeley-mono)"/>
              </a:rPr>
              <a:t>LoadOnPersistent</a:t>
            </a:r>
            <a:endParaRPr kumimoji="0" lang="en-US" altLang="en-US" sz="1200" b="0" i="0" u="none" strike="noStrike" cap="none" normalizeH="0" baseline="0" dirty="0">
              <a:ln>
                <a:noFill/>
              </a:ln>
              <a:solidFill>
                <a:schemeClr val="tx1"/>
              </a:solidFill>
              <a:effectLst/>
              <a:latin typeface="__fkGroteskNeue_598ab8"/>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var(--font-berkeley-mono)"/>
              </a:rPr>
              <a:t>ChargingOn</a:t>
            </a:r>
            <a:r>
              <a:rPr kumimoji="0" lang="en-US" altLang="en-US" b="0" i="0" u="none" strike="noStrike" cap="none" normalizeH="0" baseline="0" dirty="0">
                <a:ln>
                  <a:noFill/>
                </a:ln>
                <a:solidFill>
                  <a:schemeClr val="tx1"/>
                </a:solidFill>
                <a:effectLst/>
                <a:latin typeface="var(--font-berkeley-mono)"/>
              </a:rPr>
              <a:t> = </a:t>
            </a:r>
            <a:r>
              <a:rPr kumimoji="0" lang="en-US" altLang="en-US" b="0" i="0" u="none" strike="noStrike" cap="none" normalizeH="0" baseline="0" dirty="0" err="1">
                <a:ln>
                  <a:noFill/>
                </a:ln>
                <a:solidFill>
                  <a:schemeClr val="tx1"/>
                </a:solidFill>
                <a:effectLst/>
                <a:latin typeface="var(--font-berkeley-mono)"/>
              </a:rPr>
              <a:t>ChargingOnPersistent</a:t>
            </a:r>
            <a:endParaRPr kumimoji="0" lang="en-US" altLang="en-US" sz="1200" b="0" i="0" u="none" strike="noStrike" cap="none" normalizeH="0" baseline="0" dirty="0">
              <a:ln>
                <a:noFill/>
              </a:ln>
              <a:solidFill>
                <a:schemeClr val="tx1"/>
              </a:solidFill>
              <a:effectLst/>
              <a:latin typeface="__fkGroteskNeue_598ab8"/>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chemeClr val="tx1"/>
                </a:solidFill>
                <a:effectLst/>
                <a:latin typeface="__fkGroteskNeue_598ab8"/>
              </a:rPr>
              <a:t>Return Outputs: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Return the values of </a:t>
            </a:r>
            <a:r>
              <a:rPr kumimoji="0" lang="en-US" altLang="en-US" b="0" i="0" u="none" strike="noStrike" cap="none" normalizeH="0" baseline="0" dirty="0" err="1">
                <a:ln>
                  <a:noFill/>
                </a:ln>
                <a:solidFill>
                  <a:schemeClr val="tx1"/>
                </a:solidFill>
                <a:effectLst/>
                <a:latin typeface="var(--font-berkeley-mono)"/>
              </a:rPr>
              <a:t>LoadOn</a:t>
            </a:r>
            <a:r>
              <a:rPr kumimoji="0" lang="en-US" altLang="en-US" sz="1200" b="0" i="0" u="none" strike="noStrike" cap="none" normalizeH="0" baseline="0" dirty="0">
                <a:ln>
                  <a:noFill/>
                </a:ln>
                <a:solidFill>
                  <a:schemeClr val="tx1"/>
                </a:solidFill>
                <a:effectLst/>
                <a:latin typeface="__fkGroteskNeue_598ab8"/>
              </a:rPr>
              <a:t> and </a:t>
            </a:r>
            <a:r>
              <a:rPr kumimoji="0" lang="en-US" altLang="en-US" b="0" i="0" u="none" strike="noStrike" cap="none" normalizeH="0" baseline="0" dirty="0" err="1">
                <a:ln>
                  <a:noFill/>
                </a:ln>
                <a:solidFill>
                  <a:schemeClr val="tx1"/>
                </a:solidFill>
                <a:effectLst/>
                <a:latin typeface="var(--font-berkeley-mono)"/>
              </a:rPr>
              <a:t>ChargingOn</a:t>
            </a:r>
            <a:r>
              <a:rPr kumimoji="0" lang="en-US" altLang="en-US" sz="1200" b="0" i="0" u="none" strike="noStrike" cap="none" normalizeH="0" baseline="0" dirty="0">
                <a:ln>
                  <a:noFill/>
                </a:ln>
                <a:solidFill>
                  <a:schemeClr val="tx1"/>
                </a:solidFill>
                <a:effectLst/>
                <a:latin typeface="__fkGroteskNeue_598ab8"/>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Picture 13">
            <a:extLst>
              <a:ext uri="{FF2B5EF4-FFF2-40B4-BE49-F238E27FC236}">
                <a16:creationId xmlns:a16="http://schemas.microsoft.com/office/drawing/2014/main" id="{912EAB16-7D9B-CD37-8AFE-6FAF8093AD2D}"/>
              </a:ext>
            </a:extLst>
          </p:cNvPr>
          <p:cNvPicPr>
            <a:picLocks noChangeAspect="1"/>
          </p:cNvPicPr>
          <p:nvPr/>
        </p:nvPicPr>
        <p:blipFill>
          <a:blip r:embed="rId2"/>
          <a:stretch>
            <a:fillRect/>
          </a:stretch>
        </p:blipFill>
        <p:spPr>
          <a:xfrm>
            <a:off x="5932320" y="574040"/>
            <a:ext cx="5273415" cy="5010496"/>
          </a:xfrm>
          <a:prstGeom prst="rect">
            <a:avLst/>
          </a:prstGeom>
        </p:spPr>
      </p:pic>
    </p:spTree>
    <p:extLst>
      <p:ext uri="{BB962C8B-B14F-4D97-AF65-F5344CB8AC3E}">
        <p14:creationId xmlns:p14="http://schemas.microsoft.com/office/powerpoint/2010/main" val="3374125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F1B1A-05B4-FA9D-A195-D0C2D901185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95A5A88-FEE4-7CC7-9102-2B2BF2E7B99C}"/>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1E38B960-F411-98DB-162A-8F86F695353C}"/>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777D8A1A-E0B2-D8A2-4FA3-5B6E7E07B9CE}"/>
              </a:ext>
            </a:extLst>
          </p:cNvPr>
          <p:cNvSpPr>
            <a:spLocks noGrp="1"/>
          </p:cNvSpPr>
          <p:nvPr>
            <p:ph type="sldNum" sz="quarter" idx="12"/>
          </p:nvPr>
        </p:nvSpPr>
        <p:spPr/>
        <p:txBody>
          <a:bodyPr/>
          <a:lstStyle/>
          <a:p>
            <a:fld id="{15FCCAAF-6324-40D0-99C1-825B83CC9B2F}" type="slidenum">
              <a:rPr lang="en-IN" smtClean="0"/>
              <a:t>15</a:t>
            </a:fld>
            <a:endParaRPr lang="en-IN"/>
          </a:p>
        </p:txBody>
      </p:sp>
      <p:sp>
        <p:nvSpPr>
          <p:cNvPr id="7" name="Title 1">
            <a:extLst>
              <a:ext uri="{FF2B5EF4-FFF2-40B4-BE49-F238E27FC236}">
                <a16:creationId xmlns:a16="http://schemas.microsoft.com/office/drawing/2014/main" id="{4025A6B5-8FDF-F4E7-A629-D4E86DB27E3D}"/>
              </a:ext>
            </a:extLst>
          </p:cNvPr>
          <p:cNvSpPr>
            <a:spLocks noGrp="1"/>
          </p:cNvSpPr>
          <p:nvPr>
            <p:ph type="title"/>
          </p:nvPr>
        </p:nvSpPr>
        <p:spPr>
          <a:xfrm>
            <a:off x="92485" y="0"/>
            <a:ext cx="10515600" cy="681037"/>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Algorithms</a:t>
            </a:r>
          </a:p>
        </p:txBody>
      </p:sp>
      <p:sp>
        <p:nvSpPr>
          <p:cNvPr id="8" name="TextBox 7">
            <a:extLst>
              <a:ext uri="{FF2B5EF4-FFF2-40B4-BE49-F238E27FC236}">
                <a16:creationId xmlns:a16="http://schemas.microsoft.com/office/drawing/2014/main" id="{CC753690-3DA2-CC9F-1904-F6A63998212B}"/>
              </a:ext>
            </a:extLst>
          </p:cNvPr>
          <p:cNvSpPr txBox="1"/>
          <p:nvPr/>
        </p:nvSpPr>
        <p:spPr>
          <a:xfrm>
            <a:off x="2831020" y="451974"/>
            <a:ext cx="3395148" cy="369332"/>
          </a:xfrm>
          <a:prstGeom prst="rect">
            <a:avLst/>
          </a:prstGeom>
          <a:noFill/>
        </p:spPr>
        <p:txBody>
          <a:bodyPr wrap="square" rtlCol="0">
            <a:spAutoFit/>
          </a:bodyPr>
          <a:lstStyle/>
          <a:p>
            <a:r>
              <a:rPr lang="en-US" dirty="0"/>
              <a:t>Car Charging control calculation</a:t>
            </a:r>
          </a:p>
        </p:txBody>
      </p:sp>
      <p:sp>
        <p:nvSpPr>
          <p:cNvPr id="3" name="TextBox 2">
            <a:extLst>
              <a:ext uri="{FF2B5EF4-FFF2-40B4-BE49-F238E27FC236}">
                <a16:creationId xmlns:a16="http://schemas.microsoft.com/office/drawing/2014/main" id="{A5BB3083-C01F-33D6-499C-791667A00038}"/>
              </a:ext>
            </a:extLst>
          </p:cNvPr>
          <p:cNvSpPr txBox="1"/>
          <p:nvPr/>
        </p:nvSpPr>
        <p:spPr>
          <a:xfrm>
            <a:off x="335901" y="1194318"/>
            <a:ext cx="10767527" cy="5089642"/>
          </a:xfrm>
          <a:prstGeom prst="rect">
            <a:avLst/>
          </a:prstGeom>
          <a:noFill/>
        </p:spPr>
        <p:txBody>
          <a:bodyPr wrap="square" rtlCol="0">
            <a:spAutoFit/>
          </a:bodyPr>
          <a:lstStyle/>
          <a:p>
            <a:endParaRPr lang="en-US" dirty="0"/>
          </a:p>
        </p:txBody>
      </p:sp>
      <p:sp>
        <p:nvSpPr>
          <p:cNvPr id="15" name="Rectangle 6">
            <a:extLst>
              <a:ext uri="{FF2B5EF4-FFF2-40B4-BE49-F238E27FC236}">
                <a16:creationId xmlns:a16="http://schemas.microsoft.com/office/drawing/2014/main" id="{235E2304-11DA-E2BB-C039-9EF346D52703}"/>
              </a:ext>
            </a:extLst>
          </p:cNvPr>
          <p:cNvSpPr>
            <a:spLocks noChangeArrowheads="1"/>
          </p:cNvSpPr>
          <p:nvPr/>
        </p:nvSpPr>
        <p:spPr bwMode="auto">
          <a:xfrm>
            <a:off x="335901" y="697152"/>
            <a:ext cx="5890267" cy="46108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19025" rIns="0" bIns="11902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100" b="0" i="0" u="none" strike="noStrike" cap="none" normalizeH="0" baseline="0" dirty="0">
                <a:ln>
                  <a:noFill/>
                </a:ln>
                <a:solidFill>
                  <a:schemeClr val="tx1"/>
                </a:solidFill>
                <a:effectLst/>
                <a:latin typeface="__fkGroteskNeue_598ab8"/>
              </a:rPr>
              <a:t>Input Parameters: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__fkGroteskNeue_598ab8"/>
              </a:rPr>
              <a:t>Receive input values: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var(--font-berkeley-mono)"/>
              </a:rPr>
              <a:t>voltage</a:t>
            </a:r>
            <a:r>
              <a:rPr kumimoji="0" lang="en-US" altLang="en-US" sz="1100" b="0" i="0" u="none" strike="noStrike" cap="none" normalizeH="0" baseline="0" dirty="0">
                <a:ln>
                  <a:noFill/>
                </a:ln>
                <a:solidFill>
                  <a:schemeClr val="tx1"/>
                </a:solidFill>
                <a:effectLst/>
                <a:latin typeface="__fkGroteskNeue_598ab8"/>
              </a:rPr>
              <a:t>: Voltage of the battery in volts.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var(--font-berkeley-mono)"/>
              </a:rPr>
              <a:t>current</a:t>
            </a:r>
            <a:r>
              <a:rPr kumimoji="0" lang="en-US" altLang="en-US" sz="1100" b="0" i="0" u="none" strike="noStrike" cap="none" normalizeH="0" baseline="0" dirty="0">
                <a:ln>
                  <a:noFill/>
                </a:ln>
                <a:solidFill>
                  <a:schemeClr val="tx1"/>
                </a:solidFill>
                <a:effectLst/>
                <a:latin typeface="__fkGroteskNeue_598ab8"/>
              </a:rPr>
              <a:t>: Current flowing into the battery in amperes.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var(--font-berkeley-mono)"/>
              </a:rPr>
              <a:t>temperature</a:t>
            </a:r>
            <a:r>
              <a:rPr kumimoji="0" lang="en-US" altLang="en-US" sz="1100" b="0" i="0" u="none" strike="noStrike" cap="none" normalizeH="0" baseline="0" dirty="0">
                <a:ln>
                  <a:noFill/>
                </a:ln>
                <a:solidFill>
                  <a:schemeClr val="tx1"/>
                </a:solidFill>
                <a:effectLst/>
                <a:latin typeface="__fkGroteskNeue_598ab8"/>
              </a:rPr>
              <a:t>: Temperature of the battery in degrees Celsius.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100" b="0" i="0" u="none" strike="noStrike" cap="none" normalizeH="0" baseline="0" dirty="0">
                <a:ln>
                  <a:noFill/>
                </a:ln>
                <a:solidFill>
                  <a:schemeClr val="tx1"/>
                </a:solidFill>
                <a:effectLst/>
                <a:latin typeface="__fkGroteskNeue_598ab8"/>
              </a:rPr>
              <a:t>Define Constants: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__fkGroteskNeue_598ab8"/>
              </a:rPr>
              <a:t>Set constants for calculations: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var(--font-berkeley-mono)"/>
              </a:rPr>
              <a:t>nominalVoltage</a:t>
            </a:r>
            <a:r>
              <a:rPr kumimoji="0" lang="en-US" altLang="en-US" sz="1600" b="0" i="0" u="none" strike="noStrike" cap="none" normalizeH="0" baseline="0" dirty="0">
                <a:ln>
                  <a:noFill/>
                </a:ln>
                <a:solidFill>
                  <a:schemeClr val="tx1"/>
                </a:solidFill>
                <a:effectLst/>
                <a:latin typeface="var(--font-berkeley-mono)"/>
              </a:rPr>
              <a:t> = 12</a:t>
            </a:r>
            <a:r>
              <a:rPr kumimoji="0" lang="en-US" altLang="en-US" sz="1100" b="0" i="0" u="none" strike="noStrike" cap="none" normalizeH="0" baseline="0" dirty="0">
                <a:ln>
                  <a:noFill/>
                </a:ln>
                <a:solidFill>
                  <a:schemeClr val="tx1"/>
                </a:solidFill>
                <a:effectLst/>
                <a:latin typeface="__fkGroteskNeue_598ab8"/>
              </a:rPr>
              <a:t> (Nominal voltage of the battery in volts).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var(--font-berkeley-mono)"/>
              </a:rPr>
              <a:t>maxCurrent</a:t>
            </a:r>
            <a:r>
              <a:rPr kumimoji="0" lang="en-US" altLang="en-US" sz="1600" b="0" i="0" u="none" strike="noStrike" cap="none" normalizeH="0" baseline="0" dirty="0">
                <a:ln>
                  <a:noFill/>
                </a:ln>
                <a:solidFill>
                  <a:schemeClr val="tx1"/>
                </a:solidFill>
                <a:effectLst/>
                <a:latin typeface="var(--font-berkeley-mono)"/>
              </a:rPr>
              <a:t> = 100</a:t>
            </a:r>
            <a:r>
              <a:rPr kumimoji="0" lang="en-US" altLang="en-US" sz="1100" b="0" i="0" u="none" strike="noStrike" cap="none" normalizeH="0" baseline="0" dirty="0">
                <a:ln>
                  <a:noFill/>
                </a:ln>
                <a:solidFill>
                  <a:schemeClr val="tx1"/>
                </a:solidFill>
                <a:effectLst/>
                <a:latin typeface="__fkGroteskNeue_598ab8"/>
              </a:rPr>
              <a:t> (Maximum current rating in amperes).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var(--font-berkeley-mono)"/>
              </a:rPr>
              <a:t>fullChargeCapacity</a:t>
            </a:r>
            <a:r>
              <a:rPr kumimoji="0" lang="en-US" altLang="en-US" sz="1600" b="0" i="0" u="none" strike="noStrike" cap="none" normalizeH="0" baseline="0" dirty="0">
                <a:ln>
                  <a:noFill/>
                </a:ln>
                <a:solidFill>
                  <a:schemeClr val="tx1"/>
                </a:solidFill>
                <a:effectLst/>
                <a:latin typeface="var(--font-berkeley-mono)"/>
              </a:rPr>
              <a:t> = 100</a:t>
            </a:r>
            <a:r>
              <a:rPr kumimoji="0" lang="en-US" altLang="en-US" sz="1100" b="0" i="0" u="none" strike="noStrike" cap="none" normalizeH="0" baseline="0" dirty="0">
                <a:ln>
                  <a:noFill/>
                </a:ln>
                <a:solidFill>
                  <a:schemeClr val="tx1"/>
                </a:solidFill>
                <a:effectLst/>
                <a:latin typeface="__fkGroteskNeue_598ab8"/>
              </a:rPr>
              <a:t> (Full charge capacity in Ah).</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var(--font-berkeley-mono)"/>
              </a:rPr>
              <a:t>minVoltageCutoff</a:t>
            </a:r>
            <a:r>
              <a:rPr kumimoji="0" lang="en-US" altLang="en-US" sz="1600" b="0" i="0" u="none" strike="noStrike" cap="none" normalizeH="0" baseline="0" dirty="0">
                <a:ln>
                  <a:noFill/>
                </a:ln>
                <a:solidFill>
                  <a:schemeClr val="tx1"/>
                </a:solidFill>
                <a:effectLst/>
                <a:latin typeface="var(--font-berkeley-mono)"/>
              </a:rPr>
              <a:t> = 10.5</a:t>
            </a:r>
            <a:r>
              <a:rPr kumimoji="0" lang="en-US" altLang="en-US" sz="1100" b="0" i="0" u="none" strike="noStrike" cap="none" normalizeH="0" baseline="0" dirty="0">
                <a:ln>
                  <a:noFill/>
                </a:ln>
                <a:solidFill>
                  <a:schemeClr val="tx1"/>
                </a:solidFill>
                <a:effectLst/>
                <a:latin typeface="__fkGroteskNeue_598ab8"/>
              </a:rPr>
              <a:t> (Minimum voltage cutoff for the battery in volts).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var(--font-berkeley-mono)"/>
              </a:rPr>
              <a:t>maxCycles</a:t>
            </a:r>
            <a:r>
              <a:rPr kumimoji="0" lang="en-US" altLang="en-US" sz="1600" b="0" i="0" u="none" strike="noStrike" cap="none" normalizeH="0" baseline="0" dirty="0">
                <a:ln>
                  <a:noFill/>
                </a:ln>
                <a:solidFill>
                  <a:schemeClr val="tx1"/>
                </a:solidFill>
                <a:effectLst/>
                <a:latin typeface="var(--font-berkeley-mono)"/>
              </a:rPr>
              <a:t> = 500</a:t>
            </a:r>
            <a:r>
              <a:rPr kumimoji="0" lang="en-US" altLang="en-US" sz="1100" b="0" i="0" u="none" strike="noStrike" cap="none" normalizeH="0" baseline="0" dirty="0">
                <a:ln>
                  <a:noFill/>
                </a:ln>
                <a:solidFill>
                  <a:schemeClr val="tx1"/>
                </a:solidFill>
                <a:effectLst/>
                <a:latin typeface="__fkGroteskNeue_598ab8"/>
              </a:rPr>
              <a:t> (Estimated maximum cycles for the battery life).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100" b="0" i="0" u="none" strike="noStrike" cap="none" normalizeH="0" baseline="0" dirty="0">
                <a:ln>
                  <a:noFill/>
                </a:ln>
                <a:solidFill>
                  <a:schemeClr val="tx1"/>
                </a:solidFill>
                <a:effectLst/>
                <a:latin typeface="__fkGroteskNeue_598ab8"/>
              </a:rPr>
              <a:t>Voltage Level Calculation: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__fkGroteskNeue_598ab8"/>
              </a:rPr>
              <a:t>Assign </a:t>
            </a:r>
            <a:r>
              <a:rPr kumimoji="0" lang="en-US" altLang="en-US" sz="1600" b="0" i="0" u="none" strike="noStrike" cap="none" normalizeH="0" baseline="0" dirty="0" err="1">
                <a:ln>
                  <a:noFill/>
                </a:ln>
                <a:solidFill>
                  <a:schemeClr val="tx1"/>
                </a:solidFill>
                <a:effectLst/>
                <a:latin typeface="var(--font-berkeley-mono)"/>
              </a:rPr>
              <a:t>voltageLevel</a:t>
            </a:r>
            <a:r>
              <a:rPr kumimoji="0" lang="en-US" altLang="en-US" sz="1600" b="0" i="0" u="none" strike="noStrike" cap="none" normalizeH="0" baseline="0" dirty="0">
                <a:ln>
                  <a:noFill/>
                </a:ln>
                <a:solidFill>
                  <a:schemeClr val="tx1"/>
                </a:solidFill>
                <a:effectLst/>
                <a:latin typeface="var(--font-berkeley-mono)"/>
              </a:rPr>
              <a:t> = voltage</a:t>
            </a:r>
            <a:r>
              <a:rPr kumimoji="0" lang="en-US" altLang="en-US" sz="1100" b="0" i="0" u="none" strike="noStrike" cap="none" normalizeH="0" baseline="0" dirty="0">
                <a:ln>
                  <a:noFill/>
                </a:ln>
                <a:solidFill>
                  <a:schemeClr val="tx1"/>
                </a:solidFill>
                <a:effectLst/>
                <a:latin typeface="__fkGroteskNeue_598ab8"/>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100" b="0" i="0" u="none" strike="noStrike" cap="none" normalizeH="0" baseline="0" dirty="0">
                <a:ln>
                  <a:noFill/>
                </a:ln>
                <a:solidFill>
                  <a:schemeClr val="tx1"/>
                </a:solidFill>
                <a:effectLst/>
                <a:latin typeface="__fkGroteskNeue_598ab8"/>
              </a:rPr>
              <a:t>Current Level Calculation: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__fkGroteskNeue_598ab8"/>
              </a:rPr>
              <a:t>Assign </a:t>
            </a:r>
            <a:r>
              <a:rPr kumimoji="0" lang="en-US" altLang="en-US" sz="1600" b="0" i="0" u="none" strike="noStrike" cap="none" normalizeH="0" baseline="0" dirty="0" err="1">
                <a:ln>
                  <a:noFill/>
                </a:ln>
                <a:solidFill>
                  <a:schemeClr val="tx1"/>
                </a:solidFill>
                <a:effectLst/>
                <a:latin typeface="var(--font-berkeley-mono)"/>
              </a:rPr>
              <a:t>currentLevel</a:t>
            </a:r>
            <a:r>
              <a:rPr kumimoji="0" lang="en-US" altLang="en-US" sz="1600" b="0" i="0" u="none" strike="noStrike" cap="none" normalizeH="0" baseline="0" dirty="0">
                <a:ln>
                  <a:noFill/>
                </a:ln>
                <a:solidFill>
                  <a:schemeClr val="tx1"/>
                </a:solidFill>
                <a:effectLst/>
                <a:latin typeface="var(--font-berkeley-mono)"/>
              </a:rPr>
              <a:t> = current</a:t>
            </a:r>
            <a:r>
              <a:rPr kumimoji="0" lang="en-US" altLang="en-US" sz="1100" b="0" i="0" u="none" strike="noStrike" cap="none" normalizeH="0" baseline="0" dirty="0">
                <a:ln>
                  <a:noFill/>
                </a:ln>
                <a:solidFill>
                  <a:schemeClr val="tx1"/>
                </a:solidFill>
                <a:effectLst/>
                <a:latin typeface="__fkGroteskNeue_598ab8"/>
              </a:rPr>
              <a:t>.</a:t>
            </a:r>
            <a:endParaRPr lang="en-US" altLang="en-US" sz="1100" dirty="0">
              <a:latin typeface="__fkGroteskNeue_598ab8"/>
            </a:endParaRPr>
          </a:p>
          <a:p>
            <a:pPr marL="457200" marR="0" lvl="1" indent="0" algn="l" defTabSz="914400" rtl="0" eaLnBrk="0" fontAlgn="base" latinLnBrk="0" hangingPunct="0">
              <a:lnSpc>
                <a:spcPct val="100000"/>
              </a:lnSpc>
              <a:spcBef>
                <a:spcPct val="0"/>
              </a:spcBef>
              <a:spcAft>
                <a:spcPct val="0"/>
              </a:spcAft>
              <a:buClrTx/>
              <a:buSzTx/>
              <a:tabLst/>
            </a:pPr>
            <a:r>
              <a:rPr lang="en-US" altLang="en-US" b="1" dirty="0">
                <a:solidFill>
                  <a:srgbClr val="FF0000"/>
                </a:solidFill>
                <a:latin typeface="__fkGroteskNeue_598ab8"/>
              </a:rPr>
              <a:t>Calculation </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rgbClr val="FF0000"/>
              </a:solidFill>
              <a:effectLst/>
            </a:endParaRP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100" b="1" i="0" u="none" strike="noStrike" cap="none" normalizeH="0" baseline="0" dirty="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7" name="Picture 16">
            <a:extLst>
              <a:ext uri="{FF2B5EF4-FFF2-40B4-BE49-F238E27FC236}">
                <a16:creationId xmlns:a16="http://schemas.microsoft.com/office/drawing/2014/main" id="{9A09B0B3-2B99-1718-B517-942CD4BC6FC0}"/>
              </a:ext>
            </a:extLst>
          </p:cNvPr>
          <p:cNvPicPr>
            <a:picLocks noChangeAspect="1"/>
          </p:cNvPicPr>
          <p:nvPr/>
        </p:nvPicPr>
        <p:blipFill>
          <a:blip r:embed="rId2"/>
          <a:srcRect b="1699"/>
          <a:stretch/>
        </p:blipFill>
        <p:spPr>
          <a:xfrm>
            <a:off x="7531273" y="136525"/>
            <a:ext cx="4420421" cy="3736703"/>
          </a:xfrm>
          <a:prstGeom prst="rect">
            <a:avLst/>
          </a:prstGeom>
        </p:spPr>
      </p:pic>
      <p:pic>
        <p:nvPicPr>
          <p:cNvPr id="19" name="Picture 18">
            <a:extLst>
              <a:ext uri="{FF2B5EF4-FFF2-40B4-BE49-F238E27FC236}">
                <a16:creationId xmlns:a16="http://schemas.microsoft.com/office/drawing/2014/main" id="{409A30E1-EE58-C6E8-0E01-5ADBC4A9BB38}"/>
              </a:ext>
            </a:extLst>
          </p:cNvPr>
          <p:cNvPicPr>
            <a:picLocks noChangeAspect="1"/>
          </p:cNvPicPr>
          <p:nvPr/>
        </p:nvPicPr>
        <p:blipFill>
          <a:blip r:embed="rId3"/>
          <a:stretch>
            <a:fillRect/>
          </a:stretch>
        </p:blipFill>
        <p:spPr>
          <a:xfrm>
            <a:off x="7531273" y="3873228"/>
            <a:ext cx="4424079" cy="2783744"/>
          </a:xfrm>
          <a:prstGeom prst="rect">
            <a:avLst/>
          </a:prstGeom>
        </p:spPr>
      </p:pic>
      <p:sp>
        <p:nvSpPr>
          <p:cNvPr id="21" name="Rectangle 8">
            <a:extLst>
              <a:ext uri="{FF2B5EF4-FFF2-40B4-BE49-F238E27FC236}">
                <a16:creationId xmlns:a16="http://schemas.microsoft.com/office/drawing/2014/main" id="{06E39E11-9073-4829-B184-63655DF0D999}"/>
              </a:ext>
            </a:extLst>
          </p:cNvPr>
          <p:cNvSpPr>
            <a:spLocks noChangeArrowheads="1"/>
          </p:cNvSpPr>
          <p:nvPr/>
        </p:nvSpPr>
        <p:spPr bwMode="auto">
          <a:xfrm>
            <a:off x="118188" y="4449775"/>
            <a:ext cx="7839860" cy="22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19025" rIns="0" bIns="11902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__fkGroteskNeue_598ab8"/>
              </a:rPr>
              <a:t>Output Parameters: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__fkGroteskNeue_598ab8"/>
              </a:rPr>
              <a:t>Return all calculated parameters:</a:t>
            </a:r>
          </a:p>
          <a:p>
            <a:pPr marL="914400" marR="0" lvl="2"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chemeClr val="tx1"/>
                </a:solidFill>
                <a:effectLst/>
                <a:latin typeface="var(--font-berkeley-mono)"/>
              </a:rPr>
              <a:t>voltageLevel</a:t>
            </a:r>
            <a:r>
              <a:rPr kumimoji="0" lang="en-US" altLang="en-US" b="0" i="0" u="none" strike="noStrike" cap="none" normalizeH="0" baseline="0" dirty="0">
                <a:ln>
                  <a:noFill/>
                </a:ln>
                <a:solidFill>
                  <a:schemeClr val="tx1"/>
                </a:solidFill>
                <a:effectLst/>
                <a:latin typeface="var(--font-berkeley-mono)"/>
              </a:rPr>
              <a:t>	</a:t>
            </a:r>
            <a:r>
              <a:rPr kumimoji="0" lang="en-US" altLang="en-US" b="0" i="0" u="none" strike="noStrike" cap="none" normalizeH="0" baseline="0" dirty="0" err="1">
                <a:ln>
                  <a:noFill/>
                </a:ln>
                <a:solidFill>
                  <a:schemeClr val="tx1"/>
                </a:solidFill>
                <a:effectLst/>
                <a:latin typeface="var(--font-berkeley-mono)"/>
              </a:rPr>
              <a:t>currentLevel</a:t>
            </a:r>
            <a:endParaRPr kumimoji="0" lang="en-US" altLang="en-US" b="0" i="0" u="none" strike="noStrike" cap="none" normalizeH="0" baseline="0" dirty="0">
              <a:ln>
                <a:noFill/>
              </a:ln>
              <a:solidFill>
                <a:schemeClr val="tx1"/>
              </a:solidFill>
              <a:effectLst/>
              <a:latin typeface="var(--font-berkeley-mono)"/>
            </a:endParaRPr>
          </a:p>
          <a:p>
            <a:pPr marL="914400" marR="0" lvl="2"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var(--font-berkeley-mono)"/>
              </a:rPr>
              <a:t>SOC	SOH	DOD</a:t>
            </a:r>
            <a:r>
              <a:rPr lang="en-US" altLang="en-US" sz="1200" dirty="0">
                <a:latin typeface="__fkGroteskNeue_598ab8"/>
              </a:rPr>
              <a:t>	</a:t>
            </a:r>
            <a:r>
              <a:rPr kumimoji="0" lang="en-US" altLang="en-US" b="0" i="0" u="none" strike="noStrike" cap="none" normalizeH="0" baseline="0" dirty="0">
                <a:ln>
                  <a:noFill/>
                </a:ln>
                <a:solidFill>
                  <a:schemeClr val="tx1"/>
                </a:solidFill>
                <a:effectLst/>
                <a:latin typeface="var(--font-berkeley-mono)"/>
              </a:rPr>
              <a:t>ROH</a:t>
            </a:r>
          </a:p>
          <a:p>
            <a:pPr marL="914400" marR="0" lvl="2"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chemeClr val="tx1"/>
                </a:solidFill>
                <a:effectLst/>
                <a:latin typeface="var(--font-berkeley-mono)"/>
              </a:rPr>
              <a:t>batteryLifeCycle</a:t>
            </a:r>
            <a:r>
              <a:rPr kumimoji="0" lang="en-US" altLang="en-US" b="0" i="0" u="none" strike="noStrike" cap="none" normalizeH="0" baseline="0" dirty="0">
                <a:ln>
                  <a:noFill/>
                </a:ln>
                <a:solidFill>
                  <a:schemeClr val="tx1"/>
                </a:solidFill>
                <a:effectLst/>
                <a:latin typeface="var(--font-berkeley-mono)"/>
              </a:rPr>
              <a:t>	</a:t>
            </a:r>
            <a:r>
              <a:rPr kumimoji="0" lang="en-US" altLang="en-US" b="0" i="0" u="none" strike="noStrike" cap="none" normalizeH="0" baseline="0" dirty="0" err="1">
                <a:ln>
                  <a:noFill/>
                </a:ln>
                <a:solidFill>
                  <a:schemeClr val="tx1"/>
                </a:solidFill>
                <a:effectLst/>
                <a:latin typeface="var(--font-berkeley-mono)"/>
              </a:rPr>
              <a:t>insulationResistance</a:t>
            </a:r>
            <a:endParaRPr kumimoji="0" lang="en-US" altLang="en-US" sz="1200" b="0" i="0" u="none" strike="noStrike" cap="none" normalizeH="0" baseline="0" dirty="0">
              <a:ln>
                <a:noFill/>
              </a:ln>
              <a:solidFill>
                <a:schemeClr val="tx1"/>
              </a:solidFill>
              <a:effectLst/>
              <a:latin typeface="__fkGroteskNeue_598ab8"/>
            </a:endParaRPr>
          </a:p>
          <a:p>
            <a:pPr marL="914400" marR="0" lvl="2"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chemeClr val="tx1"/>
                </a:solidFill>
                <a:effectLst/>
                <a:latin typeface="var(--font-berkeley-mono)"/>
              </a:rPr>
              <a:t>residualCurrentMonitoring</a:t>
            </a:r>
            <a:r>
              <a:rPr kumimoji="0" lang="en-US" altLang="en-US" b="0" i="0" u="none" strike="noStrike" cap="none" normalizeH="0" baseline="0" dirty="0">
                <a:ln>
                  <a:noFill/>
                </a:ln>
                <a:solidFill>
                  <a:schemeClr val="tx1"/>
                </a:solidFill>
                <a:effectLst/>
                <a:latin typeface="var(--font-berkeley-mono)"/>
              </a:rPr>
              <a:t>	</a:t>
            </a:r>
            <a:r>
              <a:rPr kumimoji="0" lang="en-US" altLang="en-US" b="0" i="0" u="none" strike="noStrike" cap="none" normalizeH="0" baseline="0" dirty="0" err="1">
                <a:ln>
                  <a:noFill/>
                </a:ln>
                <a:solidFill>
                  <a:schemeClr val="tx1"/>
                </a:solidFill>
                <a:effectLst/>
                <a:latin typeface="var(--font-berkeley-mono)"/>
              </a:rPr>
              <a:t>temperatureMonitoring</a:t>
            </a:r>
            <a:endParaRPr kumimoji="0" lang="en-US" altLang="en-US" b="0" i="0" u="none" strike="noStrike" cap="none" normalizeH="0" baseline="0" dirty="0">
              <a:ln>
                <a:noFill/>
              </a:ln>
              <a:solidFill>
                <a:schemeClr val="tx1"/>
              </a:solidFill>
              <a:effectLst/>
              <a:latin typeface="var(--font-berkeley-mono)"/>
            </a:endParaRPr>
          </a:p>
          <a:p>
            <a:pPr marL="914400" marR="0" lvl="2"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chemeClr val="tx1"/>
                </a:solidFill>
                <a:effectLst/>
                <a:latin typeface="var(--font-berkeley-mono)"/>
              </a:rPr>
              <a:t>chargingTime</a:t>
            </a:r>
            <a:endParaRPr kumimoji="0" lang="en-US" altLang="en-US" sz="1200" b="0" i="0" u="none" strike="noStrike" cap="none" normalizeH="0" baseline="0" dirty="0">
              <a:ln>
                <a:noFill/>
              </a:ln>
              <a:solidFill>
                <a:schemeClr val="tx1"/>
              </a:solidFill>
              <a:effectLst/>
              <a:latin typeface="__fkGroteskNeue_598ab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23" name="Connector: Elbow 22">
            <a:extLst>
              <a:ext uri="{FF2B5EF4-FFF2-40B4-BE49-F238E27FC236}">
                <a16:creationId xmlns:a16="http://schemas.microsoft.com/office/drawing/2014/main" id="{55D1FEA0-634C-631C-C023-F0CA5EE79940}"/>
              </a:ext>
            </a:extLst>
          </p:cNvPr>
          <p:cNvCxnSpPr/>
          <p:nvPr/>
        </p:nvCxnSpPr>
        <p:spPr>
          <a:xfrm flipV="1">
            <a:off x="1894114" y="3739139"/>
            <a:ext cx="5486400" cy="710636"/>
          </a:xfrm>
          <a:prstGeom prst="bentConnector3">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5435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20D5A-0899-2C6A-E146-79066CE8061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28C6948C-5D47-A73B-2CD9-30FE16D1EDA4}"/>
              </a:ext>
            </a:extLst>
          </p:cNvPr>
          <p:cNvPicPr>
            <a:picLocks noChangeAspect="1"/>
          </p:cNvPicPr>
          <p:nvPr/>
        </p:nvPicPr>
        <p:blipFill>
          <a:blip r:embed="rId2"/>
          <a:stretch>
            <a:fillRect/>
          </a:stretch>
        </p:blipFill>
        <p:spPr>
          <a:xfrm>
            <a:off x="0" y="1001271"/>
            <a:ext cx="12192000" cy="4855458"/>
          </a:xfrm>
          <a:prstGeom prst="rect">
            <a:avLst/>
          </a:prstGeom>
        </p:spPr>
      </p:pic>
      <p:sp>
        <p:nvSpPr>
          <p:cNvPr id="10" name="TextBox 9">
            <a:extLst>
              <a:ext uri="{FF2B5EF4-FFF2-40B4-BE49-F238E27FC236}">
                <a16:creationId xmlns:a16="http://schemas.microsoft.com/office/drawing/2014/main" id="{B1D4BBEF-2B47-1841-34E5-489ABEF21554}"/>
              </a:ext>
            </a:extLst>
          </p:cNvPr>
          <p:cNvSpPr txBox="1"/>
          <p:nvPr/>
        </p:nvSpPr>
        <p:spPr>
          <a:xfrm>
            <a:off x="523664" y="1288539"/>
            <a:ext cx="830424" cy="369332"/>
          </a:xfrm>
          <a:prstGeom prst="rect">
            <a:avLst/>
          </a:prstGeom>
          <a:noFill/>
        </p:spPr>
        <p:txBody>
          <a:bodyPr wrap="square" rtlCol="0">
            <a:spAutoFit/>
          </a:bodyPr>
          <a:lstStyle/>
          <a:p>
            <a:pPr algn="ctr"/>
            <a:r>
              <a:rPr lang="en-US" b="1" dirty="0">
                <a:highlight>
                  <a:srgbClr val="FFFF00"/>
                </a:highlight>
              </a:rPr>
              <a:t>Solar</a:t>
            </a:r>
          </a:p>
        </p:txBody>
      </p:sp>
      <p:sp>
        <p:nvSpPr>
          <p:cNvPr id="11" name="TextBox 10">
            <a:extLst>
              <a:ext uri="{FF2B5EF4-FFF2-40B4-BE49-F238E27FC236}">
                <a16:creationId xmlns:a16="http://schemas.microsoft.com/office/drawing/2014/main" id="{F9D5967B-8D0A-EB09-EC35-6A6392DAADFB}"/>
              </a:ext>
            </a:extLst>
          </p:cNvPr>
          <p:cNvSpPr txBox="1"/>
          <p:nvPr/>
        </p:nvSpPr>
        <p:spPr>
          <a:xfrm>
            <a:off x="7081935" y="4980352"/>
            <a:ext cx="1235900" cy="646331"/>
          </a:xfrm>
          <a:prstGeom prst="rect">
            <a:avLst/>
          </a:prstGeom>
          <a:noFill/>
        </p:spPr>
        <p:txBody>
          <a:bodyPr wrap="square" rtlCol="0">
            <a:spAutoFit/>
          </a:bodyPr>
          <a:lstStyle/>
          <a:p>
            <a:pPr algn="ctr"/>
            <a:r>
              <a:rPr lang="en-IN" b="1" dirty="0">
                <a:highlight>
                  <a:srgbClr val="FFFF00"/>
                </a:highlight>
              </a:rPr>
              <a:t>Fast Charging</a:t>
            </a:r>
            <a:endParaRPr lang="en-US" b="1" dirty="0">
              <a:highlight>
                <a:srgbClr val="FFFF00"/>
              </a:highlight>
            </a:endParaRPr>
          </a:p>
        </p:txBody>
      </p:sp>
      <p:sp>
        <p:nvSpPr>
          <p:cNvPr id="12" name="TextBox 11">
            <a:extLst>
              <a:ext uri="{FF2B5EF4-FFF2-40B4-BE49-F238E27FC236}">
                <a16:creationId xmlns:a16="http://schemas.microsoft.com/office/drawing/2014/main" id="{643ACF1F-EB50-9D44-4CC0-2A831BB3082A}"/>
              </a:ext>
            </a:extLst>
          </p:cNvPr>
          <p:cNvSpPr txBox="1"/>
          <p:nvPr/>
        </p:nvSpPr>
        <p:spPr>
          <a:xfrm>
            <a:off x="4626023" y="4980352"/>
            <a:ext cx="830424" cy="369332"/>
          </a:xfrm>
          <a:prstGeom prst="rect">
            <a:avLst/>
          </a:prstGeom>
          <a:noFill/>
        </p:spPr>
        <p:txBody>
          <a:bodyPr wrap="square" rtlCol="0">
            <a:spAutoFit/>
          </a:bodyPr>
          <a:lstStyle/>
          <a:p>
            <a:pPr algn="ctr"/>
            <a:r>
              <a:rPr lang="en-IN" b="1" dirty="0">
                <a:highlight>
                  <a:srgbClr val="FFFF00"/>
                </a:highlight>
              </a:rPr>
              <a:t>ESS</a:t>
            </a:r>
            <a:endParaRPr lang="en-US" b="1" dirty="0">
              <a:highlight>
                <a:srgbClr val="FFFF00"/>
              </a:highlight>
            </a:endParaRPr>
          </a:p>
        </p:txBody>
      </p:sp>
      <p:sp>
        <p:nvSpPr>
          <p:cNvPr id="13" name="TextBox 12">
            <a:extLst>
              <a:ext uri="{FF2B5EF4-FFF2-40B4-BE49-F238E27FC236}">
                <a16:creationId xmlns:a16="http://schemas.microsoft.com/office/drawing/2014/main" id="{6B775894-4F26-E6CF-7BB1-95BD245EEC64}"/>
              </a:ext>
            </a:extLst>
          </p:cNvPr>
          <p:cNvSpPr txBox="1"/>
          <p:nvPr/>
        </p:nvSpPr>
        <p:spPr>
          <a:xfrm>
            <a:off x="4694448" y="1808422"/>
            <a:ext cx="830424" cy="369332"/>
          </a:xfrm>
          <a:prstGeom prst="rect">
            <a:avLst/>
          </a:prstGeom>
          <a:noFill/>
        </p:spPr>
        <p:txBody>
          <a:bodyPr wrap="square" rtlCol="0">
            <a:spAutoFit/>
          </a:bodyPr>
          <a:lstStyle/>
          <a:p>
            <a:pPr algn="ctr"/>
            <a:r>
              <a:rPr lang="en-IN" b="1" dirty="0">
                <a:highlight>
                  <a:srgbClr val="FFFF00"/>
                </a:highlight>
              </a:rPr>
              <a:t>PCC</a:t>
            </a:r>
            <a:endParaRPr lang="en-US" b="1" dirty="0">
              <a:highlight>
                <a:srgbClr val="FFFF00"/>
              </a:highlight>
            </a:endParaRPr>
          </a:p>
        </p:txBody>
      </p:sp>
      <p:sp>
        <p:nvSpPr>
          <p:cNvPr id="14" name="TextBox 13">
            <a:extLst>
              <a:ext uri="{FF2B5EF4-FFF2-40B4-BE49-F238E27FC236}">
                <a16:creationId xmlns:a16="http://schemas.microsoft.com/office/drawing/2014/main" id="{72C0B0DE-6BF7-EF95-8EDC-F611C78B66FE}"/>
              </a:ext>
            </a:extLst>
          </p:cNvPr>
          <p:cNvSpPr txBox="1"/>
          <p:nvPr/>
        </p:nvSpPr>
        <p:spPr>
          <a:xfrm>
            <a:off x="2262708" y="1368906"/>
            <a:ext cx="1335898" cy="369332"/>
          </a:xfrm>
          <a:prstGeom prst="rect">
            <a:avLst/>
          </a:prstGeom>
          <a:noFill/>
        </p:spPr>
        <p:txBody>
          <a:bodyPr wrap="square" rtlCol="0">
            <a:spAutoFit/>
          </a:bodyPr>
          <a:lstStyle/>
          <a:p>
            <a:pPr algn="ctr"/>
            <a:r>
              <a:rPr lang="en-US" b="1" dirty="0">
                <a:highlight>
                  <a:srgbClr val="FFFF00"/>
                </a:highlight>
              </a:rPr>
              <a:t>Converter</a:t>
            </a:r>
          </a:p>
        </p:txBody>
      </p:sp>
      <p:sp>
        <p:nvSpPr>
          <p:cNvPr id="15" name="TextBox 14">
            <a:extLst>
              <a:ext uri="{FF2B5EF4-FFF2-40B4-BE49-F238E27FC236}">
                <a16:creationId xmlns:a16="http://schemas.microsoft.com/office/drawing/2014/main" id="{ADFB749F-8EEE-B3EE-D440-DB5F8B7F9FDB}"/>
              </a:ext>
            </a:extLst>
          </p:cNvPr>
          <p:cNvSpPr txBox="1"/>
          <p:nvPr/>
        </p:nvSpPr>
        <p:spPr>
          <a:xfrm>
            <a:off x="-17512" y="5836589"/>
            <a:ext cx="2743200" cy="369332"/>
          </a:xfrm>
          <a:prstGeom prst="rect">
            <a:avLst/>
          </a:prstGeom>
          <a:noFill/>
        </p:spPr>
        <p:txBody>
          <a:bodyPr wrap="square" rtlCol="0">
            <a:spAutoFit/>
          </a:bodyPr>
          <a:lstStyle/>
          <a:p>
            <a:pPr algn="ctr"/>
            <a:r>
              <a:rPr lang="en-US" b="1" dirty="0">
                <a:highlight>
                  <a:srgbClr val="FFFF00"/>
                </a:highlight>
              </a:rPr>
              <a:t>Central Monitoring System</a:t>
            </a:r>
          </a:p>
        </p:txBody>
      </p:sp>
      <p:sp>
        <p:nvSpPr>
          <p:cNvPr id="16" name="TextBox 15">
            <a:extLst>
              <a:ext uri="{FF2B5EF4-FFF2-40B4-BE49-F238E27FC236}">
                <a16:creationId xmlns:a16="http://schemas.microsoft.com/office/drawing/2014/main" id="{7DF27FA2-95D4-B9B6-C671-08CB65892A40}"/>
              </a:ext>
            </a:extLst>
          </p:cNvPr>
          <p:cNvSpPr txBox="1"/>
          <p:nvPr/>
        </p:nvSpPr>
        <p:spPr>
          <a:xfrm>
            <a:off x="565652" y="2947407"/>
            <a:ext cx="830424" cy="369332"/>
          </a:xfrm>
          <a:prstGeom prst="rect">
            <a:avLst/>
          </a:prstGeom>
          <a:noFill/>
        </p:spPr>
        <p:txBody>
          <a:bodyPr wrap="square" rtlCol="0">
            <a:spAutoFit/>
          </a:bodyPr>
          <a:lstStyle/>
          <a:p>
            <a:pPr algn="ctr"/>
            <a:r>
              <a:rPr lang="en-IN" b="1" dirty="0">
                <a:highlight>
                  <a:srgbClr val="FFFF00"/>
                </a:highlight>
              </a:rPr>
              <a:t>G</a:t>
            </a:r>
            <a:r>
              <a:rPr lang="en-US" b="1" dirty="0">
                <a:highlight>
                  <a:srgbClr val="FFFF00"/>
                </a:highlight>
              </a:rPr>
              <a:t>rid</a:t>
            </a:r>
          </a:p>
        </p:txBody>
      </p:sp>
      <p:sp>
        <p:nvSpPr>
          <p:cNvPr id="17" name="TextBox 16">
            <a:extLst>
              <a:ext uri="{FF2B5EF4-FFF2-40B4-BE49-F238E27FC236}">
                <a16:creationId xmlns:a16="http://schemas.microsoft.com/office/drawing/2014/main" id="{F79863D0-EE67-F647-12DF-F401AB32B06E}"/>
              </a:ext>
            </a:extLst>
          </p:cNvPr>
          <p:cNvSpPr txBox="1"/>
          <p:nvPr/>
        </p:nvSpPr>
        <p:spPr>
          <a:xfrm>
            <a:off x="7457864" y="790034"/>
            <a:ext cx="2066325" cy="369332"/>
          </a:xfrm>
          <a:prstGeom prst="rect">
            <a:avLst/>
          </a:prstGeom>
          <a:noFill/>
        </p:spPr>
        <p:txBody>
          <a:bodyPr wrap="square" rtlCol="0">
            <a:spAutoFit/>
          </a:bodyPr>
          <a:lstStyle/>
          <a:p>
            <a:pPr algn="ctr"/>
            <a:r>
              <a:rPr lang="en-IN" b="1" dirty="0">
                <a:highlight>
                  <a:srgbClr val="FFFF00"/>
                </a:highlight>
              </a:rPr>
              <a:t>Swapping Station</a:t>
            </a:r>
            <a:endParaRPr lang="en-US" b="1" dirty="0">
              <a:highlight>
                <a:srgbClr val="FFFF00"/>
              </a:highlight>
            </a:endParaRPr>
          </a:p>
        </p:txBody>
      </p:sp>
      <p:sp>
        <p:nvSpPr>
          <p:cNvPr id="18" name="TextBox 17">
            <a:extLst>
              <a:ext uri="{FF2B5EF4-FFF2-40B4-BE49-F238E27FC236}">
                <a16:creationId xmlns:a16="http://schemas.microsoft.com/office/drawing/2014/main" id="{D56FF5DD-24BA-9957-7805-DD8FDE4801C0}"/>
              </a:ext>
            </a:extLst>
          </p:cNvPr>
          <p:cNvSpPr txBox="1"/>
          <p:nvPr/>
        </p:nvSpPr>
        <p:spPr>
          <a:xfrm>
            <a:off x="10931867" y="1808422"/>
            <a:ext cx="1344013" cy="646331"/>
          </a:xfrm>
          <a:prstGeom prst="rect">
            <a:avLst/>
          </a:prstGeom>
          <a:noFill/>
        </p:spPr>
        <p:txBody>
          <a:bodyPr wrap="square" rtlCol="0">
            <a:spAutoFit/>
          </a:bodyPr>
          <a:lstStyle/>
          <a:p>
            <a:pPr algn="ctr"/>
            <a:r>
              <a:rPr lang="en-IN" b="1" dirty="0">
                <a:highlight>
                  <a:srgbClr val="FFFF00"/>
                </a:highlight>
              </a:rPr>
              <a:t>Charging </a:t>
            </a:r>
          </a:p>
          <a:p>
            <a:pPr algn="ctr"/>
            <a:r>
              <a:rPr lang="en-IN" b="1" dirty="0">
                <a:highlight>
                  <a:srgbClr val="FFFF00"/>
                </a:highlight>
              </a:rPr>
              <a:t>Monitoring</a:t>
            </a:r>
            <a:endParaRPr lang="en-US" b="1" dirty="0">
              <a:highlight>
                <a:srgbClr val="FFFF00"/>
              </a:highlight>
            </a:endParaRPr>
          </a:p>
        </p:txBody>
      </p:sp>
      <p:sp>
        <p:nvSpPr>
          <p:cNvPr id="19" name="TextBox 18">
            <a:extLst>
              <a:ext uri="{FF2B5EF4-FFF2-40B4-BE49-F238E27FC236}">
                <a16:creationId xmlns:a16="http://schemas.microsoft.com/office/drawing/2014/main" id="{6451A49F-03ED-2D90-A470-B44ADF77B084}"/>
              </a:ext>
            </a:extLst>
          </p:cNvPr>
          <p:cNvSpPr txBox="1"/>
          <p:nvPr/>
        </p:nvSpPr>
        <p:spPr>
          <a:xfrm>
            <a:off x="9982200" y="2066091"/>
            <a:ext cx="1159701" cy="369332"/>
          </a:xfrm>
          <a:prstGeom prst="rect">
            <a:avLst/>
          </a:prstGeom>
          <a:noFill/>
        </p:spPr>
        <p:txBody>
          <a:bodyPr wrap="square" rtlCol="0">
            <a:spAutoFit/>
          </a:bodyPr>
          <a:lstStyle/>
          <a:p>
            <a:pPr algn="ctr"/>
            <a:r>
              <a:rPr lang="en-IN" b="1" dirty="0">
                <a:highlight>
                  <a:srgbClr val="FFFF00"/>
                </a:highlight>
              </a:rPr>
              <a:t>Vehicles</a:t>
            </a:r>
            <a:endParaRPr lang="en-US" b="1" dirty="0">
              <a:highlight>
                <a:srgbClr val="FFFF00"/>
              </a:highlight>
            </a:endParaRPr>
          </a:p>
        </p:txBody>
      </p:sp>
      <p:sp>
        <p:nvSpPr>
          <p:cNvPr id="20" name="TextBox 19">
            <a:extLst>
              <a:ext uri="{FF2B5EF4-FFF2-40B4-BE49-F238E27FC236}">
                <a16:creationId xmlns:a16="http://schemas.microsoft.com/office/drawing/2014/main" id="{FAA60A34-C1EF-40B3-8B81-4BE01595BE5D}"/>
              </a:ext>
            </a:extLst>
          </p:cNvPr>
          <p:cNvSpPr txBox="1"/>
          <p:nvPr/>
        </p:nvSpPr>
        <p:spPr>
          <a:xfrm>
            <a:off x="5804790" y="1808422"/>
            <a:ext cx="1344013" cy="369332"/>
          </a:xfrm>
          <a:prstGeom prst="rect">
            <a:avLst/>
          </a:prstGeom>
          <a:noFill/>
        </p:spPr>
        <p:txBody>
          <a:bodyPr wrap="square" rtlCol="0">
            <a:spAutoFit/>
          </a:bodyPr>
          <a:lstStyle/>
          <a:p>
            <a:pPr algn="ctr"/>
            <a:r>
              <a:rPr lang="en-IN" b="1" dirty="0">
                <a:highlight>
                  <a:srgbClr val="FFFF00"/>
                </a:highlight>
              </a:rPr>
              <a:t>Divider</a:t>
            </a:r>
            <a:endParaRPr lang="en-US" b="1" dirty="0">
              <a:highlight>
                <a:srgbClr val="FFFF00"/>
              </a:highlight>
            </a:endParaRPr>
          </a:p>
        </p:txBody>
      </p:sp>
      <p:sp>
        <p:nvSpPr>
          <p:cNvPr id="21" name="TextBox 20">
            <a:extLst>
              <a:ext uri="{FF2B5EF4-FFF2-40B4-BE49-F238E27FC236}">
                <a16:creationId xmlns:a16="http://schemas.microsoft.com/office/drawing/2014/main" id="{D9F52182-9AB7-0F67-FC74-B081C21205A4}"/>
              </a:ext>
            </a:extLst>
          </p:cNvPr>
          <p:cNvSpPr txBox="1"/>
          <p:nvPr/>
        </p:nvSpPr>
        <p:spPr>
          <a:xfrm>
            <a:off x="8538131" y="2639094"/>
            <a:ext cx="1371600" cy="369332"/>
          </a:xfrm>
          <a:prstGeom prst="rect">
            <a:avLst/>
          </a:prstGeom>
          <a:noFill/>
        </p:spPr>
        <p:txBody>
          <a:bodyPr wrap="square" rtlCol="0">
            <a:spAutoFit/>
          </a:bodyPr>
          <a:lstStyle/>
          <a:p>
            <a:pPr algn="ctr"/>
            <a:r>
              <a:rPr lang="en-IN" b="1" dirty="0">
                <a:highlight>
                  <a:srgbClr val="FFFF00"/>
                </a:highlight>
              </a:rPr>
              <a:t>Converter</a:t>
            </a:r>
            <a:endParaRPr lang="en-US" b="1" dirty="0">
              <a:highlight>
                <a:srgbClr val="FFFF00"/>
              </a:highlight>
            </a:endParaRPr>
          </a:p>
        </p:txBody>
      </p:sp>
    </p:spTree>
    <p:extLst>
      <p:ext uri="{BB962C8B-B14F-4D97-AF65-F5344CB8AC3E}">
        <p14:creationId xmlns:p14="http://schemas.microsoft.com/office/powerpoint/2010/main" val="2391814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82848-7CC2-FBBF-851C-68A17CAA0AD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8AA0D8A-620A-14FB-E3B9-A09DCFA91419}"/>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E09564AB-BB0A-247D-FAEC-78794CC1C8B2}"/>
              </a:ext>
            </a:extLst>
          </p:cNvPr>
          <p:cNvSpPr>
            <a:spLocks noGrp="1"/>
          </p:cNvSpPr>
          <p:nvPr>
            <p:ph type="ftr" sz="quarter" idx="11"/>
          </p:nvPr>
        </p:nvSpPr>
        <p:spPr/>
        <p:txBody>
          <a:bodyPr/>
          <a:lstStyle/>
          <a:p>
            <a:r>
              <a:rPr lang="en-US" dirty="0"/>
              <a:t>Jagadeesh_AP2312210002</a:t>
            </a:r>
            <a:endParaRPr lang="en-IN" dirty="0"/>
          </a:p>
        </p:txBody>
      </p:sp>
      <p:sp>
        <p:nvSpPr>
          <p:cNvPr id="6" name="Slide Number Placeholder 5">
            <a:extLst>
              <a:ext uri="{FF2B5EF4-FFF2-40B4-BE49-F238E27FC236}">
                <a16:creationId xmlns:a16="http://schemas.microsoft.com/office/drawing/2014/main" id="{6EA131B8-329D-89CB-8766-34FD921B0954}"/>
              </a:ext>
            </a:extLst>
          </p:cNvPr>
          <p:cNvSpPr>
            <a:spLocks noGrp="1"/>
          </p:cNvSpPr>
          <p:nvPr>
            <p:ph type="sldNum" sz="quarter" idx="12"/>
          </p:nvPr>
        </p:nvSpPr>
        <p:spPr/>
        <p:txBody>
          <a:bodyPr/>
          <a:lstStyle/>
          <a:p>
            <a:fld id="{15FCCAAF-6324-40D0-99C1-825B83CC9B2F}" type="slidenum">
              <a:rPr lang="en-IN" smtClean="0"/>
              <a:t>17</a:t>
            </a:fld>
            <a:endParaRPr lang="en-IN"/>
          </a:p>
        </p:txBody>
      </p:sp>
      <p:pic>
        <p:nvPicPr>
          <p:cNvPr id="10" name="Picture 9">
            <a:extLst>
              <a:ext uri="{FF2B5EF4-FFF2-40B4-BE49-F238E27FC236}">
                <a16:creationId xmlns:a16="http://schemas.microsoft.com/office/drawing/2014/main" id="{70AAE2EF-C1C8-9718-87C2-894560BFE029}"/>
              </a:ext>
            </a:extLst>
          </p:cNvPr>
          <p:cNvPicPr>
            <a:picLocks noChangeAspect="1"/>
          </p:cNvPicPr>
          <p:nvPr/>
        </p:nvPicPr>
        <p:blipFill>
          <a:blip r:embed="rId2"/>
          <a:stretch>
            <a:fillRect/>
          </a:stretch>
        </p:blipFill>
        <p:spPr>
          <a:xfrm>
            <a:off x="-1" y="559829"/>
            <a:ext cx="12036903" cy="4313362"/>
          </a:xfrm>
          <a:prstGeom prst="rect">
            <a:avLst/>
          </a:prstGeom>
        </p:spPr>
      </p:pic>
      <p:pic>
        <p:nvPicPr>
          <p:cNvPr id="33" name="Picture 32" descr="A diagram of a power plant&#10;&#10;Description automatically generated">
            <a:extLst>
              <a:ext uri="{FF2B5EF4-FFF2-40B4-BE49-F238E27FC236}">
                <a16:creationId xmlns:a16="http://schemas.microsoft.com/office/drawing/2014/main" id="{4633E18B-06BE-3AA2-1DCE-05A20B93E1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3384" y="538149"/>
            <a:ext cx="2492558" cy="1748512"/>
          </a:xfrm>
          <a:prstGeom prst="rect">
            <a:avLst/>
          </a:prstGeom>
        </p:spPr>
      </p:pic>
      <p:sp>
        <p:nvSpPr>
          <p:cNvPr id="12" name="TextBox 11">
            <a:extLst>
              <a:ext uri="{FF2B5EF4-FFF2-40B4-BE49-F238E27FC236}">
                <a16:creationId xmlns:a16="http://schemas.microsoft.com/office/drawing/2014/main" id="{4CD7B15D-BEB6-1B97-16D6-A87333274252}"/>
              </a:ext>
            </a:extLst>
          </p:cNvPr>
          <p:cNvSpPr txBox="1"/>
          <p:nvPr/>
        </p:nvSpPr>
        <p:spPr>
          <a:xfrm>
            <a:off x="87498" y="0"/>
            <a:ext cx="12126685" cy="461665"/>
          </a:xfrm>
          <a:prstGeom prst="rect">
            <a:avLst/>
          </a:prstGeom>
          <a:noFill/>
        </p:spPr>
        <p:txBody>
          <a:bodyPr wrap="square" rtlCol="0">
            <a:spAutoFit/>
          </a:bodyPr>
          <a:lstStyle/>
          <a:p>
            <a:r>
              <a:rPr lang="en-IN" sz="2400" b="1" dirty="0">
                <a:solidFill>
                  <a:srgbClr val="002060"/>
                </a:solidFill>
              </a:rPr>
              <a:t>Integrated PCC – Point of common coupling – Fully Automated &amp; Logically connected</a:t>
            </a:r>
            <a:endParaRPr lang="en-US" sz="2400" b="1" dirty="0">
              <a:solidFill>
                <a:srgbClr val="002060"/>
              </a:solidFill>
            </a:endParaRPr>
          </a:p>
        </p:txBody>
      </p:sp>
      <p:sp>
        <p:nvSpPr>
          <p:cNvPr id="14" name="TextBox 13">
            <a:extLst>
              <a:ext uri="{FF2B5EF4-FFF2-40B4-BE49-F238E27FC236}">
                <a16:creationId xmlns:a16="http://schemas.microsoft.com/office/drawing/2014/main" id="{C55592B9-6E9E-8802-44B8-3947D485B909}"/>
              </a:ext>
            </a:extLst>
          </p:cNvPr>
          <p:cNvSpPr txBox="1"/>
          <p:nvPr/>
        </p:nvSpPr>
        <p:spPr>
          <a:xfrm>
            <a:off x="9071409" y="4971355"/>
            <a:ext cx="2616507" cy="1384995"/>
          </a:xfrm>
          <a:prstGeom prst="rect">
            <a:avLst/>
          </a:prstGeom>
          <a:noFill/>
        </p:spPr>
        <p:txBody>
          <a:bodyPr wrap="square" rtlCol="0">
            <a:spAutoFit/>
          </a:bodyPr>
          <a:lstStyle/>
          <a:p>
            <a:r>
              <a:rPr lang="en-IN" sz="1400" b="1" kern="100" dirty="0">
                <a:solidFill>
                  <a:srgbClr val="002060"/>
                </a:solidFill>
                <a:latin typeface="Aptos" panose="020B0004020202020204" pitchFamily="34" charset="0"/>
                <a:cs typeface="Times New Roman" panose="02020603050405020304" pitchFamily="18" charset="0"/>
              </a:rPr>
              <a:t>Output of PCC </a:t>
            </a:r>
          </a:p>
          <a:p>
            <a:endParaRPr lang="en-IN" sz="1400" b="1" kern="100" dirty="0">
              <a:solidFill>
                <a:srgbClr val="002060"/>
              </a:solidFill>
              <a:latin typeface="Aptos" panose="020B0004020202020204" pitchFamily="34" charset="0"/>
              <a:cs typeface="Times New Roman" panose="02020603050405020304" pitchFamily="18" charset="0"/>
            </a:endParaRPr>
          </a:p>
          <a:p>
            <a:r>
              <a:rPr lang="en-IN" sz="1400" b="1" kern="100" dirty="0">
                <a:solidFill>
                  <a:srgbClr val="002060"/>
                </a:solidFill>
                <a:latin typeface="Aptos" panose="020B0004020202020204" pitchFamily="34" charset="0"/>
                <a:cs typeface="Times New Roman" panose="02020603050405020304" pitchFamily="18" charset="0"/>
              </a:rPr>
              <a:t>Voltage	      430 V</a:t>
            </a:r>
          </a:p>
          <a:p>
            <a:r>
              <a:rPr lang="en-IN" sz="1400" b="1" kern="100" dirty="0">
                <a:solidFill>
                  <a:srgbClr val="002060"/>
                </a:solidFill>
                <a:latin typeface="Aptos" panose="020B0004020202020204" pitchFamily="34" charset="0"/>
                <a:cs typeface="Times New Roman" panose="02020603050405020304" pitchFamily="18" charset="0"/>
              </a:rPr>
              <a:t>Current	      80   A</a:t>
            </a:r>
          </a:p>
          <a:p>
            <a:r>
              <a:rPr lang="en-IN" sz="1400" b="1" kern="100" dirty="0">
                <a:solidFill>
                  <a:srgbClr val="002060"/>
                </a:solidFill>
                <a:latin typeface="Aptos" panose="020B0004020202020204" pitchFamily="34" charset="0"/>
                <a:cs typeface="Times New Roman" panose="02020603050405020304" pitchFamily="18" charset="0"/>
              </a:rPr>
              <a:t>Power KW/h    75  KW</a:t>
            </a:r>
          </a:p>
          <a:p>
            <a:r>
              <a:rPr lang="en-IN" sz="1400" b="1" kern="100" dirty="0">
                <a:solidFill>
                  <a:srgbClr val="002060"/>
                </a:solidFill>
                <a:latin typeface="Aptos" panose="020B0004020202020204" pitchFamily="34" charset="0"/>
                <a:cs typeface="Times New Roman" panose="02020603050405020304" pitchFamily="18" charset="0"/>
              </a:rPr>
              <a:t>Power / Day     1800 KW</a:t>
            </a:r>
          </a:p>
        </p:txBody>
      </p:sp>
      <p:sp>
        <p:nvSpPr>
          <p:cNvPr id="16" name="TextBox 15">
            <a:extLst>
              <a:ext uri="{FF2B5EF4-FFF2-40B4-BE49-F238E27FC236}">
                <a16:creationId xmlns:a16="http://schemas.microsoft.com/office/drawing/2014/main" id="{74EE3EBB-DC33-EFEE-6771-F7AB042B5FC5}"/>
              </a:ext>
            </a:extLst>
          </p:cNvPr>
          <p:cNvSpPr txBox="1"/>
          <p:nvPr/>
        </p:nvSpPr>
        <p:spPr>
          <a:xfrm>
            <a:off x="155098" y="4822680"/>
            <a:ext cx="8821754" cy="1569660"/>
          </a:xfrm>
          <a:prstGeom prst="rect">
            <a:avLst/>
          </a:prstGeom>
          <a:solidFill>
            <a:schemeClr val="accent6">
              <a:lumMod val="20000"/>
              <a:lumOff val="80000"/>
            </a:schemeClr>
          </a:solidFill>
        </p:spPr>
        <p:txBody>
          <a:bodyPr wrap="square" rtlCol="0">
            <a:spAutoFit/>
          </a:bodyPr>
          <a:lstStyle/>
          <a:p>
            <a:r>
              <a:rPr lang="en-US" sz="1600" dirty="0"/>
              <a:t>Conditions</a:t>
            </a:r>
          </a:p>
          <a:p>
            <a:pPr marL="342900" indent="-342900">
              <a:buAutoNum type="arabicPeriod"/>
            </a:pPr>
            <a:r>
              <a:rPr lang="en-US" sz="1600" dirty="0"/>
              <a:t>Solar – ON  </a:t>
            </a:r>
            <a:r>
              <a:rPr lang="en-US" sz="1600" dirty="0">
                <a:sym typeface="Wingdings" panose="05000000000000000000" pitchFamily="2" charset="2"/>
              </a:rPr>
              <a:t>  ESS Charge  Grid OFF                    Load ON  - [ON – S1,S2,S5] – [OFF – S3,S4] </a:t>
            </a:r>
          </a:p>
          <a:p>
            <a:pPr marL="342900" indent="-342900">
              <a:buFontTx/>
              <a:buAutoNum type="arabicPeriod"/>
            </a:pPr>
            <a:r>
              <a:rPr lang="en-US" sz="1600" dirty="0"/>
              <a:t>Solar – ON  </a:t>
            </a:r>
            <a:r>
              <a:rPr lang="en-US" sz="1600" dirty="0">
                <a:sym typeface="Wingdings" panose="05000000000000000000" pitchFamily="2" charset="2"/>
              </a:rPr>
              <a:t>  ESS &gt;80%    [Grid DC- AC] ON   Load ON  - [ON – S1,S2,S5,S4] – [OFF – S3] </a:t>
            </a:r>
          </a:p>
          <a:p>
            <a:pPr marL="342900" indent="-342900">
              <a:buFontTx/>
              <a:buAutoNum type="arabicPeriod"/>
            </a:pPr>
            <a:r>
              <a:rPr lang="en-US" sz="1600" dirty="0"/>
              <a:t>Solar – OFF </a:t>
            </a:r>
            <a:r>
              <a:rPr lang="en-US" sz="1600" dirty="0">
                <a:sym typeface="Wingdings" panose="05000000000000000000" pitchFamily="2" charset="2"/>
              </a:rPr>
              <a:t>  ESS ON        Grid OFF                      Load ON  - [ON – S2,S3,S4,S5] – [OFF – S1] </a:t>
            </a:r>
          </a:p>
          <a:p>
            <a:pPr marL="342900" indent="-342900">
              <a:buFontTx/>
              <a:buAutoNum type="arabicPeriod"/>
            </a:pPr>
            <a:r>
              <a:rPr lang="en-US" sz="1600" dirty="0"/>
              <a:t>Solar – OFF </a:t>
            </a:r>
            <a:r>
              <a:rPr lang="en-US" sz="1600" dirty="0">
                <a:sym typeface="Wingdings" panose="05000000000000000000" pitchFamily="2" charset="2"/>
              </a:rPr>
              <a:t>  ESS &lt;20%    [Grid DC- AC] ON   Load ON  - [ON – S3,S5] – [OFF – S1,S2,S4]</a:t>
            </a:r>
          </a:p>
          <a:p>
            <a:pPr marL="342900" indent="-342900">
              <a:buFontTx/>
              <a:buAutoNum type="arabicPeriod"/>
            </a:pPr>
            <a:r>
              <a:rPr lang="en-US" sz="1600" dirty="0">
                <a:sym typeface="Wingdings" panose="05000000000000000000" pitchFamily="2" charset="2"/>
              </a:rPr>
              <a:t>Solar  OFF  ESS Charge  Grid ON—Load OFF</a:t>
            </a:r>
          </a:p>
        </p:txBody>
      </p:sp>
      <p:sp>
        <p:nvSpPr>
          <p:cNvPr id="17" name="TextBox 16">
            <a:extLst>
              <a:ext uri="{FF2B5EF4-FFF2-40B4-BE49-F238E27FC236}">
                <a16:creationId xmlns:a16="http://schemas.microsoft.com/office/drawing/2014/main" id="{A0566258-B71A-12DA-CF0B-63D0EA9C65CB}"/>
              </a:ext>
            </a:extLst>
          </p:cNvPr>
          <p:cNvSpPr txBox="1"/>
          <p:nvPr/>
        </p:nvSpPr>
        <p:spPr>
          <a:xfrm>
            <a:off x="7429871" y="780486"/>
            <a:ext cx="830424" cy="369332"/>
          </a:xfrm>
          <a:prstGeom prst="rect">
            <a:avLst/>
          </a:prstGeom>
          <a:noFill/>
        </p:spPr>
        <p:txBody>
          <a:bodyPr wrap="square" rtlCol="0">
            <a:spAutoFit/>
          </a:bodyPr>
          <a:lstStyle/>
          <a:p>
            <a:pPr algn="ctr"/>
            <a:r>
              <a:rPr lang="en-US" b="1" dirty="0">
                <a:highlight>
                  <a:srgbClr val="FFFF00"/>
                </a:highlight>
              </a:rPr>
              <a:t>Solar</a:t>
            </a:r>
          </a:p>
        </p:txBody>
      </p:sp>
      <p:sp>
        <p:nvSpPr>
          <p:cNvPr id="18" name="TextBox 17">
            <a:extLst>
              <a:ext uri="{FF2B5EF4-FFF2-40B4-BE49-F238E27FC236}">
                <a16:creationId xmlns:a16="http://schemas.microsoft.com/office/drawing/2014/main" id="{EAE3A638-60CD-D4C5-65D1-B2ED2920ECB2}"/>
              </a:ext>
            </a:extLst>
          </p:cNvPr>
          <p:cNvSpPr txBox="1"/>
          <p:nvPr/>
        </p:nvSpPr>
        <p:spPr>
          <a:xfrm>
            <a:off x="7014659" y="2325498"/>
            <a:ext cx="830424" cy="369332"/>
          </a:xfrm>
          <a:prstGeom prst="rect">
            <a:avLst/>
          </a:prstGeom>
          <a:noFill/>
        </p:spPr>
        <p:txBody>
          <a:bodyPr wrap="square" rtlCol="0">
            <a:spAutoFit/>
          </a:bodyPr>
          <a:lstStyle/>
          <a:p>
            <a:pPr algn="ctr"/>
            <a:r>
              <a:rPr lang="en-IN" b="1" dirty="0">
                <a:highlight>
                  <a:srgbClr val="FFFF00"/>
                </a:highlight>
              </a:rPr>
              <a:t>ESS</a:t>
            </a:r>
            <a:endParaRPr lang="en-US" b="1" dirty="0">
              <a:highlight>
                <a:srgbClr val="FFFF00"/>
              </a:highlight>
            </a:endParaRPr>
          </a:p>
        </p:txBody>
      </p:sp>
      <p:sp>
        <p:nvSpPr>
          <p:cNvPr id="19" name="TextBox 18">
            <a:extLst>
              <a:ext uri="{FF2B5EF4-FFF2-40B4-BE49-F238E27FC236}">
                <a16:creationId xmlns:a16="http://schemas.microsoft.com/office/drawing/2014/main" id="{037A409F-73CB-E76A-8C79-68C300FD67DD}"/>
              </a:ext>
            </a:extLst>
          </p:cNvPr>
          <p:cNvSpPr txBox="1"/>
          <p:nvPr/>
        </p:nvSpPr>
        <p:spPr>
          <a:xfrm>
            <a:off x="7097081" y="3382983"/>
            <a:ext cx="830424" cy="369332"/>
          </a:xfrm>
          <a:prstGeom prst="rect">
            <a:avLst/>
          </a:prstGeom>
          <a:noFill/>
        </p:spPr>
        <p:txBody>
          <a:bodyPr wrap="square" rtlCol="0">
            <a:spAutoFit/>
          </a:bodyPr>
          <a:lstStyle/>
          <a:p>
            <a:pPr algn="ctr"/>
            <a:r>
              <a:rPr lang="en-IN" b="1" dirty="0">
                <a:highlight>
                  <a:srgbClr val="FFFF00"/>
                </a:highlight>
              </a:rPr>
              <a:t>G</a:t>
            </a:r>
            <a:r>
              <a:rPr lang="en-US" b="1" dirty="0">
                <a:highlight>
                  <a:srgbClr val="FFFF00"/>
                </a:highlight>
              </a:rPr>
              <a:t>rid</a:t>
            </a:r>
          </a:p>
        </p:txBody>
      </p:sp>
      <p:sp>
        <p:nvSpPr>
          <p:cNvPr id="20" name="TextBox 19">
            <a:extLst>
              <a:ext uri="{FF2B5EF4-FFF2-40B4-BE49-F238E27FC236}">
                <a16:creationId xmlns:a16="http://schemas.microsoft.com/office/drawing/2014/main" id="{72DC2BE4-40C7-02C4-62E7-7DCD23A0DCEF}"/>
              </a:ext>
            </a:extLst>
          </p:cNvPr>
          <p:cNvSpPr txBox="1"/>
          <p:nvPr/>
        </p:nvSpPr>
        <p:spPr>
          <a:xfrm>
            <a:off x="11192475" y="2604359"/>
            <a:ext cx="979309" cy="646331"/>
          </a:xfrm>
          <a:prstGeom prst="rect">
            <a:avLst/>
          </a:prstGeom>
          <a:noFill/>
        </p:spPr>
        <p:txBody>
          <a:bodyPr wrap="square" rtlCol="0">
            <a:spAutoFit/>
          </a:bodyPr>
          <a:lstStyle/>
          <a:p>
            <a:pPr algn="ctr"/>
            <a:r>
              <a:rPr lang="en-IN" b="1" dirty="0">
                <a:highlight>
                  <a:srgbClr val="FFFF00"/>
                </a:highlight>
              </a:rPr>
              <a:t>PCC</a:t>
            </a:r>
          </a:p>
          <a:p>
            <a:pPr algn="ctr"/>
            <a:r>
              <a:rPr lang="en-IN" b="1" dirty="0">
                <a:highlight>
                  <a:srgbClr val="FFFF00"/>
                </a:highlight>
              </a:rPr>
              <a:t>Output</a:t>
            </a:r>
            <a:endParaRPr lang="en-US" b="1" dirty="0">
              <a:highlight>
                <a:srgbClr val="FFFF00"/>
              </a:highlight>
            </a:endParaRPr>
          </a:p>
        </p:txBody>
      </p:sp>
      <p:sp>
        <p:nvSpPr>
          <p:cNvPr id="21" name="TextBox 20">
            <a:extLst>
              <a:ext uri="{FF2B5EF4-FFF2-40B4-BE49-F238E27FC236}">
                <a16:creationId xmlns:a16="http://schemas.microsoft.com/office/drawing/2014/main" id="{8A218F9D-E5D9-AA70-51A6-48E69D20E479}"/>
              </a:ext>
            </a:extLst>
          </p:cNvPr>
          <p:cNvSpPr txBox="1"/>
          <p:nvPr/>
        </p:nvSpPr>
        <p:spPr>
          <a:xfrm>
            <a:off x="10691533" y="3669104"/>
            <a:ext cx="1607562" cy="646331"/>
          </a:xfrm>
          <a:prstGeom prst="rect">
            <a:avLst/>
          </a:prstGeom>
          <a:noFill/>
        </p:spPr>
        <p:txBody>
          <a:bodyPr wrap="square" rtlCol="0">
            <a:spAutoFit/>
          </a:bodyPr>
          <a:lstStyle/>
          <a:p>
            <a:pPr algn="ctr"/>
            <a:r>
              <a:rPr lang="en-IN" b="1" dirty="0">
                <a:highlight>
                  <a:srgbClr val="FFFF00"/>
                </a:highlight>
              </a:rPr>
              <a:t>Power Management</a:t>
            </a:r>
            <a:endParaRPr lang="en-US" b="1" dirty="0">
              <a:highlight>
                <a:srgbClr val="FFFF00"/>
              </a:highlight>
            </a:endParaRPr>
          </a:p>
        </p:txBody>
      </p:sp>
    </p:spTree>
    <p:extLst>
      <p:ext uri="{BB962C8B-B14F-4D97-AF65-F5344CB8AC3E}">
        <p14:creationId xmlns:p14="http://schemas.microsoft.com/office/powerpoint/2010/main" val="3597057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F0E21-9E64-E1B7-71B4-BACCB75E421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08E13FE-E316-435C-B07E-5DC4E731AB8F}"/>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5D2CAD33-8705-C398-192B-1F70673A5FD4}"/>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6EF9A371-6BA7-BE15-B9BE-BF4DB246132C}"/>
              </a:ext>
            </a:extLst>
          </p:cNvPr>
          <p:cNvSpPr>
            <a:spLocks noGrp="1"/>
          </p:cNvSpPr>
          <p:nvPr>
            <p:ph type="sldNum" sz="quarter" idx="12"/>
          </p:nvPr>
        </p:nvSpPr>
        <p:spPr/>
        <p:txBody>
          <a:bodyPr/>
          <a:lstStyle/>
          <a:p>
            <a:fld id="{15FCCAAF-6324-40D0-99C1-825B83CC9B2F}" type="slidenum">
              <a:rPr lang="en-IN" smtClean="0"/>
              <a:t>18</a:t>
            </a:fld>
            <a:endParaRPr lang="en-IN"/>
          </a:p>
        </p:txBody>
      </p:sp>
      <p:pic>
        <p:nvPicPr>
          <p:cNvPr id="27" name="Picture 26" descr="A grey electric vehicle charging station&#10;&#10;Description automatically generated">
            <a:extLst>
              <a:ext uri="{FF2B5EF4-FFF2-40B4-BE49-F238E27FC236}">
                <a16:creationId xmlns:a16="http://schemas.microsoft.com/office/drawing/2014/main" id="{5EA2FB33-BDAA-0B73-7A60-6131CE5053DF}"/>
              </a:ext>
            </a:extLst>
          </p:cNvPr>
          <p:cNvPicPr>
            <a:picLocks noChangeAspect="1"/>
          </p:cNvPicPr>
          <p:nvPr/>
        </p:nvPicPr>
        <p:blipFill>
          <a:blip r:embed="rId2">
            <a:extLst>
              <a:ext uri="{28A0092B-C50C-407E-A947-70E740481C1C}">
                <a14:useLocalDpi xmlns:a14="http://schemas.microsoft.com/office/drawing/2010/main" val="0"/>
              </a:ext>
            </a:extLst>
          </a:blip>
          <a:srcRect l="14053" r="22288"/>
          <a:stretch/>
        </p:blipFill>
        <p:spPr>
          <a:xfrm>
            <a:off x="39470" y="2944438"/>
            <a:ext cx="1597460" cy="2509375"/>
          </a:xfrm>
          <a:prstGeom prst="rect">
            <a:avLst/>
          </a:prstGeom>
        </p:spPr>
      </p:pic>
      <p:pic>
        <p:nvPicPr>
          <p:cNvPr id="3" name="Picture 2" descr="A close-up of a charging station&#10;&#10;Description automatically generated">
            <a:extLst>
              <a:ext uri="{FF2B5EF4-FFF2-40B4-BE49-F238E27FC236}">
                <a16:creationId xmlns:a16="http://schemas.microsoft.com/office/drawing/2014/main" id="{66787DB3-E434-5A68-84BA-77742EE714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5651" y="3123566"/>
            <a:ext cx="1221307" cy="489227"/>
          </a:xfrm>
          <a:prstGeom prst="rect">
            <a:avLst/>
          </a:prstGeom>
        </p:spPr>
      </p:pic>
      <p:pic>
        <p:nvPicPr>
          <p:cNvPr id="8" name="Picture 7" descr="A row of white electronic devices&#10;&#10;Description automatically generated">
            <a:extLst>
              <a:ext uri="{FF2B5EF4-FFF2-40B4-BE49-F238E27FC236}">
                <a16:creationId xmlns:a16="http://schemas.microsoft.com/office/drawing/2014/main" id="{B66B2A03-EC46-CF5F-C2F6-2F8BDEBE0D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113" y="757400"/>
            <a:ext cx="2912958" cy="1712771"/>
          </a:xfrm>
          <a:prstGeom prst="rect">
            <a:avLst/>
          </a:prstGeom>
        </p:spPr>
      </p:pic>
      <p:pic>
        <p:nvPicPr>
          <p:cNvPr id="14" name="Picture 13" descr="A close-up of a charging station&#10;&#10;Description automatically generated">
            <a:extLst>
              <a:ext uri="{FF2B5EF4-FFF2-40B4-BE49-F238E27FC236}">
                <a16:creationId xmlns:a16="http://schemas.microsoft.com/office/drawing/2014/main" id="{3F97A1B1-BF4B-5D37-7614-28457DA8D2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4764" y="3716406"/>
            <a:ext cx="1221307" cy="489227"/>
          </a:xfrm>
          <a:prstGeom prst="rect">
            <a:avLst/>
          </a:prstGeom>
        </p:spPr>
      </p:pic>
      <p:pic>
        <p:nvPicPr>
          <p:cNvPr id="15" name="Picture 14" descr="A close-up of a charging station&#10;&#10;Description automatically generated">
            <a:extLst>
              <a:ext uri="{FF2B5EF4-FFF2-40B4-BE49-F238E27FC236}">
                <a16:creationId xmlns:a16="http://schemas.microsoft.com/office/drawing/2014/main" id="{28FF56F2-6519-CBC6-E775-78C74F32CF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5650" y="4296230"/>
            <a:ext cx="1221307" cy="489227"/>
          </a:xfrm>
          <a:prstGeom prst="rect">
            <a:avLst/>
          </a:prstGeom>
        </p:spPr>
      </p:pic>
      <p:pic>
        <p:nvPicPr>
          <p:cNvPr id="16" name="Picture 15" descr="A close-up of a charging station&#10;&#10;Description automatically generated">
            <a:extLst>
              <a:ext uri="{FF2B5EF4-FFF2-40B4-BE49-F238E27FC236}">
                <a16:creationId xmlns:a16="http://schemas.microsoft.com/office/drawing/2014/main" id="{09E8EC6B-18C5-13B9-7328-5ABD4A8FC78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4763" y="4872954"/>
            <a:ext cx="1221307" cy="489227"/>
          </a:xfrm>
          <a:prstGeom prst="rect">
            <a:avLst/>
          </a:prstGeom>
        </p:spPr>
      </p:pic>
      <p:sp>
        <p:nvSpPr>
          <p:cNvPr id="18" name="TextBox 17">
            <a:extLst>
              <a:ext uri="{FF2B5EF4-FFF2-40B4-BE49-F238E27FC236}">
                <a16:creationId xmlns:a16="http://schemas.microsoft.com/office/drawing/2014/main" id="{B29F4E62-92DA-B5AB-E42E-DE614693304A}"/>
              </a:ext>
            </a:extLst>
          </p:cNvPr>
          <p:cNvSpPr txBox="1"/>
          <p:nvPr/>
        </p:nvSpPr>
        <p:spPr>
          <a:xfrm>
            <a:off x="2933837" y="367290"/>
            <a:ext cx="7974837" cy="2492990"/>
          </a:xfrm>
          <a:prstGeom prst="rect">
            <a:avLst/>
          </a:prstGeom>
          <a:noFill/>
        </p:spPr>
        <p:txBody>
          <a:bodyPr wrap="square">
            <a:spAutoFit/>
          </a:bodyPr>
          <a:lstStyle/>
          <a:p>
            <a:pPr marL="0" marR="0">
              <a:spcAft>
                <a:spcPts val="6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State of Charge (SoC):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Available battery capacity as a percentage.</a:t>
            </a:r>
          </a:p>
          <a:p>
            <a:pPr marL="0" marR="0">
              <a:spcAft>
                <a:spcPts val="6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Battery Voltage: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Voltage of individual battery packs.</a:t>
            </a:r>
          </a:p>
          <a:p>
            <a:pPr marL="0" marR="0">
              <a:spcAft>
                <a:spcPts val="6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Battery Current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Charging and discharging current measurements.</a:t>
            </a:r>
          </a:p>
          <a:p>
            <a:pPr marL="0" marR="0">
              <a:spcAft>
                <a:spcPts val="6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Battery Temperature: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Monitors battery temperature for safety.</a:t>
            </a:r>
          </a:p>
          <a:p>
            <a:pPr marL="0" marR="0">
              <a:spcAft>
                <a:spcPts val="6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Swapping Time: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Measures time taken for each battery swap.</a:t>
            </a:r>
          </a:p>
          <a:p>
            <a:pPr marL="0" marR="0">
              <a:spcAft>
                <a:spcPts val="6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Energy Usage: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Measures of energy consumed during swaps.</a:t>
            </a:r>
          </a:p>
          <a:p>
            <a:pPr marL="0" marR="0">
              <a:spcAft>
                <a:spcPts val="600"/>
              </a:spcAf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Fault Detection: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Identifies issues like short circuits.</a:t>
            </a:r>
          </a:p>
        </p:txBody>
      </p:sp>
      <p:sp>
        <p:nvSpPr>
          <p:cNvPr id="19" name="TextBox 18">
            <a:extLst>
              <a:ext uri="{FF2B5EF4-FFF2-40B4-BE49-F238E27FC236}">
                <a16:creationId xmlns:a16="http://schemas.microsoft.com/office/drawing/2014/main" id="{155A0155-75A8-8E18-A24D-12661CD921AD}"/>
              </a:ext>
            </a:extLst>
          </p:cNvPr>
          <p:cNvSpPr txBox="1"/>
          <p:nvPr/>
        </p:nvSpPr>
        <p:spPr>
          <a:xfrm>
            <a:off x="9625347" y="1429119"/>
            <a:ext cx="2566654" cy="1431161"/>
          </a:xfrm>
          <a:prstGeom prst="rect">
            <a:avLst/>
          </a:prstGeom>
          <a:solidFill>
            <a:schemeClr val="accent2">
              <a:lumMod val="20000"/>
              <a:lumOff val="80000"/>
            </a:schemeClr>
          </a:solidFill>
        </p:spPr>
        <p:txBody>
          <a:bodyPr wrap="square">
            <a:spAutoFit/>
          </a:bodyPr>
          <a:lstStyle/>
          <a:p>
            <a:pPr marL="0" marR="0">
              <a:spcAft>
                <a:spcPts val="600"/>
              </a:spcAft>
            </a:pPr>
            <a:r>
              <a:rPr lang="en-IN" kern="100" dirty="0">
                <a:solidFill>
                  <a:srgbClr val="002060"/>
                </a:solidFill>
                <a:latin typeface="Aptos" panose="020B0004020202020204" pitchFamily="34" charset="0"/>
                <a:ea typeface="Aptos" panose="020B0004020202020204" pitchFamily="34" charset="0"/>
                <a:cs typeface="Times New Roman" panose="02020603050405020304" pitchFamily="18" charset="0"/>
              </a:rPr>
              <a:t>Batteries – 30</a:t>
            </a:r>
          </a:p>
          <a:p>
            <a:pPr marL="0" marR="0">
              <a:spcAft>
                <a:spcPts val="600"/>
              </a:spcAft>
            </a:pPr>
            <a:r>
              <a:rPr lang="en-IN" kern="100" dirty="0">
                <a:solidFill>
                  <a:srgbClr val="002060"/>
                </a:solidFill>
                <a:latin typeface="Aptos" panose="020B0004020202020204" pitchFamily="34" charset="0"/>
                <a:ea typeface="Aptos" panose="020B0004020202020204" pitchFamily="34" charset="0"/>
                <a:cs typeface="Times New Roman" panose="02020603050405020304" pitchFamily="18" charset="0"/>
              </a:rPr>
              <a:t>Voltage 	- 12</a:t>
            </a:r>
          </a:p>
          <a:p>
            <a:pPr marL="0" marR="0">
              <a:spcAft>
                <a:spcPts val="600"/>
              </a:spcAft>
            </a:pPr>
            <a:r>
              <a:rPr lang="en-IN" kern="100" dirty="0">
                <a:solidFill>
                  <a:srgbClr val="002060"/>
                </a:solidFill>
                <a:latin typeface="Aptos" panose="020B0004020202020204" pitchFamily="34" charset="0"/>
                <a:ea typeface="Aptos" panose="020B0004020202020204" pitchFamily="34" charset="0"/>
                <a:cs typeface="Times New Roman" panose="02020603050405020304" pitchFamily="18" charset="0"/>
              </a:rPr>
              <a:t>Current	- 10A</a:t>
            </a:r>
          </a:p>
          <a:p>
            <a:pPr marL="0" marR="0">
              <a:spcAft>
                <a:spcPts val="600"/>
              </a:spcAft>
            </a:pPr>
            <a:r>
              <a:rPr lang="en-IN" kern="100" dirty="0">
                <a:solidFill>
                  <a:srgbClr val="002060"/>
                </a:solidFill>
                <a:latin typeface="Aptos" panose="020B0004020202020204" pitchFamily="34" charset="0"/>
                <a:ea typeface="Aptos" panose="020B0004020202020204" pitchFamily="34" charset="0"/>
                <a:cs typeface="Times New Roman" panose="02020603050405020304" pitchFamily="18" charset="0"/>
              </a:rPr>
              <a:t>Power/ battery – 0.12kw</a:t>
            </a:r>
          </a:p>
        </p:txBody>
      </p:sp>
      <p:graphicFrame>
        <p:nvGraphicFramePr>
          <p:cNvPr id="21" name="Table 20">
            <a:extLst>
              <a:ext uri="{FF2B5EF4-FFF2-40B4-BE49-F238E27FC236}">
                <a16:creationId xmlns:a16="http://schemas.microsoft.com/office/drawing/2014/main" id="{C8EF28C5-75D8-C3A2-9966-7BA75F6A20FA}"/>
              </a:ext>
            </a:extLst>
          </p:cNvPr>
          <p:cNvGraphicFramePr>
            <a:graphicFrameLocks noGrp="1"/>
          </p:cNvGraphicFramePr>
          <p:nvPr/>
        </p:nvGraphicFramePr>
        <p:xfrm>
          <a:off x="3298623" y="3253943"/>
          <a:ext cx="8698266" cy="1903380"/>
        </p:xfrm>
        <a:graphic>
          <a:graphicData uri="http://schemas.openxmlformats.org/drawingml/2006/table">
            <a:tbl>
              <a:tblPr>
                <a:tableStyleId>{5C22544A-7EE6-4342-B048-85BDC9FD1C3A}</a:tableStyleId>
              </a:tblPr>
              <a:tblGrid>
                <a:gridCol w="1176956">
                  <a:extLst>
                    <a:ext uri="{9D8B030D-6E8A-4147-A177-3AD203B41FA5}">
                      <a16:colId xmlns:a16="http://schemas.microsoft.com/office/drawing/2014/main" val="3910007662"/>
                    </a:ext>
                  </a:extLst>
                </a:gridCol>
                <a:gridCol w="868706">
                  <a:extLst>
                    <a:ext uri="{9D8B030D-6E8A-4147-A177-3AD203B41FA5}">
                      <a16:colId xmlns:a16="http://schemas.microsoft.com/office/drawing/2014/main" val="1970377202"/>
                    </a:ext>
                  </a:extLst>
                </a:gridCol>
                <a:gridCol w="812660">
                  <a:extLst>
                    <a:ext uri="{9D8B030D-6E8A-4147-A177-3AD203B41FA5}">
                      <a16:colId xmlns:a16="http://schemas.microsoft.com/office/drawing/2014/main" val="1391981430"/>
                    </a:ext>
                  </a:extLst>
                </a:gridCol>
                <a:gridCol w="1218990">
                  <a:extLst>
                    <a:ext uri="{9D8B030D-6E8A-4147-A177-3AD203B41FA5}">
                      <a16:colId xmlns:a16="http://schemas.microsoft.com/office/drawing/2014/main" val="759936030"/>
                    </a:ext>
                  </a:extLst>
                </a:gridCol>
                <a:gridCol w="868706">
                  <a:extLst>
                    <a:ext uri="{9D8B030D-6E8A-4147-A177-3AD203B41FA5}">
                      <a16:colId xmlns:a16="http://schemas.microsoft.com/office/drawing/2014/main" val="1526608679"/>
                    </a:ext>
                  </a:extLst>
                </a:gridCol>
                <a:gridCol w="882717">
                  <a:extLst>
                    <a:ext uri="{9D8B030D-6E8A-4147-A177-3AD203B41FA5}">
                      <a16:colId xmlns:a16="http://schemas.microsoft.com/office/drawing/2014/main" val="2872351686"/>
                    </a:ext>
                  </a:extLst>
                </a:gridCol>
                <a:gridCol w="1076073">
                  <a:extLst>
                    <a:ext uri="{9D8B030D-6E8A-4147-A177-3AD203B41FA5}">
                      <a16:colId xmlns:a16="http://schemas.microsoft.com/office/drawing/2014/main" val="1991849292"/>
                    </a:ext>
                  </a:extLst>
                </a:gridCol>
                <a:gridCol w="756615">
                  <a:extLst>
                    <a:ext uri="{9D8B030D-6E8A-4147-A177-3AD203B41FA5}">
                      <a16:colId xmlns:a16="http://schemas.microsoft.com/office/drawing/2014/main" val="2328893658"/>
                    </a:ext>
                  </a:extLst>
                </a:gridCol>
                <a:gridCol w="1036843">
                  <a:extLst>
                    <a:ext uri="{9D8B030D-6E8A-4147-A177-3AD203B41FA5}">
                      <a16:colId xmlns:a16="http://schemas.microsoft.com/office/drawing/2014/main" val="1030210425"/>
                    </a:ext>
                  </a:extLst>
                </a:gridCol>
              </a:tblGrid>
              <a:tr h="339298">
                <a:tc>
                  <a:txBody>
                    <a:bodyPr/>
                    <a:lstStyle/>
                    <a:p>
                      <a:pPr algn="ctr" fontAlgn="ctr"/>
                      <a:r>
                        <a:rPr lang="en-US" sz="1200" u="none" strike="noStrike">
                          <a:effectLst/>
                        </a:rPr>
                        <a:t>Cars</a:t>
                      </a:r>
                      <a:endParaRPr lang="en-US" sz="1200" b="1" i="0" u="none" strike="noStrike">
                        <a:solidFill>
                          <a:srgbClr val="FF0000"/>
                        </a:solidFill>
                        <a:effectLst/>
                        <a:latin typeface="Calibri" panose="020F0502020204030204" pitchFamily="34" charset="0"/>
                      </a:endParaRPr>
                    </a:p>
                  </a:txBody>
                  <a:tcPr marL="7620" marR="7620" marT="7620" marB="0" anchor="ctr"/>
                </a:tc>
                <a:tc>
                  <a:txBody>
                    <a:bodyPr/>
                    <a:lstStyle/>
                    <a:p>
                      <a:pPr algn="ctr" fontAlgn="ctr"/>
                      <a:r>
                        <a:rPr lang="en-US" sz="1000" u="none" strike="noStrike">
                          <a:effectLst/>
                        </a:rPr>
                        <a:t>Voltage (V)</a:t>
                      </a:r>
                      <a:endParaRPr lang="en-US" sz="1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000" u="none" strike="noStrike">
                          <a:effectLst/>
                        </a:rPr>
                        <a:t>Power (kW)</a:t>
                      </a:r>
                      <a:endParaRPr lang="en-US" sz="1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900" u="none" strike="noStrike">
                          <a:effectLst/>
                        </a:rPr>
                        <a:t>Battery Capacity (kWh)</a:t>
                      </a:r>
                      <a:endParaRPr lang="en-US" sz="9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000" u="none" strike="noStrike">
                          <a:effectLst/>
                        </a:rPr>
                        <a:t>SOC Avaliable</a:t>
                      </a:r>
                      <a:endParaRPr lang="en-US" sz="1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000" u="none" strike="noStrike">
                          <a:effectLst/>
                        </a:rPr>
                        <a:t>Required Current</a:t>
                      </a:r>
                      <a:endParaRPr lang="en-US" sz="10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000" u="none" strike="noStrike">
                          <a:effectLst/>
                        </a:rPr>
                        <a:t>Charging Time in hr</a:t>
                      </a:r>
                      <a:endParaRPr lang="en-US" sz="10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000" u="none" strike="noStrike">
                          <a:effectLst/>
                        </a:rPr>
                        <a:t>Unit charge</a:t>
                      </a:r>
                      <a:endParaRPr lang="en-US" sz="1000" b="1" i="0" u="none" strike="noStrike">
                        <a:solidFill>
                          <a:srgbClr val="000000"/>
                        </a:solidFill>
                        <a:effectLst/>
                        <a:latin typeface="Calibri" panose="020F0502020204030204" pitchFamily="34" charset="0"/>
                      </a:endParaRPr>
                    </a:p>
                  </a:txBody>
                  <a:tcPr marL="7620" marR="7620" marT="7620" marB="0" anchor="ctr"/>
                </a:tc>
                <a:tc>
                  <a:txBody>
                    <a:bodyPr/>
                    <a:lstStyle/>
                    <a:p>
                      <a:pPr algn="l" fontAlgn="ctr"/>
                      <a:r>
                        <a:rPr lang="en-US" sz="1000" u="none" strike="noStrike">
                          <a:effectLst/>
                        </a:rPr>
                        <a:t>Cost</a:t>
                      </a:r>
                      <a:endParaRPr lang="en-US" sz="10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3380484"/>
                  </a:ext>
                </a:extLst>
              </a:tr>
              <a:tr h="380676">
                <a:tc>
                  <a:txBody>
                    <a:bodyPr/>
                    <a:lstStyle/>
                    <a:p>
                      <a:pPr algn="l" fontAlgn="ctr"/>
                      <a:r>
                        <a:rPr lang="en-US" sz="1000" u="none" strike="noStrike">
                          <a:effectLst/>
                        </a:rPr>
                        <a:t>1 - Tata Nexon - EV </a:t>
                      </a:r>
                      <a:endParaRPr lang="en-US" sz="1000" b="1" i="0" u="none" strike="noStrike">
                        <a:solidFill>
                          <a:srgbClr val="00206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400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30.2</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30.2</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20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75.5</a:t>
                      </a:r>
                      <a:endParaRPr lang="en-US" sz="12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2.47</a:t>
                      </a:r>
                      <a:endParaRPr lang="en-US" sz="12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10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745.83</a:t>
                      </a:r>
                      <a:endParaRPr lang="en-US" sz="12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803032243"/>
                  </a:ext>
                </a:extLst>
              </a:tr>
              <a:tr h="248267">
                <a:tc>
                  <a:txBody>
                    <a:bodyPr/>
                    <a:lstStyle/>
                    <a:p>
                      <a:pPr algn="l" fontAlgn="ctr"/>
                      <a:r>
                        <a:rPr lang="en-US" sz="1200" u="none" strike="noStrike">
                          <a:effectLst/>
                        </a:rPr>
                        <a:t>2- MG ZS EV</a:t>
                      </a:r>
                      <a:endParaRPr lang="en-US" sz="1200" b="1" i="0" u="none" strike="noStrike">
                        <a:solidFill>
                          <a:srgbClr val="00206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400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dirty="0">
                          <a:effectLst/>
                        </a:rPr>
                        <a:t>50</a:t>
                      </a:r>
                      <a:endParaRPr lang="en-US" sz="1200" b="0" i="0" u="none" strike="noStrike" dirty="0">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44.5</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30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125</a:t>
                      </a:r>
                      <a:endParaRPr lang="en-US" sz="12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1.49</a:t>
                      </a:r>
                      <a:endParaRPr lang="en-US" sz="12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10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743.75</a:t>
                      </a:r>
                      <a:endParaRPr lang="en-US" sz="12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974148217"/>
                  </a:ext>
                </a:extLst>
              </a:tr>
              <a:tr h="248267">
                <a:tc>
                  <a:txBody>
                    <a:bodyPr/>
                    <a:lstStyle/>
                    <a:p>
                      <a:pPr algn="l" fontAlgn="ctr"/>
                      <a:r>
                        <a:rPr lang="en-US" sz="1200" u="none" strike="noStrike">
                          <a:effectLst/>
                        </a:rPr>
                        <a:t>3-Tata Trigo EV</a:t>
                      </a:r>
                      <a:endParaRPr lang="en-US" sz="1200" b="1" i="0" u="none" strike="noStrike">
                        <a:solidFill>
                          <a:srgbClr val="00206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400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16.8</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26</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50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42</a:t>
                      </a:r>
                      <a:endParaRPr lang="en-US" sz="12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4.40</a:t>
                      </a:r>
                      <a:endParaRPr lang="en-US" sz="12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10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739.58</a:t>
                      </a:r>
                      <a:endParaRPr lang="en-US" sz="12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03814087"/>
                  </a:ext>
                </a:extLst>
              </a:tr>
              <a:tr h="248267">
                <a:tc>
                  <a:txBody>
                    <a:bodyPr/>
                    <a:lstStyle/>
                    <a:p>
                      <a:pPr algn="l" fontAlgn="ctr"/>
                      <a:r>
                        <a:rPr lang="en-US" sz="900" u="none" strike="noStrike">
                          <a:effectLst/>
                        </a:rPr>
                        <a:t>4- Mahindra eVerito</a:t>
                      </a:r>
                      <a:endParaRPr lang="en-US" sz="900" b="1" i="0" u="none" strike="noStrike">
                        <a:solidFill>
                          <a:srgbClr val="00206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400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70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60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10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175</a:t>
                      </a:r>
                      <a:endParaRPr lang="en-US" sz="12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1.07</a:t>
                      </a:r>
                      <a:endParaRPr lang="en-US" sz="12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10</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747.92</a:t>
                      </a:r>
                      <a:endParaRPr lang="en-US" sz="12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55928412"/>
                  </a:ext>
                </a:extLst>
              </a:tr>
              <a:tr h="438605">
                <a:tc gridSpan="2">
                  <a:txBody>
                    <a:bodyPr/>
                    <a:lstStyle/>
                    <a:p>
                      <a:pPr algn="ctr" fontAlgn="ctr"/>
                      <a:r>
                        <a:rPr lang="en-US" sz="1200" u="none" strike="noStrike">
                          <a:effectLst/>
                        </a:rPr>
                        <a:t>Total Power</a:t>
                      </a:r>
                      <a:endParaRPr lang="en-US" sz="1200" b="1" i="0" u="none" strike="noStrike">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tc>
                  <a:txBody>
                    <a:bodyPr/>
                    <a:lstStyle/>
                    <a:p>
                      <a:pPr algn="ctr" fontAlgn="ctr"/>
                      <a:r>
                        <a:rPr lang="en-US" sz="2000" u="none" strike="noStrike">
                          <a:effectLst/>
                        </a:rPr>
                        <a:t>167</a:t>
                      </a:r>
                      <a:endParaRPr lang="en-US" sz="2000" b="1" i="0" u="none" strike="noStrike">
                        <a:solidFill>
                          <a:srgbClr val="FFC000"/>
                        </a:solidFill>
                        <a:effectLst/>
                        <a:latin typeface="Calibri" panose="020F0502020204030204" pitchFamily="34" charset="0"/>
                      </a:endParaRPr>
                    </a:p>
                  </a:txBody>
                  <a:tcPr marL="7620" marR="7620" marT="7620" marB="0" anchor="ctr"/>
                </a:tc>
                <a:tc gridSpan="2">
                  <a:txBody>
                    <a:bodyPr/>
                    <a:lstStyle/>
                    <a:p>
                      <a:pPr algn="ctr" fontAlgn="ctr"/>
                      <a:r>
                        <a:rPr lang="en-US" sz="1200" u="none" strike="noStrike">
                          <a:effectLst/>
                        </a:rPr>
                        <a:t> </a:t>
                      </a:r>
                      <a:endParaRPr lang="en-US" sz="1200" b="0" i="0" u="none" strike="noStrike">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tc>
                  <a:txBody>
                    <a:bodyPr/>
                    <a:lstStyle/>
                    <a:p>
                      <a:pPr algn="ctr" fontAlgn="ctr"/>
                      <a:r>
                        <a:rPr lang="en-US" sz="1200" u="none" strike="noStrike">
                          <a:effectLst/>
                        </a:rPr>
                        <a:t>Total Time</a:t>
                      </a:r>
                      <a:endParaRPr lang="en-US" sz="12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u="none" strike="noStrike">
                          <a:effectLst/>
                        </a:rPr>
                        <a:t>9</a:t>
                      </a:r>
                      <a:endParaRPr lang="en-US" sz="2000" b="1" i="0" u="none" strike="noStrike">
                        <a:solidFill>
                          <a:srgbClr val="FFC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Total Revenue </a:t>
                      </a:r>
                      <a:endParaRPr lang="en-US" sz="12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2000" u="none" strike="noStrike" dirty="0">
                          <a:effectLst/>
                        </a:rPr>
                        <a:t>2977</a:t>
                      </a:r>
                      <a:endParaRPr lang="en-US" sz="2000" b="1" i="0" u="none" strike="noStrike" dirty="0">
                        <a:solidFill>
                          <a:srgbClr val="FFC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719051987"/>
                  </a:ext>
                </a:extLst>
              </a:tr>
            </a:tbl>
          </a:graphicData>
        </a:graphic>
      </p:graphicFrame>
      <p:cxnSp>
        <p:nvCxnSpPr>
          <p:cNvPr id="22" name="Straight Connector 21">
            <a:extLst>
              <a:ext uri="{FF2B5EF4-FFF2-40B4-BE49-F238E27FC236}">
                <a16:creationId xmlns:a16="http://schemas.microsoft.com/office/drawing/2014/main" id="{E812E18D-CF4A-61E8-5564-5AF5CDD007EF}"/>
              </a:ext>
            </a:extLst>
          </p:cNvPr>
          <p:cNvCxnSpPr>
            <a:cxnSpLocks/>
          </p:cNvCxnSpPr>
          <p:nvPr/>
        </p:nvCxnSpPr>
        <p:spPr>
          <a:xfrm flipV="1">
            <a:off x="245706" y="2985351"/>
            <a:ext cx="10008637" cy="34602"/>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519F4BD7-B7D2-7F97-3372-FD9D8C14BF3E}"/>
              </a:ext>
            </a:extLst>
          </p:cNvPr>
          <p:cNvSpPr txBox="1"/>
          <p:nvPr/>
        </p:nvSpPr>
        <p:spPr>
          <a:xfrm>
            <a:off x="245706" y="0"/>
            <a:ext cx="8278286" cy="461665"/>
          </a:xfrm>
          <a:prstGeom prst="rect">
            <a:avLst/>
          </a:prstGeom>
          <a:noFill/>
        </p:spPr>
        <p:txBody>
          <a:bodyPr wrap="square" rtlCol="0">
            <a:spAutoFit/>
          </a:bodyPr>
          <a:lstStyle/>
          <a:p>
            <a:r>
              <a:rPr lang="en-IN" sz="2400" b="1" dirty="0">
                <a:solidFill>
                  <a:srgbClr val="002060"/>
                </a:solidFill>
              </a:rPr>
              <a:t>Swapping Station and DC Fast Charging</a:t>
            </a:r>
            <a:endParaRPr lang="en-US" sz="2400" b="1" dirty="0">
              <a:solidFill>
                <a:srgbClr val="002060"/>
              </a:solidFill>
            </a:endParaRPr>
          </a:p>
        </p:txBody>
      </p:sp>
      <p:pic>
        <p:nvPicPr>
          <p:cNvPr id="25" name="Picture 24" descr="A blue car with a green license plate&#10;&#10;Description automatically generated">
            <a:extLst>
              <a:ext uri="{FF2B5EF4-FFF2-40B4-BE49-F238E27FC236}">
                <a16:creationId xmlns:a16="http://schemas.microsoft.com/office/drawing/2014/main" id="{28C1A42D-A241-6951-1374-23C73BD15A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54258" y="5259070"/>
            <a:ext cx="1324380" cy="881315"/>
          </a:xfrm>
          <a:prstGeom prst="rect">
            <a:avLst/>
          </a:prstGeom>
        </p:spPr>
      </p:pic>
      <p:pic>
        <p:nvPicPr>
          <p:cNvPr id="28" name="Picture 27" descr="A red car with a white background with Holden Arboretum in the background&#10;&#10;Description automatically generated">
            <a:extLst>
              <a:ext uri="{FF2B5EF4-FFF2-40B4-BE49-F238E27FC236}">
                <a16:creationId xmlns:a16="http://schemas.microsoft.com/office/drawing/2014/main" id="{33D3961C-396B-1623-B75E-F7413DF76CC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6327" y="5163405"/>
            <a:ext cx="1435881" cy="896455"/>
          </a:xfrm>
          <a:prstGeom prst="rect">
            <a:avLst/>
          </a:prstGeom>
        </p:spPr>
      </p:pic>
      <p:pic>
        <p:nvPicPr>
          <p:cNvPr id="30" name="Picture 29" descr="A white car with black trim&#10;&#10;Description automatically generated">
            <a:extLst>
              <a:ext uri="{FF2B5EF4-FFF2-40B4-BE49-F238E27FC236}">
                <a16:creationId xmlns:a16="http://schemas.microsoft.com/office/drawing/2014/main" id="{1BCB5CFE-F9B8-87FF-08AD-C1AEB80ECB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54300" y="5239951"/>
            <a:ext cx="1324380" cy="743362"/>
          </a:xfrm>
          <a:prstGeom prst="rect">
            <a:avLst/>
          </a:prstGeom>
        </p:spPr>
      </p:pic>
      <p:pic>
        <p:nvPicPr>
          <p:cNvPr id="33" name="Picture 32" descr="A green car with a black roof&#10;&#10;Description automatically generated">
            <a:extLst>
              <a:ext uri="{FF2B5EF4-FFF2-40B4-BE49-F238E27FC236}">
                <a16:creationId xmlns:a16="http://schemas.microsoft.com/office/drawing/2014/main" id="{8844942F-927B-93FC-45D1-6F36075C98A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54343" y="5275492"/>
            <a:ext cx="938600" cy="550987"/>
          </a:xfrm>
          <a:prstGeom prst="rect">
            <a:avLst/>
          </a:prstGeom>
        </p:spPr>
      </p:pic>
      <p:pic>
        <p:nvPicPr>
          <p:cNvPr id="2050" name="Picture 2" descr="Battery Swapping &amp; Charging Stations ...">
            <a:extLst>
              <a:ext uri="{FF2B5EF4-FFF2-40B4-BE49-F238E27FC236}">
                <a16:creationId xmlns:a16="http://schemas.microsoft.com/office/drawing/2014/main" id="{1F8F626B-C209-DB52-C1A6-5BAB3D62F11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170802" y="133299"/>
            <a:ext cx="1908085" cy="1213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187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B42F62E-6FD1-E8C1-79DF-98D93707A871}"/>
              </a:ext>
            </a:extLst>
          </p:cNvPr>
          <p:cNvSpPr>
            <a:spLocks noGrp="1"/>
          </p:cNvSpPr>
          <p:nvPr>
            <p:ph type="sldNum" sz="quarter" idx="12"/>
          </p:nvPr>
        </p:nvSpPr>
        <p:spPr/>
        <p:txBody>
          <a:bodyPr/>
          <a:lstStyle/>
          <a:p>
            <a:fld id="{15FCCAAF-6324-40D0-99C1-825B83CC9B2F}" type="slidenum">
              <a:rPr lang="en-IN" smtClean="0"/>
              <a:t>19</a:t>
            </a:fld>
            <a:endParaRPr lang="en-IN"/>
          </a:p>
        </p:txBody>
      </p:sp>
      <p:pic>
        <p:nvPicPr>
          <p:cNvPr id="8" name="Picture 7">
            <a:extLst>
              <a:ext uri="{FF2B5EF4-FFF2-40B4-BE49-F238E27FC236}">
                <a16:creationId xmlns:a16="http://schemas.microsoft.com/office/drawing/2014/main" id="{0D6CB45E-77A7-C89B-1A9E-280A4CCDB216}"/>
              </a:ext>
            </a:extLst>
          </p:cNvPr>
          <p:cNvPicPr>
            <a:picLocks noChangeAspect="1"/>
          </p:cNvPicPr>
          <p:nvPr/>
        </p:nvPicPr>
        <p:blipFill>
          <a:blip r:embed="rId2"/>
          <a:srcRect t="7494" r="295" b="6992"/>
          <a:stretch/>
        </p:blipFill>
        <p:spPr>
          <a:xfrm>
            <a:off x="1071466" y="454695"/>
            <a:ext cx="9817358" cy="2764618"/>
          </a:xfrm>
          <a:prstGeom prst="rect">
            <a:avLst/>
          </a:prstGeom>
        </p:spPr>
      </p:pic>
      <p:sp>
        <p:nvSpPr>
          <p:cNvPr id="9" name="TextBox 8">
            <a:extLst>
              <a:ext uri="{FF2B5EF4-FFF2-40B4-BE49-F238E27FC236}">
                <a16:creationId xmlns:a16="http://schemas.microsoft.com/office/drawing/2014/main" id="{23BE3B76-1446-FB67-3E5F-0D92504B58AF}"/>
              </a:ext>
            </a:extLst>
          </p:cNvPr>
          <p:cNvSpPr txBox="1"/>
          <p:nvPr/>
        </p:nvSpPr>
        <p:spPr>
          <a:xfrm>
            <a:off x="242596" y="0"/>
            <a:ext cx="11713430" cy="523220"/>
          </a:xfrm>
          <a:prstGeom prst="rect">
            <a:avLst/>
          </a:prstGeom>
          <a:noFill/>
        </p:spPr>
        <p:txBody>
          <a:bodyPr wrap="square" rtlCol="0">
            <a:spAutoFit/>
          </a:bodyPr>
          <a:lstStyle/>
          <a:p>
            <a:pPr algn="ctr"/>
            <a:r>
              <a:rPr lang="en-US" sz="2800" b="1" dirty="0">
                <a:solidFill>
                  <a:srgbClr val="002060"/>
                </a:solidFill>
              </a:rPr>
              <a:t>Central Monitoring Station</a:t>
            </a:r>
          </a:p>
        </p:txBody>
      </p:sp>
      <p:sp>
        <p:nvSpPr>
          <p:cNvPr id="10" name="TextBox 9">
            <a:extLst>
              <a:ext uri="{FF2B5EF4-FFF2-40B4-BE49-F238E27FC236}">
                <a16:creationId xmlns:a16="http://schemas.microsoft.com/office/drawing/2014/main" id="{1B846B1F-E8A8-AD79-1AB7-F27DD3F9BAFE}"/>
              </a:ext>
            </a:extLst>
          </p:cNvPr>
          <p:cNvSpPr txBox="1"/>
          <p:nvPr/>
        </p:nvSpPr>
        <p:spPr>
          <a:xfrm>
            <a:off x="1518838" y="3618450"/>
            <a:ext cx="4125123" cy="523220"/>
          </a:xfrm>
          <a:prstGeom prst="rect">
            <a:avLst/>
          </a:prstGeom>
          <a:noFill/>
        </p:spPr>
        <p:txBody>
          <a:bodyPr wrap="square" rtlCol="0">
            <a:spAutoFit/>
          </a:bodyPr>
          <a:lstStyle/>
          <a:p>
            <a:r>
              <a:rPr lang="en-IN" sz="2800" b="1" dirty="0">
                <a:solidFill>
                  <a:srgbClr val="002060"/>
                </a:solidFill>
              </a:rPr>
              <a:t>EV Parameters calculation</a:t>
            </a:r>
            <a:endParaRPr lang="en-US" sz="2800" b="1" dirty="0">
              <a:solidFill>
                <a:srgbClr val="002060"/>
              </a:solidFill>
            </a:endParaRPr>
          </a:p>
        </p:txBody>
      </p:sp>
      <p:pic>
        <p:nvPicPr>
          <p:cNvPr id="12" name="Picture 11">
            <a:extLst>
              <a:ext uri="{FF2B5EF4-FFF2-40B4-BE49-F238E27FC236}">
                <a16:creationId xmlns:a16="http://schemas.microsoft.com/office/drawing/2014/main" id="{DCD02481-E3C7-89BB-1EFB-3AC1829F1223}"/>
              </a:ext>
            </a:extLst>
          </p:cNvPr>
          <p:cNvPicPr>
            <a:picLocks noChangeAspect="1"/>
          </p:cNvPicPr>
          <p:nvPr/>
        </p:nvPicPr>
        <p:blipFill>
          <a:blip r:embed="rId3"/>
          <a:stretch>
            <a:fillRect/>
          </a:stretch>
        </p:blipFill>
        <p:spPr>
          <a:xfrm>
            <a:off x="7274729" y="4173165"/>
            <a:ext cx="4573560" cy="2385289"/>
          </a:xfrm>
          <a:prstGeom prst="rect">
            <a:avLst/>
          </a:prstGeom>
        </p:spPr>
      </p:pic>
      <p:pic>
        <p:nvPicPr>
          <p:cNvPr id="13" name="Picture 12">
            <a:extLst>
              <a:ext uri="{FF2B5EF4-FFF2-40B4-BE49-F238E27FC236}">
                <a16:creationId xmlns:a16="http://schemas.microsoft.com/office/drawing/2014/main" id="{D47EA87B-6505-61D1-6546-720C99A274B2}"/>
              </a:ext>
            </a:extLst>
          </p:cNvPr>
          <p:cNvPicPr>
            <a:picLocks noChangeAspect="1"/>
          </p:cNvPicPr>
          <p:nvPr/>
        </p:nvPicPr>
        <p:blipFill>
          <a:blip r:embed="rId4"/>
          <a:srcRect t="5819"/>
          <a:stretch/>
        </p:blipFill>
        <p:spPr>
          <a:xfrm>
            <a:off x="447726" y="4053337"/>
            <a:ext cx="6369803" cy="2385289"/>
          </a:xfrm>
          <a:prstGeom prst="rect">
            <a:avLst/>
          </a:prstGeom>
        </p:spPr>
      </p:pic>
      <p:sp>
        <p:nvSpPr>
          <p:cNvPr id="14" name="TextBox 13">
            <a:extLst>
              <a:ext uri="{FF2B5EF4-FFF2-40B4-BE49-F238E27FC236}">
                <a16:creationId xmlns:a16="http://schemas.microsoft.com/office/drawing/2014/main" id="{DA63F480-F928-DE56-FF30-A73DC38ABFD9}"/>
              </a:ext>
            </a:extLst>
          </p:cNvPr>
          <p:cNvSpPr txBox="1"/>
          <p:nvPr/>
        </p:nvSpPr>
        <p:spPr>
          <a:xfrm>
            <a:off x="6715073" y="3691546"/>
            <a:ext cx="5432548" cy="523220"/>
          </a:xfrm>
          <a:prstGeom prst="rect">
            <a:avLst/>
          </a:prstGeom>
          <a:noFill/>
        </p:spPr>
        <p:txBody>
          <a:bodyPr wrap="square" rtlCol="0">
            <a:spAutoFit/>
          </a:bodyPr>
          <a:lstStyle/>
          <a:p>
            <a:r>
              <a:rPr lang="en-IN" sz="2800" b="1" dirty="0">
                <a:solidFill>
                  <a:srgbClr val="002060"/>
                </a:solidFill>
              </a:rPr>
              <a:t>EV Battery charging Parameters</a:t>
            </a:r>
            <a:endParaRPr lang="en-US" sz="2800" b="1" dirty="0">
              <a:solidFill>
                <a:srgbClr val="002060"/>
              </a:solidFill>
            </a:endParaRPr>
          </a:p>
        </p:txBody>
      </p:sp>
      <p:cxnSp>
        <p:nvCxnSpPr>
          <p:cNvPr id="16" name="Straight Connector 15">
            <a:extLst>
              <a:ext uri="{FF2B5EF4-FFF2-40B4-BE49-F238E27FC236}">
                <a16:creationId xmlns:a16="http://schemas.microsoft.com/office/drawing/2014/main" id="{B54675BE-11EF-B2B7-EEE5-4D12559CE4CF}"/>
              </a:ext>
            </a:extLst>
          </p:cNvPr>
          <p:cNvCxnSpPr/>
          <p:nvPr/>
        </p:nvCxnSpPr>
        <p:spPr>
          <a:xfrm>
            <a:off x="311285" y="3455429"/>
            <a:ext cx="10019489" cy="0"/>
          </a:xfrm>
          <a:prstGeom prst="line">
            <a:avLst/>
          </a:prstGeom>
          <a:ln w="38100">
            <a:solidFill>
              <a:schemeClr val="accent6">
                <a:lumMod val="50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9405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91283-2D51-2DD3-13BF-DE704A663E1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46746D2-A341-1CA6-8A2F-7CBE1159A434}"/>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744557B8-0127-CE3B-FD39-E4E624A33F95}"/>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9F90B03B-7160-1C0D-4C9D-EA75D6118F82}"/>
              </a:ext>
            </a:extLst>
          </p:cNvPr>
          <p:cNvSpPr>
            <a:spLocks noGrp="1"/>
          </p:cNvSpPr>
          <p:nvPr>
            <p:ph type="sldNum" sz="quarter" idx="12"/>
          </p:nvPr>
        </p:nvSpPr>
        <p:spPr/>
        <p:txBody>
          <a:bodyPr/>
          <a:lstStyle/>
          <a:p>
            <a:fld id="{15FCCAAF-6324-40D0-99C1-825B83CC9B2F}" type="slidenum">
              <a:rPr lang="en-IN" smtClean="0"/>
              <a:t>20</a:t>
            </a:fld>
            <a:endParaRPr lang="en-IN"/>
          </a:p>
        </p:txBody>
      </p:sp>
      <p:graphicFrame>
        <p:nvGraphicFramePr>
          <p:cNvPr id="3" name="Table 2">
            <a:extLst>
              <a:ext uri="{FF2B5EF4-FFF2-40B4-BE49-F238E27FC236}">
                <a16:creationId xmlns:a16="http://schemas.microsoft.com/office/drawing/2014/main" id="{B2535641-3D2B-AA83-CF31-D4FAE5180A1D}"/>
              </a:ext>
            </a:extLst>
          </p:cNvPr>
          <p:cNvGraphicFramePr>
            <a:graphicFrameLocks noGrp="1"/>
          </p:cNvGraphicFramePr>
          <p:nvPr>
            <p:extLst>
              <p:ext uri="{D42A27DB-BD31-4B8C-83A1-F6EECF244321}">
                <p14:modId xmlns:p14="http://schemas.microsoft.com/office/powerpoint/2010/main" val="3806578769"/>
              </p:ext>
            </p:extLst>
          </p:nvPr>
        </p:nvGraphicFramePr>
        <p:xfrm>
          <a:off x="266700" y="136525"/>
          <a:ext cx="11553826" cy="2120901"/>
        </p:xfrm>
        <a:graphic>
          <a:graphicData uri="http://schemas.openxmlformats.org/drawingml/2006/table">
            <a:tbl>
              <a:tblPr/>
              <a:tblGrid>
                <a:gridCol w="885311">
                  <a:extLst>
                    <a:ext uri="{9D8B030D-6E8A-4147-A177-3AD203B41FA5}">
                      <a16:colId xmlns:a16="http://schemas.microsoft.com/office/drawing/2014/main" val="4209489189"/>
                    </a:ext>
                  </a:extLst>
                </a:gridCol>
                <a:gridCol w="656079">
                  <a:extLst>
                    <a:ext uri="{9D8B030D-6E8A-4147-A177-3AD203B41FA5}">
                      <a16:colId xmlns:a16="http://schemas.microsoft.com/office/drawing/2014/main" val="34668946"/>
                    </a:ext>
                  </a:extLst>
                </a:gridCol>
                <a:gridCol w="616554">
                  <a:extLst>
                    <a:ext uri="{9D8B030D-6E8A-4147-A177-3AD203B41FA5}">
                      <a16:colId xmlns:a16="http://schemas.microsoft.com/office/drawing/2014/main" val="895211206"/>
                    </a:ext>
                  </a:extLst>
                </a:gridCol>
                <a:gridCol w="1146160">
                  <a:extLst>
                    <a:ext uri="{9D8B030D-6E8A-4147-A177-3AD203B41FA5}">
                      <a16:colId xmlns:a16="http://schemas.microsoft.com/office/drawing/2014/main" val="1197518995"/>
                    </a:ext>
                  </a:extLst>
                </a:gridCol>
                <a:gridCol w="648174">
                  <a:extLst>
                    <a:ext uri="{9D8B030D-6E8A-4147-A177-3AD203B41FA5}">
                      <a16:colId xmlns:a16="http://schemas.microsoft.com/office/drawing/2014/main" val="3469946241"/>
                    </a:ext>
                  </a:extLst>
                </a:gridCol>
                <a:gridCol w="648174">
                  <a:extLst>
                    <a:ext uri="{9D8B030D-6E8A-4147-A177-3AD203B41FA5}">
                      <a16:colId xmlns:a16="http://schemas.microsoft.com/office/drawing/2014/main" val="3626885485"/>
                    </a:ext>
                  </a:extLst>
                </a:gridCol>
                <a:gridCol w="223962">
                  <a:extLst>
                    <a:ext uri="{9D8B030D-6E8A-4147-A177-3AD203B41FA5}">
                      <a16:colId xmlns:a16="http://schemas.microsoft.com/office/drawing/2014/main" val="1923535993"/>
                    </a:ext>
                  </a:extLst>
                </a:gridCol>
                <a:gridCol w="1580912">
                  <a:extLst>
                    <a:ext uri="{9D8B030D-6E8A-4147-A177-3AD203B41FA5}">
                      <a16:colId xmlns:a16="http://schemas.microsoft.com/office/drawing/2014/main" val="2896980921"/>
                    </a:ext>
                  </a:extLst>
                </a:gridCol>
                <a:gridCol w="782551">
                  <a:extLst>
                    <a:ext uri="{9D8B030D-6E8A-4147-A177-3AD203B41FA5}">
                      <a16:colId xmlns:a16="http://schemas.microsoft.com/office/drawing/2014/main" val="796534009"/>
                    </a:ext>
                  </a:extLst>
                </a:gridCol>
                <a:gridCol w="505891">
                  <a:extLst>
                    <a:ext uri="{9D8B030D-6E8A-4147-A177-3AD203B41FA5}">
                      <a16:colId xmlns:a16="http://schemas.microsoft.com/office/drawing/2014/main" val="1314866839"/>
                    </a:ext>
                  </a:extLst>
                </a:gridCol>
                <a:gridCol w="1051306">
                  <a:extLst>
                    <a:ext uri="{9D8B030D-6E8A-4147-A177-3AD203B41FA5}">
                      <a16:colId xmlns:a16="http://schemas.microsoft.com/office/drawing/2014/main" val="149460085"/>
                    </a:ext>
                  </a:extLst>
                </a:gridCol>
                <a:gridCol w="184440">
                  <a:extLst>
                    <a:ext uri="{9D8B030D-6E8A-4147-A177-3AD203B41FA5}">
                      <a16:colId xmlns:a16="http://schemas.microsoft.com/office/drawing/2014/main" val="3893193770"/>
                    </a:ext>
                  </a:extLst>
                </a:gridCol>
                <a:gridCol w="1786429">
                  <a:extLst>
                    <a:ext uri="{9D8B030D-6E8A-4147-A177-3AD203B41FA5}">
                      <a16:colId xmlns:a16="http://schemas.microsoft.com/office/drawing/2014/main" val="3618429772"/>
                    </a:ext>
                  </a:extLst>
                </a:gridCol>
                <a:gridCol w="837883">
                  <a:extLst>
                    <a:ext uri="{9D8B030D-6E8A-4147-A177-3AD203B41FA5}">
                      <a16:colId xmlns:a16="http://schemas.microsoft.com/office/drawing/2014/main" val="2562856153"/>
                    </a:ext>
                  </a:extLst>
                </a:gridCol>
              </a:tblGrid>
              <a:tr h="450074">
                <a:tc gridSpan="6">
                  <a:txBody>
                    <a:bodyPr/>
                    <a:lstStyle/>
                    <a:p>
                      <a:pPr algn="ctr" fontAlgn="b"/>
                      <a:r>
                        <a:rPr lang="en-US" sz="1900" b="1" i="0" u="none" strike="noStrike">
                          <a:solidFill>
                            <a:srgbClr val="002060"/>
                          </a:solidFill>
                          <a:effectLst/>
                          <a:latin typeface="Calibri" panose="020F0502020204030204" pitchFamily="34" charset="0"/>
                        </a:rPr>
                        <a:t>Power Generation</a:t>
                      </a: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4">
                  <a:txBody>
                    <a:bodyPr/>
                    <a:lstStyle/>
                    <a:p>
                      <a:pPr algn="ctr" fontAlgn="b"/>
                      <a:r>
                        <a:rPr lang="en-US" sz="1900" b="1" i="0" u="none" strike="noStrike">
                          <a:solidFill>
                            <a:srgbClr val="002060"/>
                          </a:solidFill>
                          <a:effectLst/>
                          <a:latin typeface="Calibri" panose="020F0502020204030204" pitchFamily="34" charset="0"/>
                        </a:rPr>
                        <a:t>PCC - </a:t>
                      </a:r>
                      <a:r>
                        <a:rPr lang="en-US" sz="1400" b="1" i="0" u="none" strike="noStrike">
                          <a:solidFill>
                            <a:srgbClr val="002060"/>
                          </a:solidFill>
                          <a:effectLst/>
                          <a:latin typeface="Calibri" panose="020F0502020204030204" pitchFamily="34" charset="0"/>
                        </a:rPr>
                        <a:t>Point of common coupling</a:t>
                      </a:r>
                      <a:endParaRPr lang="en-US" sz="1900" b="1" i="0" u="none" strike="noStrike">
                        <a:solidFill>
                          <a:srgbClr val="00206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2">
                  <a:txBody>
                    <a:bodyPr/>
                    <a:lstStyle/>
                    <a:p>
                      <a:pPr algn="ctr" fontAlgn="b"/>
                      <a:r>
                        <a:rPr lang="en-US" sz="1600" b="1" i="0" u="none" strike="noStrike">
                          <a:solidFill>
                            <a:srgbClr val="002060"/>
                          </a:solidFill>
                          <a:effectLst/>
                          <a:latin typeface="Calibri" panose="020F0502020204030204" pitchFamily="34" charset="0"/>
                        </a:rPr>
                        <a:t>ESS - Charging </a:t>
                      </a: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extLst>
                  <a:ext uri="{0D108BD9-81ED-4DB2-BD59-A6C34878D82A}">
                    <a16:rowId xmlns:a16="http://schemas.microsoft.com/office/drawing/2014/main" val="3512280773"/>
                  </a:ext>
                </a:extLst>
              </a:tr>
              <a:tr h="424115">
                <a:tc>
                  <a:txBody>
                    <a:bodyPr/>
                    <a:lstStyle/>
                    <a:p>
                      <a:pPr algn="ctr" fontAlgn="ctr"/>
                      <a:r>
                        <a:rPr lang="en-US" sz="900" b="1" i="0" u="none" strike="noStrike">
                          <a:solidFill>
                            <a:srgbClr val="FF0000"/>
                          </a:solidFill>
                          <a:effectLst/>
                          <a:latin typeface="Calibri" panose="020F0502020204030204" pitchFamily="34" charset="0"/>
                        </a:rPr>
                        <a:t>Power Source</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US" sz="900" b="1" i="0" u="none" strike="noStrike">
                          <a:solidFill>
                            <a:srgbClr val="FF0000"/>
                          </a:solidFill>
                          <a:effectLst/>
                          <a:latin typeface="Calibri" panose="020F0502020204030204" pitchFamily="34" charset="0"/>
                        </a:rPr>
                        <a:t>Voltage [V]</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US" sz="900" b="1" i="0" u="none" strike="noStrike">
                          <a:solidFill>
                            <a:srgbClr val="FF0000"/>
                          </a:solidFill>
                          <a:effectLst/>
                          <a:latin typeface="Calibri" panose="020F0502020204030204" pitchFamily="34" charset="0"/>
                        </a:rPr>
                        <a:t>Current [I]</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US" sz="900" b="1" i="0" u="none" strike="noStrike">
                          <a:solidFill>
                            <a:srgbClr val="FF0000"/>
                          </a:solidFill>
                          <a:effectLst/>
                          <a:latin typeface="Calibri" panose="020F0502020204030204" pitchFamily="34" charset="0"/>
                        </a:rPr>
                        <a:t>% of Generation/day</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US" sz="700" b="1" i="0" u="none" strike="noStrike">
                          <a:solidFill>
                            <a:srgbClr val="FF0000"/>
                          </a:solidFill>
                          <a:effectLst/>
                          <a:latin typeface="Calibri" panose="020F0502020204030204" pitchFamily="34" charset="0"/>
                        </a:rPr>
                        <a:t>Power [P]- KWh</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US" sz="900" b="1" i="0" u="none" strike="noStrike">
                          <a:solidFill>
                            <a:srgbClr val="FF0000"/>
                          </a:solidFill>
                          <a:effectLst/>
                          <a:latin typeface="Calibri" panose="020F0502020204030204" pitchFamily="34" charset="0"/>
                        </a:rPr>
                        <a:t>Power/day</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4">
                  <a:txBody>
                    <a:bodyPr/>
                    <a:lstStyle/>
                    <a:p>
                      <a:pPr algn="ctr" fontAlgn="ctr"/>
                      <a:r>
                        <a:rPr lang="en-US" sz="900" b="0" i="0" u="none" strike="noStrike" dirty="0">
                          <a:solidFill>
                            <a:srgbClr val="000000"/>
                          </a:solidFill>
                          <a:effectLst/>
                          <a:latin typeface="Calibri" panose="020F0502020204030204" pitchFamily="34" charset="0"/>
                        </a:rPr>
                        <a:t>PCC will Logically be controlled on availability of source</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900" b="1" i="0" u="none" strike="noStrike">
                          <a:solidFill>
                            <a:srgbClr val="002060"/>
                          </a:solidFill>
                          <a:effectLst/>
                          <a:latin typeface="Calibri" panose="020F0502020204030204" pitchFamily="34" charset="0"/>
                        </a:rPr>
                        <a:t>No.of batteries </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r" fontAlgn="ctr"/>
                      <a:r>
                        <a:rPr lang="en-US" sz="900" b="0" i="0" u="none" strike="noStrike">
                          <a:solidFill>
                            <a:srgbClr val="000000"/>
                          </a:solidFill>
                          <a:effectLst/>
                          <a:latin typeface="Calibri" panose="020F0502020204030204" pitchFamily="34" charset="0"/>
                        </a:rPr>
                        <a:t>40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3507782615"/>
                  </a:ext>
                </a:extLst>
              </a:tr>
              <a:tr h="234617">
                <a:tc>
                  <a:txBody>
                    <a:bodyPr/>
                    <a:lstStyle/>
                    <a:p>
                      <a:pPr algn="ctr" fontAlgn="ctr"/>
                      <a:r>
                        <a:rPr lang="en-US" sz="900" b="1" i="0" u="none" strike="noStrike">
                          <a:solidFill>
                            <a:srgbClr val="002060"/>
                          </a:solidFill>
                          <a:effectLst/>
                          <a:latin typeface="Calibri" panose="020F0502020204030204" pitchFamily="34" charset="0"/>
                        </a:rPr>
                        <a:t>Solar</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a:solidFill>
                            <a:srgbClr val="000000"/>
                          </a:solidFill>
                          <a:effectLst/>
                          <a:latin typeface="Calibri" panose="020F0502020204030204" pitchFamily="34" charset="0"/>
                        </a:rPr>
                        <a:t>430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900" b="0" i="0" u="none" strike="noStrike">
                          <a:solidFill>
                            <a:srgbClr val="000000"/>
                          </a:solidFill>
                          <a:effectLst/>
                          <a:latin typeface="Calibri" panose="020F0502020204030204" pitchFamily="34" charset="0"/>
                        </a:rPr>
                        <a:t>100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900" b="0" i="0" u="none" strike="noStrike" dirty="0">
                          <a:solidFill>
                            <a:srgbClr val="000000"/>
                          </a:solidFill>
                          <a:effectLst/>
                          <a:latin typeface="Calibri" panose="020F0502020204030204" pitchFamily="34" charset="0"/>
                        </a:rPr>
                        <a:t>60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900" b="1" i="0" u="none" strike="noStrike">
                          <a:solidFill>
                            <a:srgbClr val="000000"/>
                          </a:solidFill>
                          <a:effectLst/>
                          <a:latin typeface="Calibri" panose="020F0502020204030204" pitchFamily="34" charset="0"/>
                        </a:rPr>
                        <a:t>43</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900" b="1" i="0" u="none" strike="noStrike">
                          <a:solidFill>
                            <a:srgbClr val="000000"/>
                          </a:solidFill>
                          <a:effectLst/>
                          <a:latin typeface="Calibri" panose="020F0502020204030204" pitchFamily="34" charset="0"/>
                        </a:rPr>
                        <a:t>1032</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900" b="1" i="0" u="none" strike="noStrike">
                          <a:solidFill>
                            <a:srgbClr val="002060"/>
                          </a:solidFill>
                          <a:effectLst/>
                          <a:latin typeface="Calibri" panose="020F0502020204030204" pitchFamily="34" charset="0"/>
                        </a:rPr>
                        <a:t>Voltage - [V]</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a:solidFill>
                            <a:srgbClr val="000000"/>
                          </a:solidFill>
                          <a:effectLst/>
                          <a:latin typeface="Calibri" panose="020F0502020204030204" pitchFamily="34" charset="0"/>
                        </a:rPr>
                        <a:t>430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rowSpan="2" gridSpan="2">
                  <a:txBody>
                    <a:bodyPr/>
                    <a:lstStyle/>
                    <a:p>
                      <a:pPr algn="ctr" fontAlgn="ctr"/>
                      <a:r>
                        <a:rPr lang="en-US" sz="1100" b="0" i="0" u="none" strike="noStrike">
                          <a:solidFill>
                            <a:srgbClr val="000000"/>
                          </a:solidFill>
                          <a:effectLst/>
                          <a:latin typeface="Calibri" panose="020F0502020204030204" pitchFamily="34" charset="0"/>
                        </a:rPr>
                        <a:t>Output Power/day in KW</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rowSpan="2" h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900" b="1" i="0" u="none" strike="noStrike">
                          <a:solidFill>
                            <a:srgbClr val="002060"/>
                          </a:solidFill>
                          <a:effectLst/>
                          <a:latin typeface="Calibri" panose="020F0502020204030204" pitchFamily="34" charset="0"/>
                        </a:rPr>
                        <a:t>Voltage</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r" fontAlgn="ctr"/>
                      <a:r>
                        <a:rPr lang="en-US" sz="900" b="0" i="0" u="none" strike="noStrike">
                          <a:solidFill>
                            <a:srgbClr val="000000"/>
                          </a:solidFill>
                          <a:effectLst/>
                          <a:latin typeface="Calibri" panose="020F0502020204030204" pitchFamily="34" charset="0"/>
                        </a:rPr>
                        <a:t>12</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2474418077"/>
                  </a:ext>
                </a:extLst>
              </a:tr>
              <a:tr h="234617">
                <a:tc>
                  <a:txBody>
                    <a:bodyPr/>
                    <a:lstStyle/>
                    <a:p>
                      <a:pPr algn="ctr" fontAlgn="ctr"/>
                      <a:r>
                        <a:rPr lang="en-US" sz="900" b="1" i="0" u="none" strike="noStrike">
                          <a:solidFill>
                            <a:srgbClr val="002060"/>
                          </a:solidFill>
                          <a:effectLst/>
                          <a:latin typeface="Calibri" panose="020F0502020204030204" pitchFamily="34" charset="0"/>
                        </a:rPr>
                        <a:t>ESS</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a:solidFill>
                            <a:srgbClr val="000000"/>
                          </a:solidFill>
                          <a:effectLst/>
                          <a:latin typeface="Calibri" panose="020F0502020204030204" pitchFamily="34" charset="0"/>
                        </a:rPr>
                        <a:t>480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900" b="0" i="0" u="none" strike="noStrike">
                          <a:solidFill>
                            <a:srgbClr val="000000"/>
                          </a:solidFill>
                          <a:effectLst/>
                          <a:latin typeface="Calibri" panose="020F0502020204030204" pitchFamily="34" charset="0"/>
                        </a:rPr>
                        <a:t>50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900" b="0" i="0" u="none" strike="noStrike" dirty="0">
                          <a:solidFill>
                            <a:srgbClr val="000000"/>
                          </a:solidFill>
                          <a:effectLst/>
                          <a:latin typeface="Calibri" panose="020F0502020204030204" pitchFamily="34" charset="0"/>
                        </a:rPr>
                        <a:t>30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900" b="1" i="0" u="none" strike="noStrike">
                          <a:solidFill>
                            <a:srgbClr val="000000"/>
                          </a:solidFill>
                          <a:effectLst/>
                          <a:latin typeface="Calibri" panose="020F0502020204030204" pitchFamily="34" charset="0"/>
                        </a:rPr>
                        <a:t>24</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900" b="1" i="0" u="none" strike="noStrike">
                          <a:solidFill>
                            <a:srgbClr val="000000"/>
                          </a:solidFill>
                          <a:effectLst/>
                          <a:latin typeface="Calibri" panose="020F0502020204030204" pitchFamily="34" charset="0"/>
                        </a:rPr>
                        <a:t>576</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900" b="1" i="0" u="none" strike="noStrike">
                          <a:solidFill>
                            <a:srgbClr val="002060"/>
                          </a:solidFill>
                          <a:effectLst/>
                          <a:latin typeface="Calibri" panose="020F0502020204030204" pitchFamily="34" charset="0"/>
                        </a:rPr>
                        <a:t>Current - [I]</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a:solidFill>
                            <a:srgbClr val="000000"/>
                          </a:solidFill>
                          <a:effectLst/>
                          <a:latin typeface="Calibri" panose="020F0502020204030204" pitchFamily="34" charset="0"/>
                        </a:rPr>
                        <a:t>80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2" vMerge="1">
                  <a:txBody>
                    <a:bodyPr/>
                    <a:lstStyle/>
                    <a:p>
                      <a:endParaRPr lang="en-US"/>
                    </a:p>
                  </a:txBody>
                  <a:tcPr/>
                </a:tc>
                <a:tc hMerge="1" vMerge="1">
                  <a:txBody>
                    <a:bodyPr/>
                    <a:lstStyle/>
                    <a:p>
                      <a:endParaRPr lang="en-US"/>
                    </a:p>
                  </a:txBody>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900" b="1" i="0" u="none" strike="noStrike">
                          <a:solidFill>
                            <a:srgbClr val="002060"/>
                          </a:solidFill>
                          <a:effectLst/>
                          <a:latin typeface="Calibri" panose="020F0502020204030204" pitchFamily="34" charset="0"/>
                        </a:rPr>
                        <a:t>Amper hour - capacity </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r" fontAlgn="ctr"/>
                      <a:r>
                        <a:rPr lang="en-US" sz="900" b="0" i="0" u="none" strike="noStrike">
                          <a:solidFill>
                            <a:srgbClr val="000000"/>
                          </a:solidFill>
                          <a:effectLst/>
                          <a:latin typeface="Calibri" panose="020F0502020204030204" pitchFamily="34" charset="0"/>
                        </a:rPr>
                        <a:t>100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2238309095"/>
                  </a:ext>
                </a:extLst>
              </a:tr>
              <a:tr h="397043">
                <a:tc>
                  <a:txBody>
                    <a:bodyPr/>
                    <a:lstStyle/>
                    <a:p>
                      <a:pPr algn="ctr" fontAlgn="ctr"/>
                      <a:r>
                        <a:rPr lang="en-US" sz="900" b="1" i="0" u="none" strike="noStrike">
                          <a:solidFill>
                            <a:srgbClr val="002060"/>
                          </a:solidFill>
                          <a:effectLst/>
                          <a:latin typeface="Calibri" panose="020F0502020204030204" pitchFamily="34" charset="0"/>
                        </a:rPr>
                        <a:t>Grid</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a:solidFill>
                            <a:srgbClr val="000000"/>
                          </a:solidFill>
                          <a:effectLst/>
                          <a:latin typeface="Calibri" panose="020F0502020204030204" pitchFamily="34" charset="0"/>
                        </a:rPr>
                        <a:t>435</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900" b="0" i="0" u="none" strike="noStrike">
                          <a:solidFill>
                            <a:srgbClr val="000000"/>
                          </a:solidFill>
                          <a:effectLst/>
                          <a:latin typeface="Calibri" panose="020F0502020204030204" pitchFamily="34" charset="0"/>
                        </a:rPr>
                        <a:t>20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900" b="0" i="0" u="none" strike="noStrike" dirty="0">
                          <a:solidFill>
                            <a:srgbClr val="000000"/>
                          </a:solidFill>
                          <a:effectLst/>
                          <a:latin typeface="Calibri" panose="020F0502020204030204" pitchFamily="34" charset="0"/>
                        </a:rPr>
                        <a:t>10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900" b="1" i="0" u="none" strike="noStrike">
                          <a:solidFill>
                            <a:srgbClr val="000000"/>
                          </a:solidFill>
                          <a:effectLst/>
                          <a:latin typeface="Calibri" panose="020F0502020204030204" pitchFamily="34" charset="0"/>
                        </a:rPr>
                        <a:t>9</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900" b="1" i="0" u="none" strike="noStrike">
                          <a:solidFill>
                            <a:srgbClr val="000000"/>
                          </a:solidFill>
                          <a:effectLst/>
                          <a:latin typeface="Calibri" panose="020F0502020204030204" pitchFamily="34" charset="0"/>
                        </a:rPr>
                        <a:t>209</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E0B4"/>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900" b="1" i="0" u="none" strike="noStrike">
                          <a:solidFill>
                            <a:srgbClr val="002060"/>
                          </a:solidFill>
                          <a:effectLst/>
                          <a:latin typeface="Calibri" panose="020F0502020204030204" pitchFamily="34" charset="0"/>
                        </a:rPr>
                        <a:t>Power - [W] - KW/h </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900" b="0" i="0" u="none" strike="noStrike">
                          <a:solidFill>
                            <a:srgbClr val="000000"/>
                          </a:solidFill>
                          <a:effectLst/>
                          <a:latin typeface="Calibri" panose="020F0502020204030204" pitchFamily="34" charset="0"/>
                        </a:rPr>
                        <a:t>75</a:t>
                      </a:r>
                    </a:p>
                  </a:txBody>
                  <a:tcPr marL="5924" marR="5924" marT="59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r" fontAlgn="ctr"/>
                      <a:r>
                        <a:rPr lang="en-US" sz="1600" b="1" i="0" u="none" strike="noStrike" dirty="0">
                          <a:solidFill>
                            <a:srgbClr val="FFC000"/>
                          </a:solidFill>
                          <a:effectLst/>
                          <a:latin typeface="Calibri" panose="020F0502020204030204" pitchFamily="34" charset="0"/>
                        </a:rPr>
                        <a:t>1800</a:t>
                      </a:r>
                    </a:p>
                  </a:txBody>
                  <a:tcPr marL="5924" marR="5924" marT="5924" marB="0" anchor="ctr">
                    <a:lnL>
                      <a:noFill/>
                    </a:lnL>
                    <a:lnR>
                      <a:noFill/>
                    </a:lnR>
                    <a:lnT w="6350" cap="flat" cmpd="sng" algn="ctr">
                      <a:solidFill>
                        <a:srgbClr val="000000"/>
                      </a:solidFill>
                      <a:prstDash val="solid"/>
                      <a:round/>
                      <a:headEnd type="none" w="med" len="med"/>
                      <a:tailEnd type="none" w="med" len="med"/>
                    </a:lnT>
                    <a:lnB>
                      <a:noFill/>
                    </a:lnB>
                    <a:solidFill>
                      <a:srgbClr val="548235"/>
                    </a:solidFill>
                  </a:tcPr>
                </a:tc>
                <a:tc>
                  <a:txBody>
                    <a:bodyPr/>
                    <a:lstStyle/>
                    <a:p>
                      <a:pPr algn="l" fontAlgn="ctr"/>
                      <a:r>
                        <a:rPr lang="en-US" sz="1600" b="1" i="0" u="none" strike="noStrike" dirty="0">
                          <a:solidFill>
                            <a:srgbClr val="FFC000"/>
                          </a:solidFill>
                          <a:effectLst/>
                          <a:latin typeface="Calibri" panose="020F0502020204030204" pitchFamily="34" charset="0"/>
                        </a:rPr>
                        <a:t>Gen /day</a:t>
                      </a:r>
                    </a:p>
                  </a:txBody>
                  <a:tcPr marL="5924" marR="5924" marT="5924"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548235"/>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900" b="1" i="0" u="none" strike="noStrike">
                          <a:solidFill>
                            <a:srgbClr val="002060"/>
                          </a:solidFill>
                          <a:effectLst/>
                          <a:latin typeface="Calibri" panose="020F0502020204030204" pitchFamily="34" charset="0"/>
                        </a:rPr>
                        <a:t>Power / charge - Watt / hr</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r" fontAlgn="ctr"/>
                      <a:r>
                        <a:rPr lang="en-US" sz="900" b="0" i="0" u="none" strike="noStrike">
                          <a:solidFill>
                            <a:srgbClr val="000000"/>
                          </a:solidFill>
                          <a:effectLst/>
                          <a:latin typeface="Calibri" panose="020F0502020204030204" pitchFamily="34" charset="0"/>
                        </a:rPr>
                        <a:t>48000</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1130673191"/>
                  </a:ext>
                </a:extLst>
              </a:tr>
              <a:tr h="380435">
                <a:tc gridSpan="5">
                  <a:txBody>
                    <a:bodyPr/>
                    <a:lstStyle/>
                    <a:p>
                      <a:pPr algn="ctr" fontAlgn="ctr"/>
                      <a:r>
                        <a:rPr lang="en-US" sz="900" b="1" i="0" u="none" strike="noStrike" dirty="0">
                          <a:solidFill>
                            <a:srgbClr val="000000"/>
                          </a:solidFill>
                          <a:effectLst/>
                          <a:latin typeface="Calibri" panose="020F0502020204030204" pitchFamily="34" charset="0"/>
                        </a:rPr>
                        <a:t>Total Power Generation per day in KW/24 </a:t>
                      </a:r>
                      <a:r>
                        <a:rPr lang="en-US" sz="900" b="1" i="0" u="none" strike="noStrike" dirty="0" err="1">
                          <a:solidFill>
                            <a:srgbClr val="000000"/>
                          </a:solidFill>
                          <a:effectLst/>
                          <a:latin typeface="Calibri" panose="020F0502020204030204" pitchFamily="34" charset="0"/>
                        </a:rPr>
                        <a:t>hr</a:t>
                      </a:r>
                      <a:endParaRPr lang="en-US" sz="900" b="1" i="0" u="none" strike="noStrike" dirty="0">
                        <a:solidFill>
                          <a:srgbClr val="000000"/>
                        </a:solidFill>
                        <a:effectLst/>
                        <a:latin typeface="Calibri" panose="020F0502020204030204" pitchFamily="34" charset="0"/>
                      </a:endParaRPr>
                    </a:p>
                  </a:txBody>
                  <a:tcPr marL="5924" marR="5924" marT="5924"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fontAlgn="ctr"/>
                      <a:r>
                        <a:rPr lang="en-US" sz="1600" b="1" i="0" u="none" strike="noStrike">
                          <a:solidFill>
                            <a:srgbClr val="FFC000"/>
                          </a:solidFill>
                          <a:effectLst/>
                          <a:latin typeface="Calibri" panose="020F0502020204030204" pitchFamily="34" charset="0"/>
                        </a:rPr>
                        <a:t>1817</a:t>
                      </a:r>
                    </a:p>
                  </a:txBody>
                  <a:tcPr marL="5924" marR="5924" marT="592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235"/>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r>
                        <a:rPr lang="en-US" sz="900" b="1" i="0" u="none" strike="noStrike">
                          <a:solidFill>
                            <a:srgbClr val="000000"/>
                          </a:solidFill>
                          <a:effectLst/>
                          <a:latin typeface="Calibri" panose="020F0502020204030204" pitchFamily="34" charset="0"/>
                        </a:rPr>
                        <a:t>Power Avaliability</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sz="900" b="1" i="0" u="none" strike="noStrike">
                          <a:solidFill>
                            <a:srgbClr val="000000"/>
                          </a:solidFill>
                          <a:effectLst/>
                          <a:latin typeface="Calibri" panose="020F0502020204030204" pitchFamily="34" charset="0"/>
                        </a:rPr>
                        <a:t>1.17</a:t>
                      </a:r>
                    </a:p>
                  </a:txBody>
                  <a:tcPr marL="5924" marR="5924" marT="5924"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600" b="1" i="0" u="none" strike="noStrike" dirty="0">
                          <a:solidFill>
                            <a:srgbClr val="FFC000"/>
                          </a:solidFill>
                          <a:effectLst/>
                          <a:latin typeface="Calibri" panose="020F0502020204030204" pitchFamily="34" charset="0"/>
                        </a:rPr>
                        <a:t>1772</a:t>
                      </a:r>
                    </a:p>
                  </a:txBody>
                  <a:tcPr marL="5924" marR="5924" marT="5924" marB="0" anchor="ctr">
                    <a:lnL>
                      <a:noFill/>
                    </a:lnL>
                    <a:lnR>
                      <a:noFill/>
                    </a:lnR>
                    <a:lnT>
                      <a:noFill/>
                    </a:lnT>
                    <a:lnB w="6350" cap="flat" cmpd="sng" algn="ctr">
                      <a:solidFill>
                        <a:srgbClr val="000000"/>
                      </a:solidFill>
                      <a:prstDash val="solid"/>
                      <a:round/>
                      <a:headEnd type="none" w="med" len="med"/>
                      <a:tailEnd type="none" w="med" len="med"/>
                    </a:lnB>
                    <a:solidFill>
                      <a:srgbClr val="548235"/>
                    </a:solidFill>
                  </a:tcPr>
                </a:tc>
                <a:tc>
                  <a:txBody>
                    <a:bodyPr/>
                    <a:lstStyle/>
                    <a:p>
                      <a:pPr algn="l" fontAlgn="ctr"/>
                      <a:r>
                        <a:rPr lang="en-US" sz="1600" b="1" i="0" u="none" strike="noStrike">
                          <a:solidFill>
                            <a:srgbClr val="FFC000"/>
                          </a:solidFill>
                          <a:effectLst/>
                          <a:latin typeface="Calibri" panose="020F0502020204030204" pitchFamily="34" charset="0"/>
                        </a:rPr>
                        <a:t>use / day</a:t>
                      </a:r>
                    </a:p>
                  </a:txBody>
                  <a:tcPr marL="5924" marR="5924" marT="5924"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548235"/>
                    </a:solidFill>
                  </a:tcPr>
                </a:tc>
                <a:tc>
                  <a:txBody>
                    <a:bodyPr/>
                    <a:lstStyle/>
                    <a:p>
                      <a:pPr algn="l" fontAlgn="b"/>
                      <a:endParaRPr lang="en-US" sz="900" b="0" i="0" u="none" strike="noStrike">
                        <a:solidFill>
                          <a:srgbClr val="000000"/>
                        </a:solidFill>
                        <a:effectLst/>
                        <a:latin typeface="Calibri" panose="020F0502020204030204" pitchFamily="34" charset="0"/>
                      </a:endParaRPr>
                    </a:p>
                  </a:txBody>
                  <a:tcPr marL="5924" marR="5924" marT="592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900" b="1" i="0" u="none" strike="noStrike">
                          <a:solidFill>
                            <a:srgbClr val="002060"/>
                          </a:solidFill>
                          <a:effectLst/>
                          <a:latin typeface="Calibri" panose="020F0502020204030204" pitchFamily="34" charset="0"/>
                        </a:rPr>
                        <a:t>Power / one cycle charge - KW </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r" fontAlgn="ctr"/>
                      <a:r>
                        <a:rPr lang="en-US" sz="1600" b="1" i="0" u="none" strike="noStrike" dirty="0">
                          <a:solidFill>
                            <a:srgbClr val="FFC000"/>
                          </a:solidFill>
                          <a:effectLst/>
                          <a:latin typeface="Calibri" panose="020F0502020204030204" pitchFamily="34" charset="0"/>
                        </a:rPr>
                        <a:t>48</a:t>
                      </a:r>
                    </a:p>
                  </a:txBody>
                  <a:tcPr marL="5924" marR="5924" marT="59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extLst>
                  <a:ext uri="{0D108BD9-81ED-4DB2-BD59-A6C34878D82A}">
                    <a16:rowId xmlns:a16="http://schemas.microsoft.com/office/drawing/2014/main" val="2991166326"/>
                  </a:ext>
                </a:extLst>
              </a:tr>
            </a:tbl>
          </a:graphicData>
        </a:graphic>
      </p:graphicFrame>
      <p:graphicFrame>
        <p:nvGraphicFramePr>
          <p:cNvPr id="8" name="Table 7">
            <a:extLst>
              <a:ext uri="{FF2B5EF4-FFF2-40B4-BE49-F238E27FC236}">
                <a16:creationId xmlns:a16="http://schemas.microsoft.com/office/drawing/2014/main" id="{5E524995-73E9-653E-8391-4C07FB160BA3}"/>
              </a:ext>
            </a:extLst>
          </p:cNvPr>
          <p:cNvGraphicFramePr>
            <a:graphicFrameLocks noGrp="1"/>
          </p:cNvGraphicFramePr>
          <p:nvPr/>
        </p:nvGraphicFramePr>
        <p:xfrm>
          <a:off x="193676" y="2505868"/>
          <a:ext cx="6273802" cy="3151014"/>
        </p:xfrm>
        <a:graphic>
          <a:graphicData uri="http://schemas.openxmlformats.org/drawingml/2006/table">
            <a:tbl>
              <a:tblPr/>
              <a:tblGrid>
                <a:gridCol w="953672">
                  <a:extLst>
                    <a:ext uri="{9D8B030D-6E8A-4147-A177-3AD203B41FA5}">
                      <a16:colId xmlns:a16="http://schemas.microsoft.com/office/drawing/2014/main" val="1798620186"/>
                    </a:ext>
                  </a:extLst>
                </a:gridCol>
                <a:gridCol w="565392">
                  <a:extLst>
                    <a:ext uri="{9D8B030D-6E8A-4147-A177-3AD203B41FA5}">
                      <a16:colId xmlns:a16="http://schemas.microsoft.com/office/drawing/2014/main" val="3913095961"/>
                    </a:ext>
                  </a:extLst>
                </a:gridCol>
                <a:gridCol w="531331">
                  <a:extLst>
                    <a:ext uri="{9D8B030D-6E8A-4147-A177-3AD203B41FA5}">
                      <a16:colId xmlns:a16="http://schemas.microsoft.com/office/drawing/2014/main" val="2871789687"/>
                    </a:ext>
                  </a:extLst>
                </a:gridCol>
                <a:gridCol w="790186">
                  <a:extLst>
                    <a:ext uri="{9D8B030D-6E8A-4147-A177-3AD203B41FA5}">
                      <a16:colId xmlns:a16="http://schemas.microsoft.com/office/drawing/2014/main" val="1953625170"/>
                    </a:ext>
                  </a:extLst>
                </a:gridCol>
                <a:gridCol w="558579">
                  <a:extLst>
                    <a:ext uri="{9D8B030D-6E8A-4147-A177-3AD203B41FA5}">
                      <a16:colId xmlns:a16="http://schemas.microsoft.com/office/drawing/2014/main" val="3373208181"/>
                    </a:ext>
                  </a:extLst>
                </a:gridCol>
                <a:gridCol w="558579">
                  <a:extLst>
                    <a:ext uri="{9D8B030D-6E8A-4147-A177-3AD203B41FA5}">
                      <a16:colId xmlns:a16="http://schemas.microsoft.com/office/drawing/2014/main" val="969684601"/>
                    </a:ext>
                  </a:extLst>
                </a:gridCol>
                <a:gridCol w="156675">
                  <a:extLst>
                    <a:ext uri="{9D8B030D-6E8A-4147-A177-3AD203B41FA5}">
                      <a16:colId xmlns:a16="http://schemas.microsoft.com/office/drawing/2014/main" val="63752399"/>
                    </a:ext>
                  </a:extLst>
                </a:gridCol>
                <a:gridCol w="435965">
                  <a:extLst>
                    <a:ext uri="{9D8B030D-6E8A-4147-A177-3AD203B41FA5}">
                      <a16:colId xmlns:a16="http://schemas.microsoft.com/office/drawing/2014/main" val="3230714472"/>
                    </a:ext>
                  </a:extLst>
                </a:gridCol>
                <a:gridCol w="435965">
                  <a:extLst>
                    <a:ext uri="{9D8B030D-6E8A-4147-A177-3AD203B41FA5}">
                      <a16:colId xmlns:a16="http://schemas.microsoft.com/office/drawing/2014/main" val="3638591449"/>
                    </a:ext>
                  </a:extLst>
                </a:gridCol>
                <a:gridCol w="613075">
                  <a:extLst>
                    <a:ext uri="{9D8B030D-6E8A-4147-A177-3AD203B41FA5}">
                      <a16:colId xmlns:a16="http://schemas.microsoft.com/office/drawing/2014/main" val="1932536717"/>
                    </a:ext>
                  </a:extLst>
                </a:gridCol>
                <a:gridCol w="674383">
                  <a:extLst>
                    <a:ext uri="{9D8B030D-6E8A-4147-A177-3AD203B41FA5}">
                      <a16:colId xmlns:a16="http://schemas.microsoft.com/office/drawing/2014/main" val="3529453680"/>
                    </a:ext>
                  </a:extLst>
                </a:gridCol>
              </a:tblGrid>
              <a:tr h="438610">
                <a:tc gridSpan="11">
                  <a:txBody>
                    <a:bodyPr/>
                    <a:lstStyle/>
                    <a:p>
                      <a:pPr algn="ctr" fontAlgn="b"/>
                      <a:r>
                        <a:rPr lang="en-US" sz="2400" b="1" i="0" u="none" strike="noStrike">
                          <a:solidFill>
                            <a:srgbClr val="002060"/>
                          </a:solidFill>
                          <a:effectLst/>
                          <a:latin typeface="Calibri" panose="020F0502020204030204" pitchFamily="34" charset="0"/>
                        </a:rPr>
                        <a:t>Fast Charging Station Load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43725375"/>
                  </a:ext>
                </a:extLst>
              </a:tr>
              <a:tr h="367000">
                <a:tc>
                  <a:txBody>
                    <a:bodyPr/>
                    <a:lstStyle/>
                    <a:p>
                      <a:pPr algn="ctr" fontAlgn="ctr"/>
                      <a:r>
                        <a:rPr lang="en-US" sz="1200" b="1" i="0" u="none" strike="noStrike">
                          <a:solidFill>
                            <a:srgbClr val="FF0000"/>
                          </a:solidFill>
                          <a:effectLst/>
                          <a:latin typeface="Calibri" panose="020F0502020204030204" pitchFamily="34" charset="0"/>
                        </a:rPr>
                        <a:t>Cars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US" sz="1000" b="1" i="0" u="none" strike="noStrike">
                          <a:solidFill>
                            <a:srgbClr val="000000"/>
                          </a:solidFill>
                          <a:effectLst/>
                          <a:latin typeface="Calibri" panose="020F0502020204030204" pitchFamily="34" charset="0"/>
                        </a:rPr>
                        <a:t>Voltage (V)</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US" sz="1000" b="1" i="0" u="none" strike="noStrike">
                          <a:solidFill>
                            <a:srgbClr val="000000"/>
                          </a:solidFill>
                          <a:effectLst/>
                          <a:latin typeface="Calibri" panose="020F0502020204030204" pitchFamily="34" charset="0"/>
                        </a:rPr>
                        <a:t>Power (kW)</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US" sz="900" b="1" i="0" u="none" strike="noStrike">
                          <a:solidFill>
                            <a:srgbClr val="000000"/>
                          </a:solidFill>
                          <a:effectLst/>
                          <a:latin typeface="Calibri" panose="020F0502020204030204" pitchFamily="34" charset="0"/>
                        </a:rPr>
                        <a:t>Battery Capacity (kWh)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ctr" fontAlgn="ctr"/>
                      <a:r>
                        <a:rPr lang="en-US" sz="1000" b="1" i="0" u="none" strike="noStrike" dirty="0">
                          <a:solidFill>
                            <a:srgbClr val="000000"/>
                          </a:solidFill>
                          <a:effectLst/>
                          <a:latin typeface="Calibri" panose="020F0502020204030204" pitchFamily="34" charset="0"/>
                        </a:rPr>
                        <a:t>SOC </a:t>
                      </a:r>
                      <a:r>
                        <a:rPr lang="en-US" sz="1000" b="1" i="0" u="none" strike="noStrike" dirty="0" err="1">
                          <a:solidFill>
                            <a:srgbClr val="000000"/>
                          </a:solidFill>
                          <a:effectLst/>
                          <a:latin typeface="Calibri" panose="020F0502020204030204" pitchFamily="34" charset="0"/>
                        </a:rPr>
                        <a:t>Avaliable</a:t>
                      </a:r>
                      <a:endParaRPr lang="en-US" sz="10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gridSpan="2">
                  <a:txBody>
                    <a:bodyPr/>
                    <a:lstStyle/>
                    <a:p>
                      <a:pPr algn="ctr" fontAlgn="ctr"/>
                      <a:r>
                        <a:rPr lang="en-US" sz="1000" b="1" i="0" u="none" strike="noStrike">
                          <a:solidFill>
                            <a:srgbClr val="000000"/>
                          </a:solidFill>
                          <a:effectLst/>
                          <a:latin typeface="Calibri" panose="020F0502020204030204" pitchFamily="34" charset="0"/>
                        </a:rPr>
                        <a:t>Required Current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hMerge="1">
                  <a:txBody>
                    <a:bodyPr/>
                    <a:lstStyle/>
                    <a:p>
                      <a:endParaRPr lang="en-US"/>
                    </a:p>
                  </a:txBody>
                  <a:tcPr/>
                </a:tc>
                <a:tc gridSpan="2">
                  <a:txBody>
                    <a:bodyPr/>
                    <a:lstStyle/>
                    <a:p>
                      <a:pPr algn="ctr" fontAlgn="ctr"/>
                      <a:r>
                        <a:rPr lang="en-US" sz="1000" b="1" i="0" u="none" strike="noStrike">
                          <a:solidFill>
                            <a:srgbClr val="000000"/>
                          </a:solidFill>
                          <a:effectLst/>
                          <a:latin typeface="Calibri" panose="020F0502020204030204" pitchFamily="34" charset="0"/>
                        </a:rPr>
                        <a:t>Charging Time in hr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hMerge="1">
                  <a:txBody>
                    <a:bodyPr/>
                    <a:lstStyle/>
                    <a:p>
                      <a:endParaRPr lang="en-US"/>
                    </a:p>
                  </a:txBody>
                  <a:tcPr/>
                </a:tc>
                <a:tc>
                  <a:txBody>
                    <a:bodyPr/>
                    <a:lstStyle/>
                    <a:p>
                      <a:pPr algn="l" fontAlgn="ctr"/>
                      <a:r>
                        <a:rPr lang="en-US" sz="1000" b="1" i="0" u="none" strike="noStrike">
                          <a:solidFill>
                            <a:srgbClr val="000000"/>
                          </a:solidFill>
                          <a:effectLst/>
                          <a:latin typeface="Calibri" panose="020F0502020204030204" pitchFamily="34" charset="0"/>
                        </a:rPr>
                        <a:t>Unit charge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l" fontAlgn="ctr"/>
                      <a:r>
                        <a:rPr lang="en-US" sz="1000" b="1" i="0" u="none" strike="noStrike" dirty="0">
                          <a:solidFill>
                            <a:srgbClr val="000000"/>
                          </a:solidFill>
                          <a:effectLst/>
                          <a:latin typeface="Calibri" panose="020F0502020204030204" pitchFamily="34" charset="0"/>
                        </a:rPr>
                        <a:t>Cost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2091521943"/>
                  </a:ext>
                </a:extLst>
              </a:tr>
              <a:tr h="411757">
                <a:tc>
                  <a:txBody>
                    <a:bodyPr/>
                    <a:lstStyle/>
                    <a:p>
                      <a:pPr algn="l" fontAlgn="ctr"/>
                      <a:r>
                        <a:rPr lang="en-US" sz="1000" b="1" i="0" u="none" strike="noStrike">
                          <a:solidFill>
                            <a:srgbClr val="002060"/>
                          </a:solidFill>
                          <a:effectLst/>
                          <a:latin typeface="Calibri" panose="020F0502020204030204" pitchFamily="34" charset="0"/>
                        </a:rPr>
                        <a:t>1 - Tata Nexon - EV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400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30.2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30.2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dirty="0">
                          <a:solidFill>
                            <a:srgbClr val="000000"/>
                          </a:solidFill>
                          <a:effectLst/>
                          <a:latin typeface="Calibri" panose="020F0502020204030204" pitchFamily="34" charset="0"/>
                        </a:rPr>
                        <a:t>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2">
                  <a:txBody>
                    <a:bodyPr/>
                    <a:lstStyle/>
                    <a:p>
                      <a:pPr algn="ctr" fontAlgn="ctr"/>
                      <a:r>
                        <a:rPr lang="en-US" sz="1200" b="1" i="0" u="none" strike="noStrike">
                          <a:solidFill>
                            <a:srgbClr val="000000"/>
                          </a:solidFill>
                          <a:effectLst/>
                          <a:latin typeface="Calibri" panose="020F0502020204030204" pitchFamily="34" charset="0"/>
                        </a:rPr>
                        <a:t>75.5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gridSpan="2">
                  <a:txBody>
                    <a:bodyPr/>
                    <a:lstStyle/>
                    <a:p>
                      <a:pPr algn="ctr" fontAlgn="ctr"/>
                      <a:r>
                        <a:rPr lang="en-US" sz="1200" b="1" i="0" u="none" strike="noStrike">
                          <a:solidFill>
                            <a:srgbClr val="000000"/>
                          </a:solidFill>
                          <a:effectLst/>
                          <a:latin typeface="Calibri" panose="020F0502020204030204" pitchFamily="34" charset="0"/>
                        </a:rPr>
                        <a:t>2.47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a:txBody>
                    <a:bodyPr/>
                    <a:lstStyle/>
                    <a:p>
                      <a:pPr algn="ctr" fontAlgn="ctr"/>
                      <a:r>
                        <a:rPr lang="en-US" sz="1200" b="0" i="0" u="none" strike="noStrike" dirty="0">
                          <a:solidFill>
                            <a:srgbClr val="000000"/>
                          </a:solidFill>
                          <a:effectLst/>
                          <a:latin typeface="Calibri" panose="020F0502020204030204" pitchFamily="34" charset="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1" i="0" u="none" strike="noStrike" dirty="0">
                          <a:solidFill>
                            <a:srgbClr val="000000"/>
                          </a:solidFill>
                          <a:effectLst/>
                          <a:latin typeface="Calibri" panose="020F0502020204030204" pitchFamily="34" charset="0"/>
                        </a:rPr>
                        <a:t>745.83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479888640"/>
                  </a:ext>
                </a:extLst>
              </a:tr>
              <a:tr h="268537">
                <a:tc>
                  <a:txBody>
                    <a:bodyPr/>
                    <a:lstStyle/>
                    <a:p>
                      <a:pPr algn="l" fontAlgn="ctr"/>
                      <a:r>
                        <a:rPr lang="en-US" sz="1200" b="1" i="0" u="none" strike="noStrike">
                          <a:solidFill>
                            <a:srgbClr val="002060"/>
                          </a:solidFill>
                          <a:effectLst/>
                          <a:latin typeface="Calibri" panose="020F0502020204030204" pitchFamily="34" charset="0"/>
                        </a:rPr>
                        <a:t>2- MG ZS EV</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400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44.5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2">
                  <a:txBody>
                    <a:bodyPr/>
                    <a:lstStyle/>
                    <a:p>
                      <a:pPr algn="ctr" fontAlgn="ctr"/>
                      <a:r>
                        <a:rPr lang="en-US" sz="1200" b="1" i="0" u="none" strike="noStrike">
                          <a:solidFill>
                            <a:srgbClr val="000000"/>
                          </a:solidFill>
                          <a:effectLst/>
                          <a:latin typeface="Calibri" panose="020F0502020204030204" pitchFamily="34" charset="0"/>
                        </a:rPr>
                        <a:t>125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gridSpan="2">
                  <a:txBody>
                    <a:bodyPr/>
                    <a:lstStyle/>
                    <a:p>
                      <a:pPr algn="ctr" fontAlgn="ctr"/>
                      <a:r>
                        <a:rPr lang="en-US" sz="1200" b="1" i="0" u="none" strike="noStrike">
                          <a:solidFill>
                            <a:srgbClr val="000000"/>
                          </a:solidFill>
                          <a:effectLst/>
                          <a:latin typeface="Calibri" panose="020F0502020204030204" pitchFamily="34" charset="0"/>
                        </a:rPr>
                        <a:t>1.49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a:txBody>
                    <a:bodyPr/>
                    <a:lstStyle/>
                    <a:p>
                      <a:pPr algn="ctr" fontAlgn="ctr"/>
                      <a:r>
                        <a:rPr lang="en-US" sz="1200" b="0" i="0" u="none" strike="noStrike" dirty="0">
                          <a:solidFill>
                            <a:srgbClr val="000000"/>
                          </a:solidFill>
                          <a:effectLst/>
                          <a:latin typeface="Calibri" panose="020F0502020204030204" pitchFamily="34" charset="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1" i="0" u="none" strike="noStrike">
                          <a:solidFill>
                            <a:srgbClr val="000000"/>
                          </a:solidFill>
                          <a:effectLst/>
                          <a:latin typeface="Calibri" panose="020F0502020204030204" pitchFamily="34" charset="0"/>
                        </a:rPr>
                        <a:t>743.75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635151023"/>
                  </a:ext>
                </a:extLst>
              </a:tr>
              <a:tr h="268537">
                <a:tc>
                  <a:txBody>
                    <a:bodyPr/>
                    <a:lstStyle/>
                    <a:p>
                      <a:pPr algn="l" fontAlgn="ctr"/>
                      <a:r>
                        <a:rPr lang="en-US" sz="1200" b="1" i="0" u="none" strike="noStrike">
                          <a:solidFill>
                            <a:srgbClr val="002060"/>
                          </a:solidFill>
                          <a:effectLst/>
                          <a:latin typeface="Calibri" panose="020F0502020204030204" pitchFamily="34" charset="0"/>
                        </a:rPr>
                        <a:t>3-Tata Trigo EV</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400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16.8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26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50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2">
                  <a:txBody>
                    <a:bodyPr/>
                    <a:lstStyle/>
                    <a:p>
                      <a:pPr algn="ctr" fontAlgn="ctr"/>
                      <a:r>
                        <a:rPr lang="en-US" sz="1200" b="1" i="0" u="none" strike="noStrike">
                          <a:solidFill>
                            <a:srgbClr val="000000"/>
                          </a:solidFill>
                          <a:effectLst/>
                          <a:latin typeface="Calibri" panose="020F0502020204030204" pitchFamily="34" charset="0"/>
                        </a:rPr>
                        <a:t>42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gridSpan="2">
                  <a:txBody>
                    <a:bodyPr/>
                    <a:lstStyle/>
                    <a:p>
                      <a:pPr algn="ctr" fontAlgn="ctr"/>
                      <a:r>
                        <a:rPr lang="en-US" sz="1200" b="1" i="0" u="none" strike="noStrike">
                          <a:solidFill>
                            <a:srgbClr val="000000"/>
                          </a:solidFill>
                          <a:effectLst/>
                          <a:latin typeface="Calibri" panose="020F0502020204030204" pitchFamily="34" charset="0"/>
                        </a:rPr>
                        <a:t>4.40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a:txBody>
                    <a:bodyPr/>
                    <a:lstStyle/>
                    <a:p>
                      <a:pPr algn="ctr" fontAlgn="ctr"/>
                      <a:r>
                        <a:rPr lang="en-US" sz="1200" b="0" i="0" u="none" strike="noStrike">
                          <a:solidFill>
                            <a:srgbClr val="000000"/>
                          </a:solidFill>
                          <a:effectLst/>
                          <a:latin typeface="Calibri" panose="020F0502020204030204" pitchFamily="34" charset="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1" i="0" u="none" strike="noStrike">
                          <a:solidFill>
                            <a:srgbClr val="000000"/>
                          </a:solidFill>
                          <a:effectLst/>
                          <a:latin typeface="Calibri" panose="020F0502020204030204" pitchFamily="34" charset="0"/>
                        </a:rPr>
                        <a:t>739.58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682927739"/>
                  </a:ext>
                </a:extLst>
              </a:tr>
              <a:tr h="268537">
                <a:tc>
                  <a:txBody>
                    <a:bodyPr/>
                    <a:lstStyle/>
                    <a:p>
                      <a:pPr algn="l" fontAlgn="ctr"/>
                      <a:r>
                        <a:rPr lang="en-US" sz="900" b="1" i="0" u="none" strike="noStrike">
                          <a:solidFill>
                            <a:srgbClr val="002060"/>
                          </a:solidFill>
                          <a:effectLst/>
                          <a:latin typeface="Calibri" panose="020F0502020204030204" pitchFamily="34" charset="0"/>
                        </a:rPr>
                        <a:t>4- Mahindra eVerito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400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70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60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0" i="0" u="none" strike="noStrike">
                          <a:solidFill>
                            <a:srgbClr val="000000"/>
                          </a:solidFill>
                          <a:effectLst/>
                          <a:latin typeface="Calibri" panose="020F0502020204030204" pitchFamily="34" charset="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gridSpan="2">
                  <a:txBody>
                    <a:bodyPr/>
                    <a:lstStyle/>
                    <a:p>
                      <a:pPr algn="ctr" fontAlgn="ctr"/>
                      <a:r>
                        <a:rPr lang="en-US" sz="1200" b="1" i="0" u="none" strike="noStrike">
                          <a:solidFill>
                            <a:srgbClr val="000000"/>
                          </a:solidFill>
                          <a:effectLst/>
                          <a:latin typeface="Calibri" panose="020F0502020204030204" pitchFamily="34" charset="0"/>
                        </a:rPr>
                        <a:t>175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gridSpan="2">
                  <a:txBody>
                    <a:bodyPr/>
                    <a:lstStyle/>
                    <a:p>
                      <a:pPr algn="ctr" fontAlgn="ctr"/>
                      <a:r>
                        <a:rPr lang="en-US" sz="1200" b="1" i="0" u="none" strike="noStrike">
                          <a:solidFill>
                            <a:srgbClr val="000000"/>
                          </a:solidFill>
                          <a:effectLst/>
                          <a:latin typeface="Calibri" panose="020F0502020204030204" pitchFamily="34" charset="0"/>
                        </a:rPr>
                        <a:t>1.07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hMerge="1">
                  <a:txBody>
                    <a:bodyPr/>
                    <a:lstStyle/>
                    <a:p>
                      <a:endParaRPr lang="en-US"/>
                    </a:p>
                  </a:txBody>
                  <a:tcPr/>
                </a:tc>
                <a:tc>
                  <a:txBody>
                    <a:bodyPr/>
                    <a:lstStyle/>
                    <a:p>
                      <a:pPr algn="ctr" fontAlgn="ctr"/>
                      <a:r>
                        <a:rPr lang="en-US" sz="1200" b="0" i="0" u="none" strike="noStrike">
                          <a:solidFill>
                            <a:srgbClr val="000000"/>
                          </a:solidFill>
                          <a:effectLst/>
                          <a:latin typeface="Calibri" panose="020F0502020204030204" pitchFamily="34" charset="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ctr" fontAlgn="ctr"/>
                      <a:r>
                        <a:rPr lang="en-US" sz="1200" b="1" i="0" u="none" strike="noStrike">
                          <a:solidFill>
                            <a:srgbClr val="000000"/>
                          </a:solidFill>
                          <a:effectLst/>
                          <a:latin typeface="Calibri" panose="020F0502020204030204" pitchFamily="34" charset="0"/>
                        </a:rPr>
                        <a:t>747.92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75141430"/>
                  </a:ext>
                </a:extLst>
              </a:tr>
              <a:tr h="474415">
                <a:tc gridSpan="2">
                  <a:txBody>
                    <a:bodyPr/>
                    <a:lstStyle/>
                    <a:p>
                      <a:pPr algn="ctr" fontAlgn="ctr"/>
                      <a:r>
                        <a:rPr lang="en-US" sz="1200" b="1" i="0" u="none" strike="noStrike">
                          <a:solidFill>
                            <a:srgbClr val="000000"/>
                          </a:solidFill>
                          <a:effectLst/>
                          <a:latin typeface="Calibri" panose="020F0502020204030204" pitchFamily="34" charset="0"/>
                        </a:rPr>
                        <a:t>Total Power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hMerge="1">
                  <a:txBody>
                    <a:bodyPr/>
                    <a:lstStyle/>
                    <a:p>
                      <a:endParaRPr lang="en-US"/>
                    </a:p>
                  </a:txBody>
                  <a:tcPr/>
                </a:tc>
                <a:tc>
                  <a:txBody>
                    <a:bodyPr/>
                    <a:lstStyle/>
                    <a:p>
                      <a:pPr algn="ctr" fontAlgn="ctr"/>
                      <a:r>
                        <a:rPr lang="en-US" sz="2000" b="1" i="0" u="none" strike="noStrike">
                          <a:solidFill>
                            <a:srgbClr val="FFC000"/>
                          </a:solidFill>
                          <a:effectLst/>
                          <a:latin typeface="Calibri" panose="020F0502020204030204" pitchFamily="34" charset="0"/>
                        </a:rPr>
                        <a:t>167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gridSpan="2">
                  <a:txBody>
                    <a:bodyPr/>
                    <a:lstStyle/>
                    <a:p>
                      <a:pPr algn="ctr" fontAlgn="ctr"/>
                      <a:r>
                        <a:rPr lang="en-US" sz="12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hMerge="1">
                  <a:txBody>
                    <a:bodyPr/>
                    <a:lstStyle/>
                    <a:p>
                      <a:endParaRPr lang="en-US"/>
                    </a:p>
                  </a:txBody>
                  <a:tcPr/>
                </a:tc>
                <a:tc gridSpan="2">
                  <a:txBody>
                    <a:bodyPr/>
                    <a:lstStyle/>
                    <a:p>
                      <a:pPr algn="ctr" fontAlgn="ctr"/>
                      <a:r>
                        <a:rPr lang="en-US" sz="1200" b="1" i="0" u="none" strike="noStrike">
                          <a:solidFill>
                            <a:srgbClr val="000000"/>
                          </a:solidFill>
                          <a:effectLst/>
                          <a:latin typeface="Calibri" panose="020F0502020204030204" pitchFamily="34" charset="0"/>
                        </a:rPr>
                        <a:t>Total Time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hMerge="1">
                  <a:txBody>
                    <a:bodyPr/>
                    <a:lstStyle/>
                    <a:p>
                      <a:endParaRPr lang="en-US"/>
                    </a:p>
                  </a:txBody>
                  <a:tcPr/>
                </a:tc>
                <a:tc gridSpan="2">
                  <a:txBody>
                    <a:bodyPr/>
                    <a:lstStyle/>
                    <a:p>
                      <a:pPr algn="ctr" fontAlgn="ctr"/>
                      <a:r>
                        <a:rPr lang="en-US" sz="2000" b="1" i="0" u="none" strike="noStrike">
                          <a:solidFill>
                            <a:srgbClr val="FFC000"/>
                          </a:solidFill>
                          <a:effectLst/>
                          <a:latin typeface="Calibri" panose="020F0502020204030204" pitchFamily="34" charset="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235"/>
                    </a:solidFill>
                  </a:tcPr>
                </a:tc>
                <a:tc hMerge="1">
                  <a:txBody>
                    <a:bodyPr/>
                    <a:lstStyle/>
                    <a:p>
                      <a:endParaRPr lang="en-US"/>
                    </a:p>
                  </a:txBody>
                  <a:tcPr/>
                </a:tc>
                <a:tc>
                  <a:txBody>
                    <a:bodyPr/>
                    <a:lstStyle/>
                    <a:p>
                      <a:pPr algn="ctr" fontAlgn="ctr"/>
                      <a:r>
                        <a:rPr lang="en-US" sz="1200" b="1" i="0" u="none" strike="noStrike">
                          <a:solidFill>
                            <a:srgbClr val="000000"/>
                          </a:solidFill>
                          <a:effectLst/>
                          <a:latin typeface="Calibri" panose="020F0502020204030204" pitchFamily="34" charset="0"/>
                        </a:rPr>
                        <a:t>Total Revenue </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sz="2000" b="1" i="0" u="none" strike="noStrike">
                          <a:solidFill>
                            <a:srgbClr val="FFC000"/>
                          </a:solidFill>
                          <a:effectLst/>
                          <a:latin typeface="Calibri" panose="020F0502020204030204" pitchFamily="34" charset="0"/>
                        </a:rPr>
                        <a:t>2977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235"/>
                    </a:solidFill>
                  </a:tcPr>
                </a:tc>
                <a:extLst>
                  <a:ext uri="{0D108BD9-81ED-4DB2-BD59-A6C34878D82A}">
                    <a16:rowId xmlns:a16="http://schemas.microsoft.com/office/drawing/2014/main" val="2496139195"/>
                  </a:ext>
                </a:extLst>
              </a:tr>
              <a:tr h="205878">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1856043"/>
                  </a:ext>
                </a:extLst>
              </a:tr>
              <a:tr h="429659">
                <a:tc gridSpan="2">
                  <a:txBody>
                    <a:bodyPr/>
                    <a:lstStyle/>
                    <a:p>
                      <a:pPr algn="ctr" fontAlgn="ctr"/>
                      <a:r>
                        <a:rPr lang="en-US" sz="1200" b="1" i="0" u="none" strike="noStrike">
                          <a:solidFill>
                            <a:srgbClr val="000000"/>
                          </a:solidFill>
                          <a:effectLst/>
                          <a:latin typeface="Calibri" panose="020F0502020204030204" pitchFamily="34" charset="0"/>
                        </a:rPr>
                        <a:t>Total Power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hMerge="1">
                  <a:txBody>
                    <a:bodyPr/>
                    <a:lstStyle/>
                    <a:p>
                      <a:endParaRPr lang="en-US"/>
                    </a:p>
                  </a:txBody>
                  <a:tcPr/>
                </a:tc>
                <a:tc>
                  <a:txBody>
                    <a:bodyPr/>
                    <a:lstStyle/>
                    <a:p>
                      <a:pPr algn="ctr" fontAlgn="ctr"/>
                      <a:r>
                        <a:rPr lang="en-US" sz="2000" b="1" i="0" u="none" strike="noStrike" dirty="0">
                          <a:solidFill>
                            <a:srgbClr val="FFC000"/>
                          </a:solidFill>
                          <a:effectLst/>
                          <a:latin typeface="Calibri" panose="020F0502020204030204" pitchFamily="34" charset="0"/>
                        </a:rPr>
                        <a:t>1670</a:t>
                      </a:r>
                    </a:p>
                  </a:txBody>
                  <a:tcPr marL="7620" marR="7620" marT="7620" marB="0" anchor="ctr">
                    <a:lnL w="6350" cap="flat" cmpd="sng" algn="ctr">
                      <a:solidFill>
                        <a:srgbClr val="000000"/>
                      </a:solidFill>
                      <a:prstDash val="solid"/>
                      <a:round/>
                      <a:headEnd type="none" w="med" len="med"/>
                      <a:tailEnd type="none" w="med" len="med"/>
                    </a:lnL>
                    <a:lnR>
                      <a:noFill/>
                    </a:lnR>
                    <a:lnT>
                      <a:noFill/>
                    </a:lnT>
                    <a:lnB>
                      <a:noFill/>
                    </a:lnB>
                    <a:solidFill>
                      <a:srgbClr val="548235"/>
                    </a:solidFill>
                  </a:tcPr>
                </a:tc>
                <a:tc gridSpan="2">
                  <a:txBody>
                    <a:bodyPr/>
                    <a:lstStyle/>
                    <a:p>
                      <a:pPr algn="ctr" fontAlgn="ctr"/>
                      <a:r>
                        <a:rPr lang="en-US" sz="1200" b="1" i="0" u="none" strike="noStrike" dirty="0">
                          <a:solidFill>
                            <a:srgbClr val="FFC000"/>
                          </a:solidFill>
                          <a:effectLst/>
                          <a:latin typeface="Calibri" panose="020F0502020204030204" pitchFamily="34" charset="0"/>
                        </a:rPr>
                        <a:t>KW power can charge / day</a:t>
                      </a:r>
                    </a:p>
                  </a:txBody>
                  <a:tcPr marL="7620" marR="7620" marT="7620" marB="0" anchor="ctr">
                    <a:lnL>
                      <a:noFill/>
                    </a:lnL>
                    <a:lnR>
                      <a:noFill/>
                    </a:lnR>
                    <a:lnT>
                      <a:noFill/>
                    </a:lnT>
                    <a:lnB>
                      <a:noFill/>
                    </a:lnB>
                    <a:solidFill>
                      <a:srgbClr val="548235"/>
                    </a:solidFill>
                  </a:tcPr>
                </a:tc>
                <a:tc hMerge="1">
                  <a:txBody>
                    <a:bodyPr/>
                    <a:lstStyle/>
                    <a:p>
                      <a:endParaRPr lang="en-US"/>
                    </a:p>
                  </a:txBody>
                  <a:tcPr/>
                </a:tc>
                <a:tc gridSpan="2">
                  <a:txBody>
                    <a:bodyPr/>
                    <a:lstStyle/>
                    <a:p>
                      <a:pPr algn="ctr" fontAlgn="ctr"/>
                      <a:r>
                        <a:rPr lang="en-US" sz="1200" b="1" i="0" u="none" strike="noStrike">
                          <a:solidFill>
                            <a:srgbClr val="000000"/>
                          </a:solidFill>
                          <a:effectLst/>
                          <a:latin typeface="Calibri" panose="020F0502020204030204" pitchFamily="34" charset="0"/>
                        </a:rPr>
                        <a:t>Total Time</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hMerge="1">
                  <a:txBody>
                    <a:bodyPr/>
                    <a:lstStyle/>
                    <a:p>
                      <a:endParaRPr lang="en-US"/>
                    </a:p>
                  </a:txBody>
                  <a:tcPr/>
                </a:tc>
                <a:tc>
                  <a:txBody>
                    <a:bodyPr/>
                    <a:lstStyle/>
                    <a:p>
                      <a:pPr algn="ctr" fontAlgn="ctr"/>
                      <a:r>
                        <a:rPr lang="en-US" sz="2000" b="1" i="0" u="none" strike="noStrike">
                          <a:solidFill>
                            <a:srgbClr val="FFC000"/>
                          </a:solidFill>
                          <a:effectLst/>
                          <a:latin typeface="Calibri" panose="020F0502020204030204" pitchFamily="34" charset="0"/>
                        </a:rPr>
                        <a:t>94</a:t>
                      </a:r>
                    </a:p>
                  </a:txBody>
                  <a:tcPr marL="7620" marR="7620" marT="7620" marB="0" anchor="ctr">
                    <a:lnL w="6350" cap="flat" cmpd="sng" algn="ctr">
                      <a:solidFill>
                        <a:srgbClr val="000000"/>
                      </a:solidFill>
                      <a:prstDash val="solid"/>
                      <a:round/>
                      <a:headEnd type="none" w="med" len="med"/>
                      <a:tailEnd type="none" w="med" len="med"/>
                    </a:lnL>
                    <a:lnR>
                      <a:noFill/>
                    </a:lnR>
                    <a:lnT>
                      <a:noFill/>
                    </a:lnT>
                    <a:lnB>
                      <a:noFill/>
                    </a:lnB>
                    <a:solidFill>
                      <a:srgbClr val="548235"/>
                    </a:solidFill>
                  </a:tcPr>
                </a:tc>
                <a:tc>
                  <a:txBody>
                    <a:bodyPr/>
                    <a:lstStyle/>
                    <a:p>
                      <a:pPr algn="ctr" fontAlgn="ctr"/>
                      <a:r>
                        <a:rPr lang="en-US" sz="1400" b="1" i="0" u="none" strike="noStrike">
                          <a:solidFill>
                            <a:srgbClr val="FFC000"/>
                          </a:solidFill>
                          <a:effectLst/>
                          <a:latin typeface="Calibri" panose="020F0502020204030204" pitchFamily="34" charset="0"/>
                        </a:rPr>
                        <a:t>/ 96 hr</a:t>
                      </a:r>
                    </a:p>
                  </a:txBody>
                  <a:tcPr marL="7620" marR="7620" marT="7620" marB="0" anchor="ctr">
                    <a:lnL>
                      <a:noFill/>
                    </a:lnL>
                    <a:lnR>
                      <a:noFill/>
                    </a:lnR>
                    <a:lnT>
                      <a:noFill/>
                    </a:lnT>
                    <a:lnB>
                      <a:noFill/>
                    </a:lnB>
                    <a:solidFill>
                      <a:srgbClr val="548235"/>
                    </a:solidFill>
                  </a:tcPr>
                </a:tc>
                <a:tc>
                  <a:txBody>
                    <a:bodyPr/>
                    <a:lstStyle/>
                    <a:p>
                      <a:pPr algn="l" fontAlgn="b"/>
                      <a:r>
                        <a:rPr lang="en-US" sz="1100" b="1" i="0" u="none" strike="noStrike">
                          <a:solidFill>
                            <a:srgbClr val="000000"/>
                          </a:solidFill>
                          <a:effectLst/>
                          <a:latin typeface="Calibri" panose="020F0502020204030204" pitchFamily="34" charset="0"/>
                        </a:rPr>
                        <a:t>Total Revenue </a:t>
                      </a:r>
                    </a:p>
                  </a:txBody>
                  <a:tcPr marL="7620" marR="7620" marT="762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sz="2000" b="1" i="0" u="none" strike="noStrike" dirty="0">
                          <a:solidFill>
                            <a:srgbClr val="FFC000"/>
                          </a:solidFill>
                          <a:effectLst/>
                          <a:latin typeface="Calibri" panose="020F0502020204030204" pitchFamily="34" charset="0"/>
                        </a:rPr>
                        <a:t>26794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extLst>
                  <a:ext uri="{0D108BD9-81ED-4DB2-BD59-A6C34878D82A}">
                    <a16:rowId xmlns:a16="http://schemas.microsoft.com/office/drawing/2014/main" val="1042827696"/>
                  </a:ext>
                </a:extLst>
              </a:tr>
            </a:tbl>
          </a:graphicData>
        </a:graphic>
      </p:graphicFrame>
      <p:graphicFrame>
        <p:nvGraphicFramePr>
          <p:cNvPr id="10" name="Table 9">
            <a:extLst>
              <a:ext uri="{FF2B5EF4-FFF2-40B4-BE49-F238E27FC236}">
                <a16:creationId xmlns:a16="http://schemas.microsoft.com/office/drawing/2014/main" id="{4C80B168-4223-A4A4-46E5-B8581C11C221}"/>
              </a:ext>
            </a:extLst>
          </p:cNvPr>
          <p:cNvGraphicFramePr>
            <a:graphicFrameLocks noGrp="1"/>
          </p:cNvGraphicFramePr>
          <p:nvPr/>
        </p:nvGraphicFramePr>
        <p:xfrm>
          <a:off x="6657978" y="2505868"/>
          <a:ext cx="5340346" cy="3177540"/>
        </p:xfrm>
        <a:graphic>
          <a:graphicData uri="http://schemas.openxmlformats.org/drawingml/2006/table">
            <a:tbl>
              <a:tblPr/>
              <a:tblGrid>
                <a:gridCol w="2874633">
                  <a:extLst>
                    <a:ext uri="{9D8B030D-6E8A-4147-A177-3AD203B41FA5}">
                      <a16:colId xmlns:a16="http://schemas.microsoft.com/office/drawing/2014/main" val="782479973"/>
                    </a:ext>
                  </a:extLst>
                </a:gridCol>
                <a:gridCol w="500466">
                  <a:extLst>
                    <a:ext uri="{9D8B030D-6E8A-4147-A177-3AD203B41FA5}">
                      <a16:colId xmlns:a16="http://schemas.microsoft.com/office/drawing/2014/main" val="194678521"/>
                    </a:ext>
                  </a:extLst>
                </a:gridCol>
                <a:gridCol w="140375">
                  <a:extLst>
                    <a:ext uri="{9D8B030D-6E8A-4147-A177-3AD203B41FA5}">
                      <a16:colId xmlns:a16="http://schemas.microsoft.com/office/drawing/2014/main" val="1520005749"/>
                    </a:ext>
                  </a:extLst>
                </a:gridCol>
                <a:gridCol w="390608">
                  <a:extLst>
                    <a:ext uri="{9D8B030D-6E8A-4147-A177-3AD203B41FA5}">
                      <a16:colId xmlns:a16="http://schemas.microsoft.com/office/drawing/2014/main" val="4209074804"/>
                    </a:ext>
                  </a:extLst>
                </a:gridCol>
                <a:gridCol w="390608">
                  <a:extLst>
                    <a:ext uri="{9D8B030D-6E8A-4147-A177-3AD203B41FA5}">
                      <a16:colId xmlns:a16="http://schemas.microsoft.com/office/drawing/2014/main" val="2029921102"/>
                    </a:ext>
                  </a:extLst>
                </a:gridCol>
                <a:gridCol w="439434">
                  <a:extLst>
                    <a:ext uri="{9D8B030D-6E8A-4147-A177-3AD203B41FA5}">
                      <a16:colId xmlns:a16="http://schemas.microsoft.com/office/drawing/2014/main" val="3094895876"/>
                    </a:ext>
                  </a:extLst>
                </a:gridCol>
                <a:gridCol w="604222">
                  <a:extLst>
                    <a:ext uri="{9D8B030D-6E8A-4147-A177-3AD203B41FA5}">
                      <a16:colId xmlns:a16="http://schemas.microsoft.com/office/drawing/2014/main" val="2601552489"/>
                    </a:ext>
                  </a:extLst>
                </a:gridCol>
              </a:tblGrid>
              <a:tr h="396240">
                <a:tc gridSpan="7">
                  <a:txBody>
                    <a:bodyPr/>
                    <a:lstStyle/>
                    <a:p>
                      <a:pPr algn="ctr" fontAlgn="b"/>
                      <a:r>
                        <a:rPr lang="en-US" sz="2000" b="1" i="0" u="none" strike="noStrike" dirty="0">
                          <a:solidFill>
                            <a:srgbClr val="002060"/>
                          </a:solidFill>
                          <a:effectLst/>
                          <a:latin typeface="Calibri" panose="020F0502020204030204" pitchFamily="34" charset="0"/>
                        </a:rPr>
                        <a:t>Battery Swapping Station</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718065031"/>
                  </a:ext>
                </a:extLst>
              </a:tr>
              <a:tr h="198120">
                <a:tc>
                  <a:txBody>
                    <a:bodyPr/>
                    <a:lstStyle/>
                    <a:p>
                      <a:pPr algn="l" fontAlgn="ctr"/>
                      <a:r>
                        <a:rPr lang="en-US" sz="1200" b="1" i="0" u="none" strike="noStrike">
                          <a:solidFill>
                            <a:srgbClr val="002060"/>
                          </a:solidFill>
                          <a:effectLst/>
                          <a:latin typeface="Calibri" panose="020F0502020204030204" pitchFamily="34" charset="0"/>
                        </a:rPr>
                        <a:t>Total Batteries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7069017"/>
                  </a:ext>
                </a:extLst>
              </a:tr>
              <a:tr h="198120">
                <a:tc>
                  <a:txBody>
                    <a:bodyPr/>
                    <a:lstStyle/>
                    <a:p>
                      <a:pPr algn="l" fontAlgn="ctr"/>
                      <a:r>
                        <a:rPr lang="en-US" sz="1200" b="1" i="0" u="none" strike="noStrike">
                          <a:solidFill>
                            <a:srgbClr val="002060"/>
                          </a:solidFill>
                          <a:effectLst/>
                          <a:latin typeface="Calibri" panose="020F0502020204030204" pitchFamily="34" charset="0"/>
                        </a:rPr>
                        <a:t>Under maintance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655288659"/>
                  </a:ext>
                </a:extLst>
              </a:tr>
              <a:tr h="198120">
                <a:tc>
                  <a:txBody>
                    <a:bodyPr/>
                    <a:lstStyle/>
                    <a:p>
                      <a:pPr algn="l" fontAlgn="ctr"/>
                      <a:r>
                        <a:rPr lang="en-US" sz="1200" b="1" i="0" u="none" strike="noStrike">
                          <a:solidFill>
                            <a:srgbClr val="002060"/>
                          </a:solidFill>
                          <a:effectLst/>
                          <a:latin typeface="Calibri" panose="020F0502020204030204" pitchFamily="34" charset="0"/>
                        </a:rPr>
                        <a:t>Avaliable batteries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04202597"/>
                  </a:ext>
                </a:extLst>
              </a:tr>
              <a:tr h="228600">
                <a:tc>
                  <a:txBody>
                    <a:bodyPr/>
                    <a:lstStyle/>
                    <a:p>
                      <a:pPr algn="l" fontAlgn="ctr"/>
                      <a:r>
                        <a:rPr lang="en-US" sz="1200" b="1" i="0" u="none" strike="noStrike">
                          <a:solidFill>
                            <a:srgbClr val="002060"/>
                          </a:solidFill>
                          <a:effectLst/>
                          <a:latin typeface="Calibri" panose="020F0502020204030204" pitchFamily="34" charset="0"/>
                        </a:rPr>
                        <a:t>Voltage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ctr"/>
                      <a:r>
                        <a:rPr lang="en-US" sz="1200" b="1" i="0" u="none" strike="noStrike">
                          <a:solidFill>
                            <a:srgbClr val="FF0000"/>
                          </a:solidFill>
                          <a:effectLst/>
                          <a:latin typeface="Calibri" panose="020F0502020204030204" pitchFamily="34" charset="0"/>
                        </a:rPr>
                        <a:t>Total Batteries charging / day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hMerge="1">
                  <a:txBody>
                    <a:bodyPr/>
                    <a:lstStyle/>
                    <a:p>
                      <a:endParaRPr lang="en-US"/>
                    </a:p>
                  </a:txBody>
                  <a:tcPr/>
                </a:tc>
                <a:tc hMerge="1">
                  <a:txBody>
                    <a:bodyPr/>
                    <a:lstStyle/>
                    <a:p>
                      <a:endParaRPr lang="en-US"/>
                    </a:p>
                  </a:txBody>
                  <a:tcPr/>
                </a:tc>
                <a:tc>
                  <a:txBody>
                    <a:bodyPr/>
                    <a:lstStyle/>
                    <a:p>
                      <a:pPr algn="ctr" fontAlgn="ctr"/>
                      <a:r>
                        <a:rPr lang="en-US" sz="1200" b="0" i="0" u="none" strike="noStrike">
                          <a:solidFill>
                            <a:srgbClr val="000000"/>
                          </a:solidFill>
                          <a:effectLst/>
                          <a:latin typeface="Calibri" panose="020F0502020204030204" pitchFamily="34" charset="0"/>
                        </a:rPr>
                        <a:t>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3298910069"/>
                  </a:ext>
                </a:extLst>
              </a:tr>
              <a:tr h="198120">
                <a:tc>
                  <a:txBody>
                    <a:bodyPr/>
                    <a:lstStyle/>
                    <a:p>
                      <a:pPr algn="l" fontAlgn="ctr"/>
                      <a:r>
                        <a:rPr lang="en-US" sz="1200" b="1" i="0" u="none" strike="noStrike">
                          <a:solidFill>
                            <a:srgbClr val="002060"/>
                          </a:solidFill>
                          <a:effectLst/>
                          <a:latin typeface="Calibri" panose="020F0502020204030204" pitchFamily="34" charset="0"/>
                        </a:rPr>
                        <a:t>Current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ctr"/>
                      <a:r>
                        <a:rPr lang="en-US" sz="1200" b="1" i="0" u="none" strike="noStrike">
                          <a:solidFill>
                            <a:srgbClr val="FF0000"/>
                          </a:solidFill>
                          <a:effectLst/>
                          <a:latin typeface="Calibri" panose="020F0502020204030204" pitchFamily="34" charset="0"/>
                        </a:rPr>
                        <a:t>Cost of charge per battery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hMerge="1">
                  <a:txBody>
                    <a:bodyPr/>
                    <a:lstStyle/>
                    <a:p>
                      <a:endParaRPr lang="en-US"/>
                    </a:p>
                  </a:txBody>
                  <a:tcPr/>
                </a:tc>
                <a:tc hMerge="1">
                  <a:txBody>
                    <a:bodyPr/>
                    <a:lstStyle/>
                    <a:p>
                      <a:endParaRPr lang="en-US"/>
                    </a:p>
                  </a:txBody>
                  <a:tcPr/>
                </a:tc>
                <a:tc>
                  <a:txBody>
                    <a:bodyPr/>
                    <a:lstStyle/>
                    <a:p>
                      <a:pPr algn="ctr" fontAlgn="ctr"/>
                      <a:r>
                        <a:rPr lang="en-US" sz="1200" b="0" i="0" u="none" strike="noStrike">
                          <a:solidFill>
                            <a:srgbClr val="000000"/>
                          </a:solidFill>
                          <a:effectLst/>
                          <a:latin typeface="Calibri" panose="020F0502020204030204" pitchFamily="34" charset="0"/>
                        </a:rPr>
                        <a:t>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1452961996"/>
                  </a:ext>
                </a:extLst>
              </a:tr>
              <a:tr h="228600">
                <a:tc>
                  <a:txBody>
                    <a:bodyPr/>
                    <a:lstStyle/>
                    <a:p>
                      <a:pPr algn="l" fontAlgn="ctr"/>
                      <a:r>
                        <a:rPr lang="en-US" sz="1200" b="1" i="0" u="none" strike="noStrike">
                          <a:solidFill>
                            <a:srgbClr val="002060"/>
                          </a:solidFill>
                          <a:effectLst/>
                          <a:latin typeface="Calibri" panose="020F0502020204030204" pitchFamily="34" charset="0"/>
                        </a:rPr>
                        <a:t>Time / Battery in hr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l" fontAlgn="ctr"/>
                      <a:r>
                        <a:rPr lang="en-US" sz="1200" b="1" i="0" u="none" strike="noStrike">
                          <a:solidFill>
                            <a:srgbClr val="FF0000"/>
                          </a:solidFill>
                          <a:effectLst/>
                          <a:latin typeface="Calibri" panose="020F0502020204030204" pitchFamily="34" charset="0"/>
                        </a:rPr>
                        <a:t>Total Amout Per day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hMerge="1">
                  <a:txBody>
                    <a:bodyPr/>
                    <a:lstStyle/>
                    <a:p>
                      <a:endParaRPr lang="en-US"/>
                    </a:p>
                  </a:txBody>
                  <a:tcPr/>
                </a:tc>
                <a:tc hMerge="1">
                  <a:txBody>
                    <a:bodyPr/>
                    <a:lstStyle/>
                    <a:p>
                      <a:endParaRPr lang="en-US"/>
                    </a:p>
                  </a:txBody>
                  <a:tcPr/>
                </a:tc>
                <a:tc>
                  <a:txBody>
                    <a:bodyPr/>
                    <a:lstStyle/>
                    <a:p>
                      <a:pPr algn="ctr" fontAlgn="ctr"/>
                      <a:r>
                        <a:rPr lang="en-US" sz="1200" b="1" i="0" u="none" strike="noStrike">
                          <a:solidFill>
                            <a:srgbClr val="000000"/>
                          </a:solidFill>
                          <a:effectLst/>
                          <a:latin typeface="Calibri" panose="020F0502020204030204" pitchFamily="34" charset="0"/>
                        </a:rPr>
                        <a:t>2700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extLst>
                  <a:ext uri="{0D108BD9-81ED-4DB2-BD59-A6C34878D82A}">
                    <a16:rowId xmlns:a16="http://schemas.microsoft.com/office/drawing/2014/main" val="3599434005"/>
                  </a:ext>
                </a:extLst>
              </a:tr>
              <a:tr h="228600">
                <a:tc>
                  <a:txBody>
                    <a:bodyPr/>
                    <a:lstStyle/>
                    <a:p>
                      <a:pPr algn="l" fontAlgn="ctr"/>
                      <a:r>
                        <a:rPr lang="en-US" sz="1200" b="1" i="0" u="none" strike="noStrike">
                          <a:solidFill>
                            <a:srgbClr val="002060"/>
                          </a:solidFill>
                          <a:effectLst/>
                          <a:latin typeface="Calibri" panose="020F0502020204030204" pitchFamily="34" charset="0"/>
                        </a:rPr>
                        <a:t>No of Cycle per day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2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4C6E7"/>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967024750"/>
                  </a:ext>
                </a:extLst>
              </a:tr>
              <a:tr h="228600">
                <a:tc>
                  <a:txBody>
                    <a:bodyPr/>
                    <a:lstStyle/>
                    <a:p>
                      <a:pPr algn="l" fontAlgn="ctr"/>
                      <a:r>
                        <a:rPr lang="en-US" sz="1200" b="1" i="0" u="none" strike="noStrike">
                          <a:solidFill>
                            <a:srgbClr val="002060"/>
                          </a:solidFill>
                          <a:effectLst/>
                          <a:latin typeface="Calibri" panose="020F0502020204030204" pitchFamily="34" charset="0"/>
                        </a:rPr>
                        <a:t>Power/Battery - KW</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b"/>
                      <a:r>
                        <a:rPr lang="en-US" sz="1400" b="1" i="0" u="none" strike="noStrike">
                          <a:solidFill>
                            <a:srgbClr val="000000"/>
                          </a:solidFill>
                          <a:effectLst/>
                          <a:latin typeface="Calibri" panose="020F0502020204030204" pitchFamily="34" charset="0"/>
                        </a:rPr>
                        <a:t>0.12</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2135944305"/>
                  </a:ext>
                </a:extLst>
              </a:tr>
              <a:tr h="236220">
                <a:tc>
                  <a:txBody>
                    <a:bodyPr/>
                    <a:lstStyle/>
                    <a:p>
                      <a:pPr algn="l" fontAlgn="ctr"/>
                      <a:r>
                        <a:rPr lang="en-US" sz="1200" b="1" i="0" u="none" strike="noStrike">
                          <a:solidFill>
                            <a:srgbClr val="002060"/>
                          </a:solidFill>
                          <a:effectLst/>
                          <a:latin typeface="Calibri" panose="020F0502020204030204" pitchFamily="34" charset="0"/>
                        </a:rPr>
                        <a:t>Total Station KW</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b"/>
                      <a:r>
                        <a:rPr lang="en-US" sz="1400" b="1" i="0" u="none" strike="noStrike">
                          <a:solidFill>
                            <a:srgbClr val="000000"/>
                          </a:solidFill>
                          <a:effectLst/>
                          <a:latin typeface="Calibri" panose="020F0502020204030204" pitchFamily="34" charset="0"/>
                        </a:rPr>
                        <a:t>18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3003126293"/>
                  </a:ext>
                </a:extLst>
              </a:tr>
              <a:tr h="304800">
                <a:tc>
                  <a:txBody>
                    <a:bodyPr/>
                    <a:lstStyle/>
                    <a:p>
                      <a:pPr algn="l" fontAlgn="ctr"/>
                      <a:r>
                        <a:rPr lang="en-US" sz="1200" b="1" i="0" u="none" strike="noStrike">
                          <a:solidFill>
                            <a:srgbClr val="002060"/>
                          </a:solidFill>
                          <a:effectLst/>
                          <a:latin typeface="Calibri" panose="020F0502020204030204" pitchFamily="34" charset="0"/>
                        </a:rPr>
                        <a:t>Total Energy Required for Full Swapping Station per Day - KW</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en-US" sz="1800" b="1" i="0" u="none" strike="noStrike">
                          <a:solidFill>
                            <a:srgbClr val="FFC000"/>
                          </a:solidFill>
                          <a:effectLst/>
                          <a:latin typeface="Calibri" panose="020F0502020204030204" pitchFamily="34" charset="0"/>
                        </a:rPr>
                        <a:t>54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48235"/>
                    </a:solid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w="1270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tc>
                  <a:txBody>
                    <a:bodyPr/>
                    <a:lstStyle/>
                    <a:p>
                      <a:pPr algn="l" fontAlgn="b"/>
                      <a:endParaRPr lang="en-US" sz="1100" b="0" i="0" u="none" strike="noStrike" dirty="0">
                        <a:solidFill>
                          <a:srgbClr val="000000"/>
                        </a:solidFill>
                        <a:effectLst/>
                        <a:latin typeface="Calibri" panose="020F0502020204030204" pitchFamily="34" charset="0"/>
                      </a:endParaRPr>
                    </a:p>
                  </a:txBody>
                  <a:tcPr marL="7620" marR="7620" marT="7620" marB="0" anchor="b">
                    <a:lnL>
                      <a:noFill/>
                    </a:lnL>
                    <a:lnR>
                      <a:noFill/>
                    </a:lnR>
                    <a:lnT>
                      <a:noFill/>
                    </a:lnT>
                    <a:lnB>
                      <a:noFill/>
                    </a:lnB>
                    <a:noFill/>
                  </a:tcPr>
                </a:tc>
                <a:extLst>
                  <a:ext uri="{0D108BD9-81ED-4DB2-BD59-A6C34878D82A}">
                    <a16:rowId xmlns:a16="http://schemas.microsoft.com/office/drawing/2014/main" val="3382396083"/>
                  </a:ext>
                </a:extLst>
              </a:tr>
            </a:tbl>
          </a:graphicData>
        </a:graphic>
      </p:graphicFrame>
    </p:spTree>
    <p:extLst>
      <p:ext uri="{BB962C8B-B14F-4D97-AF65-F5344CB8AC3E}">
        <p14:creationId xmlns:p14="http://schemas.microsoft.com/office/powerpoint/2010/main" val="4000592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24727-9AED-7EA4-1461-9778DFC72B8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6F9E4BE-0041-AB16-80D9-CB67CAB90F99}"/>
              </a:ext>
            </a:extLst>
          </p:cNvPr>
          <p:cNvSpPr>
            <a:spLocks noGrp="1"/>
          </p:cNvSpPr>
          <p:nvPr>
            <p:ph type="sldNum" sz="quarter" idx="12"/>
          </p:nvPr>
        </p:nvSpPr>
        <p:spPr/>
        <p:txBody>
          <a:bodyPr/>
          <a:lstStyle/>
          <a:p>
            <a:fld id="{15FCCAAF-6324-40D0-99C1-825B83CC9B2F}" type="slidenum">
              <a:rPr lang="en-IN" smtClean="0"/>
              <a:t>21</a:t>
            </a:fld>
            <a:endParaRPr lang="en-IN"/>
          </a:p>
        </p:txBody>
      </p:sp>
      <p:graphicFrame>
        <p:nvGraphicFramePr>
          <p:cNvPr id="3" name="Table 2">
            <a:extLst>
              <a:ext uri="{FF2B5EF4-FFF2-40B4-BE49-F238E27FC236}">
                <a16:creationId xmlns:a16="http://schemas.microsoft.com/office/drawing/2014/main" id="{9038D2B9-CF14-5222-2C31-70CF3F22A308}"/>
              </a:ext>
            </a:extLst>
          </p:cNvPr>
          <p:cNvGraphicFramePr>
            <a:graphicFrameLocks noGrp="1"/>
          </p:cNvGraphicFramePr>
          <p:nvPr/>
        </p:nvGraphicFramePr>
        <p:xfrm>
          <a:off x="206375" y="136525"/>
          <a:ext cx="6280151" cy="3381861"/>
        </p:xfrm>
        <a:graphic>
          <a:graphicData uri="http://schemas.openxmlformats.org/drawingml/2006/table">
            <a:tbl>
              <a:tblPr/>
              <a:tblGrid>
                <a:gridCol w="1963361">
                  <a:extLst>
                    <a:ext uri="{9D8B030D-6E8A-4147-A177-3AD203B41FA5}">
                      <a16:colId xmlns:a16="http://schemas.microsoft.com/office/drawing/2014/main" val="3924510819"/>
                    </a:ext>
                  </a:extLst>
                </a:gridCol>
                <a:gridCol w="832152">
                  <a:extLst>
                    <a:ext uri="{9D8B030D-6E8A-4147-A177-3AD203B41FA5}">
                      <a16:colId xmlns:a16="http://schemas.microsoft.com/office/drawing/2014/main" val="3737081838"/>
                    </a:ext>
                  </a:extLst>
                </a:gridCol>
                <a:gridCol w="1014186">
                  <a:extLst>
                    <a:ext uri="{9D8B030D-6E8A-4147-A177-3AD203B41FA5}">
                      <a16:colId xmlns:a16="http://schemas.microsoft.com/office/drawing/2014/main" val="3508650473"/>
                    </a:ext>
                  </a:extLst>
                </a:gridCol>
                <a:gridCol w="1092200">
                  <a:extLst>
                    <a:ext uri="{9D8B030D-6E8A-4147-A177-3AD203B41FA5}">
                      <a16:colId xmlns:a16="http://schemas.microsoft.com/office/drawing/2014/main" val="1151167311"/>
                    </a:ext>
                  </a:extLst>
                </a:gridCol>
                <a:gridCol w="1378252">
                  <a:extLst>
                    <a:ext uri="{9D8B030D-6E8A-4147-A177-3AD203B41FA5}">
                      <a16:colId xmlns:a16="http://schemas.microsoft.com/office/drawing/2014/main" val="3548363626"/>
                    </a:ext>
                  </a:extLst>
                </a:gridCol>
              </a:tblGrid>
              <a:tr h="368797">
                <a:tc gridSpan="5">
                  <a:txBody>
                    <a:bodyPr/>
                    <a:lstStyle/>
                    <a:p>
                      <a:pPr algn="ctr" fontAlgn="ctr"/>
                      <a:r>
                        <a:rPr lang="en-US" sz="2400" b="1" i="0" u="none" strike="noStrike" dirty="0">
                          <a:solidFill>
                            <a:srgbClr val="002060"/>
                          </a:solidFill>
                          <a:effectLst/>
                          <a:latin typeface="Calibri" panose="020F0502020204030204" pitchFamily="34" charset="0"/>
                        </a:rPr>
                        <a:t>Total Energy  calculation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17986107"/>
                  </a:ext>
                </a:extLst>
              </a:tr>
              <a:tr h="195688">
                <a:tc>
                  <a:txBody>
                    <a:bodyPr/>
                    <a:lstStyle/>
                    <a:p>
                      <a:pPr algn="ctr" fontAlgn="ctr"/>
                      <a:r>
                        <a:rPr lang="en-US" sz="1100" b="1" i="0" u="none" strike="noStrike">
                          <a:solidFill>
                            <a:srgbClr val="000000"/>
                          </a:solidFill>
                          <a:effectLst/>
                          <a:latin typeface="Calibri" panose="020F0502020204030204" pitchFamily="34" charset="0"/>
                        </a:rPr>
                        <a:t>Power sources</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sz="1100" b="1" i="0" u="none" strike="noStrike">
                          <a:solidFill>
                            <a:srgbClr val="000000"/>
                          </a:solidFill>
                          <a:effectLst/>
                          <a:latin typeface="Calibri" panose="020F0502020204030204" pitchFamily="34" charset="0"/>
                        </a:rPr>
                        <a:t>KW / day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sz="1100" b="1" i="0" u="none" strike="noStrike">
                          <a:solidFill>
                            <a:srgbClr val="000000"/>
                          </a:solidFill>
                          <a:effectLst/>
                          <a:latin typeface="Calibri" panose="020F0502020204030204" pitchFamily="34" charset="0"/>
                        </a:rPr>
                        <a:t>KW / Month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sz="1100" b="1" i="0" u="none" strike="noStrike">
                          <a:solidFill>
                            <a:srgbClr val="000000"/>
                          </a:solidFill>
                          <a:effectLst/>
                          <a:latin typeface="Calibri" panose="020F0502020204030204" pitchFamily="34" charset="0"/>
                        </a:rPr>
                        <a:t>KW / year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r>
                        <a:rPr lang="en-US" sz="1100" b="1" i="0" u="none" strike="noStrike">
                          <a:solidFill>
                            <a:srgbClr val="000000"/>
                          </a:solidFill>
                          <a:effectLst/>
                          <a:latin typeface="Calibri" panose="020F0502020204030204" pitchFamily="34" charset="0"/>
                        </a:rPr>
                        <a:t>KW / 5 years</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extLst>
                  <a:ext uri="{0D108BD9-81ED-4DB2-BD59-A6C34878D82A}">
                    <a16:rowId xmlns:a16="http://schemas.microsoft.com/office/drawing/2014/main" val="2025760821"/>
                  </a:ext>
                </a:extLst>
              </a:tr>
              <a:tr h="346217">
                <a:tc>
                  <a:txBody>
                    <a:bodyPr/>
                    <a:lstStyle/>
                    <a:p>
                      <a:pPr algn="ctr" fontAlgn="ctr"/>
                      <a:r>
                        <a:rPr lang="en-US" sz="1100" b="1" i="0" u="none" strike="noStrike">
                          <a:solidFill>
                            <a:srgbClr val="000000"/>
                          </a:solidFill>
                          <a:effectLst/>
                          <a:latin typeface="Calibri" panose="020F0502020204030204" pitchFamily="34" charset="0"/>
                        </a:rPr>
                        <a:t>Required full Power From Grid</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3C0C"/>
                    </a:solidFill>
                  </a:tcPr>
                </a:tc>
                <a:tc>
                  <a:txBody>
                    <a:bodyPr/>
                    <a:lstStyle/>
                    <a:p>
                      <a:pPr algn="r" fontAlgn="ctr"/>
                      <a:r>
                        <a:rPr lang="en-US" sz="1400" b="0" i="0" u="none" strike="noStrike">
                          <a:solidFill>
                            <a:srgbClr val="000000"/>
                          </a:solidFill>
                          <a:effectLst/>
                          <a:latin typeface="Calibri" panose="020F0502020204030204" pitchFamily="34" charset="0"/>
                        </a:rPr>
                        <a:t>1,817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3C0C"/>
                    </a:solidFill>
                  </a:tcPr>
                </a:tc>
                <a:tc>
                  <a:txBody>
                    <a:bodyPr/>
                    <a:lstStyle/>
                    <a:p>
                      <a:pPr algn="r" fontAlgn="ctr"/>
                      <a:r>
                        <a:rPr lang="en-US" sz="1400" b="0" i="0" u="none" strike="noStrike">
                          <a:solidFill>
                            <a:srgbClr val="000000"/>
                          </a:solidFill>
                          <a:effectLst/>
                          <a:latin typeface="Calibri" panose="020F0502020204030204" pitchFamily="34" charset="0"/>
                        </a:rPr>
                        <a:t>54,504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3C0C"/>
                    </a:solidFill>
                  </a:tcPr>
                </a:tc>
                <a:tc>
                  <a:txBody>
                    <a:bodyPr/>
                    <a:lstStyle/>
                    <a:p>
                      <a:pPr algn="r" fontAlgn="ctr"/>
                      <a:r>
                        <a:rPr lang="en-US" sz="1400" b="0" i="0" u="none" strike="noStrike">
                          <a:solidFill>
                            <a:srgbClr val="000000"/>
                          </a:solidFill>
                          <a:effectLst/>
                          <a:latin typeface="Calibri" panose="020F0502020204030204" pitchFamily="34" charset="0"/>
                        </a:rPr>
                        <a:t>663,132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3C0C"/>
                    </a:solidFill>
                  </a:tcPr>
                </a:tc>
                <a:tc>
                  <a:txBody>
                    <a:bodyPr/>
                    <a:lstStyle/>
                    <a:p>
                      <a:pPr algn="r" fontAlgn="ctr"/>
                      <a:r>
                        <a:rPr lang="en-US" sz="1400" b="0" i="0" u="none" strike="noStrike">
                          <a:solidFill>
                            <a:srgbClr val="000000"/>
                          </a:solidFill>
                          <a:effectLst/>
                          <a:latin typeface="Calibri" panose="020F0502020204030204" pitchFamily="34" charset="0"/>
                        </a:rPr>
                        <a:t>3,315,660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33C0C"/>
                    </a:solidFill>
                  </a:tcPr>
                </a:tc>
                <a:extLst>
                  <a:ext uri="{0D108BD9-81ED-4DB2-BD59-A6C34878D82A}">
                    <a16:rowId xmlns:a16="http://schemas.microsoft.com/office/drawing/2014/main" val="626075095"/>
                  </a:ext>
                </a:extLst>
              </a:tr>
              <a:tr h="225794">
                <a:tc>
                  <a:txBody>
                    <a:bodyPr/>
                    <a:lstStyle/>
                    <a:p>
                      <a:pPr algn="ctr" fontAlgn="ctr"/>
                      <a:r>
                        <a:rPr lang="en-US" sz="1100" b="1" i="0" u="none" strike="noStrike">
                          <a:solidFill>
                            <a:srgbClr val="000000"/>
                          </a:solidFill>
                          <a:effectLst/>
                          <a:latin typeface="Calibri" panose="020F0502020204030204" pitchFamily="34" charset="0"/>
                        </a:rPr>
                        <a:t>Solar</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r" fontAlgn="ctr"/>
                      <a:r>
                        <a:rPr lang="en-US" sz="1400" b="0" i="0" u="none" strike="noStrike">
                          <a:solidFill>
                            <a:srgbClr val="000000"/>
                          </a:solidFill>
                          <a:effectLst/>
                          <a:latin typeface="Calibri" panose="020F0502020204030204" pitchFamily="34" charset="0"/>
                        </a:rPr>
                        <a:t>1,032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a:solidFill>
                            <a:srgbClr val="000000"/>
                          </a:solidFill>
                          <a:effectLst/>
                          <a:latin typeface="Calibri" panose="020F0502020204030204" pitchFamily="34" charset="0"/>
                        </a:rPr>
                        <a:t>30,960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a:solidFill>
                            <a:srgbClr val="000000"/>
                          </a:solidFill>
                          <a:effectLst/>
                          <a:latin typeface="Calibri" panose="020F0502020204030204" pitchFamily="34" charset="0"/>
                        </a:rPr>
                        <a:t>376,680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a:solidFill>
                            <a:srgbClr val="000000"/>
                          </a:solidFill>
                          <a:effectLst/>
                          <a:latin typeface="Calibri" panose="020F0502020204030204" pitchFamily="34" charset="0"/>
                        </a:rPr>
                        <a:t>1,883,400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2579565861"/>
                  </a:ext>
                </a:extLst>
              </a:tr>
              <a:tr h="225794">
                <a:tc>
                  <a:txBody>
                    <a:bodyPr/>
                    <a:lstStyle/>
                    <a:p>
                      <a:pPr algn="ctr" fontAlgn="ctr"/>
                      <a:r>
                        <a:rPr lang="en-US" sz="1100" b="1" i="0" u="none" strike="noStrike">
                          <a:solidFill>
                            <a:srgbClr val="000000"/>
                          </a:solidFill>
                          <a:effectLst/>
                          <a:latin typeface="Calibri" panose="020F0502020204030204" pitchFamily="34" charset="0"/>
                        </a:rPr>
                        <a:t>ESS</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r" fontAlgn="ctr"/>
                      <a:r>
                        <a:rPr lang="en-US" sz="1400" b="0" i="0" u="none" strike="noStrike">
                          <a:solidFill>
                            <a:srgbClr val="000000"/>
                          </a:solidFill>
                          <a:effectLst/>
                          <a:latin typeface="Calibri" panose="020F0502020204030204" pitchFamily="34" charset="0"/>
                        </a:rPr>
                        <a:t>576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a:solidFill>
                            <a:srgbClr val="000000"/>
                          </a:solidFill>
                          <a:effectLst/>
                          <a:latin typeface="Calibri" panose="020F0502020204030204" pitchFamily="34" charset="0"/>
                        </a:rPr>
                        <a:t>17,280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a:solidFill>
                            <a:srgbClr val="000000"/>
                          </a:solidFill>
                          <a:effectLst/>
                          <a:latin typeface="Calibri" panose="020F0502020204030204" pitchFamily="34" charset="0"/>
                        </a:rPr>
                        <a:t>210,240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dirty="0">
                          <a:solidFill>
                            <a:srgbClr val="000000"/>
                          </a:solidFill>
                          <a:effectLst/>
                          <a:latin typeface="Calibri" panose="020F0502020204030204" pitchFamily="34" charset="0"/>
                        </a:rPr>
                        <a:t>1,051,200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2374801533"/>
                  </a:ext>
                </a:extLst>
              </a:tr>
              <a:tr h="225794">
                <a:tc>
                  <a:txBody>
                    <a:bodyPr/>
                    <a:lstStyle/>
                    <a:p>
                      <a:pPr algn="ctr" fontAlgn="ctr"/>
                      <a:r>
                        <a:rPr lang="en-US" sz="1100" b="1" i="0" u="none" strike="noStrike">
                          <a:solidFill>
                            <a:srgbClr val="000000"/>
                          </a:solidFill>
                          <a:effectLst/>
                          <a:latin typeface="Calibri" panose="020F0502020204030204" pitchFamily="34" charset="0"/>
                        </a:rPr>
                        <a:t>Grid</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r" fontAlgn="ctr"/>
                      <a:r>
                        <a:rPr lang="en-US" sz="1400" b="0" i="0" u="none" strike="noStrike">
                          <a:solidFill>
                            <a:srgbClr val="000000"/>
                          </a:solidFill>
                          <a:effectLst/>
                          <a:latin typeface="Calibri" panose="020F0502020204030204" pitchFamily="34" charset="0"/>
                        </a:rPr>
                        <a:t>209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r" fontAlgn="ctr"/>
                      <a:r>
                        <a:rPr lang="en-US" sz="1400" b="0" i="0" u="none" strike="noStrike">
                          <a:solidFill>
                            <a:srgbClr val="000000"/>
                          </a:solidFill>
                          <a:effectLst/>
                          <a:latin typeface="Calibri" panose="020F0502020204030204" pitchFamily="34" charset="0"/>
                        </a:rPr>
                        <a:t>6,264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r" fontAlgn="ctr"/>
                      <a:r>
                        <a:rPr lang="en-US" sz="1400" b="0" i="0" u="none" strike="noStrike">
                          <a:solidFill>
                            <a:srgbClr val="000000"/>
                          </a:solidFill>
                          <a:effectLst/>
                          <a:latin typeface="Calibri" panose="020F0502020204030204" pitchFamily="34" charset="0"/>
                        </a:rPr>
                        <a:t>76,212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tc>
                  <a:txBody>
                    <a:bodyPr/>
                    <a:lstStyle/>
                    <a:p>
                      <a:pPr algn="r" fontAlgn="ctr"/>
                      <a:r>
                        <a:rPr lang="en-US" sz="1400" b="0" i="0" u="none" strike="noStrike">
                          <a:solidFill>
                            <a:srgbClr val="000000"/>
                          </a:solidFill>
                          <a:effectLst/>
                          <a:latin typeface="Calibri" panose="020F0502020204030204" pitchFamily="34" charset="0"/>
                        </a:rPr>
                        <a:t>381,060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5911"/>
                    </a:solidFill>
                  </a:tcPr>
                </a:tc>
                <a:extLst>
                  <a:ext uri="{0D108BD9-81ED-4DB2-BD59-A6C34878D82A}">
                    <a16:rowId xmlns:a16="http://schemas.microsoft.com/office/drawing/2014/main" val="4110204638"/>
                  </a:ext>
                </a:extLst>
              </a:tr>
              <a:tr h="398902">
                <a:tc>
                  <a:txBody>
                    <a:bodyPr/>
                    <a:lstStyle/>
                    <a:p>
                      <a:pPr algn="ctr" fontAlgn="ctr"/>
                      <a:r>
                        <a:rPr lang="en-US" sz="1100" b="1" i="0" u="none" strike="noStrike">
                          <a:solidFill>
                            <a:srgbClr val="000000"/>
                          </a:solidFill>
                          <a:effectLst/>
                          <a:latin typeface="Calibri" panose="020F0502020204030204" pitchFamily="34" charset="0"/>
                        </a:rPr>
                        <a:t>Total Power saving / Day</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r" fontAlgn="ctr"/>
                      <a:r>
                        <a:rPr lang="en-US" sz="1400" b="0" i="0" u="none" strike="noStrike">
                          <a:solidFill>
                            <a:srgbClr val="000000"/>
                          </a:solidFill>
                          <a:effectLst/>
                          <a:latin typeface="Calibri" panose="020F0502020204030204" pitchFamily="34" charset="0"/>
                        </a:rPr>
                        <a:t>1,608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a:solidFill>
                            <a:srgbClr val="000000"/>
                          </a:solidFill>
                          <a:effectLst/>
                          <a:latin typeface="Calibri" panose="020F0502020204030204" pitchFamily="34" charset="0"/>
                        </a:rPr>
                        <a:t>48,240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a:solidFill>
                            <a:srgbClr val="000000"/>
                          </a:solidFill>
                          <a:effectLst/>
                          <a:latin typeface="Calibri" panose="020F0502020204030204" pitchFamily="34" charset="0"/>
                        </a:rPr>
                        <a:t>586,920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dirty="0">
                          <a:solidFill>
                            <a:srgbClr val="000000"/>
                          </a:solidFill>
                          <a:effectLst/>
                          <a:latin typeface="Calibri" panose="020F0502020204030204" pitchFamily="34" charset="0"/>
                        </a:rPr>
                        <a:t>2,934,600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203364361"/>
                  </a:ext>
                </a:extLst>
              </a:tr>
              <a:tr h="218266">
                <a:tc>
                  <a:txBody>
                    <a:bodyPr/>
                    <a:lstStyle/>
                    <a:p>
                      <a:pPr algn="ctr" fontAlgn="ctr"/>
                      <a:r>
                        <a:rPr lang="en-US" sz="1100" b="1" i="0" u="none" strike="noStrike">
                          <a:solidFill>
                            <a:srgbClr val="000000"/>
                          </a:solidFill>
                          <a:effectLst/>
                          <a:latin typeface="Calibri" panose="020F0502020204030204" pitchFamily="34" charset="0"/>
                        </a:rPr>
                        <a:t> </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783128"/>
                  </a:ext>
                </a:extLst>
              </a:tr>
              <a:tr h="361269">
                <a:tc>
                  <a:txBody>
                    <a:bodyPr/>
                    <a:lstStyle/>
                    <a:p>
                      <a:pPr algn="ctr" fontAlgn="ctr"/>
                      <a:r>
                        <a:rPr lang="en-US" sz="1100" b="1" i="0" u="none" strike="noStrike">
                          <a:solidFill>
                            <a:srgbClr val="000000"/>
                          </a:solidFill>
                          <a:effectLst/>
                          <a:latin typeface="Calibri" panose="020F0502020204030204" pitchFamily="34" charset="0"/>
                        </a:rPr>
                        <a:t>Total Cost  / Day            12rs / unit</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8F00"/>
                    </a:solidFill>
                  </a:tcPr>
                </a:tc>
                <a:tc>
                  <a:txBody>
                    <a:bodyPr/>
                    <a:lstStyle/>
                    <a:p>
                      <a:pPr algn="r" fontAlgn="ctr"/>
                      <a:r>
                        <a:rPr lang="en-US" sz="1400" b="0" i="0" u="none" strike="noStrike" dirty="0">
                          <a:solidFill>
                            <a:srgbClr val="000000"/>
                          </a:solidFill>
                          <a:effectLst/>
                          <a:latin typeface="Calibri" panose="020F0502020204030204" pitchFamily="34" charset="0"/>
                        </a:rPr>
                        <a:t>21,802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8F00"/>
                    </a:solidFill>
                  </a:tcPr>
                </a:tc>
                <a:tc>
                  <a:txBody>
                    <a:bodyPr/>
                    <a:lstStyle/>
                    <a:p>
                      <a:pPr algn="r" fontAlgn="ctr"/>
                      <a:r>
                        <a:rPr lang="en-US" sz="1400" b="0" i="0" u="none" strike="noStrike" dirty="0">
                          <a:solidFill>
                            <a:srgbClr val="000000"/>
                          </a:solidFill>
                          <a:effectLst/>
                          <a:latin typeface="Calibri" panose="020F0502020204030204" pitchFamily="34" charset="0"/>
                        </a:rPr>
                        <a:t>654,048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8F00"/>
                    </a:solidFill>
                  </a:tcPr>
                </a:tc>
                <a:tc>
                  <a:txBody>
                    <a:bodyPr/>
                    <a:lstStyle/>
                    <a:p>
                      <a:pPr algn="r" fontAlgn="ctr"/>
                      <a:r>
                        <a:rPr lang="en-US" sz="1400" b="0" i="0" u="none" strike="noStrike">
                          <a:solidFill>
                            <a:srgbClr val="000000"/>
                          </a:solidFill>
                          <a:effectLst/>
                          <a:latin typeface="Calibri" panose="020F0502020204030204" pitchFamily="34" charset="0"/>
                        </a:rPr>
                        <a:t>7,957,584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8F00"/>
                    </a:solidFill>
                  </a:tcPr>
                </a:tc>
                <a:tc>
                  <a:txBody>
                    <a:bodyPr/>
                    <a:lstStyle/>
                    <a:p>
                      <a:pPr algn="r" fontAlgn="ctr"/>
                      <a:r>
                        <a:rPr lang="en-US" sz="1400" b="0" i="0" u="none" strike="noStrike">
                          <a:solidFill>
                            <a:srgbClr val="000000"/>
                          </a:solidFill>
                          <a:effectLst/>
                          <a:latin typeface="Calibri" panose="020F0502020204030204" pitchFamily="34" charset="0"/>
                        </a:rPr>
                        <a:t>39,787,920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8F00"/>
                    </a:solidFill>
                  </a:tcPr>
                </a:tc>
                <a:extLst>
                  <a:ext uri="{0D108BD9-81ED-4DB2-BD59-A6C34878D82A}">
                    <a16:rowId xmlns:a16="http://schemas.microsoft.com/office/drawing/2014/main" val="448550410"/>
                  </a:ext>
                </a:extLst>
              </a:tr>
              <a:tr h="218266">
                <a:tc>
                  <a:txBody>
                    <a:bodyPr/>
                    <a:lstStyle/>
                    <a:p>
                      <a:pPr algn="ctr" fontAlgn="ctr"/>
                      <a:r>
                        <a:rPr lang="en-US" sz="1100" b="0" i="0" u="none" strike="noStrike">
                          <a:solidFill>
                            <a:srgbClr val="000000"/>
                          </a:solidFill>
                          <a:effectLst/>
                          <a:latin typeface="Calibri" panose="020F0502020204030204" pitchFamily="34" charset="0"/>
                        </a:rPr>
                        <a:t> </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Calibri" panose="020F0502020204030204" pitchFamily="34" charset="0"/>
                        </a:rPr>
                        <a:t> </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9897099"/>
                  </a:ext>
                </a:extLst>
              </a:tr>
              <a:tr h="391375">
                <a:tc>
                  <a:txBody>
                    <a:bodyPr/>
                    <a:lstStyle/>
                    <a:p>
                      <a:pPr algn="ctr" fontAlgn="ctr"/>
                      <a:r>
                        <a:rPr lang="en-US" sz="1100" b="1" i="0" u="none" strike="noStrike">
                          <a:solidFill>
                            <a:srgbClr val="000000"/>
                          </a:solidFill>
                          <a:effectLst/>
                          <a:latin typeface="Calibri" panose="020F0502020204030204" pitchFamily="34" charset="0"/>
                        </a:rPr>
                        <a:t>Total Cost Saving / Day  12rs / unit</a:t>
                      </a:r>
                    </a:p>
                  </a:txBody>
                  <a:tcPr marL="7620" marR="7620" marT="762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r" fontAlgn="ctr"/>
                      <a:r>
                        <a:rPr lang="en-US" sz="1400" b="0" i="0" u="none" strike="noStrike" dirty="0">
                          <a:solidFill>
                            <a:srgbClr val="000000"/>
                          </a:solidFill>
                          <a:effectLst/>
                          <a:latin typeface="Calibri" panose="020F0502020204030204" pitchFamily="34" charset="0"/>
                        </a:rPr>
                        <a:t>19,296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dirty="0">
                          <a:solidFill>
                            <a:srgbClr val="000000"/>
                          </a:solidFill>
                          <a:effectLst/>
                          <a:latin typeface="Calibri" panose="020F0502020204030204" pitchFamily="34" charset="0"/>
                        </a:rPr>
                        <a:t>578,880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a:solidFill>
                            <a:srgbClr val="000000"/>
                          </a:solidFill>
                          <a:effectLst/>
                          <a:latin typeface="Calibri" panose="020F0502020204030204" pitchFamily="34" charset="0"/>
                        </a:rPr>
                        <a:t>7,043,040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ctr"/>
                      <a:r>
                        <a:rPr lang="en-US" sz="1400" b="0" i="0" u="none" strike="noStrike" dirty="0">
                          <a:solidFill>
                            <a:srgbClr val="000000"/>
                          </a:solidFill>
                          <a:effectLst/>
                          <a:latin typeface="Calibri" panose="020F0502020204030204" pitchFamily="34" charset="0"/>
                        </a:rPr>
                        <a:t>35,215,200</a:t>
                      </a:r>
                    </a:p>
                  </a:txBody>
                  <a:tcPr marL="7620" marR="7620" marT="762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3544186786"/>
                  </a:ext>
                </a:extLst>
              </a:tr>
              <a:tr h="195688">
                <a:tc>
                  <a:txBody>
                    <a:bodyPr/>
                    <a:lstStyle/>
                    <a:p>
                      <a:pPr algn="ctr" fontAlgn="b"/>
                      <a:r>
                        <a:rPr lang="en-US" sz="1100" b="1" i="0" u="none" strike="noStrike">
                          <a:solidFill>
                            <a:srgbClr val="000000"/>
                          </a:solidFill>
                          <a:effectLst/>
                          <a:latin typeface="Calibri" panose="020F0502020204030204" pitchFamily="34" charset="0"/>
                        </a:rPr>
                        <a:t>Spending Amount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fontAlgn="b"/>
                      <a:r>
                        <a:rPr lang="en-US" sz="1100" b="0" i="0" u="none" strike="noStrike">
                          <a:solidFill>
                            <a:srgbClr val="000000"/>
                          </a:solidFill>
                          <a:effectLst/>
                          <a:latin typeface="Calibri" panose="020F0502020204030204" pitchFamily="34" charset="0"/>
                        </a:rPr>
                        <a:t>2,506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fontAlgn="b"/>
                      <a:r>
                        <a:rPr lang="en-US" sz="1100" b="0" i="0" u="none" strike="noStrike">
                          <a:solidFill>
                            <a:srgbClr val="000000"/>
                          </a:solidFill>
                          <a:effectLst/>
                          <a:latin typeface="Calibri" panose="020F0502020204030204" pitchFamily="34" charset="0"/>
                        </a:rPr>
                        <a:t>75,168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fontAlgn="b"/>
                      <a:r>
                        <a:rPr lang="en-US" sz="1100" b="0" i="0" u="none" strike="noStrike">
                          <a:solidFill>
                            <a:srgbClr val="000000"/>
                          </a:solidFill>
                          <a:effectLst/>
                          <a:latin typeface="Calibri" panose="020F0502020204030204" pitchFamily="34" charset="0"/>
                        </a:rPr>
                        <a:t>914,544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fontAlgn="b"/>
                      <a:r>
                        <a:rPr lang="en-US" sz="1100" b="0" i="0" u="none" strike="noStrike" dirty="0">
                          <a:solidFill>
                            <a:srgbClr val="000000"/>
                          </a:solidFill>
                          <a:effectLst/>
                          <a:latin typeface="Calibri" panose="020F0502020204030204" pitchFamily="34" charset="0"/>
                        </a:rPr>
                        <a:t>4,572,720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1065662331"/>
                  </a:ext>
                </a:extLst>
              </a:tr>
            </a:tbl>
          </a:graphicData>
        </a:graphic>
      </p:graphicFrame>
      <p:graphicFrame>
        <p:nvGraphicFramePr>
          <p:cNvPr id="8" name="Table 7">
            <a:extLst>
              <a:ext uri="{FF2B5EF4-FFF2-40B4-BE49-F238E27FC236}">
                <a16:creationId xmlns:a16="http://schemas.microsoft.com/office/drawing/2014/main" id="{2D1C3483-744D-0422-D369-64E419A6A296}"/>
              </a:ext>
            </a:extLst>
          </p:cNvPr>
          <p:cNvGraphicFramePr>
            <a:graphicFrameLocks noGrp="1"/>
          </p:cNvGraphicFramePr>
          <p:nvPr/>
        </p:nvGraphicFramePr>
        <p:xfrm>
          <a:off x="6781804" y="542925"/>
          <a:ext cx="5203821" cy="2860673"/>
        </p:xfrm>
        <a:graphic>
          <a:graphicData uri="http://schemas.openxmlformats.org/drawingml/2006/table">
            <a:tbl>
              <a:tblPr/>
              <a:tblGrid>
                <a:gridCol w="1626868">
                  <a:extLst>
                    <a:ext uri="{9D8B030D-6E8A-4147-A177-3AD203B41FA5}">
                      <a16:colId xmlns:a16="http://schemas.microsoft.com/office/drawing/2014/main" val="2116811209"/>
                    </a:ext>
                  </a:extLst>
                </a:gridCol>
                <a:gridCol w="689533">
                  <a:extLst>
                    <a:ext uri="{9D8B030D-6E8A-4147-A177-3AD203B41FA5}">
                      <a16:colId xmlns:a16="http://schemas.microsoft.com/office/drawing/2014/main" val="3819634284"/>
                    </a:ext>
                  </a:extLst>
                </a:gridCol>
                <a:gridCol w="840368">
                  <a:extLst>
                    <a:ext uri="{9D8B030D-6E8A-4147-A177-3AD203B41FA5}">
                      <a16:colId xmlns:a16="http://schemas.microsoft.com/office/drawing/2014/main" val="931623807"/>
                    </a:ext>
                  </a:extLst>
                </a:gridCol>
                <a:gridCol w="905013">
                  <a:extLst>
                    <a:ext uri="{9D8B030D-6E8A-4147-A177-3AD203B41FA5}">
                      <a16:colId xmlns:a16="http://schemas.microsoft.com/office/drawing/2014/main" val="1566685999"/>
                    </a:ext>
                  </a:extLst>
                </a:gridCol>
                <a:gridCol w="1142039">
                  <a:extLst>
                    <a:ext uri="{9D8B030D-6E8A-4147-A177-3AD203B41FA5}">
                      <a16:colId xmlns:a16="http://schemas.microsoft.com/office/drawing/2014/main" val="1876004634"/>
                    </a:ext>
                  </a:extLst>
                </a:gridCol>
              </a:tblGrid>
              <a:tr h="384071">
                <a:tc gridSpan="5">
                  <a:txBody>
                    <a:bodyPr/>
                    <a:lstStyle/>
                    <a:p>
                      <a:pPr algn="ctr" fontAlgn="b"/>
                      <a:r>
                        <a:rPr lang="en-US" sz="2400" b="1" i="0" u="none" strike="noStrike" dirty="0">
                          <a:solidFill>
                            <a:srgbClr val="000000"/>
                          </a:solidFill>
                          <a:effectLst/>
                          <a:latin typeface="Calibri" panose="020F0502020204030204" pitchFamily="34" charset="0"/>
                        </a:rPr>
                        <a:t>Revenue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41737847"/>
                  </a:ext>
                </a:extLst>
              </a:tr>
              <a:tr h="344340">
                <a:tc>
                  <a:txBody>
                    <a:bodyPr/>
                    <a:lstStyle/>
                    <a:p>
                      <a:pPr algn="ctr" fontAlgn="ctr"/>
                      <a:r>
                        <a:rPr lang="en-US" sz="1200" b="0" i="0" u="none" strike="noStrike" dirty="0">
                          <a:solidFill>
                            <a:srgbClr val="000000"/>
                          </a:solidFill>
                          <a:effectLst/>
                          <a:latin typeface="Calibri" panose="020F0502020204030204" pitchFamily="34" charset="0"/>
                        </a:rPr>
                        <a:t>Source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ctr"/>
                      <a:r>
                        <a:rPr lang="en-US" sz="1200" b="0" i="0" u="none" strike="noStrike">
                          <a:solidFill>
                            <a:srgbClr val="000000"/>
                          </a:solidFill>
                          <a:effectLst/>
                          <a:latin typeface="Calibri" panose="020F0502020204030204" pitchFamily="34" charset="0"/>
                        </a:rPr>
                        <a:t>Per day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ctr"/>
                      <a:r>
                        <a:rPr lang="en-US" sz="1200" b="0" i="0" u="none" strike="noStrike">
                          <a:solidFill>
                            <a:srgbClr val="000000"/>
                          </a:solidFill>
                          <a:effectLst/>
                          <a:latin typeface="Calibri" panose="020F0502020204030204" pitchFamily="34" charset="0"/>
                        </a:rPr>
                        <a:t>Per Month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ctr"/>
                      <a:r>
                        <a:rPr lang="en-US" sz="1200" b="0" i="0" u="none" strike="noStrike">
                          <a:solidFill>
                            <a:srgbClr val="000000"/>
                          </a:solidFill>
                          <a:effectLst/>
                          <a:latin typeface="Calibri" panose="020F0502020204030204" pitchFamily="34" charset="0"/>
                        </a:rPr>
                        <a:t>Per Year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tc>
                  <a:txBody>
                    <a:bodyPr/>
                    <a:lstStyle/>
                    <a:p>
                      <a:pPr algn="ctr" fontAlgn="ctr"/>
                      <a:r>
                        <a:rPr lang="en-US" sz="1200" b="0" i="0" u="none" strike="noStrike">
                          <a:solidFill>
                            <a:srgbClr val="000000"/>
                          </a:solidFill>
                          <a:effectLst/>
                          <a:latin typeface="Calibri" panose="020F0502020204030204" pitchFamily="34" charset="0"/>
                        </a:rPr>
                        <a:t>Per 5 Years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EA9DB"/>
                    </a:solidFill>
                  </a:tcPr>
                </a:tc>
                <a:extLst>
                  <a:ext uri="{0D108BD9-81ED-4DB2-BD59-A6C34878D82A}">
                    <a16:rowId xmlns:a16="http://schemas.microsoft.com/office/drawing/2014/main" val="1101899184"/>
                  </a:ext>
                </a:extLst>
              </a:tr>
              <a:tr h="397316">
                <a:tc>
                  <a:txBody>
                    <a:bodyPr/>
                    <a:lstStyle/>
                    <a:p>
                      <a:pPr algn="l" fontAlgn="b"/>
                      <a:r>
                        <a:rPr lang="en-US" sz="1200" b="1" i="0" u="none" strike="noStrike" dirty="0">
                          <a:solidFill>
                            <a:srgbClr val="000000"/>
                          </a:solidFill>
                          <a:effectLst/>
                          <a:latin typeface="Calibri" panose="020F0502020204030204" pitchFamily="34" charset="0"/>
                        </a:rPr>
                        <a:t>Fast charging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r" fontAlgn="ctr"/>
                      <a:r>
                        <a:rPr lang="en-US" sz="1600" b="0" i="0" u="none" strike="noStrike">
                          <a:solidFill>
                            <a:srgbClr val="000000"/>
                          </a:solidFill>
                          <a:effectLst/>
                          <a:latin typeface="Calibri" panose="020F0502020204030204" pitchFamily="34" charset="0"/>
                        </a:rPr>
                        <a:t>26,794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r" fontAlgn="ctr"/>
                      <a:r>
                        <a:rPr lang="en-US" sz="1600" b="0" i="0" u="none" strike="noStrike">
                          <a:solidFill>
                            <a:srgbClr val="000000"/>
                          </a:solidFill>
                          <a:effectLst/>
                          <a:latin typeface="Calibri" panose="020F0502020204030204" pitchFamily="34" charset="0"/>
                        </a:rPr>
                        <a:t>803,813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r" fontAlgn="ctr"/>
                      <a:r>
                        <a:rPr lang="en-US" sz="1600" b="0" i="0" u="none" strike="noStrike">
                          <a:solidFill>
                            <a:srgbClr val="000000"/>
                          </a:solidFill>
                          <a:effectLst/>
                          <a:latin typeface="Calibri" panose="020F0502020204030204" pitchFamily="34" charset="0"/>
                        </a:rPr>
                        <a:t>9,779,719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algn="r" fontAlgn="ctr"/>
                      <a:r>
                        <a:rPr lang="en-US" sz="1600" b="0" i="0" u="none" strike="noStrike">
                          <a:solidFill>
                            <a:srgbClr val="000000"/>
                          </a:solidFill>
                          <a:effectLst/>
                          <a:latin typeface="Calibri" panose="020F0502020204030204" pitchFamily="34" charset="0"/>
                        </a:rPr>
                        <a:t>48,898,594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8501226"/>
                  </a:ext>
                </a:extLst>
              </a:tr>
              <a:tr h="397316">
                <a:tc>
                  <a:txBody>
                    <a:bodyPr/>
                    <a:lstStyle/>
                    <a:p>
                      <a:pPr algn="l" fontAlgn="b"/>
                      <a:r>
                        <a:rPr lang="en-US" sz="1200" b="1" i="0" u="none" strike="noStrike">
                          <a:solidFill>
                            <a:srgbClr val="000000"/>
                          </a:solidFill>
                          <a:effectLst/>
                          <a:latin typeface="Calibri" panose="020F0502020204030204" pitchFamily="34" charset="0"/>
                        </a:rPr>
                        <a:t>Battery Swapping</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r" fontAlgn="ctr"/>
                      <a:r>
                        <a:rPr lang="en-US" sz="1600" b="0" i="0" u="none" strike="noStrike" dirty="0">
                          <a:solidFill>
                            <a:srgbClr val="000000"/>
                          </a:solidFill>
                          <a:effectLst/>
                          <a:latin typeface="Calibri" panose="020F0502020204030204" pitchFamily="34" charset="0"/>
                        </a:rPr>
                        <a:t>2,700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r" fontAlgn="ctr"/>
                      <a:r>
                        <a:rPr lang="en-US" sz="1600" b="0" i="0" u="none" strike="noStrike">
                          <a:solidFill>
                            <a:srgbClr val="000000"/>
                          </a:solidFill>
                          <a:effectLst/>
                          <a:latin typeface="Calibri" panose="020F0502020204030204" pitchFamily="34" charset="0"/>
                        </a:rPr>
                        <a:t>81,000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r" fontAlgn="ctr"/>
                      <a:r>
                        <a:rPr lang="en-US" sz="1600" b="0" i="0" u="none" strike="noStrike">
                          <a:solidFill>
                            <a:srgbClr val="000000"/>
                          </a:solidFill>
                          <a:effectLst/>
                          <a:latin typeface="Calibri" panose="020F0502020204030204" pitchFamily="34" charset="0"/>
                        </a:rPr>
                        <a:t>985,500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r" fontAlgn="ctr"/>
                      <a:r>
                        <a:rPr lang="en-US" sz="1600" b="0" i="0" u="none" strike="noStrike">
                          <a:solidFill>
                            <a:srgbClr val="000000"/>
                          </a:solidFill>
                          <a:effectLst/>
                          <a:latin typeface="Calibri" panose="020F0502020204030204" pitchFamily="34" charset="0"/>
                        </a:rPr>
                        <a:t>4,927,500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extLst>
                  <a:ext uri="{0D108BD9-81ED-4DB2-BD59-A6C34878D82A}">
                    <a16:rowId xmlns:a16="http://schemas.microsoft.com/office/drawing/2014/main" val="472823889"/>
                  </a:ext>
                </a:extLst>
              </a:tr>
              <a:tr h="397316">
                <a:tc>
                  <a:txBody>
                    <a:bodyPr/>
                    <a:lstStyle/>
                    <a:p>
                      <a:pPr algn="l" fontAlgn="b"/>
                      <a:r>
                        <a:rPr lang="en-US" sz="1200" b="1" i="0" u="none" strike="noStrike">
                          <a:solidFill>
                            <a:srgbClr val="000000"/>
                          </a:solidFill>
                          <a:effectLst/>
                          <a:latin typeface="Calibri" panose="020F0502020204030204" pitchFamily="34" charset="0"/>
                        </a:rPr>
                        <a:t>Total Revenue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r" fontAlgn="b"/>
                      <a:r>
                        <a:rPr lang="en-US" sz="1200" b="0" i="0" u="none" strike="noStrike" dirty="0">
                          <a:solidFill>
                            <a:srgbClr val="000000"/>
                          </a:solidFill>
                          <a:effectLst/>
                          <a:latin typeface="Calibri" panose="020F0502020204030204" pitchFamily="34" charset="0"/>
                        </a:rPr>
                        <a:t>29,494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r" fontAlgn="b"/>
                      <a:r>
                        <a:rPr lang="en-US" sz="1200" b="0" i="0" u="none" strike="noStrike">
                          <a:solidFill>
                            <a:srgbClr val="000000"/>
                          </a:solidFill>
                          <a:effectLst/>
                          <a:latin typeface="Calibri" panose="020F0502020204030204" pitchFamily="34" charset="0"/>
                        </a:rPr>
                        <a:t>884,813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r" fontAlgn="b"/>
                      <a:r>
                        <a:rPr lang="en-US" sz="1200" b="0" i="0" u="none" strike="noStrike">
                          <a:solidFill>
                            <a:srgbClr val="000000"/>
                          </a:solidFill>
                          <a:effectLst/>
                          <a:latin typeface="Calibri" panose="020F0502020204030204" pitchFamily="34" charset="0"/>
                        </a:rPr>
                        <a:t>10,765,219</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tc>
                  <a:txBody>
                    <a:bodyPr/>
                    <a:lstStyle/>
                    <a:p>
                      <a:pPr algn="r" fontAlgn="b"/>
                      <a:r>
                        <a:rPr lang="en-US" sz="1200" b="0" i="0" u="none" strike="noStrike">
                          <a:solidFill>
                            <a:srgbClr val="000000"/>
                          </a:solidFill>
                          <a:effectLst/>
                          <a:latin typeface="Calibri" panose="020F0502020204030204" pitchFamily="34" charset="0"/>
                        </a:rPr>
                        <a:t>53,826,094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48235"/>
                    </a:solidFill>
                  </a:tcPr>
                </a:tc>
                <a:extLst>
                  <a:ext uri="{0D108BD9-81ED-4DB2-BD59-A6C34878D82A}">
                    <a16:rowId xmlns:a16="http://schemas.microsoft.com/office/drawing/2014/main" val="3353083054"/>
                  </a:ext>
                </a:extLst>
              </a:tr>
              <a:tr h="410560">
                <a:tc>
                  <a:txBody>
                    <a:bodyPr/>
                    <a:lstStyle/>
                    <a:p>
                      <a:pPr algn="l" fontAlgn="b"/>
                      <a:r>
                        <a:rPr lang="en-US" sz="1200" b="1" i="0" u="none" strike="noStrike" dirty="0">
                          <a:solidFill>
                            <a:srgbClr val="000000"/>
                          </a:solidFill>
                          <a:effectLst/>
                          <a:latin typeface="Calibri" panose="020F0502020204030204" pitchFamily="34" charset="0"/>
                        </a:rPr>
                        <a:t>Spending Amount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fontAlgn="b"/>
                      <a:r>
                        <a:rPr lang="en-US" sz="1200" b="0" i="0" u="none" strike="noStrike" dirty="0">
                          <a:solidFill>
                            <a:srgbClr val="000000"/>
                          </a:solidFill>
                          <a:effectLst/>
                          <a:latin typeface="Calibri" panose="020F0502020204030204" pitchFamily="34" charset="0"/>
                        </a:rPr>
                        <a:t>2,506</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fontAlgn="b"/>
                      <a:r>
                        <a:rPr lang="en-US" sz="1200" b="0" i="0" u="none" strike="noStrike" dirty="0">
                          <a:solidFill>
                            <a:srgbClr val="000000"/>
                          </a:solidFill>
                          <a:effectLst/>
                          <a:latin typeface="Calibri" panose="020F0502020204030204" pitchFamily="34" charset="0"/>
                        </a:rPr>
                        <a:t>75,168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fontAlgn="b"/>
                      <a:r>
                        <a:rPr lang="en-US" sz="1200" b="0" i="0" u="none" strike="noStrike">
                          <a:solidFill>
                            <a:srgbClr val="000000"/>
                          </a:solidFill>
                          <a:effectLst/>
                          <a:latin typeface="Calibri" panose="020F0502020204030204" pitchFamily="34" charset="0"/>
                        </a:rPr>
                        <a:t>914,544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tc>
                  <a:txBody>
                    <a:bodyPr/>
                    <a:lstStyle/>
                    <a:p>
                      <a:pPr algn="r" fontAlgn="b"/>
                      <a:r>
                        <a:rPr lang="en-US" sz="1200" b="0" i="0" u="none" strike="noStrike">
                          <a:solidFill>
                            <a:srgbClr val="000000"/>
                          </a:solidFill>
                          <a:effectLst/>
                          <a:latin typeface="Calibri" panose="020F0502020204030204" pitchFamily="34" charset="0"/>
                        </a:rPr>
                        <a:t>4,572,720</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1423318633"/>
                  </a:ext>
                </a:extLst>
              </a:tr>
              <a:tr h="529754">
                <a:tc>
                  <a:txBody>
                    <a:bodyPr/>
                    <a:lstStyle/>
                    <a:p>
                      <a:pPr algn="l" fontAlgn="b"/>
                      <a:r>
                        <a:rPr lang="en-US" sz="1600" b="1" i="0" u="none" strike="noStrike">
                          <a:solidFill>
                            <a:srgbClr val="000000"/>
                          </a:solidFill>
                          <a:effectLst/>
                          <a:latin typeface="Calibri" panose="020F0502020204030204" pitchFamily="34" charset="0"/>
                        </a:rPr>
                        <a:t>Total Profit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b"/>
                      <a:r>
                        <a:rPr lang="en-US" sz="1600" b="1" i="0" u="none" strike="noStrike" dirty="0">
                          <a:solidFill>
                            <a:srgbClr val="000000"/>
                          </a:solidFill>
                          <a:effectLst/>
                          <a:latin typeface="Calibri" panose="020F0502020204030204" pitchFamily="34" charset="0"/>
                        </a:rPr>
                        <a:t>26,988</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b"/>
                      <a:r>
                        <a:rPr lang="en-US" sz="1600" b="1" i="0" u="none" strike="noStrike">
                          <a:solidFill>
                            <a:srgbClr val="000000"/>
                          </a:solidFill>
                          <a:effectLst/>
                          <a:latin typeface="Calibri" panose="020F0502020204030204" pitchFamily="34" charset="0"/>
                        </a:rPr>
                        <a:t>809,645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b"/>
                      <a:r>
                        <a:rPr lang="en-US" sz="1600" b="1" i="0" u="none" strike="noStrike" dirty="0">
                          <a:solidFill>
                            <a:srgbClr val="000000"/>
                          </a:solidFill>
                          <a:effectLst/>
                          <a:latin typeface="Calibri" panose="020F0502020204030204" pitchFamily="34" charset="0"/>
                        </a:rPr>
                        <a:t>9,850,675</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tc>
                  <a:txBody>
                    <a:bodyPr/>
                    <a:lstStyle/>
                    <a:p>
                      <a:pPr algn="r" fontAlgn="b"/>
                      <a:r>
                        <a:rPr lang="en-US" sz="1600" b="1" i="0" u="none" strike="noStrike" dirty="0">
                          <a:solidFill>
                            <a:srgbClr val="000000"/>
                          </a:solidFill>
                          <a:effectLst/>
                          <a:latin typeface="Calibri" panose="020F0502020204030204" pitchFamily="34" charset="0"/>
                        </a:rPr>
                        <a:t>49,253,374</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4097391085"/>
                  </a:ext>
                </a:extLst>
              </a:tr>
            </a:tbl>
          </a:graphicData>
        </a:graphic>
      </p:graphicFrame>
      <p:graphicFrame>
        <p:nvGraphicFramePr>
          <p:cNvPr id="9" name="Chart 8">
            <a:extLst>
              <a:ext uri="{FF2B5EF4-FFF2-40B4-BE49-F238E27FC236}">
                <a16:creationId xmlns:a16="http://schemas.microsoft.com/office/drawing/2014/main" id="{A861B896-E294-8040-52F5-EE7F42A8D2FC}"/>
              </a:ext>
            </a:extLst>
          </p:cNvPr>
          <p:cNvGraphicFramePr>
            <a:graphicFrameLocks/>
          </p:cNvGraphicFramePr>
          <p:nvPr/>
        </p:nvGraphicFramePr>
        <p:xfrm>
          <a:off x="288929" y="3609975"/>
          <a:ext cx="6280152" cy="330993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109A5BC7-EA64-08C3-358B-AE3639BB60EF}"/>
              </a:ext>
            </a:extLst>
          </p:cNvPr>
          <p:cNvGraphicFramePr>
            <a:graphicFrameLocks/>
          </p:cNvGraphicFramePr>
          <p:nvPr/>
        </p:nvGraphicFramePr>
        <p:xfrm>
          <a:off x="7210425" y="3508374"/>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99612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24851-BB7E-803E-9EB3-B224233B3BFE}"/>
            </a:ext>
          </a:extLst>
        </p:cNvPr>
        <p:cNvGrpSpPr/>
        <p:nvPr/>
      </p:nvGrpSpPr>
      <p:grpSpPr>
        <a:xfrm>
          <a:off x="0" y="0"/>
          <a:ext cx="0" cy="0"/>
          <a:chOff x="0" y="0"/>
          <a:chExt cx="0" cy="0"/>
        </a:xfrm>
      </p:grpSpPr>
      <p:pic>
        <p:nvPicPr>
          <p:cNvPr id="1056" name="Picture 1055">
            <a:extLst>
              <a:ext uri="{FF2B5EF4-FFF2-40B4-BE49-F238E27FC236}">
                <a16:creationId xmlns:a16="http://schemas.microsoft.com/office/drawing/2014/main" id="{55261BB7-0074-DAEF-E27A-05B315BC9F09}"/>
              </a:ext>
            </a:extLst>
          </p:cNvPr>
          <p:cNvPicPr>
            <a:picLocks noChangeAspect="1"/>
          </p:cNvPicPr>
          <p:nvPr/>
        </p:nvPicPr>
        <p:blipFill>
          <a:blip r:embed="rId2">
            <a:alphaModFix amt="35000"/>
          </a:blip>
          <a:stretch>
            <a:fillRect/>
          </a:stretch>
        </p:blipFill>
        <p:spPr>
          <a:xfrm>
            <a:off x="5156055" y="1968759"/>
            <a:ext cx="2015297" cy="2397968"/>
          </a:xfrm>
          <a:prstGeom prst="rect">
            <a:avLst/>
          </a:prstGeom>
        </p:spPr>
      </p:pic>
      <p:sp>
        <p:nvSpPr>
          <p:cNvPr id="4" name="Date Placeholder 3">
            <a:extLst>
              <a:ext uri="{FF2B5EF4-FFF2-40B4-BE49-F238E27FC236}">
                <a16:creationId xmlns:a16="http://schemas.microsoft.com/office/drawing/2014/main" id="{DD41DF03-4765-4A5A-0268-72F5A97C7269}"/>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18A3C411-D582-2761-B3F9-B2B0214AF90F}"/>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669361AA-2CC8-CE09-C614-033C91726EC0}"/>
              </a:ext>
            </a:extLst>
          </p:cNvPr>
          <p:cNvSpPr>
            <a:spLocks noGrp="1"/>
          </p:cNvSpPr>
          <p:nvPr>
            <p:ph type="sldNum" sz="quarter" idx="12"/>
          </p:nvPr>
        </p:nvSpPr>
        <p:spPr/>
        <p:txBody>
          <a:bodyPr/>
          <a:lstStyle/>
          <a:p>
            <a:fld id="{15FCCAAF-6324-40D0-99C1-825B83CC9B2F}" type="slidenum">
              <a:rPr lang="en-IN" smtClean="0"/>
              <a:t>22</a:t>
            </a:fld>
            <a:endParaRPr lang="en-IN"/>
          </a:p>
        </p:txBody>
      </p:sp>
      <p:pic>
        <p:nvPicPr>
          <p:cNvPr id="1026" name="Picture 2" descr="Buy High Quality 170W/12V Polycrystalline Solar Panel Online | Luminous">
            <a:extLst>
              <a:ext uri="{FF2B5EF4-FFF2-40B4-BE49-F238E27FC236}">
                <a16:creationId xmlns:a16="http://schemas.microsoft.com/office/drawing/2014/main" id="{0A3D306F-0491-269A-2B67-0B20736E8541}"/>
              </a:ext>
            </a:extLst>
          </p:cNvPr>
          <p:cNvPicPr>
            <a:picLocks noChangeAspect="1" noChangeArrowheads="1"/>
          </p:cNvPicPr>
          <p:nvPr/>
        </p:nvPicPr>
        <p:blipFill rotWithShape="1">
          <a:blip r:embed="rId3">
            <a:alphaModFix amt="35000"/>
            <a:extLst>
              <a:ext uri="{28A0092B-C50C-407E-A947-70E740481C1C}">
                <a14:useLocalDpi xmlns:a14="http://schemas.microsoft.com/office/drawing/2010/main" val="0"/>
              </a:ext>
            </a:extLst>
          </a:blip>
          <a:srcRect l="31197" t="11840" r="29706" b="12562"/>
          <a:stretch/>
        </p:blipFill>
        <p:spPr bwMode="auto">
          <a:xfrm>
            <a:off x="102637" y="319088"/>
            <a:ext cx="1373901" cy="178678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15-Year Life Battery Solar 12V 400ah Solar Battery Bank Solar Panel with  Integrated Battery - Solar Battery Bank, Solar Panel with Integrated Battery  | Made-in-China.com">
            <a:extLst>
              <a:ext uri="{FF2B5EF4-FFF2-40B4-BE49-F238E27FC236}">
                <a16:creationId xmlns:a16="http://schemas.microsoft.com/office/drawing/2014/main" id="{DD2AE06A-F488-22A5-61CF-1FB623C5104B}"/>
              </a:ext>
            </a:extLst>
          </p:cNvPr>
          <p:cNvPicPr>
            <a:picLocks noChangeAspect="1" noChangeArrowheads="1"/>
          </p:cNvPicPr>
          <p:nvPr/>
        </p:nvPicPr>
        <p:blipFill rotWithShape="1">
          <a:blip r:embed="rId4">
            <a:alphaModFix amt="35000"/>
            <a:extLst>
              <a:ext uri="{28A0092B-C50C-407E-A947-70E740481C1C}">
                <a14:useLocalDpi xmlns:a14="http://schemas.microsoft.com/office/drawing/2010/main" val="0"/>
              </a:ext>
            </a:extLst>
          </a:blip>
          <a:srcRect l="8290" t="16668" r="5967" b="18005"/>
          <a:stretch/>
        </p:blipFill>
        <p:spPr bwMode="auto">
          <a:xfrm>
            <a:off x="2415073" y="4200148"/>
            <a:ext cx="2547257" cy="194076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remium Vector | Supports of the highvoltage power grid Vector illustration  of utility electric transmission networks Power lines isolated on white  background">
            <a:extLst>
              <a:ext uri="{FF2B5EF4-FFF2-40B4-BE49-F238E27FC236}">
                <a16:creationId xmlns:a16="http://schemas.microsoft.com/office/drawing/2014/main" id="{9A967477-8CA0-3367-B939-F78AFF9E9DB4}"/>
              </a:ext>
            </a:extLst>
          </p:cNvPr>
          <p:cNvPicPr>
            <a:picLocks noChangeAspect="1" noChangeArrowheads="1"/>
          </p:cNvPicPr>
          <p:nvPr/>
        </p:nvPicPr>
        <p:blipFill>
          <a:blip r:embed="rId5">
            <a:alphaModFix amt="35000"/>
            <a:extLst>
              <a:ext uri="{28A0092B-C50C-407E-A947-70E740481C1C}">
                <a14:useLocalDpi xmlns:a14="http://schemas.microsoft.com/office/drawing/2010/main" val="0"/>
              </a:ext>
            </a:extLst>
          </a:blip>
          <a:srcRect/>
          <a:stretch>
            <a:fillRect/>
          </a:stretch>
        </p:blipFill>
        <p:spPr bwMode="auto">
          <a:xfrm>
            <a:off x="160295" y="3463158"/>
            <a:ext cx="1564193" cy="110914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B55504C-AEC6-EB84-B08B-0558BECBFC40}"/>
              </a:ext>
            </a:extLst>
          </p:cNvPr>
          <p:cNvSpPr txBox="1"/>
          <p:nvPr/>
        </p:nvSpPr>
        <p:spPr>
          <a:xfrm>
            <a:off x="149291" y="2120582"/>
            <a:ext cx="830424" cy="369332"/>
          </a:xfrm>
          <a:prstGeom prst="rect">
            <a:avLst/>
          </a:prstGeom>
          <a:noFill/>
        </p:spPr>
        <p:txBody>
          <a:bodyPr wrap="square" rtlCol="0">
            <a:spAutoFit/>
          </a:bodyPr>
          <a:lstStyle/>
          <a:p>
            <a:pPr algn="ctr"/>
            <a:r>
              <a:rPr lang="en-US" dirty="0"/>
              <a:t>Solar</a:t>
            </a:r>
          </a:p>
        </p:txBody>
      </p:sp>
      <p:sp>
        <p:nvSpPr>
          <p:cNvPr id="35" name="TextBox 34">
            <a:extLst>
              <a:ext uri="{FF2B5EF4-FFF2-40B4-BE49-F238E27FC236}">
                <a16:creationId xmlns:a16="http://schemas.microsoft.com/office/drawing/2014/main" id="{8B8E8CD6-2B8E-44A6-8D76-47B245BBB176}"/>
              </a:ext>
            </a:extLst>
          </p:cNvPr>
          <p:cNvSpPr txBox="1"/>
          <p:nvPr/>
        </p:nvSpPr>
        <p:spPr>
          <a:xfrm>
            <a:off x="674137" y="4215395"/>
            <a:ext cx="830424" cy="369332"/>
          </a:xfrm>
          <a:prstGeom prst="rect">
            <a:avLst/>
          </a:prstGeom>
          <a:noFill/>
        </p:spPr>
        <p:txBody>
          <a:bodyPr wrap="square" rtlCol="0">
            <a:spAutoFit/>
          </a:bodyPr>
          <a:lstStyle/>
          <a:p>
            <a:pPr algn="ctr"/>
            <a:r>
              <a:rPr lang="en-US" dirty="0"/>
              <a:t>Grid</a:t>
            </a:r>
          </a:p>
        </p:txBody>
      </p:sp>
      <p:pic>
        <p:nvPicPr>
          <p:cNvPr id="36" name="Picture 2">
            <a:extLst>
              <a:ext uri="{FF2B5EF4-FFF2-40B4-BE49-F238E27FC236}">
                <a16:creationId xmlns:a16="http://schemas.microsoft.com/office/drawing/2014/main" id="{79FF102E-EDE7-E211-0F27-543BB60961B6}"/>
              </a:ext>
            </a:extLst>
          </p:cNvPr>
          <p:cNvPicPr>
            <a:picLocks noChangeAspect="1" noChangeArrowheads="1"/>
          </p:cNvPicPr>
          <p:nvPr/>
        </p:nvPicPr>
        <p:blipFill rotWithShape="1">
          <a:blip r:embed="rId6" cstate="print">
            <a:alphaModFix amt="35000"/>
            <a:extLst>
              <a:ext uri="{28A0092B-C50C-407E-A947-70E740481C1C}">
                <a14:useLocalDpi xmlns:a14="http://schemas.microsoft.com/office/drawing/2010/main" val="0"/>
              </a:ext>
            </a:extLst>
          </a:blip>
          <a:srcRect l="31077" t="13588" r="3937" b="52425"/>
          <a:stretch/>
        </p:blipFill>
        <p:spPr bwMode="auto">
          <a:xfrm>
            <a:off x="1748672" y="553126"/>
            <a:ext cx="3579108" cy="1415633"/>
          </a:xfrm>
          <a:prstGeom prst="rect">
            <a:avLst/>
          </a:prstGeom>
          <a:noFill/>
          <a:extLst>
            <a:ext uri="{909E8E84-426E-40DD-AFC4-6F175D3DCCD1}">
              <a14:hiddenFill xmlns:a14="http://schemas.microsoft.com/office/drawing/2010/main">
                <a:solidFill>
                  <a:srgbClr val="FFFFFF"/>
                </a:solidFill>
              </a14:hiddenFill>
            </a:ext>
          </a:extLst>
        </p:spPr>
      </p:pic>
      <p:cxnSp>
        <p:nvCxnSpPr>
          <p:cNvPr id="41" name="Straight Connector 40">
            <a:extLst>
              <a:ext uri="{FF2B5EF4-FFF2-40B4-BE49-F238E27FC236}">
                <a16:creationId xmlns:a16="http://schemas.microsoft.com/office/drawing/2014/main" id="{1630816C-6707-F822-67B0-92144A493046}"/>
              </a:ext>
            </a:extLst>
          </p:cNvPr>
          <p:cNvCxnSpPr/>
          <p:nvPr/>
        </p:nvCxnSpPr>
        <p:spPr>
          <a:xfrm flipH="1">
            <a:off x="1204799" y="2120583"/>
            <a:ext cx="8181" cy="473327"/>
          </a:xfrm>
          <a:prstGeom prst="line">
            <a:avLst/>
          </a:prstGeom>
        </p:spPr>
        <p:style>
          <a:lnRef idx="1">
            <a:schemeClr val="accent2"/>
          </a:lnRef>
          <a:fillRef idx="0">
            <a:schemeClr val="accent2"/>
          </a:fillRef>
          <a:effectRef idx="0">
            <a:schemeClr val="accent2"/>
          </a:effectRef>
          <a:fontRef idx="minor">
            <a:schemeClr val="tx1"/>
          </a:fontRef>
        </p:style>
      </p:cxnSp>
      <p:cxnSp>
        <p:nvCxnSpPr>
          <p:cNvPr id="43" name="Straight Connector 42">
            <a:extLst>
              <a:ext uri="{FF2B5EF4-FFF2-40B4-BE49-F238E27FC236}">
                <a16:creationId xmlns:a16="http://schemas.microsoft.com/office/drawing/2014/main" id="{F748238D-FDE4-15C1-CD8C-9E318CE02F38}"/>
              </a:ext>
            </a:extLst>
          </p:cNvPr>
          <p:cNvCxnSpPr/>
          <p:nvPr/>
        </p:nvCxnSpPr>
        <p:spPr>
          <a:xfrm>
            <a:off x="1214130" y="2593910"/>
            <a:ext cx="165036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45" name="Straight Connector 44">
            <a:extLst>
              <a:ext uri="{FF2B5EF4-FFF2-40B4-BE49-F238E27FC236}">
                <a16:creationId xmlns:a16="http://schemas.microsoft.com/office/drawing/2014/main" id="{71F0A989-F82F-4F8D-34B8-7DD32E1E99AB}"/>
              </a:ext>
            </a:extLst>
          </p:cNvPr>
          <p:cNvCxnSpPr/>
          <p:nvPr/>
        </p:nvCxnSpPr>
        <p:spPr>
          <a:xfrm flipV="1">
            <a:off x="2864498" y="1838131"/>
            <a:ext cx="0" cy="755779"/>
          </a:xfrm>
          <a:prstGeom prst="line">
            <a:avLst/>
          </a:prstGeom>
        </p:spPr>
        <p:style>
          <a:lnRef idx="1">
            <a:schemeClr val="accent2"/>
          </a:lnRef>
          <a:fillRef idx="0">
            <a:schemeClr val="accent2"/>
          </a:fillRef>
          <a:effectRef idx="0">
            <a:schemeClr val="accent2"/>
          </a:effectRef>
          <a:fontRef idx="minor">
            <a:schemeClr val="tx1"/>
          </a:fontRef>
        </p:style>
      </p:cxnSp>
      <p:cxnSp>
        <p:nvCxnSpPr>
          <p:cNvPr id="47" name="Straight Connector 46">
            <a:extLst>
              <a:ext uri="{FF2B5EF4-FFF2-40B4-BE49-F238E27FC236}">
                <a16:creationId xmlns:a16="http://schemas.microsoft.com/office/drawing/2014/main" id="{76A6E092-26D6-74E1-142E-7F6303B2F6A5}"/>
              </a:ext>
            </a:extLst>
          </p:cNvPr>
          <p:cNvCxnSpPr/>
          <p:nvPr/>
        </p:nvCxnSpPr>
        <p:spPr>
          <a:xfrm>
            <a:off x="3144416" y="1968759"/>
            <a:ext cx="0" cy="815756"/>
          </a:xfrm>
          <a:prstGeom prst="line">
            <a:avLst/>
          </a:prstGeom>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D495F4FB-B9FA-B2DA-BBED-46EB8E6C4B24}"/>
              </a:ext>
            </a:extLst>
          </p:cNvPr>
          <p:cNvCxnSpPr/>
          <p:nvPr/>
        </p:nvCxnSpPr>
        <p:spPr>
          <a:xfrm flipH="1">
            <a:off x="942392" y="2784515"/>
            <a:ext cx="2220686" cy="0"/>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032E2B48-F6C6-6052-28D5-D91FF45DB53C}"/>
              </a:ext>
            </a:extLst>
          </p:cNvPr>
          <p:cNvCxnSpPr/>
          <p:nvPr/>
        </p:nvCxnSpPr>
        <p:spPr>
          <a:xfrm flipV="1">
            <a:off x="942392" y="2120583"/>
            <a:ext cx="0" cy="663932"/>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1554F2C0-20C0-B92D-3FB0-2D1B7A040DA6}"/>
              </a:ext>
            </a:extLst>
          </p:cNvPr>
          <p:cNvCxnSpPr>
            <a:cxnSpLocks/>
          </p:cNvCxnSpPr>
          <p:nvPr/>
        </p:nvCxnSpPr>
        <p:spPr>
          <a:xfrm>
            <a:off x="3405673" y="1838131"/>
            <a:ext cx="0" cy="2593910"/>
          </a:xfrm>
          <a:prstGeom prst="line">
            <a:avLst/>
          </a:prstGeom>
        </p:spPr>
        <p:style>
          <a:lnRef idx="1">
            <a:schemeClr val="accent2"/>
          </a:lnRef>
          <a:fillRef idx="0">
            <a:schemeClr val="accent2"/>
          </a:fillRef>
          <a:effectRef idx="0">
            <a:schemeClr val="accent2"/>
          </a:effectRef>
          <a:fontRef idx="minor">
            <a:schemeClr val="tx1"/>
          </a:fontRef>
        </p:style>
      </p:cxnSp>
      <p:cxnSp>
        <p:nvCxnSpPr>
          <p:cNvPr id="57" name="Straight Connector 56">
            <a:extLst>
              <a:ext uri="{FF2B5EF4-FFF2-40B4-BE49-F238E27FC236}">
                <a16:creationId xmlns:a16="http://schemas.microsoft.com/office/drawing/2014/main" id="{68289172-E316-8C88-29F6-69BDB49A56E2}"/>
              </a:ext>
            </a:extLst>
          </p:cNvPr>
          <p:cNvCxnSpPr/>
          <p:nvPr/>
        </p:nvCxnSpPr>
        <p:spPr>
          <a:xfrm>
            <a:off x="3688701" y="1838131"/>
            <a:ext cx="0" cy="2528596"/>
          </a:xfrm>
          <a:prstGeom prst="line">
            <a:avLst/>
          </a:prstGeom>
        </p:spPr>
        <p:style>
          <a:lnRef idx="1">
            <a:schemeClr val="dk1"/>
          </a:lnRef>
          <a:fillRef idx="0">
            <a:schemeClr val="dk1"/>
          </a:fillRef>
          <a:effectRef idx="0">
            <a:schemeClr val="dk1"/>
          </a:effectRef>
          <a:fontRef idx="minor">
            <a:schemeClr val="tx1"/>
          </a:fontRef>
        </p:style>
      </p:cxnSp>
      <p:pic>
        <p:nvPicPr>
          <p:cNvPr id="58" name="Picture 4">
            <a:extLst>
              <a:ext uri="{FF2B5EF4-FFF2-40B4-BE49-F238E27FC236}">
                <a16:creationId xmlns:a16="http://schemas.microsoft.com/office/drawing/2014/main" id="{99BC5431-8A29-9E83-D010-49AF55BB2626}"/>
              </a:ext>
            </a:extLst>
          </p:cNvPr>
          <p:cNvPicPr>
            <a:picLocks noChangeAspect="1" noChangeArrowheads="1"/>
          </p:cNvPicPr>
          <p:nvPr/>
        </p:nvPicPr>
        <p:blipFill rotWithShape="1">
          <a:blip r:embed="rId7" cstate="print">
            <a:alphaModFix amt="35000"/>
            <a:extLst>
              <a:ext uri="{28A0092B-C50C-407E-A947-70E740481C1C}">
                <a14:useLocalDpi xmlns:a14="http://schemas.microsoft.com/office/drawing/2010/main" val="0"/>
              </a:ext>
            </a:extLst>
          </a:blip>
          <a:srcRect t="8065" b="38756"/>
          <a:stretch/>
        </p:blipFill>
        <p:spPr bwMode="auto">
          <a:xfrm rot="10800000">
            <a:off x="724338" y="4678769"/>
            <a:ext cx="1138463" cy="605004"/>
          </a:xfrm>
          <a:prstGeom prst="rect">
            <a:avLst/>
          </a:prstGeom>
          <a:noFill/>
          <a:extLst>
            <a:ext uri="{909E8E84-426E-40DD-AFC4-6F175D3DCCD1}">
              <a14:hiddenFill xmlns:a14="http://schemas.microsoft.com/office/drawing/2010/main">
                <a:solidFill>
                  <a:srgbClr val="FFFFFF"/>
                </a:solidFill>
              </a14:hiddenFill>
            </a:ext>
          </a:extLst>
        </p:spPr>
      </p:pic>
      <p:sp>
        <p:nvSpPr>
          <p:cNvPr id="59" name="Arrow: Right 58">
            <a:extLst>
              <a:ext uri="{FF2B5EF4-FFF2-40B4-BE49-F238E27FC236}">
                <a16:creationId xmlns:a16="http://schemas.microsoft.com/office/drawing/2014/main" id="{D42ADF4E-B573-7B7E-931B-0074E4D14F4A}"/>
              </a:ext>
            </a:extLst>
          </p:cNvPr>
          <p:cNvSpPr/>
          <p:nvPr/>
        </p:nvSpPr>
        <p:spPr>
          <a:xfrm>
            <a:off x="1916932" y="4981276"/>
            <a:ext cx="498141" cy="620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F5395E36-CE39-548B-6E31-6E008B99371D}"/>
              </a:ext>
            </a:extLst>
          </p:cNvPr>
          <p:cNvSpPr txBox="1"/>
          <p:nvPr/>
        </p:nvSpPr>
        <p:spPr>
          <a:xfrm>
            <a:off x="32991" y="4877110"/>
            <a:ext cx="830424" cy="369332"/>
          </a:xfrm>
          <a:prstGeom prst="rect">
            <a:avLst/>
          </a:prstGeom>
          <a:noFill/>
        </p:spPr>
        <p:txBody>
          <a:bodyPr wrap="square" rtlCol="0">
            <a:spAutoFit/>
          </a:bodyPr>
          <a:lstStyle/>
          <a:p>
            <a:pPr algn="ctr"/>
            <a:r>
              <a:rPr lang="en-US" dirty="0"/>
              <a:t>AC</a:t>
            </a:r>
          </a:p>
        </p:txBody>
      </p:sp>
      <p:sp>
        <p:nvSpPr>
          <p:cNvPr id="61" name="TextBox 60">
            <a:extLst>
              <a:ext uri="{FF2B5EF4-FFF2-40B4-BE49-F238E27FC236}">
                <a16:creationId xmlns:a16="http://schemas.microsoft.com/office/drawing/2014/main" id="{21252CC8-9BF2-5397-B2A0-BFB2CA78438B}"/>
              </a:ext>
            </a:extLst>
          </p:cNvPr>
          <p:cNvSpPr txBox="1"/>
          <p:nvPr/>
        </p:nvSpPr>
        <p:spPr>
          <a:xfrm>
            <a:off x="1723726" y="4662402"/>
            <a:ext cx="830424" cy="369332"/>
          </a:xfrm>
          <a:prstGeom prst="rect">
            <a:avLst/>
          </a:prstGeom>
          <a:noFill/>
        </p:spPr>
        <p:txBody>
          <a:bodyPr wrap="square" rtlCol="0">
            <a:spAutoFit/>
          </a:bodyPr>
          <a:lstStyle/>
          <a:p>
            <a:pPr algn="ctr"/>
            <a:r>
              <a:rPr lang="en-US" dirty="0"/>
              <a:t>DC</a:t>
            </a:r>
          </a:p>
        </p:txBody>
      </p:sp>
      <p:pic>
        <p:nvPicPr>
          <p:cNvPr id="63" name="Picture 62">
            <a:extLst>
              <a:ext uri="{FF2B5EF4-FFF2-40B4-BE49-F238E27FC236}">
                <a16:creationId xmlns:a16="http://schemas.microsoft.com/office/drawing/2014/main" id="{C72A455F-EE0E-C01A-8B1A-2785A7E4185E}"/>
              </a:ext>
            </a:extLst>
          </p:cNvPr>
          <p:cNvPicPr>
            <a:picLocks noChangeAspect="1"/>
          </p:cNvPicPr>
          <p:nvPr/>
        </p:nvPicPr>
        <p:blipFill>
          <a:blip r:embed="rId8">
            <a:alphaModFix amt="35000"/>
          </a:blip>
          <a:stretch>
            <a:fillRect/>
          </a:stretch>
        </p:blipFill>
        <p:spPr>
          <a:xfrm>
            <a:off x="731219" y="5545551"/>
            <a:ext cx="1124701" cy="605004"/>
          </a:xfrm>
          <a:prstGeom prst="rect">
            <a:avLst/>
          </a:prstGeom>
        </p:spPr>
      </p:pic>
      <p:sp>
        <p:nvSpPr>
          <p:cNvPr id="1024" name="Arrow: Right 1023">
            <a:extLst>
              <a:ext uri="{FF2B5EF4-FFF2-40B4-BE49-F238E27FC236}">
                <a16:creationId xmlns:a16="http://schemas.microsoft.com/office/drawing/2014/main" id="{1590202C-8AC1-ACF6-C031-579A061021E3}"/>
              </a:ext>
            </a:extLst>
          </p:cNvPr>
          <p:cNvSpPr/>
          <p:nvPr/>
        </p:nvSpPr>
        <p:spPr>
          <a:xfrm rot="10800000">
            <a:off x="1941116" y="5860665"/>
            <a:ext cx="605389" cy="6205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TextBox 1024">
            <a:extLst>
              <a:ext uri="{FF2B5EF4-FFF2-40B4-BE49-F238E27FC236}">
                <a16:creationId xmlns:a16="http://schemas.microsoft.com/office/drawing/2014/main" id="{2D5CB56A-1C51-10D7-8916-30577C5E148C}"/>
              </a:ext>
            </a:extLst>
          </p:cNvPr>
          <p:cNvSpPr txBox="1"/>
          <p:nvPr/>
        </p:nvSpPr>
        <p:spPr>
          <a:xfrm>
            <a:off x="1774547" y="5533388"/>
            <a:ext cx="830424" cy="369332"/>
          </a:xfrm>
          <a:prstGeom prst="rect">
            <a:avLst/>
          </a:prstGeom>
          <a:noFill/>
        </p:spPr>
        <p:txBody>
          <a:bodyPr wrap="square" rtlCol="0">
            <a:spAutoFit/>
          </a:bodyPr>
          <a:lstStyle/>
          <a:p>
            <a:pPr algn="ctr"/>
            <a:r>
              <a:rPr lang="en-US" dirty="0"/>
              <a:t>DC</a:t>
            </a:r>
          </a:p>
        </p:txBody>
      </p:sp>
      <p:sp>
        <p:nvSpPr>
          <p:cNvPr id="1027" name="TextBox 1026">
            <a:extLst>
              <a:ext uri="{FF2B5EF4-FFF2-40B4-BE49-F238E27FC236}">
                <a16:creationId xmlns:a16="http://schemas.microsoft.com/office/drawing/2014/main" id="{B4239225-C62C-C62A-3AE6-524FA0F581BD}"/>
              </a:ext>
            </a:extLst>
          </p:cNvPr>
          <p:cNvSpPr txBox="1"/>
          <p:nvPr/>
        </p:nvSpPr>
        <p:spPr>
          <a:xfrm>
            <a:off x="39872" y="5693559"/>
            <a:ext cx="830424" cy="369332"/>
          </a:xfrm>
          <a:prstGeom prst="rect">
            <a:avLst/>
          </a:prstGeom>
          <a:noFill/>
        </p:spPr>
        <p:txBody>
          <a:bodyPr wrap="square" rtlCol="0">
            <a:spAutoFit/>
          </a:bodyPr>
          <a:lstStyle/>
          <a:p>
            <a:pPr algn="ctr"/>
            <a:r>
              <a:rPr lang="en-US" dirty="0"/>
              <a:t>AC</a:t>
            </a:r>
          </a:p>
        </p:txBody>
      </p:sp>
      <p:cxnSp>
        <p:nvCxnSpPr>
          <p:cNvPr id="1033" name="Straight Connector 1032">
            <a:extLst>
              <a:ext uri="{FF2B5EF4-FFF2-40B4-BE49-F238E27FC236}">
                <a16:creationId xmlns:a16="http://schemas.microsoft.com/office/drawing/2014/main" id="{09308E26-8D6B-181C-6DAA-750B82284339}"/>
              </a:ext>
            </a:extLst>
          </p:cNvPr>
          <p:cNvCxnSpPr>
            <a:cxnSpLocks/>
          </p:cNvCxnSpPr>
          <p:nvPr/>
        </p:nvCxnSpPr>
        <p:spPr>
          <a:xfrm>
            <a:off x="4217437" y="1838131"/>
            <a:ext cx="0" cy="1101012"/>
          </a:xfrm>
          <a:prstGeom prst="line">
            <a:avLst/>
          </a:prstGeom>
        </p:spPr>
        <p:style>
          <a:lnRef idx="1">
            <a:schemeClr val="accent2"/>
          </a:lnRef>
          <a:fillRef idx="0">
            <a:schemeClr val="accent2"/>
          </a:fillRef>
          <a:effectRef idx="0">
            <a:schemeClr val="accent2"/>
          </a:effectRef>
          <a:fontRef idx="minor">
            <a:schemeClr val="tx1"/>
          </a:fontRef>
        </p:style>
      </p:cxnSp>
      <p:cxnSp>
        <p:nvCxnSpPr>
          <p:cNvPr id="1037" name="Straight Connector 1036">
            <a:extLst>
              <a:ext uri="{FF2B5EF4-FFF2-40B4-BE49-F238E27FC236}">
                <a16:creationId xmlns:a16="http://schemas.microsoft.com/office/drawing/2014/main" id="{559A6CC6-1C81-09DF-D116-19CA75E283F2}"/>
              </a:ext>
            </a:extLst>
          </p:cNvPr>
          <p:cNvCxnSpPr/>
          <p:nvPr/>
        </p:nvCxnSpPr>
        <p:spPr>
          <a:xfrm>
            <a:off x="4217435" y="2939143"/>
            <a:ext cx="1338165"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039" name="Straight Connector 1038">
            <a:extLst>
              <a:ext uri="{FF2B5EF4-FFF2-40B4-BE49-F238E27FC236}">
                <a16:creationId xmlns:a16="http://schemas.microsoft.com/office/drawing/2014/main" id="{846A8005-5D40-1A03-1618-0CCD5AC63F86}"/>
              </a:ext>
            </a:extLst>
          </p:cNvPr>
          <p:cNvCxnSpPr>
            <a:cxnSpLocks/>
          </p:cNvCxnSpPr>
          <p:nvPr/>
        </p:nvCxnSpPr>
        <p:spPr>
          <a:xfrm>
            <a:off x="3903306" y="1848607"/>
            <a:ext cx="0" cy="1319136"/>
          </a:xfrm>
          <a:prstGeom prst="line">
            <a:avLst/>
          </a:prstGeom>
        </p:spPr>
        <p:style>
          <a:lnRef idx="1">
            <a:schemeClr val="dk1"/>
          </a:lnRef>
          <a:fillRef idx="0">
            <a:schemeClr val="dk1"/>
          </a:fillRef>
          <a:effectRef idx="0">
            <a:schemeClr val="dk1"/>
          </a:effectRef>
          <a:fontRef idx="minor">
            <a:schemeClr val="tx1"/>
          </a:fontRef>
        </p:style>
      </p:cxnSp>
      <p:cxnSp>
        <p:nvCxnSpPr>
          <p:cNvPr id="1043" name="Straight Connector 1042">
            <a:extLst>
              <a:ext uri="{FF2B5EF4-FFF2-40B4-BE49-F238E27FC236}">
                <a16:creationId xmlns:a16="http://schemas.microsoft.com/office/drawing/2014/main" id="{1876E233-167C-26D6-BE77-F0E7955096E1}"/>
              </a:ext>
            </a:extLst>
          </p:cNvPr>
          <p:cNvCxnSpPr>
            <a:cxnSpLocks/>
          </p:cNvCxnSpPr>
          <p:nvPr/>
        </p:nvCxnSpPr>
        <p:spPr>
          <a:xfrm>
            <a:off x="3906416" y="3167743"/>
            <a:ext cx="1652296" cy="0"/>
          </a:xfrm>
          <a:prstGeom prst="line">
            <a:avLst/>
          </a:prstGeom>
        </p:spPr>
        <p:style>
          <a:lnRef idx="1">
            <a:schemeClr val="dk1"/>
          </a:lnRef>
          <a:fillRef idx="0">
            <a:schemeClr val="dk1"/>
          </a:fillRef>
          <a:effectRef idx="0">
            <a:schemeClr val="dk1"/>
          </a:effectRef>
          <a:fontRef idx="minor">
            <a:schemeClr val="tx1"/>
          </a:fontRef>
        </p:style>
      </p:cxnSp>
      <p:cxnSp>
        <p:nvCxnSpPr>
          <p:cNvPr id="1047" name="Straight Connector 1046">
            <a:extLst>
              <a:ext uri="{FF2B5EF4-FFF2-40B4-BE49-F238E27FC236}">
                <a16:creationId xmlns:a16="http://schemas.microsoft.com/office/drawing/2014/main" id="{5BD08560-D535-2599-5EBB-23B2494644F2}"/>
              </a:ext>
            </a:extLst>
          </p:cNvPr>
          <p:cNvCxnSpPr>
            <a:cxnSpLocks/>
          </p:cNvCxnSpPr>
          <p:nvPr/>
        </p:nvCxnSpPr>
        <p:spPr>
          <a:xfrm>
            <a:off x="3903306" y="3411301"/>
            <a:ext cx="0" cy="935908"/>
          </a:xfrm>
          <a:prstGeom prst="line">
            <a:avLst/>
          </a:prstGeom>
        </p:spPr>
        <p:style>
          <a:lnRef idx="1">
            <a:schemeClr val="dk1"/>
          </a:lnRef>
          <a:fillRef idx="0">
            <a:schemeClr val="dk1"/>
          </a:fillRef>
          <a:effectRef idx="0">
            <a:schemeClr val="dk1"/>
          </a:effectRef>
          <a:fontRef idx="minor">
            <a:schemeClr val="tx1"/>
          </a:fontRef>
        </p:style>
      </p:cxnSp>
      <p:cxnSp>
        <p:nvCxnSpPr>
          <p:cNvPr id="1049" name="Straight Connector 1048">
            <a:extLst>
              <a:ext uri="{FF2B5EF4-FFF2-40B4-BE49-F238E27FC236}">
                <a16:creationId xmlns:a16="http://schemas.microsoft.com/office/drawing/2014/main" id="{59B9611B-13DD-99D0-2693-80FADF732E39}"/>
              </a:ext>
            </a:extLst>
          </p:cNvPr>
          <p:cNvCxnSpPr>
            <a:cxnSpLocks/>
          </p:cNvCxnSpPr>
          <p:nvPr/>
        </p:nvCxnSpPr>
        <p:spPr>
          <a:xfrm>
            <a:off x="3906416" y="3429000"/>
            <a:ext cx="1652296" cy="0"/>
          </a:xfrm>
          <a:prstGeom prst="line">
            <a:avLst/>
          </a:prstGeom>
        </p:spPr>
        <p:style>
          <a:lnRef idx="1">
            <a:schemeClr val="dk1"/>
          </a:lnRef>
          <a:fillRef idx="0">
            <a:schemeClr val="dk1"/>
          </a:fillRef>
          <a:effectRef idx="0">
            <a:schemeClr val="dk1"/>
          </a:effectRef>
          <a:fontRef idx="minor">
            <a:schemeClr val="tx1"/>
          </a:fontRef>
        </p:style>
      </p:cxnSp>
      <p:cxnSp>
        <p:nvCxnSpPr>
          <p:cNvPr id="1050" name="Straight Connector 1049">
            <a:extLst>
              <a:ext uri="{FF2B5EF4-FFF2-40B4-BE49-F238E27FC236}">
                <a16:creationId xmlns:a16="http://schemas.microsoft.com/office/drawing/2014/main" id="{420B9A15-918D-8CF4-7583-3B602F2C2BC6}"/>
              </a:ext>
            </a:extLst>
          </p:cNvPr>
          <p:cNvCxnSpPr/>
          <p:nvPr/>
        </p:nvCxnSpPr>
        <p:spPr>
          <a:xfrm>
            <a:off x="4220547" y="3639842"/>
            <a:ext cx="0" cy="755779"/>
          </a:xfrm>
          <a:prstGeom prst="line">
            <a:avLst/>
          </a:prstGeom>
        </p:spPr>
        <p:style>
          <a:lnRef idx="1">
            <a:schemeClr val="accent2"/>
          </a:lnRef>
          <a:fillRef idx="0">
            <a:schemeClr val="accent2"/>
          </a:fillRef>
          <a:effectRef idx="0">
            <a:schemeClr val="accent2"/>
          </a:effectRef>
          <a:fontRef idx="minor">
            <a:schemeClr val="tx1"/>
          </a:fontRef>
        </p:style>
      </p:cxnSp>
      <p:cxnSp>
        <p:nvCxnSpPr>
          <p:cNvPr id="1051" name="Straight Connector 1050">
            <a:extLst>
              <a:ext uri="{FF2B5EF4-FFF2-40B4-BE49-F238E27FC236}">
                <a16:creationId xmlns:a16="http://schemas.microsoft.com/office/drawing/2014/main" id="{6BA1FF12-39D5-F91C-28C0-2B6BCE61BBEF}"/>
              </a:ext>
            </a:extLst>
          </p:cNvPr>
          <p:cNvCxnSpPr/>
          <p:nvPr/>
        </p:nvCxnSpPr>
        <p:spPr>
          <a:xfrm>
            <a:off x="4217436" y="3652283"/>
            <a:ext cx="1338165" cy="0"/>
          </a:xfrm>
          <a:prstGeom prst="line">
            <a:avLst/>
          </a:prstGeom>
        </p:spPr>
        <p:style>
          <a:lnRef idx="1">
            <a:schemeClr val="accent2"/>
          </a:lnRef>
          <a:fillRef idx="0">
            <a:schemeClr val="accent2"/>
          </a:fillRef>
          <a:effectRef idx="0">
            <a:schemeClr val="accent2"/>
          </a:effectRef>
          <a:fontRef idx="minor">
            <a:schemeClr val="tx1"/>
          </a:fontRef>
        </p:style>
      </p:cxnSp>
      <p:sp>
        <p:nvSpPr>
          <p:cNvPr id="1053" name="TextBox 1052">
            <a:extLst>
              <a:ext uri="{FF2B5EF4-FFF2-40B4-BE49-F238E27FC236}">
                <a16:creationId xmlns:a16="http://schemas.microsoft.com/office/drawing/2014/main" id="{06E27F50-E931-C58D-AA52-7D82498B7E86}"/>
              </a:ext>
            </a:extLst>
          </p:cNvPr>
          <p:cNvSpPr txBox="1"/>
          <p:nvPr/>
        </p:nvSpPr>
        <p:spPr>
          <a:xfrm>
            <a:off x="6096000" y="2085728"/>
            <a:ext cx="830424" cy="461665"/>
          </a:xfrm>
          <a:prstGeom prst="rect">
            <a:avLst/>
          </a:prstGeom>
          <a:noFill/>
        </p:spPr>
        <p:txBody>
          <a:bodyPr wrap="square" rtlCol="0">
            <a:spAutoFit/>
          </a:bodyPr>
          <a:lstStyle/>
          <a:p>
            <a:pPr algn="ctr"/>
            <a:r>
              <a:rPr lang="en-US" sz="1200" dirty="0"/>
              <a:t>DC – DC</a:t>
            </a:r>
          </a:p>
          <a:p>
            <a:pPr algn="ctr"/>
            <a:r>
              <a:rPr lang="en-US" sz="1200" dirty="0"/>
              <a:t>Converter</a:t>
            </a:r>
          </a:p>
        </p:txBody>
      </p:sp>
      <p:sp>
        <p:nvSpPr>
          <p:cNvPr id="1057" name="Arrow: Right 1056">
            <a:extLst>
              <a:ext uri="{FF2B5EF4-FFF2-40B4-BE49-F238E27FC236}">
                <a16:creationId xmlns:a16="http://schemas.microsoft.com/office/drawing/2014/main" id="{8F09EE95-54C3-D795-8B5B-46BFAD5E9772}"/>
              </a:ext>
            </a:extLst>
          </p:cNvPr>
          <p:cNvSpPr/>
          <p:nvPr/>
        </p:nvSpPr>
        <p:spPr>
          <a:xfrm>
            <a:off x="6866936" y="2854359"/>
            <a:ext cx="498141" cy="620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2" name="Picture 1061">
            <a:extLst>
              <a:ext uri="{FF2B5EF4-FFF2-40B4-BE49-F238E27FC236}">
                <a16:creationId xmlns:a16="http://schemas.microsoft.com/office/drawing/2014/main" id="{735C97A4-DED1-C826-CD61-6D7E04AB09D2}"/>
              </a:ext>
            </a:extLst>
          </p:cNvPr>
          <p:cNvPicPr>
            <a:picLocks noChangeAspect="1"/>
          </p:cNvPicPr>
          <p:nvPr/>
        </p:nvPicPr>
        <p:blipFill>
          <a:blip r:embed="rId9"/>
          <a:stretch>
            <a:fillRect/>
          </a:stretch>
        </p:blipFill>
        <p:spPr>
          <a:xfrm>
            <a:off x="7421681" y="2480447"/>
            <a:ext cx="1136046" cy="747823"/>
          </a:xfrm>
          <a:prstGeom prst="rect">
            <a:avLst/>
          </a:prstGeom>
        </p:spPr>
      </p:pic>
      <p:pic>
        <p:nvPicPr>
          <p:cNvPr id="1063" name="Picture 16" descr="Electric Vehicle Charging and the ...">
            <a:extLst>
              <a:ext uri="{FF2B5EF4-FFF2-40B4-BE49-F238E27FC236}">
                <a16:creationId xmlns:a16="http://schemas.microsoft.com/office/drawing/2014/main" id="{17DA9F3A-B56B-A847-7634-EE6DFA7E381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421681" y="3308845"/>
            <a:ext cx="1136046" cy="628587"/>
          </a:xfrm>
          <a:prstGeom prst="rect">
            <a:avLst/>
          </a:prstGeom>
          <a:noFill/>
          <a:extLst>
            <a:ext uri="{909E8E84-426E-40DD-AFC4-6F175D3DCCD1}">
              <a14:hiddenFill xmlns:a14="http://schemas.microsoft.com/office/drawing/2010/main">
                <a:solidFill>
                  <a:srgbClr val="FFFFFF"/>
                </a:solidFill>
              </a14:hiddenFill>
            </a:ext>
          </a:extLst>
        </p:spPr>
      </p:pic>
      <p:sp>
        <p:nvSpPr>
          <p:cNvPr id="1064" name="Arrow: Right 1063">
            <a:extLst>
              <a:ext uri="{FF2B5EF4-FFF2-40B4-BE49-F238E27FC236}">
                <a16:creationId xmlns:a16="http://schemas.microsoft.com/office/drawing/2014/main" id="{E4345945-F6E6-D689-8716-391F81F78944}"/>
              </a:ext>
            </a:extLst>
          </p:cNvPr>
          <p:cNvSpPr/>
          <p:nvPr/>
        </p:nvSpPr>
        <p:spPr>
          <a:xfrm>
            <a:off x="6866936" y="3561081"/>
            <a:ext cx="498141" cy="6205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BD3FEBA-C571-C65A-27D5-6BB7F28D7665}"/>
              </a:ext>
            </a:extLst>
          </p:cNvPr>
          <p:cNvSpPr txBox="1"/>
          <p:nvPr/>
        </p:nvSpPr>
        <p:spPr>
          <a:xfrm>
            <a:off x="1579166" y="2514213"/>
            <a:ext cx="723899" cy="369332"/>
          </a:xfrm>
          <a:prstGeom prst="rect">
            <a:avLst/>
          </a:prstGeom>
          <a:solidFill>
            <a:schemeClr val="accent2"/>
          </a:solidFill>
        </p:spPr>
        <p:txBody>
          <a:bodyPr wrap="square" rtlCol="0">
            <a:spAutoFit/>
          </a:bodyPr>
          <a:lstStyle/>
          <a:p>
            <a:r>
              <a:rPr lang="en-US" dirty="0"/>
              <a:t>SW_1</a:t>
            </a:r>
          </a:p>
        </p:txBody>
      </p:sp>
      <p:sp>
        <p:nvSpPr>
          <p:cNvPr id="3" name="TextBox 2">
            <a:extLst>
              <a:ext uri="{FF2B5EF4-FFF2-40B4-BE49-F238E27FC236}">
                <a16:creationId xmlns:a16="http://schemas.microsoft.com/office/drawing/2014/main" id="{02525948-1EEC-A46D-FF13-7F94BE218D94}"/>
              </a:ext>
            </a:extLst>
          </p:cNvPr>
          <p:cNvSpPr txBox="1"/>
          <p:nvPr/>
        </p:nvSpPr>
        <p:spPr>
          <a:xfrm>
            <a:off x="3070550" y="2994856"/>
            <a:ext cx="723899" cy="369332"/>
          </a:xfrm>
          <a:prstGeom prst="rect">
            <a:avLst/>
          </a:prstGeom>
          <a:solidFill>
            <a:schemeClr val="accent2"/>
          </a:solidFill>
        </p:spPr>
        <p:txBody>
          <a:bodyPr wrap="square" rtlCol="0">
            <a:spAutoFit/>
          </a:bodyPr>
          <a:lstStyle/>
          <a:p>
            <a:r>
              <a:rPr lang="en-US" dirty="0"/>
              <a:t>SW_2</a:t>
            </a:r>
          </a:p>
        </p:txBody>
      </p:sp>
      <p:sp>
        <p:nvSpPr>
          <p:cNvPr id="7" name="TextBox 6">
            <a:extLst>
              <a:ext uri="{FF2B5EF4-FFF2-40B4-BE49-F238E27FC236}">
                <a16:creationId xmlns:a16="http://schemas.microsoft.com/office/drawing/2014/main" id="{B7899C47-8E75-29E8-BA27-EF60D1F5696F}"/>
              </a:ext>
            </a:extLst>
          </p:cNvPr>
          <p:cNvSpPr txBox="1"/>
          <p:nvPr/>
        </p:nvSpPr>
        <p:spPr>
          <a:xfrm>
            <a:off x="4529052" y="2570181"/>
            <a:ext cx="866556" cy="1477328"/>
          </a:xfrm>
          <a:prstGeom prst="rect">
            <a:avLst/>
          </a:prstGeom>
          <a:solidFill>
            <a:schemeClr val="accent2"/>
          </a:solidFill>
        </p:spPr>
        <p:txBody>
          <a:bodyPr wrap="square" rtlCol="0">
            <a:spAutoFit/>
          </a:bodyPr>
          <a:lstStyle/>
          <a:p>
            <a:pPr algn="ctr"/>
            <a:endParaRPr lang="en-US" dirty="0"/>
          </a:p>
          <a:p>
            <a:pPr algn="ctr"/>
            <a:endParaRPr lang="en-US" dirty="0"/>
          </a:p>
          <a:p>
            <a:pPr algn="ctr"/>
            <a:r>
              <a:rPr lang="en-US" dirty="0"/>
              <a:t>SW_5</a:t>
            </a:r>
          </a:p>
          <a:p>
            <a:pPr algn="ctr"/>
            <a:endParaRPr lang="en-US" dirty="0"/>
          </a:p>
          <a:p>
            <a:pPr algn="ctr"/>
            <a:endParaRPr lang="en-US" dirty="0"/>
          </a:p>
        </p:txBody>
      </p:sp>
      <p:sp>
        <p:nvSpPr>
          <p:cNvPr id="8" name="TextBox 7">
            <a:extLst>
              <a:ext uri="{FF2B5EF4-FFF2-40B4-BE49-F238E27FC236}">
                <a16:creationId xmlns:a16="http://schemas.microsoft.com/office/drawing/2014/main" id="{005D71A6-A54B-163D-3B60-1C5A29E49461}"/>
              </a:ext>
            </a:extLst>
          </p:cNvPr>
          <p:cNvSpPr txBox="1"/>
          <p:nvPr/>
        </p:nvSpPr>
        <p:spPr>
          <a:xfrm>
            <a:off x="1748672" y="5114962"/>
            <a:ext cx="723899" cy="369332"/>
          </a:xfrm>
          <a:prstGeom prst="rect">
            <a:avLst/>
          </a:prstGeom>
          <a:solidFill>
            <a:schemeClr val="accent2"/>
          </a:solidFill>
        </p:spPr>
        <p:txBody>
          <a:bodyPr wrap="square" rtlCol="0">
            <a:spAutoFit/>
          </a:bodyPr>
          <a:lstStyle/>
          <a:p>
            <a:r>
              <a:rPr lang="en-US" dirty="0"/>
              <a:t>SW_3</a:t>
            </a:r>
          </a:p>
        </p:txBody>
      </p:sp>
      <p:sp>
        <p:nvSpPr>
          <p:cNvPr id="9" name="TextBox 8">
            <a:extLst>
              <a:ext uri="{FF2B5EF4-FFF2-40B4-BE49-F238E27FC236}">
                <a16:creationId xmlns:a16="http://schemas.microsoft.com/office/drawing/2014/main" id="{F9E6C561-0A58-BB4C-0F30-B6DC92CC47AE}"/>
              </a:ext>
            </a:extLst>
          </p:cNvPr>
          <p:cNvSpPr txBox="1"/>
          <p:nvPr/>
        </p:nvSpPr>
        <p:spPr>
          <a:xfrm>
            <a:off x="1881860" y="5986879"/>
            <a:ext cx="723899" cy="369332"/>
          </a:xfrm>
          <a:prstGeom prst="rect">
            <a:avLst/>
          </a:prstGeom>
          <a:solidFill>
            <a:schemeClr val="accent2"/>
          </a:solidFill>
        </p:spPr>
        <p:txBody>
          <a:bodyPr wrap="square" rtlCol="0">
            <a:spAutoFit/>
          </a:bodyPr>
          <a:lstStyle/>
          <a:p>
            <a:r>
              <a:rPr lang="en-US" dirty="0"/>
              <a:t>SW_4</a:t>
            </a:r>
          </a:p>
        </p:txBody>
      </p:sp>
      <p:sp>
        <p:nvSpPr>
          <p:cNvPr id="11" name="Title 1">
            <a:extLst>
              <a:ext uri="{FF2B5EF4-FFF2-40B4-BE49-F238E27FC236}">
                <a16:creationId xmlns:a16="http://schemas.microsoft.com/office/drawing/2014/main" id="{B5044657-D435-4F2E-272C-F2244545C4D6}"/>
              </a:ext>
            </a:extLst>
          </p:cNvPr>
          <p:cNvSpPr>
            <a:spLocks noGrp="1"/>
          </p:cNvSpPr>
          <p:nvPr>
            <p:ph type="title"/>
          </p:nvPr>
        </p:nvSpPr>
        <p:spPr>
          <a:xfrm>
            <a:off x="2063384" y="-85209"/>
            <a:ext cx="6494343" cy="687770"/>
          </a:xfrm>
        </p:spPr>
        <p:txBody>
          <a:bodyPr>
            <a:noAutofit/>
          </a:bodyPr>
          <a:lstStyle/>
          <a:p>
            <a:r>
              <a:rPr lang="en-IN" sz="2800" b="1" dirty="0">
                <a:solidFill>
                  <a:srgbClr val="002060"/>
                </a:solidFill>
                <a:latin typeface="Times New Roman" panose="02020603050405020304" pitchFamily="18" charset="0"/>
                <a:cs typeface="Times New Roman" panose="02020603050405020304" pitchFamily="18" charset="0"/>
              </a:rPr>
              <a:t>Automation Energy Sensor monitoring</a:t>
            </a:r>
          </a:p>
        </p:txBody>
      </p:sp>
      <p:sp>
        <p:nvSpPr>
          <p:cNvPr id="12" name="TextBox 11">
            <a:extLst>
              <a:ext uri="{FF2B5EF4-FFF2-40B4-BE49-F238E27FC236}">
                <a16:creationId xmlns:a16="http://schemas.microsoft.com/office/drawing/2014/main" id="{6B342DFC-2543-A905-3CDF-AA0A582E769B}"/>
              </a:ext>
            </a:extLst>
          </p:cNvPr>
          <p:cNvSpPr txBox="1"/>
          <p:nvPr/>
        </p:nvSpPr>
        <p:spPr>
          <a:xfrm>
            <a:off x="806235" y="2230448"/>
            <a:ext cx="564674" cy="369332"/>
          </a:xfrm>
          <a:prstGeom prst="rect">
            <a:avLst/>
          </a:prstGeom>
          <a:solidFill>
            <a:schemeClr val="accent6">
              <a:lumMod val="60000"/>
              <a:lumOff val="40000"/>
            </a:schemeClr>
          </a:solidFill>
        </p:spPr>
        <p:txBody>
          <a:bodyPr wrap="square" rtlCol="0">
            <a:spAutoFit/>
          </a:bodyPr>
          <a:lstStyle/>
          <a:p>
            <a:r>
              <a:rPr lang="en-US" dirty="0"/>
              <a:t>M-1</a:t>
            </a:r>
          </a:p>
        </p:txBody>
      </p:sp>
      <p:sp>
        <p:nvSpPr>
          <p:cNvPr id="14" name="TextBox 13">
            <a:extLst>
              <a:ext uri="{FF2B5EF4-FFF2-40B4-BE49-F238E27FC236}">
                <a16:creationId xmlns:a16="http://schemas.microsoft.com/office/drawing/2014/main" id="{E310AA68-334D-ED97-9F61-0E4A52FBD841}"/>
              </a:ext>
            </a:extLst>
          </p:cNvPr>
          <p:cNvSpPr txBox="1"/>
          <p:nvPr/>
        </p:nvSpPr>
        <p:spPr>
          <a:xfrm>
            <a:off x="3338632" y="4600944"/>
            <a:ext cx="564674" cy="369332"/>
          </a:xfrm>
          <a:prstGeom prst="rect">
            <a:avLst/>
          </a:prstGeom>
          <a:solidFill>
            <a:schemeClr val="accent6">
              <a:lumMod val="60000"/>
              <a:lumOff val="40000"/>
            </a:schemeClr>
          </a:solidFill>
        </p:spPr>
        <p:txBody>
          <a:bodyPr wrap="square" rtlCol="0">
            <a:spAutoFit/>
          </a:bodyPr>
          <a:lstStyle/>
          <a:p>
            <a:r>
              <a:rPr lang="en-US" dirty="0"/>
              <a:t>M-2</a:t>
            </a:r>
          </a:p>
        </p:txBody>
      </p:sp>
      <p:sp>
        <p:nvSpPr>
          <p:cNvPr id="15" name="TextBox 14">
            <a:extLst>
              <a:ext uri="{FF2B5EF4-FFF2-40B4-BE49-F238E27FC236}">
                <a16:creationId xmlns:a16="http://schemas.microsoft.com/office/drawing/2014/main" id="{130DF597-174F-C054-7432-9CE1216F7704}"/>
              </a:ext>
            </a:extLst>
          </p:cNvPr>
          <p:cNvSpPr txBox="1"/>
          <p:nvPr/>
        </p:nvSpPr>
        <p:spPr>
          <a:xfrm>
            <a:off x="118628" y="4594177"/>
            <a:ext cx="564674" cy="369332"/>
          </a:xfrm>
          <a:prstGeom prst="rect">
            <a:avLst/>
          </a:prstGeom>
          <a:solidFill>
            <a:schemeClr val="accent6">
              <a:lumMod val="60000"/>
              <a:lumOff val="40000"/>
            </a:schemeClr>
          </a:solidFill>
        </p:spPr>
        <p:txBody>
          <a:bodyPr wrap="square" rtlCol="0">
            <a:spAutoFit/>
          </a:bodyPr>
          <a:lstStyle/>
          <a:p>
            <a:r>
              <a:rPr lang="en-US" dirty="0"/>
              <a:t>M-3</a:t>
            </a:r>
          </a:p>
        </p:txBody>
      </p:sp>
      <p:sp>
        <p:nvSpPr>
          <p:cNvPr id="16" name="TextBox 15">
            <a:extLst>
              <a:ext uri="{FF2B5EF4-FFF2-40B4-BE49-F238E27FC236}">
                <a16:creationId xmlns:a16="http://schemas.microsoft.com/office/drawing/2014/main" id="{60DB9127-0DC6-1C42-7469-6F470A1AEA4E}"/>
              </a:ext>
            </a:extLst>
          </p:cNvPr>
          <p:cNvSpPr txBox="1"/>
          <p:nvPr/>
        </p:nvSpPr>
        <p:spPr>
          <a:xfrm>
            <a:off x="140605" y="6103345"/>
            <a:ext cx="564674" cy="369332"/>
          </a:xfrm>
          <a:prstGeom prst="rect">
            <a:avLst/>
          </a:prstGeom>
          <a:solidFill>
            <a:schemeClr val="accent6">
              <a:lumMod val="60000"/>
              <a:lumOff val="40000"/>
            </a:schemeClr>
          </a:solidFill>
        </p:spPr>
        <p:txBody>
          <a:bodyPr wrap="square" rtlCol="0">
            <a:spAutoFit/>
          </a:bodyPr>
          <a:lstStyle/>
          <a:p>
            <a:r>
              <a:rPr lang="en-US" dirty="0"/>
              <a:t>M-4</a:t>
            </a:r>
          </a:p>
        </p:txBody>
      </p:sp>
      <p:sp>
        <p:nvSpPr>
          <p:cNvPr id="17" name="TextBox 16">
            <a:extLst>
              <a:ext uri="{FF2B5EF4-FFF2-40B4-BE49-F238E27FC236}">
                <a16:creationId xmlns:a16="http://schemas.microsoft.com/office/drawing/2014/main" id="{B4A9D3C3-5A86-76A2-89F8-8D553A826FF4}"/>
              </a:ext>
            </a:extLst>
          </p:cNvPr>
          <p:cNvSpPr txBox="1"/>
          <p:nvPr/>
        </p:nvSpPr>
        <p:spPr>
          <a:xfrm>
            <a:off x="6633292" y="2569811"/>
            <a:ext cx="564674" cy="369332"/>
          </a:xfrm>
          <a:prstGeom prst="rect">
            <a:avLst/>
          </a:prstGeom>
          <a:solidFill>
            <a:schemeClr val="accent6">
              <a:lumMod val="60000"/>
              <a:lumOff val="40000"/>
            </a:schemeClr>
          </a:solidFill>
        </p:spPr>
        <p:txBody>
          <a:bodyPr wrap="square" rtlCol="0">
            <a:spAutoFit/>
          </a:bodyPr>
          <a:lstStyle/>
          <a:p>
            <a:r>
              <a:rPr lang="en-US" dirty="0"/>
              <a:t>M-5</a:t>
            </a:r>
          </a:p>
        </p:txBody>
      </p:sp>
      <p:sp>
        <p:nvSpPr>
          <p:cNvPr id="18" name="TextBox 17">
            <a:extLst>
              <a:ext uri="{FF2B5EF4-FFF2-40B4-BE49-F238E27FC236}">
                <a16:creationId xmlns:a16="http://schemas.microsoft.com/office/drawing/2014/main" id="{57F0901C-F6C1-C0B3-9F84-22496BA850C6}"/>
              </a:ext>
            </a:extLst>
          </p:cNvPr>
          <p:cNvSpPr txBox="1"/>
          <p:nvPr/>
        </p:nvSpPr>
        <p:spPr>
          <a:xfrm>
            <a:off x="6633292" y="3509923"/>
            <a:ext cx="564674" cy="369332"/>
          </a:xfrm>
          <a:prstGeom prst="rect">
            <a:avLst/>
          </a:prstGeom>
          <a:solidFill>
            <a:schemeClr val="accent6">
              <a:lumMod val="60000"/>
              <a:lumOff val="40000"/>
            </a:schemeClr>
          </a:solidFill>
        </p:spPr>
        <p:txBody>
          <a:bodyPr wrap="square" rtlCol="0">
            <a:spAutoFit/>
          </a:bodyPr>
          <a:lstStyle/>
          <a:p>
            <a:r>
              <a:rPr lang="en-US" dirty="0"/>
              <a:t>M-5</a:t>
            </a:r>
          </a:p>
        </p:txBody>
      </p:sp>
      <p:sp>
        <p:nvSpPr>
          <p:cNvPr id="19" name="TextBox 18">
            <a:extLst>
              <a:ext uri="{FF2B5EF4-FFF2-40B4-BE49-F238E27FC236}">
                <a16:creationId xmlns:a16="http://schemas.microsoft.com/office/drawing/2014/main" id="{3975520F-2DD3-0B72-03D3-47B96EA4159A}"/>
              </a:ext>
            </a:extLst>
          </p:cNvPr>
          <p:cNvSpPr txBox="1"/>
          <p:nvPr/>
        </p:nvSpPr>
        <p:spPr>
          <a:xfrm>
            <a:off x="8740246" y="136525"/>
            <a:ext cx="3333126" cy="7294305"/>
          </a:xfrm>
          <a:prstGeom prst="rect">
            <a:avLst/>
          </a:prstGeom>
          <a:noFill/>
        </p:spPr>
        <p:txBody>
          <a:bodyPr wrap="square" rtlCol="0">
            <a:spAutoFit/>
          </a:bodyPr>
          <a:lstStyle/>
          <a:p>
            <a:r>
              <a:rPr lang="en-US" dirty="0"/>
              <a:t>Procurement_ Part – 2</a:t>
            </a:r>
          </a:p>
          <a:p>
            <a:pPr marL="342900" indent="-342900">
              <a:buAutoNum type="arabicPeriod"/>
            </a:pPr>
            <a:r>
              <a:rPr lang="en-US" u="sng" dirty="0">
                <a:solidFill>
                  <a:schemeClr val="accent6">
                    <a:lumMod val="50000"/>
                  </a:schemeClr>
                </a:solidFill>
              </a:rPr>
              <a:t>Solar</a:t>
            </a:r>
          </a:p>
          <a:p>
            <a:r>
              <a:rPr lang="en-US" dirty="0">
                <a:solidFill>
                  <a:schemeClr val="accent6">
                    <a:lumMod val="50000"/>
                  </a:schemeClr>
                </a:solidFill>
              </a:rPr>
              <a:t>Voltage, Current, Temp, RTC, Humidity, Light Intensity, SW – M/C_1</a:t>
            </a:r>
          </a:p>
          <a:p>
            <a:r>
              <a:rPr lang="en-US" dirty="0"/>
              <a:t>       </a:t>
            </a:r>
            <a:endParaRPr lang="en-US" u="sng" dirty="0"/>
          </a:p>
          <a:p>
            <a:pPr marL="342900" indent="-342900">
              <a:buAutoNum type="arabicPeriod" startAt="2"/>
            </a:pPr>
            <a:r>
              <a:rPr lang="en-US" u="sng" dirty="0">
                <a:solidFill>
                  <a:schemeClr val="accent5">
                    <a:lumMod val="50000"/>
                  </a:schemeClr>
                </a:solidFill>
              </a:rPr>
              <a:t>ESS</a:t>
            </a:r>
          </a:p>
          <a:p>
            <a:r>
              <a:rPr lang="en-US" dirty="0">
                <a:solidFill>
                  <a:schemeClr val="accent5">
                    <a:lumMod val="50000"/>
                  </a:schemeClr>
                </a:solidFill>
              </a:rPr>
              <a:t>Voltage, Current, Temp, SW – M/C_2</a:t>
            </a:r>
          </a:p>
          <a:p>
            <a:r>
              <a:rPr lang="en-US" dirty="0"/>
              <a:t>        </a:t>
            </a:r>
            <a:endParaRPr lang="en-US" u="sng" dirty="0"/>
          </a:p>
          <a:p>
            <a:pPr marL="342900" indent="-342900">
              <a:buAutoNum type="arabicPeriod"/>
            </a:pPr>
            <a:r>
              <a:rPr lang="en-US" u="sng" dirty="0">
                <a:solidFill>
                  <a:schemeClr val="accent4">
                    <a:lumMod val="50000"/>
                  </a:schemeClr>
                </a:solidFill>
              </a:rPr>
              <a:t>Grid</a:t>
            </a:r>
          </a:p>
          <a:p>
            <a:r>
              <a:rPr lang="en-US" dirty="0">
                <a:solidFill>
                  <a:schemeClr val="accent4">
                    <a:lumMod val="50000"/>
                  </a:schemeClr>
                </a:solidFill>
              </a:rPr>
              <a:t>       AC – DC  - Adopter </a:t>
            </a:r>
            <a:r>
              <a:rPr lang="en-US" dirty="0">
                <a:solidFill>
                  <a:schemeClr val="accent4">
                    <a:lumMod val="50000"/>
                  </a:schemeClr>
                </a:solidFill>
                <a:sym typeface="Wingdings" panose="05000000000000000000" pitchFamily="2" charset="2"/>
              </a:rPr>
              <a:t></a:t>
            </a:r>
            <a:r>
              <a:rPr lang="en-US" dirty="0">
                <a:solidFill>
                  <a:schemeClr val="accent4">
                    <a:lumMod val="50000"/>
                  </a:schemeClr>
                </a:solidFill>
              </a:rPr>
              <a:t> Voltage, Current , SW – M/C_3</a:t>
            </a:r>
          </a:p>
          <a:p>
            <a:r>
              <a:rPr lang="en-US" dirty="0">
                <a:solidFill>
                  <a:schemeClr val="accent4">
                    <a:lumMod val="50000"/>
                  </a:schemeClr>
                </a:solidFill>
              </a:rPr>
              <a:t>       DC – AC Converter</a:t>
            </a:r>
          </a:p>
          <a:p>
            <a:r>
              <a:rPr lang="en-US" dirty="0">
                <a:solidFill>
                  <a:schemeClr val="accent4">
                    <a:lumMod val="50000"/>
                  </a:schemeClr>
                </a:solidFill>
              </a:rPr>
              <a:t>Voltage, Current(AC - Sensors) SW – M/C_4</a:t>
            </a:r>
          </a:p>
          <a:p>
            <a:endParaRPr lang="en-US" dirty="0"/>
          </a:p>
          <a:p>
            <a:pPr marL="342900" indent="-342900">
              <a:buAutoNum type="arabicPeriod" startAt="3"/>
            </a:pPr>
            <a:r>
              <a:rPr lang="en-US" dirty="0">
                <a:solidFill>
                  <a:srgbClr val="FF0000"/>
                </a:solidFill>
              </a:rPr>
              <a:t>Load</a:t>
            </a:r>
          </a:p>
          <a:p>
            <a:r>
              <a:rPr lang="en-US" dirty="0">
                <a:solidFill>
                  <a:srgbClr val="FF0000"/>
                </a:solidFill>
              </a:rPr>
              <a:t>            DC – DC Converter</a:t>
            </a:r>
          </a:p>
          <a:p>
            <a:r>
              <a:rPr lang="en-US" dirty="0">
                <a:solidFill>
                  <a:srgbClr val="FF0000"/>
                </a:solidFill>
              </a:rPr>
              <a:t>       1. Swapping  - Voltage, Current, SW – M/C_4</a:t>
            </a:r>
          </a:p>
          <a:p>
            <a:r>
              <a:rPr lang="en-US" dirty="0">
                <a:solidFill>
                  <a:srgbClr val="FF0000"/>
                </a:solidFill>
              </a:rPr>
              <a:t>2. Fast charge – 12 Batteries Voltage, Current, SW – M/C_5</a:t>
            </a:r>
          </a:p>
          <a:p>
            <a:r>
              <a:rPr lang="en-US" u="sng" dirty="0"/>
              <a:t> </a:t>
            </a:r>
          </a:p>
          <a:p>
            <a:pPr marL="342900" indent="-342900">
              <a:buAutoNum type="arabicPeriod"/>
            </a:pPr>
            <a:endParaRPr lang="en-US" u="sng" dirty="0"/>
          </a:p>
          <a:p>
            <a:endParaRPr lang="en-US" dirty="0"/>
          </a:p>
        </p:txBody>
      </p:sp>
    </p:spTree>
    <p:extLst>
      <p:ext uri="{BB962C8B-B14F-4D97-AF65-F5344CB8AC3E}">
        <p14:creationId xmlns:p14="http://schemas.microsoft.com/office/powerpoint/2010/main" val="5968549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BEA43-92A7-C633-D81C-B2AE43E923A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2144B29-502E-5D1E-5F33-97ADFBE4862B}"/>
              </a:ext>
            </a:extLst>
          </p:cNvPr>
          <p:cNvSpPr>
            <a:spLocks noGrp="1"/>
          </p:cNvSpPr>
          <p:nvPr>
            <p:ph type="dt" sz="half" idx="10"/>
          </p:nvPr>
        </p:nvSpPr>
        <p:spPr/>
        <p:txBody>
          <a:bodyPr/>
          <a:lstStyle/>
          <a:p>
            <a:fld id="{A0956CEB-6CDE-4930-8E1A-D8F60CF96CEF}" type="datetime1">
              <a:rPr lang="en-US" smtClean="0"/>
              <a:t>4/20/2025</a:t>
            </a:fld>
            <a:endParaRPr lang="en-IN"/>
          </a:p>
        </p:txBody>
      </p:sp>
      <p:sp>
        <p:nvSpPr>
          <p:cNvPr id="5" name="Footer Placeholder 4">
            <a:extLst>
              <a:ext uri="{FF2B5EF4-FFF2-40B4-BE49-F238E27FC236}">
                <a16:creationId xmlns:a16="http://schemas.microsoft.com/office/drawing/2014/main" id="{9E435205-CAC6-D80D-38D9-5FA31DFAE4E7}"/>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9ABA7598-DE70-3766-24B9-9A317FAAA028}"/>
              </a:ext>
            </a:extLst>
          </p:cNvPr>
          <p:cNvSpPr>
            <a:spLocks noGrp="1"/>
          </p:cNvSpPr>
          <p:nvPr>
            <p:ph type="sldNum" sz="quarter" idx="12"/>
          </p:nvPr>
        </p:nvSpPr>
        <p:spPr/>
        <p:txBody>
          <a:bodyPr/>
          <a:lstStyle/>
          <a:p>
            <a:fld id="{15FCCAAF-6324-40D0-99C1-825B83CC9B2F}" type="slidenum">
              <a:rPr lang="en-IN" smtClean="0"/>
              <a:t>23</a:t>
            </a:fld>
            <a:endParaRPr lang="en-IN"/>
          </a:p>
        </p:txBody>
      </p:sp>
      <p:sp>
        <p:nvSpPr>
          <p:cNvPr id="11" name="Title 1">
            <a:extLst>
              <a:ext uri="{FF2B5EF4-FFF2-40B4-BE49-F238E27FC236}">
                <a16:creationId xmlns:a16="http://schemas.microsoft.com/office/drawing/2014/main" id="{CF62621E-8707-590A-18AF-9779DAB2250B}"/>
              </a:ext>
            </a:extLst>
          </p:cNvPr>
          <p:cNvSpPr>
            <a:spLocks noGrp="1"/>
          </p:cNvSpPr>
          <p:nvPr>
            <p:ph type="title"/>
          </p:nvPr>
        </p:nvSpPr>
        <p:spPr>
          <a:xfrm>
            <a:off x="3495928" y="-85209"/>
            <a:ext cx="5061799" cy="807646"/>
          </a:xfrm>
        </p:spPr>
        <p:txBody>
          <a:bodyPr>
            <a:noAutofit/>
          </a:bodyPr>
          <a:lstStyle/>
          <a:p>
            <a:r>
              <a:rPr lang="en-IN" sz="2800" b="1" dirty="0">
                <a:solidFill>
                  <a:srgbClr val="002060"/>
                </a:solidFill>
                <a:latin typeface="Times New Roman" panose="02020603050405020304" pitchFamily="18" charset="0"/>
                <a:cs typeface="Times New Roman" panose="02020603050405020304" pitchFamily="18" charset="0"/>
              </a:rPr>
              <a:t>Load source</a:t>
            </a:r>
          </a:p>
        </p:txBody>
      </p:sp>
      <p:sp>
        <p:nvSpPr>
          <p:cNvPr id="19" name="TextBox 18">
            <a:extLst>
              <a:ext uri="{FF2B5EF4-FFF2-40B4-BE49-F238E27FC236}">
                <a16:creationId xmlns:a16="http://schemas.microsoft.com/office/drawing/2014/main" id="{CFD97848-7044-96A5-9D15-CAA5846A0062}"/>
              </a:ext>
            </a:extLst>
          </p:cNvPr>
          <p:cNvSpPr txBox="1"/>
          <p:nvPr/>
        </p:nvSpPr>
        <p:spPr>
          <a:xfrm>
            <a:off x="8153400" y="1544197"/>
            <a:ext cx="3333126" cy="2585323"/>
          </a:xfrm>
          <a:prstGeom prst="rect">
            <a:avLst/>
          </a:prstGeom>
          <a:noFill/>
        </p:spPr>
        <p:txBody>
          <a:bodyPr wrap="square" rtlCol="0">
            <a:spAutoFit/>
          </a:bodyPr>
          <a:lstStyle/>
          <a:p>
            <a:r>
              <a:rPr lang="en-US" dirty="0"/>
              <a:t>Procurement_ Part – 3</a:t>
            </a:r>
          </a:p>
          <a:p>
            <a:pPr marL="342900" indent="-342900">
              <a:buAutoNum type="arabicPeriod"/>
            </a:pPr>
            <a:r>
              <a:rPr lang="en-US" dirty="0"/>
              <a:t>Swapping </a:t>
            </a:r>
          </a:p>
          <a:p>
            <a:r>
              <a:rPr lang="en-US" dirty="0"/>
              <a:t>       batteries  - 10,</a:t>
            </a:r>
          </a:p>
          <a:p>
            <a:r>
              <a:rPr lang="en-US" dirty="0" err="1"/>
              <a:t>Centlot</a:t>
            </a:r>
            <a:r>
              <a:rPr lang="en-US" dirty="0"/>
              <a:t> </a:t>
            </a:r>
            <a:r>
              <a:rPr lang="en-US" dirty="0" err="1"/>
              <a:t>xt</a:t>
            </a:r>
            <a:r>
              <a:rPr lang="en-US" dirty="0"/>
              <a:t> M60312V Digital charger controller</a:t>
            </a:r>
          </a:p>
          <a:p>
            <a:endParaRPr lang="en-US" dirty="0"/>
          </a:p>
          <a:p>
            <a:r>
              <a:rPr lang="en-US" dirty="0"/>
              <a:t>Voltage</a:t>
            </a:r>
          </a:p>
          <a:p>
            <a:r>
              <a:rPr lang="en-US" dirty="0"/>
              <a:t>Current </a:t>
            </a:r>
          </a:p>
          <a:p>
            <a:r>
              <a:rPr lang="en-US" dirty="0"/>
              <a:t>Temperature</a:t>
            </a:r>
          </a:p>
        </p:txBody>
      </p:sp>
      <p:pic>
        <p:nvPicPr>
          <p:cNvPr id="2050" name="Picture 2" descr="Buy 18650 2550mah Lithium Ion Battery - BAK - 3C Discharge Rate - KTRON  India">
            <a:extLst>
              <a:ext uri="{FF2B5EF4-FFF2-40B4-BE49-F238E27FC236}">
                <a16:creationId xmlns:a16="http://schemas.microsoft.com/office/drawing/2014/main" id="{B4974D09-3AB5-C10B-4162-24768C0EA5A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8274" t="16312" r="36761" b="16170"/>
          <a:stretch/>
        </p:blipFill>
        <p:spPr bwMode="auto">
          <a:xfrm>
            <a:off x="1177388" y="3768407"/>
            <a:ext cx="683609" cy="18488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18650 Battery Holder 1S PCB Mounted">
            <a:extLst>
              <a:ext uri="{FF2B5EF4-FFF2-40B4-BE49-F238E27FC236}">
                <a16:creationId xmlns:a16="http://schemas.microsoft.com/office/drawing/2014/main" id="{DEE46576-F42F-C33E-B3F8-3ABC73D3A53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0047" t="36454" r="11443" b="39443"/>
          <a:stretch/>
        </p:blipFill>
        <p:spPr bwMode="auto">
          <a:xfrm rot="5400000">
            <a:off x="-156373" y="4370069"/>
            <a:ext cx="1989146" cy="72841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entIoT - XH-M603 12-24V Digital Control Charge Controller Module - for Lithium Li-ion car Battery">
            <a:extLst>
              <a:ext uri="{FF2B5EF4-FFF2-40B4-BE49-F238E27FC236}">
                <a16:creationId xmlns:a16="http://schemas.microsoft.com/office/drawing/2014/main" id="{423C6DE7-AE89-9E94-8297-F44A5ABB41C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832" t="22473" r="8832" b="18942"/>
          <a:stretch/>
        </p:blipFill>
        <p:spPr bwMode="auto">
          <a:xfrm>
            <a:off x="4360264" y="1999915"/>
            <a:ext cx="3333126" cy="237158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FA9E0688-EF0C-7182-F2B8-BD9E2D9B49E0}"/>
              </a:ext>
            </a:extLst>
          </p:cNvPr>
          <p:cNvSpPr/>
          <p:nvPr/>
        </p:nvSpPr>
        <p:spPr>
          <a:xfrm>
            <a:off x="272104" y="1536641"/>
            <a:ext cx="1810568" cy="130021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DC Power</a:t>
            </a:r>
          </a:p>
        </p:txBody>
      </p:sp>
      <p:cxnSp>
        <p:nvCxnSpPr>
          <p:cNvPr id="23" name="Connector: Elbow 22">
            <a:extLst>
              <a:ext uri="{FF2B5EF4-FFF2-40B4-BE49-F238E27FC236}">
                <a16:creationId xmlns:a16="http://schemas.microsoft.com/office/drawing/2014/main" id="{5326BC2A-A4A3-8E80-8055-44515B1159D5}"/>
              </a:ext>
            </a:extLst>
          </p:cNvPr>
          <p:cNvCxnSpPr>
            <a:cxnSpLocks/>
          </p:cNvCxnSpPr>
          <p:nvPr/>
        </p:nvCxnSpPr>
        <p:spPr>
          <a:xfrm>
            <a:off x="2096003" y="2183363"/>
            <a:ext cx="2498365" cy="606325"/>
          </a:xfrm>
          <a:prstGeom prst="bentConnector3">
            <a:avLst>
              <a:gd name="adj1" fmla="val 77637"/>
            </a:avLst>
          </a:prstGeom>
        </p:spPr>
        <p:style>
          <a:lnRef idx="1">
            <a:schemeClr val="accent2"/>
          </a:lnRef>
          <a:fillRef idx="0">
            <a:schemeClr val="accent2"/>
          </a:fillRef>
          <a:effectRef idx="0">
            <a:schemeClr val="accent2"/>
          </a:effectRef>
          <a:fontRef idx="minor">
            <a:schemeClr val="tx1"/>
          </a:fontRef>
        </p:style>
      </p:cxnSp>
      <p:cxnSp>
        <p:nvCxnSpPr>
          <p:cNvPr id="25" name="Connector: Elbow 24">
            <a:extLst>
              <a:ext uri="{FF2B5EF4-FFF2-40B4-BE49-F238E27FC236}">
                <a16:creationId xmlns:a16="http://schemas.microsoft.com/office/drawing/2014/main" id="{DB98C5F6-A58A-A035-A131-3B59677DF2A9}"/>
              </a:ext>
            </a:extLst>
          </p:cNvPr>
          <p:cNvCxnSpPr>
            <a:cxnSpLocks/>
          </p:cNvCxnSpPr>
          <p:nvPr/>
        </p:nvCxnSpPr>
        <p:spPr>
          <a:xfrm>
            <a:off x="2096003" y="2828112"/>
            <a:ext cx="2498365" cy="272137"/>
          </a:xfrm>
          <a:prstGeom prst="bentConnector3">
            <a:avLst>
              <a:gd name="adj1" fmla="val 71661"/>
            </a:avLst>
          </a:prstGeom>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790D8C5D-F601-3862-2BED-0B4138B8FD91}"/>
              </a:ext>
            </a:extLst>
          </p:cNvPr>
          <p:cNvCxnSpPr>
            <a:cxnSpLocks/>
          </p:cNvCxnSpPr>
          <p:nvPr/>
        </p:nvCxnSpPr>
        <p:spPr>
          <a:xfrm flipV="1">
            <a:off x="1519192" y="3353315"/>
            <a:ext cx="3075176" cy="607004"/>
          </a:xfrm>
          <a:prstGeom prst="bentConnector3">
            <a:avLst>
              <a:gd name="adj1" fmla="val 36346"/>
            </a:avLst>
          </a:prstGeom>
        </p:spPr>
        <p:style>
          <a:lnRef idx="1">
            <a:schemeClr val="accent2"/>
          </a:lnRef>
          <a:fillRef idx="0">
            <a:schemeClr val="accent2"/>
          </a:fillRef>
          <a:effectRef idx="0">
            <a:schemeClr val="accent2"/>
          </a:effectRef>
          <a:fontRef idx="minor">
            <a:schemeClr val="tx1"/>
          </a:fontRef>
        </p:style>
      </p:cxnSp>
      <p:cxnSp>
        <p:nvCxnSpPr>
          <p:cNvPr id="30" name="Connector: Elbow 29">
            <a:extLst>
              <a:ext uri="{FF2B5EF4-FFF2-40B4-BE49-F238E27FC236}">
                <a16:creationId xmlns:a16="http://schemas.microsoft.com/office/drawing/2014/main" id="{4B68D873-A270-C8E5-8E34-8F4EC920C88B}"/>
              </a:ext>
            </a:extLst>
          </p:cNvPr>
          <p:cNvCxnSpPr>
            <a:cxnSpLocks/>
          </p:cNvCxnSpPr>
          <p:nvPr/>
        </p:nvCxnSpPr>
        <p:spPr>
          <a:xfrm flipV="1">
            <a:off x="1434070" y="3739702"/>
            <a:ext cx="3267999" cy="1808099"/>
          </a:xfrm>
          <a:prstGeom prst="bentConnector3">
            <a:avLst>
              <a:gd name="adj1" fmla="val 44003"/>
            </a:avLst>
          </a:prstGeom>
        </p:spPr>
        <p:style>
          <a:lnRef idx="1">
            <a:schemeClr val="dk1"/>
          </a:lnRef>
          <a:fillRef idx="0">
            <a:schemeClr val="dk1"/>
          </a:fillRef>
          <a:effectRef idx="0">
            <a:schemeClr val="dk1"/>
          </a:effectRef>
          <a:fontRef idx="minor">
            <a:schemeClr val="tx1"/>
          </a:fontRef>
        </p:style>
      </p:cxnSp>
      <p:pic>
        <p:nvPicPr>
          <p:cNvPr id="46" name="Picture 45">
            <a:extLst>
              <a:ext uri="{FF2B5EF4-FFF2-40B4-BE49-F238E27FC236}">
                <a16:creationId xmlns:a16="http://schemas.microsoft.com/office/drawing/2014/main" id="{A006AFA3-F921-7054-5B17-AD3C71C3A887}"/>
              </a:ext>
            </a:extLst>
          </p:cNvPr>
          <p:cNvPicPr>
            <a:picLocks noChangeAspect="1"/>
          </p:cNvPicPr>
          <p:nvPr/>
        </p:nvPicPr>
        <p:blipFill>
          <a:blip r:embed="rId5"/>
          <a:stretch>
            <a:fillRect/>
          </a:stretch>
        </p:blipFill>
        <p:spPr>
          <a:xfrm>
            <a:off x="1282704" y="5645963"/>
            <a:ext cx="2062481" cy="1132207"/>
          </a:xfrm>
          <a:prstGeom prst="rect">
            <a:avLst/>
          </a:prstGeom>
        </p:spPr>
      </p:pic>
      <p:sp>
        <p:nvSpPr>
          <p:cNvPr id="1029" name="TextBox 1028">
            <a:extLst>
              <a:ext uri="{FF2B5EF4-FFF2-40B4-BE49-F238E27FC236}">
                <a16:creationId xmlns:a16="http://schemas.microsoft.com/office/drawing/2014/main" id="{5C686836-8225-13BD-1F9D-B73CC14F5E56}"/>
              </a:ext>
            </a:extLst>
          </p:cNvPr>
          <p:cNvSpPr txBox="1"/>
          <p:nvPr/>
        </p:nvSpPr>
        <p:spPr>
          <a:xfrm>
            <a:off x="3068068" y="2073537"/>
            <a:ext cx="626853" cy="646331"/>
          </a:xfrm>
          <a:prstGeom prst="rect">
            <a:avLst/>
          </a:prstGeom>
          <a:solidFill>
            <a:schemeClr val="accent6">
              <a:lumMod val="60000"/>
              <a:lumOff val="40000"/>
            </a:schemeClr>
          </a:solidFill>
        </p:spPr>
        <p:txBody>
          <a:bodyPr wrap="square" rtlCol="0">
            <a:spAutoFit/>
          </a:bodyPr>
          <a:lstStyle/>
          <a:p>
            <a:endParaRPr lang="en-US" dirty="0"/>
          </a:p>
          <a:p>
            <a:r>
              <a:rPr lang="en-US" dirty="0"/>
              <a:t>M-5</a:t>
            </a:r>
          </a:p>
        </p:txBody>
      </p:sp>
      <p:sp>
        <p:nvSpPr>
          <p:cNvPr id="1031" name="TextBox 1030">
            <a:extLst>
              <a:ext uri="{FF2B5EF4-FFF2-40B4-BE49-F238E27FC236}">
                <a16:creationId xmlns:a16="http://schemas.microsoft.com/office/drawing/2014/main" id="{3A173728-62D4-E4AE-AEA2-CAF91B9F09E2}"/>
              </a:ext>
            </a:extLst>
          </p:cNvPr>
          <p:cNvSpPr txBox="1"/>
          <p:nvPr/>
        </p:nvSpPr>
        <p:spPr>
          <a:xfrm>
            <a:off x="3043231" y="3151670"/>
            <a:ext cx="626853" cy="923330"/>
          </a:xfrm>
          <a:prstGeom prst="rect">
            <a:avLst/>
          </a:prstGeom>
          <a:solidFill>
            <a:schemeClr val="accent6">
              <a:lumMod val="60000"/>
              <a:lumOff val="40000"/>
            </a:schemeClr>
          </a:solidFill>
        </p:spPr>
        <p:txBody>
          <a:bodyPr wrap="square" rtlCol="0">
            <a:spAutoFit/>
          </a:bodyPr>
          <a:lstStyle/>
          <a:p>
            <a:endParaRPr lang="en-US" dirty="0"/>
          </a:p>
          <a:p>
            <a:r>
              <a:rPr lang="en-US" dirty="0"/>
              <a:t>M-6</a:t>
            </a:r>
          </a:p>
          <a:p>
            <a:endParaRPr lang="en-US" dirty="0"/>
          </a:p>
        </p:txBody>
      </p:sp>
    </p:spTree>
    <p:extLst>
      <p:ext uri="{BB962C8B-B14F-4D97-AF65-F5344CB8AC3E}">
        <p14:creationId xmlns:p14="http://schemas.microsoft.com/office/powerpoint/2010/main" val="13072947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C7FDF-A64D-70BA-2846-A651F0B0D6B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AE0E7D9-EB9C-2E83-0842-FF3CBE26E573}"/>
              </a:ext>
            </a:extLst>
          </p:cNvPr>
          <p:cNvSpPr>
            <a:spLocks noGrp="1"/>
          </p:cNvSpPr>
          <p:nvPr>
            <p:ph type="dt" sz="half" idx="10"/>
          </p:nvPr>
        </p:nvSpPr>
        <p:spPr/>
        <p:txBody>
          <a:bodyPr/>
          <a:lstStyle/>
          <a:p>
            <a:fld id="{A0956CEB-6CDE-4930-8E1A-D8F60CF96CEF}" type="datetime1">
              <a:rPr lang="en-US" smtClean="0"/>
              <a:t>4/20/2025</a:t>
            </a:fld>
            <a:endParaRPr lang="en-IN" dirty="0"/>
          </a:p>
        </p:txBody>
      </p:sp>
      <p:sp>
        <p:nvSpPr>
          <p:cNvPr id="5" name="Footer Placeholder 4">
            <a:extLst>
              <a:ext uri="{FF2B5EF4-FFF2-40B4-BE49-F238E27FC236}">
                <a16:creationId xmlns:a16="http://schemas.microsoft.com/office/drawing/2014/main" id="{38F386FC-B252-3303-9677-B5517AF9F6FC}"/>
              </a:ext>
            </a:extLst>
          </p:cNvPr>
          <p:cNvSpPr>
            <a:spLocks noGrp="1"/>
          </p:cNvSpPr>
          <p:nvPr>
            <p:ph type="ftr" sz="quarter" idx="11"/>
          </p:nvPr>
        </p:nvSpPr>
        <p:spPr/>
        <p:txBody>
          <a:bodyPr/>
          <a:lstStyle/>
          <a:p>
            <a:r>
              <a:rPr lang="en-US"/>
              <a:t>Jagadeesh_AP2312210002</a:t>
            </a:r>
            <a:endParaRPr lang="en-IN" dirty="0"/>
          </a:p>
        </p:txBody>
      </p:sp>
      <p:sp>
        <p:nvSpPr>
          <p:cNvPr id="6" name="Slide Number Placeholder 5">
            <a:extLst>
              <a:ext uri="{FF2B5EF4-FFF2-40B4-BE49-F238E27FC236}">
                <a16:creationId xmlns:a16="http://schemas.microsoft.com/office/drawing/2014/main" id="{AD2DC883-EB7B-C445-4397-A5EEB44D7A72}"/>
              </a:ext>
            </a:extLst>
          </p:cNvPr>
          <p:cNvSpPr>
            <a:spLocks noGrp="1"/>
          </p:cNvSpPr>
          <p:nvPr>
            <p:ph type="sldNum" sz="quarter" idx="12"/>
          </p:nvPr>
        </p:nvSpPr>
        <p:spPr/>
        <p:txBody>
          <a:bodyPr/>
          <a:lstStyle/>
          <a:p>
            <a:fld id="{15FCCAAF-6324-40D0-99C1-825B83CC9B2F}" type="slidenum">
              <a:rPr lang="en-IN" smtClean="0"/>
              <a:t>24</a:t>
            </a:fld>
            <a:endParaRPr lang="en-IN"/>
          </a:p>
        </p:txBody>
      </p:sp>
      <p:sp>
        <p:nvSpPr>
          <p:cNvPr id="11" name="Title 1">
            <a:extLst>
              <a:ext uri="{FF2B5EF4-FFF2-40B4-BE49-F238E27FC236}">
                <a16:creationId xmlns:a16="http://schemas.microsoft.com/office/drawing/2014/main" id="{0E0BA662-04DD-A816-1603-5E41908FDA6F}"/>
              </a:ext>
            </a:extLst>
          </p:cNvPr>
          <p:cNvSpPr>
            <a:spLocks noGrp="1"/>
          </p:cNvSpPr>
          <p:nvPr>
            <p:ph type="title"/>
          </p:nvPr>
        </p:nvSpPr>
        <p:spPr>
          <a:xfrm>
            <a:off x="3495928" y="-85209"/>
            <a:ext cx="5061799" cy="807646"/>
          </a:xfrm>
        </p:spPr>
        <p:txBody>
          <a:bodyPr>
            <a:noAutofit/>
          </a:bodyPr>
          <a:lstStyle/>
          <a:p>
            <a:r>
              <a:rPr lang="en-IN" sz="2800" b="1" dirty="0">
                <a:solidFill>
                  <a:srgbClr val="002060"/>
                </a:solidFill>
                <a:latin typeface="Times New Roman" panose="02020603050405020304" pitchFamily="18" charset="0"/>
                <a:cs typeface="Times New Roman" panose="02020603050405020304" pitchFamily="18" charset="0"/>
              </a:rPr>
              <a:t>Load source</a:t>
            </a:r>
          </a:p>
        </p:txBody>
      </p:sp>
      <p:sp>
        <p:nvSpPr>
          <p:cNvPr id="19" name="TextBox 18">
            <a:extLst>
              <a:ext uri="{FF2B5EF4-FFF2-40B4-BE49-F238E27FC236}">
                <a16:creationId xmlns:a16="http://schemas.microsoft.com/office/drawing/2014/main" id="{A7B9A181-8E5E-96BE-2F3D-CFA3F6F4EE72}"/>
              </a:ext>
            </a:extLst>
          </p:cNvPr>
          <p:cNvSpPr txBox="1"/>
          <p:nvPr/>
        </p:nvSpPr>
        <p:spPr>
          <a:xfrm>
            <a:off x="8153400" y="1544197"/>
            <a:ext cx="3333126" cy="2585323"/>
          </a:xfrm>
          <a:prstGeom prst="rect">
            <a:avLst/>
          </a:prstGeom>
          <a:noFill/>
        </p:spPr>
        <p:txBody>
          <a:bodyPr wrap="square" rtlCol="0">
            <a:spAutoFit/>
          </a:bodyPr>
          <a:lstStyle/>
          <a:p>
            <a:r>
              <a:rPr lang="en-US" dirty="0"/>
              <a:t>Procurement_ Part – 4</a:t>
            </a:r>
          </a:p>
          <a:p>
            <a:pPr marL="342900" indent="-342900">
              <a:buAutoNum type="arabicPeriod"/>
            </a:pPr>
            <a:r>
              <a:rPr lang="en-US" dirty="0"/>
              <a:t>Swapping </a:t>
            </a:r>
          </a:p>
          <a:p>
            <a:r>
              <a:rPr lang="en-US" dirty="0"/>
              <a:t>       batteries  - 3*4 = 12,</a:t>
            </a:r>
          </a:p>
          <a:p>
            <a:r>
              <a:rPr lang="en-US" dirty="0" err="1"/>
              <a:t>Centlot</a:t>
            </a:r>
            <a:r>
              <a:rPr lang="en-US" dirty="0"/>
              <a:t> </a:t>
            </a:r>
            <a:r>
              <a:rPr lang="en-US" dirty="0" err="1"/>
              <a:t>xt</a:t>
            </a:r>
            <a:r>
              <a:rPr lang="en-US" dirty="0"/>
              <a:t> M60312V Digital charger controller</a:t>
            </a:r>
          </a:p>
          <a:p>
            <a:endParaRPr lang="en-US" dirty="0"/>
          </a:p>
          <a:p>
            <a:r>
              <a:rPr lang="en-US" dirty="0"/>
              <a:t>Voltage</a:t>
            </a:r>
          </a:p>
          <a:p>
            <a:r>
              <a:rPr lang="en-US" dirty="0"/>
              <a:t>Current </a:t>
            </a:r>
          </a:p>
          <a:p>
            <a:r>
              <a:rPr lang="en-US" dirty="0"/>
              <a:t>Temperature</a:t>
            </a:r>
          </a:p>
        </p:txBody>
      </p:sp>
      <p:pic>
        <p:nvPicPr>
          <p:cNvPr id="2054" name="Picture 6" descr="CentIoT - XH-M603 12-24V Digital Control Charge Controller Module - for Lithium Li-ion car Battery">
            <a:extLst>
              <a:ext uri="{FF2B5EF4-FFF2-40B4-BE49-F238E27FC236}">
                <a16:creationId xmlns:a16="http://schemas.microsoft.com/office/drawing/2014/main" id="{94AE2EF3-DC0E-66F1-F4DA-228F41AECF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832" t="22473" r="8832" b="18942"/>
          <a:stretch/>
        </p:blipFill>
        <p:spPr bwMode="auto">
          <a:xfrm>
            <a:off x="4360264" y="1999915"/>
            <a:ext cx="3333126" cy="237158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95633E51-1736-29EF-08B8-1423A64D6E10}"/>
              </a:ext>
            </a:extLst>
          </p:cNvPr>
          <p:cNvSpPr/>
          <p:nvPr/>
        </p:nvSpPr>
        <p:spPr>
          <a:xfrm>
            <a:off x="272104" y="1536641"/>
            <a:ext cx="1810568" cy="130021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rPr>
              <a:t>DC Power</a:t>
            </a:r>
          </a:p>
        </p:txBody>
      </p:sp>
      <p:cxnSp>
        <p:nvCxnSpPr>
          <p:cNvPr id="23" name="Connector: Elbow 22">
            <a:extLst>
              <a:ext uri="{FF2B5EF4-FFF2-40B4-BE49-F238E27FC236}">
                <a16:creationId xmlns:a16="http://schemas.microsoft.com/office/drawing/2014/main" id="{D89BCE9D-6569-9DD3-40B2-4FA64811D90A}"/>
              </a:ext>
            </a:extLst>
          </p:cNvPr>
          <p:cNvCxnSpPr>
            <a:cxnSpLocks/>
          </p:cNvCxnSpPr>
          <p:nvPr/>
        </p:nvCxnSpPr>
        <p:spPr>
          <a:xfrm>
            <a:off x="2096003" y="2183363"/>
            <a:ext cx="2498365" cy="606325"/>
          </a:xfrm>
          <a:prstGeom prst="bentConnector3">
            <a:avLst>
              <a:gd name="adj1" fmla="val 77637"/>
            </a:avLst>
          </a:prstGeom>
        </p:spPr>
        <p:style>
          <a:lnRef idx="1">
            <a:schemeClr val="accent2"/>
          </a:lnRef>
          <a:fillRef idx="0">
            <a:schemeClr val="accent2"/>
          </a:fillRef>
          <a:effectRef idx="0">
            <a:schemeClr val="accent2"/>
          </a:effectRef>
          <a:fontRef idx="minor">
            <a:schemeClr val="tx1"/>
          </a:fontRef>
        </p:style>
      </p:cxnSp>
      <p:cxnSp>
        <p:nvCxnSpPr>
          <p:cNvPr id="25" name="Connector: Elbow 24">
            <a:extLst>
              <a:ext uri="{FF2B5EF4-FFF2-40B4-BE49-F238E27FC236}">
                <a16:creationId xmlns:a16="http://schemas.microsoft.com/office/drawing/2014/main" id="{F44B52D9-6584-1CFB-6B76-3283A5D3D0DF}"/>
              </a:ext>
            </a:extLst>
          </p:cNvPr>
          <p:cNvCxnSpPr>
            <a:cxnSpLocks/>
          </p:cNvCxnSpPr>
          <p:nvPr/>
        </p:nvCxnSpPr>
        <p:spPr>
          <a:xfrm>
            <a:off x="2096003" y="2828112"/>
            <a:ext cx="2498365" cy="272137"/>
          </a:xfrm>
          <a:prstGeom prst="bentConnector3">
            <a:avLst>
              <a:gd name="adj1" fmla="val 71661"/>
            </a:avLst>
          </a:prstGeom>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664D9880-4FD9-D17B-E1D3-7CC49536DDAC}"/>
              </a:ext>
            </a:extLst>
          </p:cNvPr>
          <p:cNvCxnSpPr>
            <a:cxnSpLocks/>
          </p:cNvCxnSpPr>
          <p:nvPr/>
        </p:nvCxnSpPr>
        <p:spPr>
          <a:xfrm flipV="1">
            <a:off x="1519192" y="3353315"/>
            <a:ext cx="3075176" cy="607004"/>
          </a:xfrm>
          <a:prstGeom prst="bentConnector3">
            <a:avLst>
              <a:gd name="adj1" fmla="val 36346"/>
            </a:avLst>
          </a:prstGeom>
        </p:spPr>
        <p:style>
          <a:lnRef idx="1">
            <a:schemeClr val="accent2"/>
          </a:lnRef>
          <a:fillRef idx="0">
            <a:schemeClr val="accent2"/>
          </a:fillRef>
          <a:effectRef idx="0">
            <a:schemeClr val="accent2"/>
          </a:effectRef>
          <a:fontRef idx="minor">
            <a:schemeClr val="tx1"/>
          </a:fontRef>
        </p:style>
      </p:cxnSp>
      <p:cxnSp>
        <p:nvCxnSpPr>
          <p:cNvPr id="30" name="Connector: Elbow 29">
            <a:extLst>
              <a:ext uri="{FF2B5EF4-FFF2-40B4-BE49-F238E27FC236}">
                <a16:creationId xmlns:a16="http://schemas.microsoft.com/office/drawing/2014/main" id="{AD054B00-0570-5829-D45D-55AB6CD06788}"/>
              </a:ext>
            </a:extLst>
          </p:cNvPr>
          <p:cNvCxnSpPr>
            <a:cxnSpLocks/>
          </p:cNvCxnSpPr>
          <p:nvPr/>
        </p:nvCxnSpPr>
        <p:spPr>
          <a:xfrm flipV="1">
            <a:off x="1434070" y="3739702"/>
            <a:ext cx="3267999" cy="1808099"/>
          </a:xfrm>
          <a:prstGeom prst="bentConnector3">
            <a:avLst>
              <a:gd name="adj1" fmla="val 44003"/>
            </a:avLst>
          </a:prstGeom>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85EAD538-BADF-BCE9-8BFC-115C242D8D95}"/>
              </a:ext>
            </a:extLst>
          </p:cNvPr>
          <p:cNvPicPr>
            <a:picLocks noChangeAspect="1"/>
          </p:cNvPicPr>
          <p:nvPr/>
        </p:nvPicPr>
        <p:blipFill>
          <a:blip r:embed="rId3"/>
          <a:stretch>
            <a:fillRect/>
          </a:stretch>
        </p:blipFill>
        <p:spPr>
          <a:xfrm>
            <a:off x="177672" y="3822424"/>
            <a:ext cx="1905000" cy="1905000"/>
          </a:xfrm>
          <a:prstGeom prst="rect">
            <a:avLst/>
          </a:prstGeom>
        </p:spPr>
      </p:pic>
      <p:pic>
        <p:nvPicPr>
          <p:cNvPr id="7" name="Picture 2" descr="Buy 18650 2550mah Lithium Ion Battery - BAK - 3C Discharge Rate - KTRON  India">
            <a:extLst>
              <a:ext uri="{FF2B5EF4-FFF2-40B4-BE49-F238E27FC236}">
                <a16:creationId xmlns:a16="http://schemas.microsoft.com/office/drawing/2014/main" id="{F2BD2CF5-0ED4-CCEA-A33A-4405E8D5EF98}"/>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38274" t="16312" r="36761" b="16170"/>
          <a:stretch/>
        </p:blipFill>
        <p:spPr bwMode="auto">
          <a:xfrm>
            <a:off x="734002" y="4325505"/>
            <a:ext cx="337855" cy="108440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Buy 18650 2550mah Lithium Ion Battery - BAK - 3C Discharge Rate - KTRON  India">
            <a:extLst>
              <a:ext uri="{FF2B5EF4-FFF2-40B4-BE49-F238E27FC236}">
                <a16:creationId xmlns:a16="http://schemas.microsoft.com/office/drawing/2014/main" id="{991BF62B-7AC0-0B8C-B2BC-E502F477FDE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8274" t="16312" r="36761" b="16170"/>
          <a:stretch/>
        </p:blipFill>
        <p:spPr bwMode="auto">
          <a:xfrm>
            <a:off x="1145039" y="4298024"/>
            <a:ext cx="400956" cy="108440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Buy 18650 2550mah Lithium Ion Battery - BAK - 3C Discharge Rate - KTRON  India">
            <a:extLst>
              <a:ext uri="{FF2B5EF4-FFF2-40B4-BE49-F238E27FC236}">
                <a16:creationId xmlns:a16="http://schemas.microsoft.com/office/drawing/2014/main" id="{47A1667B-35E4-E8F0-318A-7FFC70D4743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8274" t="16312" r="36761" b="16170"/>
          <a:stretch/>
        </p:blipFill>
        <p:spPr bwMode="auto">
          <a:xfrm>
            <a:off x="1616094" y="4310131"/>
            <a:ext cx="396479" cy="107229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Buy 18650 2550mah Lithium Ion Battery - BAK - 3C Discharge Rate - KTRON  India">
            <a:extLst>
              <a:ext uri="{FF2B5EF4-FFF2-40B4-BE49-F238E27FC236}">
                <a16:creationId xmlns:a16="http://schemas.microsoft.com/office/drawing/2014/main" id="{3B08F1C3-B5AF-3A93-3951-7E2AE958B4AF}"/>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38274" t="16312" r="36761" b="16170"/>
          <a:stretch/>
        </p:blipFill>
        <p:spPr bwMode="auto">
          <a:xfrm>
            <a:off x="301062" y="4298024"/>
            <a:ext cx="400956" cy="108440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D427251-69D2-A254-CFD8-67B08E886658}"/>
              </a:ext>
            </a:extLst>
          </p:cNvPr>
          <p:cNvSpPr txBox="1"/>
          <p:nvPr/>
        </p:nvSpPr>
        <p:spPr>
          <a:xfrm>
            <a:off x="2914707" y="1964659"/>
            <a:ext cx="626853" cy="923330"/>
          </a:xfrm>
          <a:prstGeom prst="rect">
            <a:avLst/>
          </a:prstGeom>
          <a:solidFill>
            <a:schemeClr val="accent6">
              <a:lumMod val="60000"/>
              <a:lumOff val="40000"/>
            </a:schemeClr>
          </a:solidFill>
        </p:spPr>
        <p:txBody>
          <a:bodyPr wrap="square" rtlCol="0">
            <a:spAutoFit/>
          </a:bodyPr>
          <a:lstStyle/>
          <a:p>
            <a:endParaRPr lang="en-US" dirty="0"/>
          </a:p>
          <a:p>
            <a:r>
              <a:rPr lang="en-US" dirty="0"/>
              <a:t>M-5</a:t>
            </a:r>
          </a:p>
          <a:p>
            <a:endParaRPr lang="en-US" dirty="0"/>
          </a:p>
        </p:txBody>
      </p:sp>
      <p:sp>
        <p:nvSpPr>
          <p:cNvPr id="13" name="TextBox 12">
            <a:extLst>
              <a:ext uri="{FF2B5EF4-FFF2-40B4-BE49-F238E27FC236}">
                <a16:creationId xmlns:a16="http://schemas.microsoft.com/office/drawing/2014/main" id="{94401AB0-E402-46A0-63CC-5F95E9E4103E}"/>
              </a:ext>
            </a:extLst>
          </p:cNvPr>
          <p:cNvSpPr txBox="1"/>
          <p:nvPr/>
        </p:nvSpPr>
        <p:spPr>
          <a:xfrm>
            <a:off x="3043231" y="3151670"/>
            <a:ext cx="626853" cy="923330"/>
          </a:xfrm>
          <a:prstGeom prst="rect">
            <a:avLst/>
          </a:prstGeom>
          <a:solidFill>
            <a:schemeClr val="accent6">
              <a:lumMod val="60000"/>
              <a:lumOff val="40000"/>
            </a:schemeClr>
          </a:solidFill>
        </p:spPr>
        <p:txBody>
          <a:bodyPr wrap="square" rtlCol="0">
            <a:spAutoFit/>
          </a:bodyPr>
          <a:lstStyle/>
          <a:p>
            <a:endParaRPr lang="en-US" dirty="0"/>
          </a:p>
          <a:p>
            <a:r>
              <a:rPr lang="en-US" dirty="0"/>
              <a:t>M-7</a:t>
            </a:r>
          </a:p>
          <a:p>
            <a:endParaRPr lang="en-US" dirty="0"/>
          </a:p>
        </p:txBody>
      </p:sp>
      <p:pic>
        <p:nvPicPr>
          <p:cNvPr id="14" name="Picture 16" descr="Electric Vehicle Charging and the ...">
            <a:extLst>
              <a:ext uri="{FF2B5EF4-FFF2-40B4-BE49-F238E27FC236}">
                <a16:creationId xmlns:a16="http://schemas.microsoft.com/office/drawing/2014/main" id="{ED26A157-6038-CB18-BD9D-8F051F8FBB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3231" y="4935130"/>
            <a:ext cx="3260369" cy="1562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446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490D4-5833-00A6-8584-27EFC6EC929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90C8E86-677D-B889-8DBC-EE6C0990CB83}"/>
              </a:ext>
            </a:extLst>
          </p:cNvPr>
          <p:cNvSpPr>
            <a:spLocks noGrp="1"/>
          </p:cNvSpPr>
          <p:nvPr>
            <p:ph type="dt" sz="half" idx="10"/>
          </p:nvPr>
        </p:nvSpPr>
        <p:spPr>
          <a:xfrm>
            <a:off x="838200" y="6417766"/>
            <a:ext cx="1825420" cy="365125"/>
          </a:xfrm>
        </p:spPr>
        <p:txBody>
          <a:bodyPr vert="horz" lIns="91440" tIns="45720" rIns="91440" bIns="45720" rtlCol="0" anchor="ctr">
            <a:normAutofit/>
          </a:bodyPr>
          <a:lstStyle/>
          <a:p>
            <a:pPr>
              <a:spcAft>
                <a:spcPts val="600"/>
              </a:spcAft>
            </a:pPr>
            <a:fld id="{A0956CEB-6CDE-4930-8E1A-D8F60CF96CEF}" type="datetime1">
              <a:rPr lang="en-US">
                <a:solidFill>
                  <a:schemeClr val="tx1">
                    <a:lumMod val="75000"/>
                    <a:lumOff val="25000"/>
                  </a:schemeClr>
                </a:solidFill>
              </a:rPr>
              <a:pPr>
                <a:spcAft>
                  <a:spcPts val="600"/>
                </a:spcAft>
              </a:pPr>
              <a:t>4/20/2025</a:t>
            </a:fld>
            <a:endParaRPr lang="en-US">
              <a:solidFill>
                <a:schemeClr val="tx1">
                  <a:lumMod val="75000"/>
                  <a:lumOff val="25000"/>
                </a:schemeClr>
              </a:solidFill>
            </a:endParaRPr>
          </a:p>
        </p:txBody>
      </p:sp>
      <p:sp>
        <p:nvSpPr>
          <p:cNvPr id="5" name="Footer Placeholder 4">
            <a:extLst>
              <a:ext uri="{FF2B5EF4-FFF2-40B4-BE49-F238E27FC236}">
                <a16:creationId xmlns:a16="http://schemas.microsoft.com/office/drawing/2014/main" id="{77BD68BE-5080-EDF1-5AD2-5079CCAA5074}"/>
              </a:ext>
            </a:extLst>
          </p:cNvPr>
          <p:cNvSpPr>
            <a:spLocks noGrp="1"/>
          </p:cNvSpPr>
          <p:nvPr>
            <p:ph type="ftr" sz="quarter" idx="11"/>
          </p:nvPr>
        </p:nvSpPr>
        <p:spPr>
          <a:xfrm>
            <a:off x="3162822" y="6417766"/>
            <a:ext cx="4114800" cy="365125"/>
          </a:xfrm>
        </p:spPr>
        <p:txBody>
          <a:bodyPr vert="horz" lIns="91440" tIns="45720" rIns="91440" bIns="45720" rtlCol="0" anchor="ctr">
            <a:normAutofit/>
          </a:bodyPr>
          <a:lstStyle/>
          <a:p>
            <a:pPr>
              <a:spcAft>
                <a:spcPts val="600"/>
              </a:spcAft>
            </a:pPr>
            <a:r>
              <a:rPr lang="en-US" kern="1200">
                <a:solidFill>
                  <a:schemeClr val="tx1">
                    <a:lumMod val="75000"/>
                    <a:lumOff val="25000"/>
                  </a:schemeClr>
                </a:solidFill>
                <a:latin typeface="+mn-lt"/>
                <a:ea typeface="+mn-ea"/>
                <a:cs typeface="+mn-cs"/>
              </a:rPr>
              <a:t>Jagadeesh_AP2312210002</a:t>
            </a:r>
          </a:p>
        </p:txBody>
      </p:sp>
      <p:sp>
        <p:nvSpPr>
          <p:cNvPr id="6" name="Slide Number Placeholder 5">
            <a:extLst>
              <a:ext uri="{FF2B5EF4-FFF2-40B4-BE49-F238E27FC236}">
                <a16:creationId xmlns:a16="http://schemas.microsoft.com/office/drawing/2014/main" id="{6E0C0ABD-DB8B-217D-0BC7-03D81B6A711A}"/>
              </a:ext>
            </a:extLst>
          </p:cNvPr>
          <p:cNvSpPr>
            <a:spLocks noGrp="1"/>
          </p:cNvSpPr>
          <p:nvPr>
            <p:ph type="sldNum" sz="quarter" idx="12"/>
          </p:nvPr>
        </p:nvSpPr>
        <p:spPr>
          <a:xfrm>
            <a:off x="8610600" y="6417766"/>
            <a:ext cx="2743200" cy="365125"/>
          </a:xfrm>
        </p:spPr>
        <p:txBody>
          <a:bodyPr vert="horz" lIns="91440" tIns="45720" rIns="91440" bIns="45720" rtlCol="0" anchor="ctr">
            <a:normAutofit/>
          </a:bodyPr>
          <a:lstStyle/>
          <a:p>
            <a:pPr>
              <a:spcAft>
                <a:spcPts val="600"/>
              </a:spcAft>
            </a:pPr>
            <a:fld id="{15FCCAAF-6324-40D0-99C1-825B83CC9B2F}" type="slidenum">
              <a:rPr lang="en-US">
                <a:solidFill>
                  <a:schemeClr val="tx1">
                    <a:lumMod val="75000"/>
                    <a:lumOff val="25000"/>
                  </a:schemeClr>
                </a:solidFill>
              </a:rPr>
              <a:pPr>
                <a:spcAft>
                  <a:spcPts val="600"/>
                </a:spcAft>
              </a:pPr>
              <a:t>25</a:t>
            </a:fld>
            <a:endParaRPr lang="en-US">
              <a:solidFill>
                <a:schemeClr val="tx1">
                  <a:lumMod val="75000"/>
                  <a:lumOff val="25000"/>
                </a:schemeClr>
              </a:solidFill>
            </a:endParaRPr>
          </a:p>
        </p:txBody>
      </p:sp>
      <p:sp>
        <p:nvSpPr>
          <p:cNvPr id="3" name="TextBox 2">
            <a:extLst>
              <a:ext uri="{FF2B5EF4-FFF2-40B4-BE49-F238E27FC236}">
                <a16:creationId xmlns:a16="http://schemas.microsoft.com/office/drawing/2014/main" id="{0D45A0FC-9689-3427-751E-9BBBE449CE45}"/>
              </a:ext>
            </a:extLst>
          </p:cNvPr>
          <p:cNvSpPr txBox="1"/>
          <p:nvPr/>
        </p:nvSpPr>
        <p:spPr>
          <a:xfrm>
            <a:off x="456585" y="2047293"/>
            <a:ext cx="5010150" cy="1785104"/>
          </a:xfrm>
          <a:prstGeom prst="rect">
            <a:avLst/>
          </a:prstGeom>
          <a:noFill/>
        </p:spPr>
        <p:txBody>
          <a:bodyPr wrap="square" rtlCol="0">
            <a:spAutoFit/>
          </a:bodyPr>
          <a:lstStyle/>
          <a:p>
            <a:pPr>
              <a:spcAft>
                <a:spcPts val="600"/>
              </a:spcAft>
            </a:pPr>
            <a:r>
              <a:rPr lang="en-IN" b="1" dirty="0">
                <a:solidFill>
                  <a:srgbClr val="002060"/>
                </a:solidFill>
              </a:rPr>
              <a:t>Conclusion</a:t>
            </a:r>
            <a:endParaRPr lang="en-IN" dirty="0"/>
          </a:p>
          <a:p>
            <a:pPr marL="342900" indent="-342900">
              <a:spcAft>
                <a:spcPts val="600"/>
              </a:spcAft>
              <a:buFont typeface="+mj-lt"/>
              <a:buAutoNum type="arabicPeriod"/>
            </a:pPr>
            <a:r>
              <a:rPr lang="en-IN" dirty="0"/>
              <a:t>Energy Source Integration</a:t>
            </a:r>
          </a:p>
          <a:p>
            <a:pPr marL="342900" indent="-342900">
              <a:spcAft>
                <a:spcPts val="600"/>
              </a:spcAft>
              <a:buFont typeface="+mj-lt"/>
              <a:buAutoNum type="arabicPeriod"/>
            </a:pPr>
            <a:r>
              <a:rPr lang="en-IN" dirty="0"/>
              <a:t>Optimized Charging Solutions</a:t>
            </a:r>
          </a:p>
          <a:p>
            <a:pPr marL="342900" indent="-342900">
              <a:spcAft>
                <a:spcPts val="600"/>
              </a:spcAft>
              <a:buFont typeface="+mj-lt"/>
              <a:buAutoNum type="arabicPeriod"/>
            </a:pPr>
            <a:r>
              <a:rPr lang="en-IN" dirty="0"/>
              <a:t>Energy Cost Saving</a:t>
            </a:r>
          </a:p>
          <a:p>
            <a:pPr marL="342900" indent="-342900">
              <a:spcAft>
                <a:spcPts val="600"/>
              </a:spcAft>
              <a:buFont typeface="+mj-lt"/>
              <a:buAutoNum type="arabicPeriod"/>
            </a:pPr>
            <a:r>
              <a:rPr lang="en-IN" dirty="0"/>
              <a:t>Future Stability with IOT Connectivity</a:t>
            </a:r>
          </a:p>
        </p:txBody>
      </p:sp>
      <p:sp>
        <p:nvSpPr>
          <p:cNvPr id="9" name="TextBox 8">
            <a:extLst>
              <a:ext uri="{FF2B5EF4-FFF2-40B4-BE49-F238E27FC236}">
                <a16:creationId xmlns:a16="http://schemas.microsoft.com/office/drawing/2014/main" id="{714CD093-A47F-DD9C-026B-C4AFCAE97BC7}"/>
              </a:ext>
            </a:extLst>
          </p:cNvPr>
          <p:cNvSpPr txBox="1"/>
          <p:nvPr/>
        </p:nvSpPr>
        <p:spPr>
          <a:xfrm>
            <a:off x="6237953" y="427504"/>
            <a:ext cx="5010150" cy="1785104"/>
          </a:xfrm>
          <a:prstGeom prst="rect">
            <a:avLst/>
          </a:prstGeom>
          <a:noFill/>
        </p:spPr>
        <p:txBody>
          <a:bodyPr wrap="square" rtlCol="0">
            <a:spAutoFit/>
          </a:bodyPr>
          <a:lstStyle/>
          <a:p>
            <a:pPr>
              <a:spcAft>
                <a:spcPts val="600"/>
              </a:spcAft>
            </a:pPr>
            <a:r>
              <a:rPr lang="en-IN" b="1" dirty="0">
                <a:solidFill>
                  <a:srgbClr val="002060"/>
                </a:solidFill>
              </a:rPr>
              <a:t>Tools Used</a:t>
            </a:r>
            <a:endParaRPr lang="en-IN" dirty="0"/>
          </a:p>
          <a:p>
            <a:pPr marL="342900" indent="-342900">
              <a:spcAft>
                <a:spcPts val="600"/>
              </a:spcAft>
              <a:buFont typeface="+mj-lt"/>
              <a:buAutoNum type="arabicPeriod"/>
            </a:pPr>
            <a:r>
              <a:rPr lang="en-IN" dirty="0"/>
              <a:t>MATLAB Simulation</a:t>
            </a:r>
          </a:p>
          <a:p>
            <a:pPr marL="342900" indent="-342900">
              <a:spcAft>
                <a:spcPts val="600"/>
              </a:spcAft>
              <a:buFont typeface="+mj-lt"/>
              <a:buAutoNum type="arabicPeriod"/>
            </a:pPr>
            <a:r>
              <a:rPr lang="en-IN" dirty="0"/>
              <a:t>Spreadsheet </a:t>
            </a:r>
          </a:p>
          <a:p>
            <a:pPr marL="342900" indent="-342900">
              <a:spcAft>
                <a:spcPts val="600"/>
              </a:spcAft>
              <a:buFont typeface="+mj-lt"/>
              <a:buAutoNum type="arabicPeriod"/>
            </a:pPr>
            <a:r>
              <a:rPr lang="en-IN" dirty="0"/>
              <a:t>Node Red</a:t>
            </a:r>
          </a:p>
          <a:p>
            <a:pPr marL="342900" indent="-342900">
              <a:spcAft>
                <a:spcPts val="600"/>
              </a:spcAft>
              <a:buFont typeface="+mj-lt"/>
              <a:buAutoNum type="arabicPeriod"/>
            </a:pPr>
            <a:r>
              <a:rPr lang="en-IN" dirty="0"/>
              <a:t>AWS</a:t>
            </a:r>
          </a:p>
        </p:txBody>
      </p:sp>
      <p:sp>
        <p:nvSpPr>
          <p:cNvPr id="11" name="TextBox 10">
            <a:extLst>
              <a:ext uri="{FF2B5EF4-FFF2-40B4-BE49-F238E27FC236}">
                <a16:creationId xmlns:a16="http://schemas.microsoft.com/office/drawing/2014/main" id="{7618C0C7-3321-7222-218C-B8FBDE90D949}"/>
              </a:ext>
            </a:extLst>
          </p:cNvPr>
          <p:cNvSpPr txBox="1"/>
          <p:nvPr/>
        </p:nvSpPr>
        <p:spPr>
          <a:xfrm>
            <a:off x="6611886" y="3561010"/>
            <a:ext cx="5010150" cy="723275"/>
          </a:xfrm>
          <a:prstGeom prst="rect">
            <a:avLst/>
          </a:prstGeom>
          <a:noFill/>
        </p:spPr>
        <p:txBody>
          <a:bodyPr wrap="square" rtlCol="0">
            <a:spAutoFit/>
          </a:bodyPr>
          <a:lstStyle/>
          <a:p>
            <a:pPr>
              <a:spcAft>
                <a:spcPts val="600"/>
              </a:spcAft>
            </a:pPr>
            <a:r>
              <a:rPr lang="en-IN" b="1" dirty="0">
                <a:solidFill>
                  <a:srgbClr val="002060"/>
                </a:solidFill>
              </a:rPr>
              <a:t>Future Works</a:t>
            </a:r>
            <a:endParaRPr lang="en-US" b="1" dirty="0">
              <a:solidFill>
                <a:srgbClr val="002060"/>
              </a:solidFill>
            </a:endParaRPr>
          </a:p>
          <a:p>
            <a:pPr>
              <a:spcAft>
                <a:spcPts val="600"/>
              </a:spcAft>
            </a:pPr>
            <a:r>
              <a:rPr lang="en-IN" dirty="0"/>
              <a:t>1. Hardware setup</a:t>
            </a:r>
          </a:p>
        </p:txBody>
      </p:sp>
      <p:cxnSp>
        <p:nvCxnSpPr>
          <p:cNvPr id="8" name="Straight Connector 7">
            <a:extLst>
              <a:ext uri="{FF2B5EF4-FFF2-40B4-BE49-F238E27FC236}">
                <a16:creationId xmlns:a16="http://schemas.microsoft.com/office/drawing/2014/main" id="{2C9A500C-E133-A555-C704-8C4D4729E8E8}"/>
              </a:ext>
            </a:extLst>
          </p:cNvPr>
          <p:cNvCxnSpPr/>
          <p:nvPr/>
        </p:nvCxnSpPr>
        <p:spPr>
          <a:xfrm>
            <a:off x="5348748" y="373626"/>
            <a:ext cx="0" cy="5132439"/>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760ED94-0217-D781-CFAA-147D921D8070}"/>
              </a:ext>
            </a:extLst>
          </p:cNvPr>
          <p:cNvCxnSpPr/>
          <p:nvPr/>
        </p:nvCxnSpPr>
        <p:spPr>
          <a:xfrm>
            <a:off x="5742039" y="2526890"/>
            <a:ext cx="574203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1683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30392" y="881351"/>
            <a:ext cx="10640754" cy="775845"/>
          </a:xfrm>
        </p:spPr>
        <p:txBody>
          <a:bodyPr vert="horz" lIns="91440" tIns="45720" rIns="91440" bIns="45720" rtlCol="0" anchor="b">
            <a:noAutofit/>
          </a:bodyPr>
          <a:lstStyle/>
          <a:p>
            <a:pPr algn="ctr"/>
            <a:r>
              <a:rPr lang="en-US" sz="3200" b="1" kern="1200" dirty="0">
                <a:solidFill>
                  <a:schemeClr val="tx2"/>
                </a:solidFill>
                <a:latin typeface="+mj-lt"/>
                <a:ea typeface="+mj-ea"/>
                <a:cs typeface="+mj-cs"/>
              </a:rPr>
              <a:t>Thankyou</a:t>
            </a:r>
            <a:br>
              <a:rPr lang="en-US" sz="3200" b="1" kern="1200" dirty="0">
                <a:solidFill>
                  <a:schemeClr val="tx2"/>
                </a:solidFill>
                <a:latin typeface="+mj-lt"/>
                <a:ea typeface="+mj-ea"/>
                <a:cs typeface="+mj-cs"/>
              </a:rPr>
            </a:br>
            <a:endParaRPr lang="en-US" sz="3200" b="1" kern="1200" dirty="0">
              <a:solidFill>
                <a:schemeClr val="tx2"/>
              </a:solidFill>
              <a:latin typeface="+mj-lt"/>
              <a:ea typeface="+mj-ea"/>
              <a:cs typeface="+mj-cs"/>
            </a:endParaRPr>
          </a:p>
        </p:txBody>
      </p:sp>
      <p:grpSp>
        <p:nvGrpSpPr>
          <p:cNvPr id="18" name="Group 17">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9" name="Freeform: Shape 18">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9" name="Picture 8" descr="A black and green logo&#10;&#10;Description automatically generated">
            <a:extLst>
              <a:ext uri="{FF2B5EF4-FFF2-40B4-BE49-F238E27FC236}">
                <a16:creationId xmlns:a16="http://schemas.microsoft.com/office/drawing/2014/main" id="{14E8D04E-7884-D2D4-7CED-5A6DF1209AB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95482" y="5110480"/>
            <a:ext cx="2975664" cy="1071238"/>
          </a:xfrm>
          <a:prstGeom prst="rect">
            <a:avLst/>
          </a:prstGeom>
        </p:spPr>
      </p:pic>
      <p:sp>
        <p:nvSpPr>
          <p:cNvPr id="4" name="Date Placeholder 3"/>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fld id="{6703C8B8-7D1F-4A4F-BDFB-57D2D1403270}" type="datetime1">
              <a:rPr lang="en-US" smtClean="0">
                <a:solidFill>
                  <a:schemeClr val="tx1">
                    <a:tint val="75000"/>
                  </a:schemeClr>
                </a:solidFill>
              </a:rPr>
              <a:pPr>
                <a:spcAft>
                  <a:spcPts val="600"/>
                </a:spcAft>
              </a:pPr>
              <a:t>4/20/2025</a:t>
            </a:fld>
            <a:endParaRPr lang="en-US">
              <a:solidFill>
                <a:schemeClr val="tx1">
                  <a:tint val="75000"/>
                </a:schemeClr>
              </a:solidFill>
            </a:endParaRPr>
          </a:p>
        </p:txBody>
      </p:sp>
      <p:grpSp>
        <p:nvGrpSpPr>
          <p:cNvPr id="24" name="Group 23">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5" name="Freeform: Shape 24">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Jagadeesh_AP2312210002</a:t>
            </a:r>
          </a:p>
        </p:txBody>
      </p:sp>
      <p:sp>
        <p:nvSpPr>
          <p:cNvPr id="6" name="Slide Number Placeholder 5"/>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15FCCAAF-6324-40D0-99C1-825B83CC9B2F}" type="slidenum">
              <a:rPr lang="en-US" smtClean="0">
                <a:solidFill>
                  <a:schemeClr val="tx1">
                    <a:tint val="75000"/>
                  </a:schemeClr>
                </a:solidFill>
              </a:rPr>
              <a:pPr>
                <a:spcAft>
                  <a:spcPts val="600"/>
                </a:spcAft>
              </a:pPr>
              <a:t>26</a:t>
            </a:fld>
            <a:endParaRPr lang="en-US">
              <a:solidFill>
                <a:schemeClr val="tx1">
                  <a:tint val="75000"/>
                </a:schemeClr>
              </a:solidFill>
            </a:endParaRPr>
          </a:p>
        </p:txBody>
      </p:sp>
      <p:sp>
        <p:nvSpPr>
          <p:cNvPr id="3" name="TextBox 2">
            <a:extLst>
              <a:ext uri="{FF2B5EF4-FFF2-40B4-BE49-F238E27FC236}">
                <a16:creationId xmlns:a16="http://schemas.microsoft.com/office/drawing/2014/main" id="{E9BFA02C-461D-D6B5-C5C1-B7874A5D0625}"/>
              </a:ext>
            </a:extLst>
          </p:cNvPr>
          <p:cNvSpPr txBox="1"/>
          <p:nvPr/>
        </p:nvSpPr>
        <p:spPr>
          <a:xfrm>
            <a:off x="334297" y="2330669"/>
            <a:ext cx="11856787" cy="1384995"/>
          </a:xfrm>
          <a:prstGeom prst="rect">
            <a:avLst/>
          </a:prstGeom>
          <a:noFill/>
        </p:spPr>
        <p:txBody>
          <a:bodyPr wrap="square" rtlCol="0">
            <a:spAutoFit/>
          </a:bodyPr>
          <a:lstStyle/>
          <a:p>
            <a:r>
              <a:rPr lang="en-US" sz="2800" b="0" i="0" dirty="0">
                <a:effectLst/>
                <a:latin typeface="ADLaM Display" panose="02010000000000000000" pitchFamily="2" charset="0"/>
                <a:ea typeface="ADLaM Display" panose="02010000000000000000" pitchFamily="2" charset="0"/>
                <a:cs typeface="ADLaM Display" panose="02010000000000000000" pitchFamily="2" charset="0"/>
              </a:rPr>
              <a:t>"Engineering is the closest thing to magic that exists in the world." </a:t>
            </a:r>
          </a:p>
          <a:p>
            <a:pPr algn="r"/>
            <a:r>
              <a:rPr lang="en-US" sz="2800" b="0" i="0" dirty="0">
                <a:effectLst/>
                <a:latin typeface="ADLaM Display" panose="02010000000000000000" pitchFamily="2" charset="0"/>
                <a:ea typeface="ADLaM Display" panose="02010000000000000000" pitchFamily="2" charset="0"/>
                <a:cs typeface="ADLaM Display" panose="02010000000000000000" pitchFamily="2" charset="0"/>
              </a:rPr>
              <a:t>– Elon Musk</a:t>
            </a:r>
          </a:p>
          <a:p>
            <a:endParaRPr lang="en-US" sz="28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84156273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68B9E01-CB55-4055-948D-10C68B598895}"/>
              </a:ext>
            </a:extLst>
          </p:cNvPr>
          <p:cNvSpPr/>
          <p:nvPr/>
        </p:nvSpPr>
        <p:spPr>
          <a:xfrm>
            <a:off x="1513840" y="1351280"/>
            <a:ext cx="2316480" cy="64008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tx1"/>
                </a:solidFill>
                <a:latin typeface="Times New Roman" panose="02020603050405020304" pitchFamily="18" charset="0"/>
                <a:cs typeface="Times New Roman" panose="02020603050405020304" pitchFamily="18" charset="0"/>
              </a:rPr>
              <a:t>Technology</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2FE2C46-38EC-9383-9F5F-863A24EE7B02}"/>
              </a:ext>
            </a:extLst>
          </p:cNvPr>
          <p:cNvSpPr/>
          <p:nvPr/>
        </p:nvSpPr>
        <p:spPr>
          <a:xfrm>
            <a:off x="1513840" y="2070100"/>
            <a:ext cx="2316480" cy="64008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tx1"/>
                </a:solidFill>
                <a:latin typeface="Times New Roman" panose="02020603050405020304" pitchFamily="18" charset="0"/>
                <a:cs typeface="Times New Roman" panose="02020603050405020304" pitchFamily="18" charset="0"/>
              </a:rPr>
              <a:t>Regulation</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D8FFB13A-666A-1EDE-03F0-710C573AF00B}"/>
              </a:ext>
            </a:extLst>
          </p:cNvPr>
          <p:cNvSpPr/>
          <p:nvPr/>
        </p:nvSpPr>
        <p:spPr>
          <a:xfrm>
            <a:off x="1513840" y="2788920"/>
            <a:ext cx="2316480" cy="64008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latin typeface="Times New Roman" panose="02020603050405020304" pitchFamily="18" charset="0"/>
                <a:cs typeface="Times New Roman" panose="02020603050405020304" pitchFamily="18" charset="0"/>
              </a:rPr>
              <a:t>Consumer Desire</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4BE12355-2C7A-68F2-7257-AD8704F356C7}"/>
              </a:ext>
            </a:extLst>
          </p:cNvPr>
          <p:cNvSpPr/>
          <p:nvPr/>
        </p:nvSpPr>
        <p:spPr>
          <a:xfrm>
            <a:off x="1513840" y="3553460"/>
            <a:ext cx="2316480" cy="64008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latin typeface="Times New Roman" panose="02020603050405020304" pitchFamily="18" charset="0"/>
                <a:cs typeface="Times New Roman" panose="02020603050405020304" pitchFamily="18" charset="0"/>
              </a:rPr>
              <a:t>Decarbonisation</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2541EEF6-64A9-FDEE-767B-AB9ADF01979C}"/>
              </a:ext>
            </a:extLst>
          </p:cNvPr>
          <p:cNvSpPr/>
          <p:nvPr/>
        </p:nvSpPr>
        <p:spPr>
          <a:xfrm>
            <a:off x="1513840" y="4318000"/>
            <a:ext cx="2316480" cy="64008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latin typeface="Times New Roman" panose="02020603050405020304" pitchFamily="18" charset="0"/>
                <a:cs typeface="Times New Roman" panose="02020603050405020304" pitchFamily="18" charset="0"/>
              </a:rPr>
              <a:t>Economics</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AAC251AD-0C68-2A33-5132-BCBD7C83C6D3}"/>
              </a:ext>
            </a:extLst>
          </p:cNvPr>
          <p:cNvSpPr/>
          <p:nvPr/>
        </p:nvSpPr>
        <p:spPr>
          <a:xfrm>
            <a:off x="7813040" y="1351280"/>
            <a:ext cx="2316480" cy="64008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Charger Rollout</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A89B4ECE-121F-9314-D716-3AFC3D1B7724}"/>
              </a:ext>
            </a:extLst>
          </p:cNvPr>
          <p:cNvSpPr/>
          <p:nvPr/>
        </p:nvSpPr>
        <p:spPr>
          <a:xfrm>
            <a:off x="7813040" y="2070100"/>
            <a:ext cx="2316480" cy="64008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Supply Chain Issues</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B8E9CA1B-70EA-B8D1-2004-01C114B77A85}"/>
              </a:ext>
            </a:extLst>
          </p:cNvPr>
          <p:cNvSpPr/>
          <p:nvPr/>
        </p:nvSpPr>
        <p:spPr>
          <a:xfrm>
            <a:off x="7813040" y="2788920"/>
            <a:ext cx="2316480" cy="64008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Vehicle Charger availability</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6" name="Rectangle 15">
            <a:extLst>
              <a:ext uri="{FF2B5EF4-FFF2-40B4-BE49-F238E27FC236}">
                <a16:creationId xmlns:a16="http://schemas.microsoft.com/office/drawing/2014/main" id="{03AAD7E8-D2BC-442C-7A2C-FDF8BB815B41}"/>
              </a:ext>
            </a:extLst>
          </p:cNvPr>
          <p:cNvSpPr/>
          <p:nvPr/>
        </p:nvSpPr>
        <p:spPr>
          <a:xfrm>
            <a:off x="7813040" y="3553460"/>
            <a:ext cx="2316480" cy="64008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Roaming Chargers</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F109A8BC-182A-8389-BD95-CD4143C108AA}"/>
              </a:ext>
            </a:extLst>
          </p:cNvPr>
          <p:cNvSpPr/>
          <p:nvPr/>
        </p:nvSpPr>
        <p:spPr>
          <a:xfrm>
            <a:off x="7813040" y="4318000"/>
            <a:ext cx="2316480" cy="64008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solidFill>
                  <a:schemeClr val="tx1"/>
                </a:solidFill>
                <a:latin typeface="Times New Roman" panose="02020603050405020304" pitchFamily="18" charset="0"/>
                <a:cs typeface="Times New Roman" panose="02020603050405020304" pitchFamily="18" charset="0"/>
              </a:rPr>
              <a:t>Grid Capacity</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80E626E3-C3C4-CF94-BB01-A3646A8E63D3}"/>
              </a:ext>
            </a:extLst>
          </p:cNvPr>
          <p:cNvSpPr/>
          <p:nvPr/>
        </p:nvSpPr>
        <p:spPr>
          <a:xfrm>
            <a:off x="4836160" y="2449830"/>
            <a:ext cx="1818640" cy="1604010"/>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b="1" dirty="0">
                <a:solidFill>
                  <a:schemeClr val="tx1"/>
                </a:solidFill>
                <a:latin typeface="Times New Roman" panose="02020603050405020304" pitchFamily="18" charset="0"/>
                <a:cs typeface="Times New Roman" panose="02020603050405020304" pitchFamily="18" charset="0"/>
              </a:rPr>
              <a:t>EV Charging Growth</a:t>
            </a:r>
            <a:endParaRPr lang="en-US" sz="2000" b="1" dirty="0">
              <a:solidFill>
                <a:schemeClr val="tx1"/>
              </a:solidFill>
              <a:latin typeface="Times New Roman" panose="02020603050405020304" pitchFamily="18" charset="0"/>
              <a:cs typeface="Times New Roman" panose="02020603050405020304" pitchFamily="18" charset="0"/>
            </a:endParaRPr>
          </a:p>
        </p:txBody>
      </p:sp>
      <p:cxnSp>
        <p:nvCxnSpPr>
          <p:cNvPr id="21" name="Connector: Elbow 20">
            <a:extLst>
              <a:ext uri="{FF2B5EF4-FFF2-40B4-BE49-F238E27FC236}">
                <a16:creationId xmlns:a16="http://schemas.microsoft.com/office/drawing/2014/main" id="{617A98F0-E660-8670-175C-156F7BA4AA6A}"/>
              </a:ext>
            </a:extLst>
          </p:cNvPr>
          <p:cNvCxnSpPr>
            <a:stCxn id="19" idx="0"/>
            <a:endCxn id="5" idx="3"/>
          </p:cNvCxnSpPr>
          <p:nvPr/>
        </p:nvCxnSpPr>
        <p:spPr>
          <a:xfrm rot="16200000" flipV="1">
            <a:off x="4398645" y="1102995"/>
            <a:ext cx="778510" cy="1915160"/>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2" name="Connector: Elbow 21">
            <a:extLst>
              <a:ext uri="{FF2B5EF4-FFF2-40B4-BE49-F238E27FC236}">
                <a16:creationId xmlns:a16="http://schemas.microsoft.com/office/drawing/2014/main" id="{240C3F40-BE24-D34E-1232-B77DE0D95B37}"/>
              </a:ext>
            </a:extLst>
          </p:cNvPr>
          <p:cNvCxnSpPr>
            <a:cxnSpLocks/>
            <a:stCxn id="19" idx="1"/>
          </p:cNvCxnSpPr>
          <p:nvPr/>
        </p:nvCxnSpPr>
        <p:spPr>
          <a:xfrm rot="16200000" flipV="1">
            <a:off x="4289266" y="1871504"/>
            <a:ext cx="354282" cy="127217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24" name="Connector: Elbow 23">
            <a:extLst>
              <a:ext uri="{FF2B5EF4-FFF2-40B4-BE49-F238E27FC236}">
                <a16:creationId xmlns:a16="http://schemas.microsoft.com/office/drawing/2014/main" id="{6F21A120-EFD0-EA59-6BF1-AB62FA461D3E}"/>
              </a:ext>
            </a:extLst>
          </p:cNvPr>
          <p:cNvCxnSpPr>
            <a:cxnSpLocks/>
            <a:stCxn id="19" idx="2"/>
          </p:cNvCxnSpPr>
          <p:nvPr/>
        </p:nvCxnSpPr>
        <p:spPr>
          <a:xfrm rot="10800000">
            <a:off x="3830320" y="3134411"/>
            <a:ext cx="1005840" cy="117425"/>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26" name="Connector: Elbow 25">
            <a:extLst>
              <a:ext uri="{FF2B5EF4-FFF2-40B4-BE49-F238E27FC236}">
                <a16:creationId xmlns:a16="http://schemas.microsoft.com/office/drawing/2014/main" id="{0C2DAA6B-4404-4DDE-8F9E-3C2C24DFE81D}"/>
              </a:ext>
            </a:extLst>
          </p:cNvPr>
          <p:cNvCxnSpPr>
            <a:cxnSpLocks/>
            <a:stCxn id="19" idx="3"/>
          </p:cNvCxnSpPr>
          <p:nvPr/>
        </p:nvCxnSpPr>
        <p:spPr>
          <a:xfrm rot="5400000">
            <a:off x="4425130" y="3175868"/>
            <a:ext cx="34294" cy="1320434"/>
          </a:xfrm>
          <a:prstGeom prst="bentConnector4">
            <a:avLst>
              <a:gd name="adj1" fmla="val 666589"/>
              <a:gd name="adj2" fmla="val 60085"/>
            </a:avLst>
          </a:prstGeom>
          <a:ln>
            <a:tailEnd type="triangle"/>
          </a:ln>
        </p:spPr>
        <p:style>
          <a:lnRef idx="2">
            <a:schemeClr val="dk1"/>
          </a:lnRef>
          <a:fillRef idx="0">
            <a:schemeClr val="dk1"/>
          </a:fillRef>
          <a:effectRef idx="1">
            <a:schemeClr val="dk1"/>
          </a:effectRef>
          <a:fontRef idx="minor">
            <a:schemeClr val="tx1"/>
          </a:fontRef>
        </p:style>
      </p:cxnSp>
      <p:cxnSp>
        <p:nvCxnSpPr>
          <p:cNvPr id="28" name="Connector: Elbow 27">
            <a:extLst>
              <a:ext uri="{FF2B5EF4-FFF2-40B4-BE49-F238E27FC236}">
                <a16:creationId xmlns:a16="http://schemas.microsoft.com/office/drawing/2014/main" id="{BD6CB2C8-5CC9-1150-513A-C2450B3BA4A3}"/>
              </a:ext>
            </a:extLst>
          </p:cNvPr>
          <p:cNvCxnSpPr>
            <a:cxnSpLocks/>
            <a:stCxn id="19" idx="4"/>
          </p:cNvCxnSpPr>
          <p:nvPr/>
        </p:nvCxnSpPr>
        <p:spPr>
          <a:xfrm rot="5400000">
            <a:off x="4492559" y="3402313"/>
            <a:ext cx="601395" cy="1904449"/>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0" name="Connector: Elbow 29">
            <a:extLst>
              <a:ext uri="{FF2B5EF4-FFF2-40B4-BE49-F238E27FC236}">
                <a16:creationId xmlns:a16="http://schemas.microsoft.com/office/drawing/2014/main" id="{03EEDF33-8C0B-AF54-10F4-8D118F14F89B}"/>
              </a:ext>
            </a:extLst>
          </p:cNvPr>
          <p:cNvCxnSpPr>
            <a:cxnSpLocks/>
            <a:endCxn id="13" idx="1"/>
          </p:cNvCxnSpPr>
          <p:nvPr/>
        </p:nvCxnSpPr>
        <p:spPr>
          <a:xfrm flipV="1">
            <a:off x="6096000" y="1671320"/>
            <a:ext cx="1717040" cy="836270"/>
          </a:xfrm>
          <a:prstGeom prst="bentConnector3">
            <a:avLst>
              <a:gd name="adj1" fmla="val 888"/>
            </a:avLst>
          </a:prstGeom>
          <a:ln>
            <a:tailEnd type="triangle"/>
          </a:ln>
        </p:spPr>
        <p:style>
          <a:lnRef idx="2">
            <a:schemeClr val="dk1"/>
          </a:lnRef>
          <a:fillRef idx="0">
            <a:schemeClr val="dk1"/>
          </a:fillRef>
          <a:effectRef idx="1">
            <a:schemeClr val="dk1"/>
          </a:effectRef>
          <a:fontRef idx="minor">
            <a:schemeClr val="tx1"/>
          </a:fontRef>
        </p:style>
      </p:cxnSp>
      <p:cxnSp>
        <p:nvCxnSpPr>
          <p:cNvPr id="34" name="Connector: Elbow 33">
            <a:extLst>
              <a:ext uri="{FF2B5EF4-FFF2-40B4-BE49-F238E27FC236}">
                <a16:creationId xmlns:a16="http://schemas.microsoft.com/office/drawing/2014/main" id="{775524A4-1AD0-7B11-A668-83A826F6712E}"/>
              </a:ext>
            </a:extLst>
          </p:cNvPr>
          <p:cNvCxnSpPr>
            <a:cxnSpLocks/>
            <a:stCxn id="19" idx="7"/>
          </p:cNvCxnSpPr>
          <p:nvPr/>
        </p:nvCxnSpPr>
        <p:spPr>
          <a:xfrm rot="5400000" flipH="1" flipV="1">
            <a:off x="6953457" y="1825149"/>
            <a:ext cx="294592" cy="1424574"/>
          </a:xfrm>
          <a:prstGeom prst="bent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36" name="Connector: Elbow 35">
            <a:extLst>
              <a:ext uri="{FF2B5EF4-FFF2-40B4-BE49-F238E27FC236}">
                <a16:creationId xmlns:a16="http://schemas.microsoft.com/office/drawing/2014/main" id="{E6CB2F70-C170-38D8-20FB-6B1D508A5EA6}"/>
              </a:ext>
            </a:extLst>
          </p:cNvPr>
          <p:cNvCxnSpPr>
            <a:cxnSpLocks/>
          </p:cNvCxnSpPr>
          <p:nvPr/>
        </p:nvCxnSpPr>
        <p:spPr>
          <a:xfrm>
            <a:off x="6654800" y="2971800"/>
            <a:ext cx="1158240" cy="192404"/>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38" name="Connector: Elbow 37">
            <a:extLst>
              <a:ext uri="{FF2B5EF4-FFF2-40B4-BE49-F238E27FC236}">
                <a16:creationId xmlns:a16="http://schemas.microsoft.com/office/drawing/2014/main" id="{DF6880E1-8B1A-A4E9-73A3-316389260534}"/>
              </a:ext>
            </a:extLst>
          </p:cNvPr>
          <p:cNvCxnSpPr>
            <a:cxnSpLocks/>
            <a:endCxn id="16" idx="1"/>
          </p:cNvCxnSpPr>
          <p:nvPr/>
        </p:nvCxnSpPr>
        <p:spPr>
          <a:xfrm>
            <a:off x="6598377" y="3560762"/>
            <a:ext cx="1214663" cy="312738"/>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41" name="Connector: Elbow 40">
            <a:extLst>
              <a:ext uri="{FF2B5EF4-FFF2-40B4-BE49-F238E27FC236}">
                <a16:creationId xmlns:a16="http://schemas.microsoft.com/office/drawing/2014/main" id="{26EDC8DF-B5E9-C8FD-53B0-D730BD0A167E}"/>
              </a:ext>
            </a:extLst>
          </p:cNvPr>
          <p:cNvCxnSpPr>
            <a:cxnSpLocks/>
            <a:endCxn id="17" idx="1"/>
          </p:cNvCxnSpPr>
          <p:nvPr/>
        </p:nvCxnSpPr>
        <p:spPr>
          <a:xfrm>
            <a:off x="6296389" y="3904773"/>
            <a:ext cx="1516651" cy="733267"/>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43" name="Rectangle 42">
            <a:extLst>
              <a:ext uri="{FF2B5EF4-FFF2-40B4-BE49-F238E27FC236}">
                <a16:creationId xmlns:a16="http://schemas.microsoft.com/office/drawing/2014/main" id="{40953D07-FD37-F43B-00A2-8558AF0F3A7F}"/>
              </a:ext>
            </a:extLst>
          </p:cNvPr>
          <p:cNvSpPr/>
          <p:nvPr/>
        </p:nvSpPr>
        <p:spPr>
          <a:xfrm>
            <a:off x="1465580" y="457200"/>
            <a:ext cx="2316480" cy="6400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accent6"/>
                </a:solidFill>
                <a:latin typeface="Times New Roman" panose="02020603050405020304" pitchFamily="18" charset="0"/>
                <a:cs typeface="Times New Roman" panose="02020603050405020304" pitchFamily="18" charset="0"/>
              </a:rPr>
              <a:t>Drivers</a:t>
            </a:r>
            <a:endParaRPr lang="en-US" sz="2800" b="1" dirty="0">
              <a:solidFill>
                <a:schemeClr val="accent6"/>
              </a:solidFill>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615F108B-94DF-75D4-5C66-9937C00B60B6}"/>
              </a:ext>
            </a:extLst>
          </p:cNvPr>
          <p:cNvSpPr/>
          <p:nvPr/>
        </p:nvSpPr>
        <p:spPr>
          <a:xfrm>
            <a:off x="7813040" y="511810"/>
            <a:ext cx="2316480" cy="6400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rgbClr val="C00000"/>
                </a:solidFill>
                <a:latin typeface="Times New Roman" panose="02020603050405020304" pitchFamily="18" charset="0"/>
                <a:cs typeface="Times New Roman" panose="02020603050405020304" pitchFamily="18" charset="0"/>
              </a:rPr>
              <a:t>Challenges </a:t>
            </a:r>
            <a:endParaRPr lang="en-US" sz="28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82082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554</TotalTime>
  <Words>2620</Words>
  <Application>Microsoft Office PowerPoint</Application>
  <PresentationFormat>Widescreen</PresentationFormat>
  <Paragraphs>683</Paragraphs>
  <Slides>27</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27</vt:i4>
      </vt:variant>
    </vt:vector>
  </HeadingPairs>
  <TitlesOfParts>
    <vt:vector size="41" baseType="lpstr">
      <vt:lpstr>__fkGroteskNeue_598ab8</vt:lpstr>
      <vt:lpstr>ADLaM Display</vt:lpstr>
      <vt:lpstr>Amasis MT Pro Black</vt:lpstr>
      <vt:lpstr>Aptos</vt:lpstr>
      <vt:lpstr>Aptos Display</vt:lpstr>
      <vt:lpstr>Arial</vt:lpstr>
      <vt:lpstr>Calibri</vt:lpstr>
      <vt:lpstr>KaTeX_Main</vt:lpstr>
      <vt:lpstr>KaTeX_Math</vt:lpstr>
      <vt:lpstr>Times New Roman</vt:lpstr>
      <vt:lpstr>var(--font-berkeley-mono)</vt:lpstr>
      <vt:lpstr>var(--font-fk-grotesk)</vt:lpstr>
      <vt:lpstr>Wingdings</vt:lpstr>
      <vt:lpstr>Office Theme</vt:lpstr>
      <vt:lpstr>Title –  Design of IOT Architecture for Battery Charging Management Technology</vt:lpstr>
      <vt:lpstr>Outline</vt:lpstr>
      <vt:lpstr>Abstract</vt:lpstr>
      <vt:lpstr>PowerPoint Presentation</vt:lpstr>
      <vt:lpstr>Types of Charging Technology</vt:lpstr>
      <vt:lpstr>Literature survey</vt:lpstr>
      <vt:lpstr>PowerPoint Presentation</vt:lpstr>
      <vt:lpstr>                              User Interface Application Layer</vt:lpstr>
      <vt:lpstr>PowerPoint Presentation</vt:lpstr>
      <vt:lpstr>PowerPoint Presentation</vt:lpstr>
      <vt:lpstr>End to End Flow</vt:lpstr>
      <vt:lpstr>PCC integration and Automation</vt:lpstr>
      <vt:lpstr>Algorithms</vt:lpstr>
      <vt:lpstr>Algorithms</vt:lpstr>
      <vt:lpstr>Algorithms</vt:lpstr>
      <vt:lpstr>PowerPoint Presentation</vt:lpstr>
      <vt:lpstr>PowerPoint Presentation</vt:lpstr>
      <vt:lpstr>PowerPoint Presentation</vt:lpstr>
      <vt:lpstr>PowerPoint Presentation</vt:lpstr>
      <vt:lpstr>PowerPoint Presentation</vt:lpstr>
      <vt:lpstr>PowerPoint Presentation</vt:lpstr>
      <vt:lpstr>Automation Energy Sensor monitoring</vt:lpstr>
      <vt:lpstr>Load source</vt:lpstr>
      <vt:lpstr>Load source</vt:lpstr>
      <vt:lpstr>PowerPoint Presentation</vt:lpstr>
      <vt:lpstr>Thankyou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jagadeeswara kamarajugadda | AP23122100002</dc:creator>
  <cp:lastModifiedBy>jagadeeswara kamarajugadda | AP23122100002</cp:lastModifiedBy>
  <cp:revision>40</cp:revision>
  <dcterms:created xsi:type="dcterms:W3CDTF">2024-11-26T14:37:38Z</dcterms:created>
  <dcterms:modified xsi:type="dcterms:W3CDTF">2025-04-20T01:18:17Z</dcterms:modified>
</cp:coreProperties>
</file>