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7" r:id="rId5"/>
    <p:sldId id="258" r:id="rId6"/>
    <p:sldId id="418" r:id="rId7"/>
    <p:sldId id="419" r:id="rId8"/>
    <p:sldId id="416" r:id="rId9"/>
    <p:sldId id="417" r:id="rId10"/>
    <p:sldId id="421" r:id="rId11"/>
    <p:sldId id="422" r:id="rId12"/>
    <p:sldId id="420" r:id="rId13"/>
    <p:sldId id="423" r:id="rId14"/>
    <p:sldId id="424" r:id="rId15"/>
    <p:sldId id="425" r:id="rId16"/>
    <p:sldId id="426" r:id="rId17"/>
    <p:sldId id="428" r:id="rId18"/>
    <p:sldId id="427" r:id="rId19"/>
    <p:sldId id="429" r:id="rId20"/>
    <p:sldId id="431" r:id="rId21"/>
    <p:sldId id="432" r:id="rId22"/>
    <p:sldId id="433" r:id="rId23"/>
    <p:sldId id="434" r:id="rId24"/>
    <p:sldId id="435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AF7CB-7ACF-42E1-9769-CB1172CEA200}" v="518" dt="2024-07-23T07:58:50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1984" autoAdjust="0"/>
  </p:normalViewPr>
  <p:slideViewPr>
    <p:cSldViewPr snapToGrid="0">
      <p:cViewPr varScale="1">
        <p:scale>
          <a:sx n="79" d="100"/>
          <a:sy n="79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-1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80"/>
    </p:cViewPr>
  </p:sorterViewPr>
  <p:notesViewPr>
    <p:cSldViewPr snapToGrid="0">
      <p:cViewPr varScale="1">
        <p:scale>
          <a:sx n="72" d="100"/>
          <a:sy n="72" d="100"/>
        </p:scale>
        <p:origin x="301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24575,'1'0'0,"0"0"0,0 1 0,0-1 0,0 1 0,0-1 0,0 1 0,0 0 0,0-1 0,0 1 0,0 0 0,0 0 0,0-1 0,0 1 0,-1 0 0,1 0 0,0 0 0,-1 0 0,1 0 0,-1 0 0,1 0 0,-1 0 0,0 1 0,1 0 0,2 5 0,47 98 0,-6 2 0,-4 2 0,49 215 0,-3 278 0,-74-493 0,-5 19 0,-3-43 0,-3-75 3,1 0-1,0 0 1,1 0-1,0-1 1,0 1-1,7 11 1,4 11-1386,-8-12-5443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24575,'63'-17'0,"0"2"0,72-6 0,-12 1 0,-105 17 0,1 1 0,-1 0 0,1 1 0,0 2 0,-1-1 0,1 2 0,-1 1 0,0 0 0,1 1 0,-1 1 0,27 12 0,-37-14 0,0 1 0,0 0 0,0 1 0,0 0 0,-1 0 0,0 1 0,0 0 0,-1 0 0,0 0 0,0 1 0,0 0 0,-1 0 0,1 1 0,-2 0 0,1 0 0,-1 0 0,-1 0 0,1 0 0,-1 1 0,-1-1 0,0 1 0,0 0 0,-1 0 0,0 0 0,0 16 0,-2-13 0,0 0 0,-1 0 0,0 0 0,-1 0 0,-1 0 0,0 0 0,0-1 0,-1 0 0,-1 0 0,0 0 0,0-1 0,-1 0 0,0 0 0,-1 0 0,0-1 0,-1 0 0,0-1 0,-12 10 0,-8 3 0,0 0 0,-2-2 0,0-1 0,-66 27 0,44-27-1365,30-12-5461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5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24575,'11'476'0,"43"-5"0,8-122 0,-57-332 0,-2-20 0,-1-30 0,-1 28 0,10-207 0,-7 183 0,1 0 0,2 0 0,0 0 0,2 1 0,16-33 0,-17 41 0,1 1 0,1 0 0,1 1 0,0 0 0,1 1 0,28-30 0,-38 45 0,-1 1 0,1-1 0,0 1 0,0 0 0,0-1 0,0 1 0,0 0 0,0 0 0,0 1 0,0-1 0,1 0 0,-1 1 0,0-1 0,1 1 0,-1 0 0,0 0 0,0 0 0,1 0 0,-1 0 0,0 0 0,1 0 0,-1 1 0,0-1 0,0 1 0,1 0 0,-1 0 0,0 0 0,0 0 0,0 0 0,0 0 0,0 0 0,2 3 0,5 3 0,-2 0 0,1 1 0,-1 0 0,0 1 0,10 16 0,135 260 0,-83-144 0,-40-82-53,-18-34-275,2 0 0,0-1 0,29 39 0,-24-46-6498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6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24575,'5'0'0,"5"0"0,12 0 0,5 0 0,13 0 0,26 0 0,39 0 0,44 0 0,27-4 0,8-2 0,-23-4 0,-35-6 0,-38-3 0,-34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6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24575,'1'5'0,"0"0"0,0 1 0,0-1 0,0 0 0,1 0 0,4 8 0,4 15 0,48 173 0,132 546 0,-131-367 0,-23-132 0,-35-245-37,0 3 69,0 1 1,0 0-1,-1 0 0,-1 12 1,1-17-88,0-1-1,0 1 1,-1-1 0,1 1 0,-1-1 0,1 0 0,-1 1-1,1-1 1,-1 0 0,0 1 0,0-1 0,0 0-1,0 0 1,0 1 0,0-1 0,0 0 0,0 0 0,0 0-1,0 0 1,0-1 0,-1 1 0,1 0 0,0 0-1,-1-1 1,1 1 0,-4 0 0,-17 1-6771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8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2836 24575,'34'10'0,"-1"-2"0,2-2 0,-1-1 0,56 1 0,-63-4 0,921 16-2448,-718-18 2102,3545-1-2006,-3761 1 2268,24-2 1717,-37 2-1500,1 0 1,-1 0-1,0-1 0,1 1 0,-1 0 0,0-1 1,0 1-1,0-1 0,1 0 0,-1 1 0,0-1 1,0 0-1,0 0 0,0 0 0,0 0 0,0 0 1,0 0-1,-1 0 0,1 0 0,0 0 0,-1 0 0,1 0 1,0-2-1,1-1-106,1 1 1,-1-1 0,0 1-1,1 0 1,-1 0 0,1 0-1,0 1 1,0-1-1,0 1 1,1-1 0,-1 1-1,0 0 1,1 0 0,6-2-1,-5 1-30,1 0 1,0 0-1,-1-1 0,10-7 0,-12 6 3,1 0 0,0 0 0,-1 0 0,0-1 0,0 1 0,-1-1 0,1 0 0,-1 1 0,-1-1 0,1 0 0,1-10 0,0-9 0,-1-41 0,-2 35 0,-4-370 0,-4 291 0,-35-179 0,12 156 0,3 15 0,-22-198 0,39 43 0,2 38 0,0-316-162,9 396-1041,0 132-5623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8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24575,'5'0'0,"10"0"0,21 5 0,28 1 0,26 0 0,25-1 0,20-1 0,6-2 0,2-1 0,-10 0 0,-22-1 0,-26-1 0,-28 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0:59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24575,'0'5'0,"14"10"0,13 3 0,8-2 0,6 1 0,5 2 0,0-2 0,-3 6 0,-10 12 0,-9 9 0,-10 16 0,-7 16 0,-4 5 0,-3-8 0,-2-7 0,0-4 0,0-10 0,1-13-8191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0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24575,'18'0'0,"-1"1"0,1 1 0,-1 1 0,0 0 0,0 2 0,0 0 0,0 0 0,-1 2 0,0 0 0,16 9 0,62 36 0,-2 5 0,163 131 0,-239-176 0,-1 2 0,-1 0 0,0 0 0,-1 1 0,-1 1 0,0 0 0,15 28 0,-23-36 0,0 1 0,-1-1 0,0 0 0,-1 1 0,0-1 0,0 1 0,0 0 0,-1 0 0,-1 0 0,0 0 0,0 0 0,0-1 0,-1 1 0,-1 0 0,1 0 0,-1-1 0,-1 1 0,0-1 0,-6 13 0,-15 24 0,-3-2 0,-46 59 0,12-19 0,-19 35 8,-70 99-1381,121-180-5453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02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24575,'2'0'0,"0"0"0,0 1 0,0-1 0,0 1 0,0-1 0,0 1 0,0 0 0,0 0 0,0 0 0,0 0 0,0 0 0,-1 0 0,1 0 0,0 1 0,-1-1 0,1 0 0,-1 1 0,0 0 0,2 1 0,21 39 0,-21-35 0,9 20 0,-1 1 0,-1 1 0,12 58 0,3 95 0,-8-49 0,-10-87 0,2-1 0,-2 1 0,-2 0 0,-3 0 0,-3 65 0,-6-92-75,7-19 81,0 1 0,-1-1 0,1 0 0,0 0 0,0 1 0,-1-1 0,1 0 0,0 0 0,-1 0 0,1 0 0,0 0 0,-1 0 1,1 1-1,0-1 0,-1 0 0,1 0 0,-1 0 0,1 0 0,0 0 0,-1 0 0,1 0 0,0 0 0,-1 0 0,1-1 0,0 1 0,-1 0 0,1 0 0,0 0 0,-1 0 0,1-1 0,-2 0-119,0-1-1,0 1 0,0-1 1,1 0-1,-1 0 0,0 0 1,1 0-1,0 0 1,-1 0-1,1 0 0,0-1 1,-1-2-1,-6-19-6712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0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24575,'0'-1'0,"0"0"0,0 0 0,1 1 0,-1-1 0,0 0 0,1 0 0,-1 1 0,0-1 0,1 0 0,-1 1 0,1-1 0,-1 0 0,1 1 0,0-1 0,-1 1 0,1-1 0,-1 1 0,1-1 0,0 1 0,0-1 0,-1 1 0,3-1 0,20-7 0,-16 5 0,25-8 0,91-27 0,-111 35 0,-1 1 0,1 0 0,0 1 0,0 0 0,0 1 0,0 1 0,0 0 0,17 3 0,-23-2 0,-1 0 0,1 0 0,-1 0 0,0 1 0,0 0 0,0 0 0,0 1 0,0-1 0,0 1 0,-1 0 0,0 0 0,7 9 0,3 5 0,-2 1 0,12 23 0,7 11 0,-26-46 0,0 0 0,-1 0 0,0 1 0,0 0 0,-1 0 0,0 0 0,0 0 0,-1 0 0,0 1 0,-1-1 0,0 1 0,1 8 0,-2-12 0,-1 0 0,1 0 0,-1 0 0,0 0 0,-1 0 0,1 0 0,-1 0 0,0 0 0,0-1 0,0 1 0,-1-1 0,1 1 0,-1-1 0,0 0 0,-1 0 0,1 0 0,0-1 0,-1 1 0,0-1 0,0 0 0,-6 4 0,-11 4 0,0 0 0,0-2 0,-1 0 0,-39 9 0,-21 8 0,63-19 0,8-3 0,1-1 0,0 2 0,0 0 0,-12 7 0,54-13 0,28-11 0,211-30 0,-262 42 0,0 0 0,1 1 0,-1 0 0,0 0 0,0 1 0,0 0 0,0 1 0,0 0 0,0 0 0,-1 1 0,16 8 0,1 5 0,0 1 0,27 25 0,-30-25 0,-12-10 0,-1 1 0,0 0 0,-1 1 0,0 0 0,0 0 0,-1 0 0,-1 1 0,1 0 0,6 17 0,-11-23 0,-1-1 0,1 1 0,-1 0 0,0 0 0,0-1 0,0 1 0,-1 0 0,1 0 0,-1 0 0,0 0 0,-1 0 0,1 0 0,-1 0 0,0-1 0,0 1 0,-1 0 0,0-1 0,1 1 0,-1 0 0,-1-1 0,1 0 0,-1 0 0,1 0 0,-1 0 0,0 0 0,-1 0 0,-3 3 0,-2 0 0,0 0 0,-1-1 0,0 0 0,0-1 0,0 0 0,-1-1 0,1 0 0,-1 0 0,0-1 0,0-1 0,-23 3 0,-11-2 0,-77-4 0,79-1 0,-12 1-1365,31 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05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24575,'2'3'0,"0"0"0,0 1 0,0-1 0,0 1 0,0-1 0,-1 1 0,0 0 0,0-1 0,0 1 0,0 5 0,5 13 0,82 300 0,-35-85 0,-46-197 0,-9-33 0,-4-13 0,-5-18 0,-30-104 0,-36-193 0,72 282 0,1-1 0,2 1 0,1-1 0,6-51 0,-4 87 0,0-1 0,0 0 0,0 1 0,1-1 0,-1 1 0,1-1 0,0 1 0,0 0 0,1-1 0,-1 1 0,1 0 0,0 1 0,0-1 0,0 0 0,1 1 0,-1 0 0,1 0 0,0 0 0,0 0 0,0 0 0,0 1 0,7-3 0,-6 2 0,1 1 0,0 1 0,0-1 0,-1 1 0,1 0 0,0 0 0,0 0 0,0 1 0,0 0 0,0 0 0,0 1 0,0-1 0,0 1 0,0 1 0,0-1 0,0 1 0,8 4 0,-2 0 0,0 1 0,-1 0 0,0 1 0,-1 1 0,0-1 0,0 2 0,-1-1 0,0 1 0,8 13 0,8 13 0,27 58 0,-19-35 0,-33-57 0,1-1 0,-1 0 0,1 1 0,0-1 0,0 0 0,0 1 0,-1-1 0,1 0 0,0 0 0,0 0 0,1 0 0,-1 0 0,0 0 0,0 0 0,0 0 0,1 0 0,2 0 0,-4-1 0,1 0 0,0 0 0,-1-1 0,1 1 0,-1 0 0,1-1 0,-1 1 0,1-1 0,-1 1 0,1-1 0,-1 1 0,1-1 0,-1 1 0,0-1 0,1 1 0,-1-1 0,0 0 0,1 1 0,-1-1 0,0 1 0,0-1 0,0 0 0,1 1 0,-1-1 0,0 0 0,0 0 0,2-13 0,-1 0 0,0-22 0,-1 30 0,-3-68 0,1 51 0,1 0 0,0 0 0,2 1 0,1-1 0,9-44 0,-9 64 0,-1 0 0,0 0 0,1 0 0,0 0 0,0 1 0,0-1 0,0 0 0,0 1 0,0 0 0,1-1 0,-1 1 0,1 0 0,0 0 0,-1 1 0,1-1 0,0 0 0,0 1 0,0 0 0,0-1 0,1 1 0,-1 1 0,0-1 0,0 0 0,1 1 0,-1-1 0,6 1 0,9 0 0,-1 1 0,1 0 0,28 6 0,-44-7 0,5 1 0,-1 0 0,1 1 0,0 0 0,-1 0 0,1 0 0,-1 1 0,0 0 0,0 0 0,0 0 0,0 1 0,0 0 0,-1 0 0,0 1 0,0-1 0,0 1 0,0 0 0,-1 1 0,0-1 0,0 1 0,0 0 0,-1 0 0,0 0 0,3 7 0,7 17 0,-2 1 0,7 34 0,10 27 0,44 144 0,-32-97 0,6 6 0,-43-138 0,1 0 0,-1 0 0,1-1 0,0 1 0,8 8 0,-12-15-20,0 0 0,0 1 0,0-1 0,0 0 0,1 1 0,-1-1 0,0 0 0,0 0 0,0 1-1,1-1 1,-1 0 0,0 0 0,0 1 0,1-1 0,-1 0 0,0 0 0,0 0 0,1 1 0,-1-1 0,0 0 0,1 0 0,-1 0-1,0 0 1,1 0 0,-1 0 0,0 1 0,1-1 0,-1 0 0,0 0 0,1 0 0,-1 0 0,0 0 0,1 0 0,-1-1 0,0 1-1,1 0 1,-1 0 0,0 0 0,1 0 0,-1 0 0,0 0 0,0-1 0,1 1 0,-1 0 0,0 0 0,1 0 0,-1-1 0,0 1-1,0 0 1,0 0 0,1-1 0,-1 1 0,0 0 0,0 0 0,0-1 0,1 1 0,-1 0 0,0-1 0,0 1 0,0 0 0,0-1-1,0 1 1,0 0 0,0-1 0,0 1 0,0 0 0,0-1 0,5-16-6806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06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1 24575,'-9'0'0,"0"1"0,0-1 0,0 2 0,0-1 0,0 2 0,0-1 0,0 1 0,0 0 0,1 1 0,0 0 0,-1 0 0,2 1 0,-1 0 0,0 0 0,1 1 0,0 0 0,0 0 0,1 1 0,0 0 0,0 0 0,1 0 0,-1 1 0,-6 13 0,3-2 0,0 0 0,2 1 0,0 1 0,1-1 0,1 1 0,1 0 0,1 0 0,0 0 0,2 24 0,-1-10 0,2 48 0,1-76 0,-1 0 0,1 0 0,1 0 0,-1 0 0,1-1 0,0 1 0,1-1 0,6 13 0,-7-16 0,1 1 0,0-1 0,1 0 0,-1 0 0,0 0 0,1-1 0,0 1 0,-1-1 0,1 0 0,0 0 0,0-1 0,0 1 0,1-1 0,-1 1 0,0-1 0,0-1 0,1 1 0,-1-1 0,1 1 0,5-1 0,2-1 0,0 1 0,0-1 0,0-1 0,-1 0 0,1-1 0,16-6 0,16-9 0,-3 1 0,51-13 0,-79 27 0,1 0 0,-1 0 0,1 2 0,0 0 0,-1 0 0,1 1 0,0 1 0,16 3 0,-22-2 0,-1 0 0,0 1 0,0 0 0,-1 0 0,1 1 0,-1-1 0,1 2 0,-1-1 0,-1 1 0,1-1 0,0 2 0,-1-1 0,0 1 0,-1-1 0,7 10 0,-3-3 0,-1 0 0,0 1 0,-1 0 0,0 0 0,-1 1 0,7 27 0,-9-26 0,0-1 0,-1 1 0,-1 0 0,0-1 0,-1 1 0,-1 0 0,-3 21 0,2-29 0,0 0 0,0 0 0,0 0 0,-1 0 0,0 0 0,-1-1 0,0 1 0,0-1 0,0 0 0,-1 0 0,1 0 0,-1-1 0,-1 0 0,1 0 0,-1 0 0,-8 5 0,1-2 0,-1-1 0,1-1 0,-1 0 0,0 0 0,-1-2 0,1 0 0,-1 0 0,0-1 0,-19 0 0,-21 0 0,-67-5 0,61 0 0,-33 2 0,-72-4 0,163 4-105,0-1 0,0 1 0,1-1 0,-1 1 0,1-1 0,-1 0 0,0 0 0,1 0 0,0-1 0,-1 1 0,1 0 0,-4-4 0,-5-6-6721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0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30 24575,'0'-5'0,"-5"-1"0,-5 0 0,-7 1 0,-4 1 0,-4 2 0,-2 1 0,0 1 0,3 4 0,7 3-8191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09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1518 24575,'127'-1'0,"0"-5"0,164-29 0,-217 25 0,-59 10 0,0-1 0,0-1 0,0-1 0,0 0 0,-1-1 0,1 0 0,-1-1 0,23-12 0,-28 11 0,0 1 0,-1-1 0,0-1 0,0 0 0,-1 0 0,0 0 0,0-1 0,0 0 0,-1 0 0,-1-1 0,1 0 0,4-10 0,-5 5 0,0 0 0,-1 0 0,0-1 0,-2 1 0,1-1 0,-2 0 0,0-27 0,-1 4 0,1 0 0,10-62 0,-3 38 0,-3 0 0,-5-116 0,-2 78 0,2 75 0,-5-127 0,2 127 0,0 1 0,-2 0 0,-1 0 0,-11-29 0,12 40 0,0 0 0,-1 1 0,0 0 0,-1 0 0,0 1 0,-1 0 0,0 0 0,0 0 0,-2 1 0,1 1 0,-1 0 0,0 0 0,-15-9 0,1 1 0,-1 1 0,-1 2 0,-49-21 0,57 28 0,-1 2 0,0 0 0,-1 1 0,1 0 0,-1 2 0,-33 0 0,18 2 0,-101 5 0,127-3 0,0 0 0,0 0 0,0 1 0,1 0 0,-1 1 0,1 0 0,0 0 0,0 1 0,0 0 0,1 0 0,-8 7 0,-13 13 0,-33 38 0,45-47 0,-1 2 0,0 1 0,0 1 0,2 0 0,0 1 0,2 1 0,0 0 0,2 1 0,0 0 0,2 1 0,0 0 0,-8 41 0,2 41 0,0 123 0,16 109 0,1-133 0,-3-138 0,-1-35 0,2 1 0,1-1 0,6 39 0,-1-50 0,1 0 0,1-1 0,0-1 0,18 29 0,-22-41 0,-1-2 0,0 1 0,1-1 0,0 0 0,0 0 0,0-1 0,0 1 0,1-1 0,0 0 0,0 0 0,0-1 0,0 1 0,1-1 0,5 2 0,-1-1 0,0 0 0,0-1 0,0 0 0,1-1 0,-1 0 0,1-1 0,13 1 0,-8-2 0,1-1 0,-1 0 0,0-2 0,0 1 0,0-2 0,0 0 0,-1-1 0,0 0 0,29-16 0,-15 5 0,-11 6 0,-1 0 0,31-24 0,-44 30 0,0 1 0,0-1 0,0 0 0,-1 0 0,0 0 0,0-1 0,0 1 0,0-1 0,-1 1 0,0-1 0,0 0 0,0 0 0,0 0 0,-1 0 0,0-1 0,1-4 0,28-194 41,-15 113-1447,-12 67-5420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11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24575,'0'-5'0,"9"-2"0,8 1 0,15 2 0,11 0 0,2 2 0,-1 1 0,-3 0 0,-5 1 0,-4 1 0,-2-1 0,2 0 0,-3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12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24575,'563'0'0,"-536"-1"-195,-1 0 0,1-2 0,-1-1 0,0-1 0,0-1 0,27-11 0,-35 10-6631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14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24575,'24'-2'0,"-1"0"0,1-2 0,-1-1 0,24-8 0,44-8 0,18 12 0,-85 8 0,1 0 0,-1-1 0,0-2 0,0-1 0,46-14 0,-39 8-273,0 1 0,1 2 0,0 1 0,40-3 0,-49 8-6553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19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24575,'5'0'0,"1"-5"0,5-5 0,0 2 0,-2 8 0,-2 9 0,-3 7 0,-1 5 0,-2 4 0,-1 2 0,0 2 0,-1-5-8191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5T14:21:21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59 24575,'0'-2'0,"0"0"0,0 0 0,-1 0 0,1 0 0,0 0 0,-1 0 0,1 0 0,-1 0 0,0 1 0,0-1 0,0 0 0,0 1 0,0-1 0,0 0 0,0 1 0,0-1 0,-1 1 0,1 0 0,-3-3 0,0 2 0,1-1 0,-1 1 0,0 0 0,0 0 0,0 1 0,-1-1 0,1 1 0,-7-2 0,2 2 0,1 0 0,-1 0 0,0 1 0,0 0 0,0 0 0,0 1 0,1 0 0,-16 4 0,19-2 0,-1-1 0,1 1 0,0 0 0,0 0 0,0 1 0,0-1 0,1 1 0,-1 0 0,-6 9 0,-34 49 0,14-18 0,24-36 0,0 1 0,0-1 0,1 1 0,0 1 0,1-1 0,0 1 0,0 0 0,1 0 0,1 0 0,-1 1 0,2-1 0,-1 1 0,2 0 0,-1 0 0,1 16 0,1-12 0,0 0 0,1 0 0,1-1 0,0 1 0,1 0 0,1-1 0,0 0 0,0 0 0,12 22 0,13 29 0,-15-32 0,21 36 0,-30-60 0,1 0 0,0-1 0,1 0 0,0 0 0,0 0 0,1-1 0,-1 0 0,14 9 0,-16-13 0,2 0 0,-1 0 0,0 0 0,0-1 0,1 0 0,0 0 0,-1-1 0,1 0 0,10 0 0,66-2 0,-45-1 0,-29 2 0,1 0 0,-1-1 0,0 0 0,1-1 0,-1 0 0,0 0 0,14-6 0,-20 6 0,0 0 0,1 0 0,-1 0 0,0 0 0,0 0 0,-1-1 0,1 1 0,0-1 0,-1 0 0,0 0 0,0 0 0,0 0 0,0 0 0,0 0 0,0 0 0,-1-1 0,1 1 0,-1-1 0,0 1 0,0-1 0,-1 0 0,1-3 0,3-34 0,-3-1 0,-4-50 0,-1 9 0,3 60 0,-2 0 0,-1 0 0,-1 0 0,-1 1 0,-1 0 0,-1 0 0,0 1 0,-2 0 0,0 0 0,-2 1 0,0 0 0,-1 1 0,-23-25 0,32 40-76,-1 0 1,0 0-1,0 1 0,0-1 0,0 1 0,0 0 0,-1 1 0,1-1 1,-1 1-1,1 0 0,-1 1 0,0-1 0,0 1 0,0 0 1,0 0-1,0 1 0,-9 0 0,-7 0-6750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0E9D3-35D6-41A2-8721-35E54E97FBB5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06C1D-2A15-49D1-94AC-58C619396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7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1CDD-2765-4E0B-8E1E-74E5DF634D54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976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1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41D3-185F-47D8-BDE4-D8016A7347D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1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F884-9D0E-4B7A-AF59-2FB766C47657}" type="datetime1">
              <a:rPr lang="en-US" smtClean="0"/>
              <a:t>8/15/2025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2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0DF7-C5E0-43EE-B2C3-C8F633061D7B}" type="datetime1">
              <a:rPr lang="en-US" smtClean="0"/>
              <a:t>8/15/2025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0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6347-16FC-498A-8B0A-492B3F8815B1}" type="datetime1">
              <a:rPr lang="en-US" smtClean="0"/>
              <a:t>8/15/2025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7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F80B-C6ED-4090-B072-93657F87519D}" type="datetime1">
              <a:rPr lang="en-US" smtClean="0"/>
              <a:t>8/15/2025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0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B027-1FEE-41E9-8565-0460820AFA68}" type="datetime1">
              <a:rPr lang="en-US" smtClean="0"/>
              <a:t>8/15/2025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3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CD37-D6CD-4F25-B941-5CDE0236D7C2}" type="datetime1">
              <a:rPr lang="en-US" smtClean="0"/>
              <a:t>8/15/2025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1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9B75-EBAB-4ABC-81F0-E36206D12060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9227-6DC0-4EAA-81BA-D4C0E6A15063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EF508-18F7-4B4E-977E-A553DA988B11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sv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7.jpeg"/><Relationship Id="rId7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0.jpe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9.jpeg"/><Relationship Id="rId7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0.jpe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44.png"/><Relationship Id="rId21" Type="http://schemas.openxmlformats.org/officeDocument/2006/relationships/image" Target="../media/image35.png"/><Relationship Id="rId34" Type="http://schemas.openxmlformats.org/officeDocument/2006/relationships/customXml" Target="../ink/ink17.xml"/><Relationship Id="rId7" Type="http://schemas.openxmlformats.org/officeDocument/2006/relationships/image" Target="../media/image2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39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3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43.png"/><Relationship Id="rId40" Type="http://schemas.openxmlformats.org/officeDocument/2006/relationships/customXml" Target="../ink/ink20.xml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34.png"/><Relationship Id="rId31" Type="http://schemas.openxmlformats.org/officeDocument/2006/relationships/image" Target="../media/image40.png"/><Relationship Id="rId4" Type="http://schemas.openxmlformats.org/officeDocument/2006/relationships/customXml" Target="../ink/ink2.xml"/><Relationship Id="rId9" Type="http://schemas.openxmlformats.org/officeDocument/2006/relationships/image" Target="../media/image2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8.png"/><Relationship Id="rId30" Type="http://schemas.openxmlformats.org/officeDocument/2006/relationships/customXml" Target="../ink/ink15.xml"/><Relationship Id="rId35" Type="http://schemas.openxmlformats.org/officeDocument/2006/relationships/image" Target="../media/image42.png"/><Relationship Id="rId8" Type="http://schemas.openxmlformats.org/officeDocument/2006/relationships/customXml" Target="../ink/ink4.xml"/><Relationship Id="rId3" Type="http://schemas.openxmlformats.org/officeDocument/2006/relationships/image" Target="../media/image26.png"/><Relationship Id="rId12" Type="http://schemas.openxmlformats.org/officeDocument/2006/relationships/customXml" Target="../ink/ink6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6357" y="711243"/>
            <a:ext cx="6493448" cy="13527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Title – </a:t>
            </a:r>
            <a:br>
              <a:rPr lang="en-US" sz="2800" kern="1200" spc="3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of IOT Architecture for</a:t>
            </a:r>
            <a:b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Battery Charging Management Technology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50E611-2993-456E-8445-FEE8351BB19B}" type="datetime1">
              <a:rPr lang="en-US" smtClean="0"/>
              <a:pPr>
                <a:spcAft>
                  <a:spcPts val="600"/>
                </a:spcAft>
              </a:pPr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790-7258-76B7-ED0C-3952226A849A}"/>
              </a:ext>
            </a:extLst>
          </p:cNvPr>
          <p:cNvSpPr txBox="1"/>
          <p:nvPr/>
        </p:nvSpPr>
        <p:spPr>
          <a:xfrm>
            <a:off x="2507" y="5575995"/>
            <a:ext cx="5003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 of Engineering and Sciences (SEAS)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Department of Electronics and Communication Engineering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SRM University, Andhra Pradesh (SRM AP) 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596C-750C-6011-6B31-33F7DF8A40B1}"/>
              </a:ext>
            </a:extLst>
          </p:cNvPr>
          <p:cNvSpPr txBox="1"/>
          <p:nvPr/>
        </p:nvSpPr>
        <p:spPr>
          <a:xfrm>
            <a:off x="8086225" y="32914"/>
            <a:ext cx="4105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Major project 1</a:t>
            </a:r>
            <a:r>
              <a:rPr lang="en-US" sz="2000" b="1" baseline="30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Review</a:t>
            </a:r>
            <a:r>
              <a:rPr lang="en-US" sz="2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Presentation</a:t>
            </a:r>
            <a:endParaRPr lang="en-US" sz="2000" b="1" dirty="0"/>
          </a:p>
        </p:txBody>
      </p:sp>
      <p:pic>
        <p:nvPicPr>
          <p:cNvPr id="10" name="Picture 9" descr="A black and green logo&#10;&#10;Description automatically generated">
            <a:extLst>
              <a:ext uri="{FF2B5EF4-FFF2-40B4-BE49-F238E27FC236}">
                <a16:creationId xmlns:a16="http://schemas.microsoft.com/office/drawing/2014/main" id="{00387109-12A4-BD5A-150C-D499C1EE4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35" y="4321403"/>
            <a:ext cx="3832911" cy="12516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F68C0E-BDE4-8591-032A-D863A5568E60}"/>
              </a:ext>
            </a:extLst>
          </p:cNvPr>
          <p:cNvCxnSpPr/>
          <p:nvPr/>
        </p:nvCxnSpPr>
        <p:spPr>
          <a:xfrm flipH="1">
            <a:off x="2507" y="4128093"/>
            <a:ext cx="49265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4A9853-8C9C-9FB2-2020-54A6CCFE56E7}"/>
              </a:ext>
            </a:extLst>
          </p:cNvPr>
          <p:cNvSpPr txBox="1"/>
          <p:nvPr/>
        </p:nvSpPr>
        <p:spPr>
          <a:xfrm>
            <a:off x="440555" y="1398472"/>
            <a:ext cx="4287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Presented by</a:t>
            </a:r>
            <a:b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Jagadeesh_(AP2312210002)</a:t>
            </a:r>
            <a:endParaRPr lang="en-US" sz="1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Sujith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Kalluri</a:t>
            </a: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b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US" dirty="0"/>
          </a:p>
        </p:txBody>
      </p:sp>
      <p:pic>
        <p:nvPicPr>
          <p:cNvPr id="2050" name="Picture 2" descr="intuions.com">
            <a:extLst>
              <a:ext uri="{FF2B5EF4-FFF2-40B4-BE49-F238E27FC236}">
                <a16:creationId xmlns:a16="http://schemas.microsoft.com/office/drawing/2014/main" id="{0FCAFF62-4320-AD69-DB79-6DCD656F3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6" t="24409" r="25999"/>
          <a:stretch/>
        </p:blipFill>
        <p:spPr bwMode="auto">
          <a:xfrm>
            <a:off x="9537430" y="2698985"/>
            <a:ext cx="2326076" cy="1759004"/>
          </a:xfrm>
          <a:prstGeom prst="dec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Role Of IoT In Smart Grid Tech - Intuz">
            <a:extLst>
              <a:ext uri="{FF2B5EF4-FFF2-40B4-BE49-F238E27FC236}">
                <a16:creationId xmlns:a16="http://schemas.microsoft.com/office/drawing/2014/main" id="{CDF7FA1B-5A62-DE3D-001C-A0EDF44D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31" y="4321403"/>
            <a:ext cx="3828249" cy="201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277215"/>
            <a:ext cx="3888526" cy="8076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19B6FD-226A-4CFB-95DA-A1309CA70088}" type="datetime1">
              <a:rPr lang="en-US" smtClean="0"/>
              <a:pPr>
                <a:spcAft>
                  <a:spcPts val="600"/>
                </a:spcAft>
              </a:pPr>
              <a:t>8/15/2025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2</a:t>
            </a:fld>
            <a:endParaRPr lang="en-IN"/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A4E8363D-BD78-CB08-68C5-EF4C2730B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31" y="909006"/>
            <a:ext cx="2910455" cy="10437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245924-1534-2B33-F883-AB95C8907383}"/>
              </a:ext>
            </a:extLst>
          </p:cNvPr>
          <p:cNvSpPr txBox="1"/>
          <p:nvPr/>
        </p:nvSpPr>
        <p:spPr>
          <a:xfrm>
            <a:off x="558093" y="1362076"/>
            <a:ext cx="4331148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Proposed concept &amp; Methodology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9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1AE5-89AD-F7C0-1344-DF61FB331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Swapping &amp; Fast charging Technology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0D130-6380-6149-3A4C-CFF200AAC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Commercial usage more demand – Rental vehicles</a:t>
            </a:r>
          </a:p>
          <a:p>
            <a:r>
              <a:rPr lang="en-US" dirty="0"/>
              <a:t>Less time we can refill the battery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600D9-A910-C986-8950-32FFB6A70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2A302-6B58-EBCB-D16F-77C684B0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EEC82-3D80-464C-0210-3981F06D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214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06A2-91D8-E44B-84F3-B006DC84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04" y="225165"/>
            <a:ext cx="10515600" cy="670573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Importance of IOT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18012-7A19-7B65-F17D-1C4CD7A76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time data communication wirelessly. - </a:t>
            </a:r>
          </a:p>
          <a:p>
            <a:r>
              <a:rPr lang="en-US" dirty="0"/>
              <a:t>Advance Power demand Estimation – elimination of power demand</a:t>
            </a:r>
          </a:p>
          <a:p>
            <a:r>
              <a:rPr lang="en-US" dirty="0"/>
              <a:t>Grid to ESS – bi-directional conversion – estimation</a:t>
            </a:r>
          </a:p>
          <a:p>
            <a:r>
              <a:rPr lang="en-US" dirty="0"/>
              <a:t>Load demand hourly</a:t>
            </a:r>
          </a:p>
          <a:p>
            <a:r>
              <a:rPr lang="en-US" dirty="0"/>
              <a:t>End user notification and real time updates</a:t>
            </a:r>
          </a:p>
          <a:p>
            <a:r>
              <a:rPr lang="en-US" dirty="0"/>
              <a:t>Battery Swapping Station monitoring  </a:t>
            </a:r>
          </a:p>
          <a:p>
            <a:pPr lvl="1"/>
            <a:r>
              <a:rPr lang="en-US" dirty="0"/>
              <a:t>- Very cell balancing monitoring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809EA-5A81-CE77-F1C7-8D20FDA6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62384-0BC1-3FC0-704F-B2658446A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8B9C6-1221-BDBF-0D6E-D0F64C95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289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3EB28B8-4F38-9C7C-1D61-2328264FDA1B}"/>
              </a:ext>
            </a:extLst>
          </p:cNvPr>
          <p:cNvSpPr txBox="1"/>
          <p:nvPr/>
        </p:nvSpPr>
        <p:spPr>
          <a:xfrm>
            <a:off x="1066021" y="3838003"/>
            <a:ext cx="2847392" cy="20526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06C69-488C-E9F6-A621-7EAFD703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4" y="136525"/>
            <a:ext cx="10515600" cy="49329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Swapping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01897-7D3F-892F-0EFF-DDE51057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016CA-9B06-216E-CBF7-E7CFC2D1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24BBA-3D8F-8624-BA62-5D8C8AD5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46FB5-6BE1-6042-DFC7-0D73475E763B}"/>
              </a:ext>
            </a:extLst>
          </p:cNvPr>
          <p:cNvSpPr txBox="1"/>
          <p:nvPr/>
        </p:nvSpPr>
        <p:spPr>
          <a:xfrm>
            <a:off x="2180253" y="1198529"/>
            <a:ext cx="2432180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MPPT </a:t>
            </a:r>
          </a:p>
          <a:p>
            <a:r>
              <a:rPr lang="en-US" dirty="0"/>
              <a:t>DC – DC </a:t>
            </a:r>
          </a:p>
          <a:p>
            <a:r>
              <a:rPr lang="en-US" dirty="0"/>
              <a:t>Buck – boost converter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0FF8A-90A6-10D4-F31F-8FEECD7F7C89}"/>
              </a:ext>
            </a:extLst>
          </p:cNvPr>
          <p:cNvSpPr txBox="1"/>
          <p:nvPr/>
        </p:nvSpPr>
        <p:spPr>
          <a:xfrm>
            <a:off x="7918579" y="1468402"/>
            <a:ext cx="2338873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Bidirectional converter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C0A2F-AA7F-E5CB-2E69-B1D36EFDD394}"/>
              </a:ext>
            </a:extLst>
          </p:cNvPr>
          <p:cNvSpPr txBox="1"/>
          <p:nvPr/>
        </p:nvSpPr>
        <p:spPr>
          <a:xfrm>
            <a:off x="10731764" y="1413021"/>
            <a:ext cx="608823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Grid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DF2F3-16F7-B968-2E93-CA642C05CA63}"/>
              </a:ext>
            </a:extLst>
          </p:cNvPr>
          <p:cNvSpPr txBox="1"/>
          <p:nvPr/>
        </p:nvSpPr>
        <p:spPr>
          <a:xfrm>
            <a:off x="5104234" y="1329902"/>
            <a:ext cx="2362201" cy="6463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ESS</a:t>
            </a:r>
          </a:p>
          <a:p>
            <a:r>
              <a:rPr lang="en-US" dirty="0"/>
              <a:t>Energy Storage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9AC10-7BAE-A055-7DD3-958C2612C573}"/>
              </a:ext>
            </a:extLst>
          </p:cNvPr>
          <p:cNvSpPr txBox="1"/>
          <p:nvPr/>
        </p:nvSpPr>
        <p:spPr>
          <a:xfrm>
            <a:off x="206442" y="1345872"/>
            <a:ext cx="1482010" cy="6463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Power  - Solar</a:t>
            </a:r>
          </a:p>
          <a:p>
            <a:r>
              <a:rPr lang="en-US" dirty="0"/>
              <a:t>Type  - DC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B1B1B-FEB3-43A0-45FB-5D75BA807247}"/>
              </a:ext>
            </a:extLst>
          </p:cNvPr>
          <p:cNvSpPr txBox="1"/>
          <p:nvPr/>
        </p:nvSpPr>
        <p:spPr>
          <a:xfrm>
            <a:off x="9965099" y="2309435"/>
            <a:ext cx="1922106" cy="6463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Central control monitoring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A4963B-9BC9-A21D-208C-946A5626DF8E}"/>
              </a:ext>
            </a:extLst>
          </p:cNvPr>
          <p:cNvSpPr txBox="1"/>
          <p:nvPr/>
        </p:nvSpPr>
        <p:spPr>
          <a:xfrm>
            <a:off x="2591195" y="4686864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473982-366C-29FC-90FD-CCE710DAA5F2}"/>
              </a:ext>
            </a:extLst>
          </p:cNvPr>
          <p:cNvSpPr txBox="1"/>
          <p:nvPr/>
        </p:nvSpPr>
        <p:spPr>
          <a:xfrm>
            <a:off x="2591195" y="3976486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BBDBC1-A618-70F8-71FE-3CE36645E479}"/>
              </a:ext>
            </a:extLst>
          </p:cNvPr>
          <p:cNvSpPr txBox="1"/>
          <p:nvPr/>
        </p:nvSpPr>
        <p:spPr>
          <a:xfrm>
            <a:off x="3315479" y="5355558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06424B-744C-63F2-4FBE-DD89FDD26C08}"/>
              </a:ext>
            </a:extLst>
          </p:cNvPr>
          <p:cNvSpPr txBox="1"/>
          <p:nvPr/>
        </p:nvSpPr>
        <p:spPr>
          <a:xfrm>
            <a:off x="3315479" y="4686864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C44A6-8006-A166-4F2A-884E433FE64D}"/>
              </a:ext>
            </a:extLst>
          </p:cNvPr>
          <p:cNvSpPr txBox="1"/>
          <p:nvPr/>
        </p:nvSpPr>
        <p:spPr>
          <a:xfrm>
            <a:off x="3315479" y="3987370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34B5F1-2F9D-8E6C-4D58-66AE8315AA88}"/>
              </a:ext>
            </a:extLst>
          </p:cNvPr>
          <p:cNvSpPr txBox="1"/>
          <p:nvPr/>
        </p:nvSpPr>
        <p:spPr>
          <a:xfrm>
            <a:off x="2591195" y="5350743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F889E3-D117-CFB4-F801-7E9BE1B7230C}"/>
              </a:ext>
            </a:extLst>
          </p:cNvPr>
          <p:cNvSpPr txBox="1"/>
          <p:nvPr/>
        </p:nvSpPr>
        <p:spPr>
          <a:xfrm>
            <a:off x="1217260" y="4686864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FB1897-AEBF-203B-2B88-0444DAE9959D}"/>
              </a:ext>
            </a:extLst>
          </p:cNvPr>
          <p:cNvSpPr txBox="1"/>
          <p:nvPr/>
        </p:nvSpPr>
        <p:spPr>
          <a:xfrm>
            <a:off x="1217260" y="3976486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7CEF70-89BF-166A-FF2E-9981CEAC86A5}"/>
              </a:ext>
            </a:extLst>
          </p:cNvPr>
          <p:cNvSpPr txBox="1"/>
          <p:nvPr/>
        </p:nvSpPr>
        <p:spPr>
          <a:xfrm>
            <a:off x="1941544" y="5355558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783E31-2F02-F7D9-8E7D-BB9485F6097C}"/>
              </a:ext>
            </a:extLst>
          </p:cNvPr>
          <p:cNvSpPr txBox="1"/>
          <p:nvPr/>
        </p:nvSpPr>
        <p:spPr>
          <a:xfrm>
            <a:off x="1941544" y="4686864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DD0F09-270C-5585-0B54-FBC49BF263E8}"/>
              </a:ext>
            </a:extLst>
          </p:cNvPr>
          <p:cNvSpPr txBox="1"/>
          <p:nvPr/>
        </p:nvSpPr>
        <p:spPr>
          <a:xfrm>
            <a:off x="1941544" y="3987370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CFACA4-63D5-7EED-4173-60E9FBB6806C}"/>
              </a:ext>
            </a:extLst>
          </p:cNvPr>
          <p:cNvSpPr txBox="1"/>
          <p:nvPr/>
        </p:nvSpPr>
        <p:spPr>
          <a:xfrm>
            <a:off x="1217260" y="5350743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7BE2C-779A-DF24-963D-EF87E2887D40}"/>
              </a:ext>
            </a:extLst>
          </p:cNvPr>
          <p:cNvSpPr txBox="1"/>
          <p:nvPr/>
        </p:nvSpPr>
        <p:spPr>
          <a:xfrm>
            <a:off x="4872532" y="3817845"/>
            <a:ext cx="2847392" cy="20526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D83520-F63B-C2B5-697B-DCA144026A98}"/>
              </a:ext>
            </a:extLst>
          </p:cNvPr>
          <p:cNvSpPr txBox="1"/>
          <p:nvPr/>
        </p:nvSpPr>
        <p:spPr>
          <a:xfrm>
            <a:off x="6397706" y="4666706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D76517-FF9F-FE89-3B52-93C4A6E80765}"/>
              </a:ext>
            </a:extLst>
          </p:cNvPr>
          <p:cNvSpPr txBox="1"/>
          <p:nvPr/>
        </p:nvSpPr>
        <p:spPr>
          <a:xfrm>
            <a:off x="6397706" y="3956328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2C48B7-6C63-7FF3-EE9C-3751A1F80833}"/>
              </a:ext>
            </a:extLst>
          </p:cNvPr>
          <p:cNvSpPr txBox="1"/>
          <p:nvPr/>
        </p:nvSpPr>
        <p:spPr>
          <a:xfrm>
            <a:off x="7121990" y="5335400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52BBBD-F14E-A580-901E-D61FD91E94EE}"/>
              </a:ext>
            </a:extLst>
          </p:cNvPr>
          <p:cNvSpPr txBox="1"/>
          <p:nvPr/>
        </p:nvSpPr>
        <p:spPr>
          <a:xfrm>
            <a:off x="7121990" y="4666706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065C75-E56B-DAD5-92E0-B52871D74BFF}"/>
              </a:ext>
            </a:extLst>
          </p:cNvPr>
          <p:cNvSpPr txBox="1"/>
          <p:nvPr/>
        </p:nvSpPr>
        <p:spPr>
          <a:xfrm>
            <a:off x="7121990" y="3967212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53FBD7-45D3-C2D2-7E79-7908496B7FB2}"/>
              </a:ext>
            </a:extLst>
          </p:cNvPr>
          <p:cNvSpPr txBox="1"/>
          <p:nvPr/>
        </p:nvSpPr>
        <p:spPr>
          <a:xfrm>
            <a:off x="6397706" y="5330585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CADF0A-7D7E-C8F4-0311-D7C433E17979}"/>
              </a:ext>
            </a:extLst>
          </p:cNvPr>
          <p:cNvSpPr txBox="1"/>
          <p:nvPr/>
        </p:nvSpPr>
        <p:spPr>
          <a:xfrm>
            <a:off x="5023771" y="4666706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2C64BF-ED01-139E-31C1-68C746AF5B20}"/>
              </a:ext>
            </a:extLst>
          </p:cNvPr>
          <p:cNvSpPr txBox="1"/>
          <p:nvPr/>
        </p:nvSpPr>
        <p:spPr>
          <a:xfrm>
            <a:off x="5023771" y="3956328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815C47-EB1C-77F2-2240-7723179C37C6}"/>
              </a:ext>
            </a:extLst>
          </p:cNvPr>
          <p:cNvSpPr txBox="1"/>
          <p:nvPr/>
        </p:nvSpPr>
        <p:spPr>
          <a:xfrm>
            <a:off x="5748055" y="5335400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B2CD6C-B922-D746-FF07-09A50DC0939D}"/>
              </a:ext>
            </a:extLst>
          </p:cNvPr>
          <p:cNvSpPr txBox="1"/>
          <p:nvPr/>
        </p:nvSpPr>
        <p:spPr>
          <a:xfrm>
            <a:off x="5748055" y="4666706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083B7E-6172-9254-B3B5-A93C9CE39528}"/>
              </a:ext>
            </a:extLst>
          </p:cNvPr>
          <p:cNvSpPr txBox="1"/>
          <p:nvPr/>
        </p:nvSpPr>
        <p:spPr>
          <a:xfrm>
            <a:off x="5748055" y="3967212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33FC29-F7FF-BB2E-49FE-4827A09E9021}"/>
              </a:ext>
            </a:extLst>
          </p:cNvPr>
          <p:cNvSpPr txBox="1"/>
          <p:nvPr/>
        </p:nvSpPr>
        <p:spPr>
          <a:xfrm>
            <a:off x="5023771" y="5330585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D76220-0E0F-05BD-4544-847D73B5E650}"/>
              </a:ext>
            </a:extLst>
          </p:cNvPr>
          <p:cNvSpPr txBox="1"/>
          <p:nvPr/>
        </p:nvSpPr>
        <p:spPr>
          <a:xfrm>
            <a:off x="8400281" y="3798320"/>
            <a:ext cx="2847392" cy="20526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25255C-B07E-20E1-DFEA-A791BAA6C455}"/>
              </a:ext>
            </a:extLst>
          </p:cNvPr>
          <p:cNvSpPr txBox="1"/>
          <p:nvPr/>
        </p:nvSpPr>
        <p:spPr>
          <a:xfrm>
            <a:off x="9925455" y="4647181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EDB567-E2F4-FE91-71FB-DDF74C95E3A4}"/>
              </a:ext>
            </a:extLst>
          </p:cNvPr>
          <p:cNvSpPr txBox="1"/>
          <p:nvPr/>
        </p:nvSpPr>
        <p:spPr>
          <a:xfrm>
            <a:off x="9925455" y="3936803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86BF4E-FA52-171E-D87F-77CA41374B27}"/>
              </a:ext>
            </a:extLst>
          </p:cNvPr>
          <p:cNvSpPr txBox="1"/>
          <p:nvPr/>
        </p:nvSpPr>
        <p:spPr>
          <a:xfrm>
            <a:off x="10649739" y="5315875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42FB5E-960E-5369-6C9E-0E08F36F7FC7}"/>
              </a:ext>
            </a:extLst>
          </p:cNvPr>
          <p:cNvSpPr txBox="1"/>
          <p:nvPr/>
        </p:nvSpPr>
        <p:spPr>
          <a:xfrm>
            <a:off x="10649739" y="4647181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85D46D-20C9-33CA-79A7-222BAF377B9E}"/>
              </a:ext>
            </a:extLst>
          </p:cNvPr>
          <p:cNvSpPr txBox="1"/>
          <p:nvPr/>
        </p:nvSpPr>
        <p:spPr>
          <a:xfrm>
            <a:off x="10649739" y="3947687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30C423-1056-2582-FD22-2CB2E93C785A}"/>
              </a:ext>
            </a:extLst>
          </p:cNvPr>
          <p:cNvSpPr txBox="1"/>
          <p:nvPr/>
        </p:nvSpPr>
        <p:spPr>
          <a:xfrm>
            <a:off x="9925455" y="5311060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D5E4AC-D7B4-116C-4C52-D7412DE09727}"/>
              </a:ext>
            </a:extLst>
          </p:cNvPr>
          <p:cNvSpPr txBox="1"/>
          <p:nvPr/>
        </p:nvSpPr>
        <p:spPr>
          <a:xfrm>
            <a:off x="8551520" y="4647181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BAC62C-4886-039E-DBFA-0F9E31032664}"/>
              </a:ext>
            </a:extLst>
          </p:cNvPr>
          <p:cNvSpPr txBox="1"/>
          <p:nvPr/>
        </p:nvSpPr>
        <p:spPr>
          <a:xfrm>
            <a:off x="8563574" y="3982327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E9BD5D-D524-7688-7B96-56987E14BDB6}"/>
              </a:ext>
            </a:extLst>
          </p:cNvPr>
          <p:cNvSpPr txBox="1"/>
          <p:nvPr/>
        </p:nvSpPr>
        <p:spPr>
          <a:xfrm>
            <a:off x="9275804" y="5315875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D269E3-DF75-53ED-7A0C-2A77F796A868}"/>
              </a:ext>
            </a:extLst>
          </p:cNvPr>
          <p:cNvSpPr txBox="1"/>
          <p:nvPr/>
        </p:nvSpPr>
        <p:spPr>
          <a:xfrm>
            <a:off x="9275804" y="4647181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83ED4E-BE7F-21E1-F7F6-CDA7A6D29F6C}"/>
              </a:ext>
            </a:extLst>
          </p:cNvPr>
          <p:cNvSpPr txBox="1"/>
          <p:nvPr/>
        </p:nvSpPr>
        <p:spPr>
          <a:xfrm>
            <a:off x="9275804" y="3947687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E7F87A-2A23-48F3-8490-16D6C3989DC8}"/>
              </a:ext>
            </a:extLst>
          </p:cNvPr>
          <p:cNvSpPr txBox="1"/>
          <p:nvPr/>
        </p:nvSpPr>
        <p:spPr>
          <a:xfrm>
            <a:off x="8551520" y="5311060"/>
            <a:ext cx="466530" cy="39469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5D835753-7EBF-66E4-22E6-5E2DD6EC4795}"/>
              </a:ext>
            </a:extLst>
          </p:cNvPr>
          <p:cNvSpPr/>
          <p:nvPr/>
        </p:nvSpPr>
        <p:spPr>
          <a:xfrm>
            <a:off x="1683789" y="1653067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826CF776-AD12-AE62-7BF3-C946028E98CA}"/>
              </a:ext>
            </a:extLst>
          </p:cNvPr>
          <p:cNvSpPr/>
          <p:nvPr/>
        </p:nvSpPr>
        <p:spPr>
          <a:xfrm>
            <a:off x="4607770" y="1653066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D62B10DE-F3DE-C241-8825-FC0F5762E75D}"/>
              </a:ext>
            </a:extLst>
          </p:cNvPr>
          <p:cNvSpPr/>
          <p:nvPr/>
        </p:nvSpPr>
        <p:spPr>
          <a:xfrm>
            <a:off x="7456327" y="1615288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0C6353B5-7FEC-2BF7-B65E-0520E1A0E549}"/>
              </a:ext>
            </a:extLst>
          </p:cNvPr>
          <p:cNvSpPr/>
          <p:nvPr/>
        </p:nvSpPr>
        <p:spPr>
          <a:xfrm>
            <a:off x="10252789" y="1570382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710E162C-F1A5-954B-AF6D-4C785804A88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rot="5400000">
            <a:off x="3456641" y="1009309"/>
            <a:ext cx="1861770" cy="379561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6B7F1A-4BB0-D459-AB86-63F2E6BDAA0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6285334" y="2907118"/>
            <a:ext cx="10894" cy="910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C5B3430-1E99-EE1D-0154-4B45DC7B4BF7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285333" y="2910313"/>
            <a:ext cx="3538644" cy="888007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4D41A37-7026-62ED-4D1D-DE030187D6DE}"/>
              </a:ext>
            </a:extLst>
          </p:cNvPr>
          <p:cNvSpPr txBox="1"/>
          <p:nvPr/>
        </p:nvSpPr>
        <p:spPr>
          <a:xfrm>
            <a:off x="1141640" y="5890611"/>
            <a:ext cx="2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Swapping Battery Storage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452602-CDC6-6B6D-3590-109184E15E5A}"/>
              </a:ext>
            </a:extLst>
          </p:cNvPr>
          <p:cNvSpPr txBox="1"/>
          <p:nvPr/>
        </p:nvSpPr>
        <p:spPr>
          <a:xfrm>
            <a:off x="5023771" y="5870453"/>
            <a:ext cx="2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Swapping Battery Storage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14851F-BCF8-1C2F-943F-01F821F44210}"/>
              </a:ext>
            </a:extLst>
          </p:cNvPr>
          <p:cNvSpPr txBox="1"/>
          <p:nvPr/>
        </p:nvSpPr>
        <p:spPr>
          <a:xfrm>
            <a:off x="8617022" y="5822989"/>
            <a:ext cx="2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Swapping Battery Storage</a:t>
            </a:r>
          </a:p>
        </p:txBody>
      </p:sp>
    </p:spTree>
    <p:extLst>
      <p:ext uri="{BB962C8B-B14F-4D97-AF65-F5344CB8AC3E}">
        <p14:creationId xmlns:p14="http://schemas.microsoft.com/office/powerpoint/2010/main" val="272487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6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223935" y="136525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PPT Solar Inverter &amp; Charge Controller in India | Enertech">
            <a:extLst>
              <a:ext uri="{FF2B5EF4-FFF2-40B4-BE49-F238E27FC236}">
                <a16:creationId xmlns:a16="http://schemas.microsoft.com/office/drawing/2014/main" id="{66C5D335-3642-242D-39D8-8D863EB17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781" y="136525"/>
            <a:ext cx="1373901" cy="166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3783627" y="59533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c-dc Converter Module Price-China Ac-dc Converter Module Price  Manufacturers &amp; Suppliers | Made in China">
            <a:extLst>
              <a:ext uri="{FF2B5EF4-FFF2-40B4-BE49-F238E27FC236}">
                <a16:creationId xmlns:a16="http://schemas.microsoft.com/office/drawing/2014/main" id="{6705A5DC-3A9C-2F34-6305-AA6AA7017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9" b="25182"/>
          <a:stretch/>
        </p:blipFill>
        <p:spPr bwMode="auto">
          <a:xfrm>
            <a:off x="6736829" y="160038"/>
            <a:ext cx="1524000" cy="86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016" y="257111"/>
            <a:ext cx="1786784" cy="126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attery Swapping Infrastructure – An ...">
            <a:extLst>
              <a:ext uri="{FF2B5EF4-FFF2-40B4-BE49-F238E27FC236}">
                <a16:creationId xmlns:a16="http://schemas.microsoft.com/office/drawing/2014/main" id="{71E5126C-CA1C-7AE1-409A-BB93C44B0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73" y="2547937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Battery Swapping Infrastructure – An ...">
            <a:extLst>
              <a:ext uri="{FF2B5EF4-FFF2-40B4-BE49-F238E27FC236}">
                <a16:creationId xmlns:a16="http://schemas.microsoft.com/office/drawing/2014/main" id="{A34DACB7-6C65-8381-1B12-E045A1779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73" y="4452143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uck Boost DC-DC Converter 25A/50A/100A - Camper-Camper">
            <a:extLst>
              <a:ext uri="{FF2B5EF4-FFF2-40B4-BE49-F238E27FC236}">
                <a16:creationId xmlns:a16="http://schemas.microsoft.com/office/drawing/2014/main" id="{447DB487-027E-0627-C52F-D4E222199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088" y="2667494"/>
            <a:ext cx="1007221" cy="100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lectric Vehicle Charging and the ...">
            <a:extLst>
              <a:ext uri="{FF2B5EF4-FFF2-40B4-BE49-F238E27FC236}">
                <a16:creationId xmlns:a16="http://schemas.microsoft.com/office/drawing/2014/main" id="{28C14378-D5EA-1120-7A46-D2BD29916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682" y="4429477"/>
            <a:ext cx="3260369" cy="156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90BE462-8D30-C559-8707-FAB487EB0757}"/>
              </a:ext>
            </a:extLst>
          </p:cNvPr>
          <p:cNvSpPr/>
          <p:nvPr/>
        </p:nvSpPr>
        <p:spPr>
          <a:xfrm>
            <a:off x="6847681" y="1583742"/>
            <a:ext cx="5256276" cy="23866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6DB0E-E630-E8FD-F273-E928EEEE66C3}"/>
              </a:ext>
            </a:extLst>
          </p:cNvPr>
          <p:cNvSpPr txBox="1"/>
          <p:nvPr/>
        </p:nvSpPr>
        <p:spPr>
          <a:xfrm>
            <a:off x="6965851" y="1644047"/>
            <a:ext cx="5046693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Central Control Monitoring </a:t>
            </a:r>
          </a:p>
        </p:txBody>
      </p:sp>
      <p:pic>
        <p:nvPicPr>
          <p:cNvPr id="1042" name="Picture 18" descr="EV Charging Station Finder App ...">
            <a:extLst>
              <a:ext uri="{FF2B5EF4-FFF2-40B4-BE49-F238E27FC236}">
                <a16:creationId xmlns:a16="http://schemas.microsoft.com/office/drawing/2014/main" id="{6473DBCF-6A86-870B-78F1-360B2BCE3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525" y="5114350"/>
            <a:ext cx="1815168" cy="10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V Charging Station Booking Web ...">
            <a:extLst>
              <a:ext uri="{FF2B5EF4-FFF2-40B4-BE49-F238E27FC236}">
                <a16:creationId xmlns:a16="http://schemas.microsoft.com/office/drawing/2014/main" id="{5D2EF5E6-DB12-829C-753C-CCD11917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596" y="5213953"/>
            <a:ext cx="1314943" cy="73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v Dashboard designs, themes, templates and downloadable graphic elements  on Dribbble">
            <a:extLst>
              <a:ext uri="{FF2B5EF4-FFF2-40B4-BE49-F238E27FC236}">
                <a16:creationId xmlns:a16="http://schemas.microsoft.com/office/drawing/2014/main" id="{3D965FF7-8BF5-E55A-95F4-D59FFCE61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619" y="2073025"/>
            <a:ext cx="5038925" cy="170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The six different types of cloud briefly introduced">
            <a:extLst>
              <a:ext uri="{FF2B5EF4-FFF2-40B4-BE49-F238E27FC236}">
                <a16:creationId xmlns:a16="http://schemas.microsoft.com/office/drawing/2014/main" id="{129C6762-D7CB-1D6A-48B3-4A0FB9404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81" y="4088536"/>
            <a:ext cx="690470" cy="44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2B6A3F-9C22-7C7B-AFDB-987162CEC81B}"/>
              </a:ext>
            </a:extLst>
          </p:cNvPr>
          <p:cNvSpPr txBox="1"/>
          <p:nvPr/>
        </p:nvSpPr>
        <p:spPr>
          <a:xfrm>
            <a:off x="9215535" y="4191738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E9137-E61F-2EB0-E511-9731521E05AF}"/>
              </a:ext>
            </a:extLst>
          </p:cNvPr>
          <p:cNvSpPr txBox="1"/>
          <p:nvPr/>
        </p:nvSpPr>
        <p:spPr>
          <a:xfrm>
            <a:off x="495673" y="1938020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13550-198C-C692-19A4-D1FEB18D4E1E}"/>
              </a:ext>
            </a:extLst>
          </p:cNvPr>
          <p:cNvSpPr txBox="1"/>
          <p:nvPr/>
        </p:nvSpPr>
        <p:spPr>
          <a:xfrm>
            <a:off x="2201976" y="1504456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MPPT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9C8AD-CBEA-9A91-E158-EACFA57E4601}"/>
              </a:ext>
            </a:extLst>
          </p:cNvPr>
          <p:cNvSpPr txBox="1"/>
          <p:nvPr/>
        </p:nvSpPr>
        <p:spPr>
          <a:xfrm>
            <a:off x="4703835" y="1873788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26504E-E39A-2860-DB4E-E81C9AD9B988}"/>
              </a:ext>
            </a:extLst>
          </p:cNvPr>
          <p:cNvSpPr txBox="1"/>
          <p:nvPr/>
        </p:nvSpPr>
        <p:spPr>
          <a:xfrm>
            <a:off x="6855422" y="917933"/>
            <a:ext cx="164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 directional converter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68D2B-4FBE-D32B-3A0D-67D03A0B9985}"/>
              </a:ext>
            </a:extLst>
          </p:cNvPr>
          <p:cNvSpPr txBox="1"/>
          <p:nvPr/>
        </p:nvSpPr>
        <p:spPr>
          <a:xfrm>
            <a:off x="10460408" y="99959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5A945D-D3BE-FEF7-03D7-C67A6B941D17}"/>
              </a:ext>
            </a:extLst>
          </p:cNvPr>
          <p:cNvSpPr txBox="1"/>
          <p:nvPr/>
        </p:nvSpPr>
        <p:spPr>
          <a:xfrm>
            <a:off x="1035698" y="6169580"/>
            <a:ext cx="1478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Swapping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736A9-64CE-F745-167B-8BE03206282D}"/>
              </a:ext>
            </a:extLst>
          </p:cNvPr>
          <p:cNvSpPr txBox="1"/>
          <p:nvPr/>
        </p:nvSpPr>
        <p:spPr>
          <a:xfrm>
            <a:off x="4229698" y="5950321"/>
            <a:ext cx="1478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Fast Charging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8A2863-DC45-60DF-EDAC-AAA422F086AD}"/>
              </a:ext>
            </a:extLst>
          </p:cNvPr>
          <p:cNvSpPr txBox="1"/>
          <p:nvPr/>
        </p:nvSpPr>
        <p:spPr>
          <a:xfrm>
            <a:off x="8937648" y="6134987"/>
            <a:ext cx="208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Interface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61994-B443-340D-80A2-3F81634E8AC5}"/>
              </a:ext>
            </a:extLst>
          </p:cNvPr>
          <p:cNvSpPr txBox="1"/>
          <p:nvPr/>
        </p:nvSpPr>
        <p:spPr>
          <a:xfrm>
            <a:off x="3472143" y="3629890"/>
            <a:ext cx="1478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 – Boost converter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EB37A30-7752-DEC5-E7E5-59399A31BAEA}"/>
              </a:ext>
            </a:extLst>
          </p:cNvPr>
          <p:cNvSpPr/>
          <p:nvPr/>
        </p:nvSpPr>
        <p:spPr>
          <a:xfrm>
            <a:off x="1665567" y="1094447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67CB3B4-D02C-730A-92F3-22C514EB5235}"/>
              </a:ext>
            </a:extLst>
          </p:cNvPr>
          <p:cNvSpPr/>
          <p:nvPr/>
        </p:nvSpPr>
        <p:spPr>
          <a:xfrm>
            <a:off x="3297568" y="1083141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B1D696E-DFE6-4518-04D2-93B756B84D01}"/>
              </a:ext>
            </a:extLst>
          </p:cNvPr>
          <p:cNvSpPr/>
          <p:nvPr/>
        </p:nvSpPr>
        <p:spPr>
          <a:xfrm>
            <a:off x="6339733" y="701345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7864166-20CC-2B5C-E2DE-25B29E8B540E}"/>
              </a:ext>
            </a:extLst>
          </p:cNvPr>
          <p:cNvSpPr/>
          <p:nvPr/>
        </p:nvSpPr>
        <p:spPr>
          <a:xfrm>
            <a:off x="8663513" y="1083141"/>
            <a:ext cx="903503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D636E99B-FF50-8804-1D4D-05F8E729A8E1}"/>
              </a:ext>
            </a:extLst>
          </p:cNvPr>
          <p:cNvSpPr/>
          <p:nvPr/>
        </p:nvSpPr>
        <p:spPr>
          <a:xfrm rot="10800000">
            <a:off x="8657517" y="880127"/>
            <a:ext cx="903503" cy="84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4C45763-C240-87F9-3D26-349BF2DF6A8D}"/>
              </a:ext>
            </a:extLst>
          </p:cNvPr>
          <p:cNvSpPr/>
          <p:nvPr/>
        </p:nvSpPr>
        <p:spPr>
          <a:xfrm rot="5400000">
            <a:off x="9332616" y="4754235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2BB23D4-9143-31FE-9CDE-8FB872B66184}"/>
              </a:ext>
            </a:extLst>
          </p:cNvPr>
          <p:cNvSpPr/>
          <p:nvPr/>
        </p:nvSpPr>
        <p:spPr>
          <a:xfrm rot="5400000">
            <a:off x="3949955" y="2204460"/>
            <a:ext cx="858900" cy="671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6C609F7-3737-DC89-A700-79F09D45C6AD}"/>
              </a:ext>
            </a:extLst>
          </p:cNvPr>
          <p:cNvSpPr/>
          <p:nvPr/>
        </p:nvSpPr>
        <p:spPr>
          <a:xfrm rot="10800000">
            <a:off x="3177868" y="3169984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FE8FF38-DE27-5B6D-BED1-F6C88FD5344B}"/>
              </a:ext>
            </a:extLst>
          </p:cNvPr>
          <p:cNvSpPr/>
          <p:nvPr/>
        </p:nvSpPr>
        <p:spPr>
          <a:xfrm rot="5400000">
            <a:off x="4347255" y="3081104"/>
            <a:ext cx="2512489" cy="97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Wi-Fi with solid fill">
            <a:extLst>
              <a:ext uri="{FF2B5EF4-FFF2-40B4-BE49-F238E27FC236}">
                <a16:creationId xmlns:a16="http://schemas.microsoft.com/office/drawing/2014/main" id="{052A63D8-C1B5-B968-C4D7-009A607848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3958" y="1841530"/>
            <a:ext cx="369332" cy="369332"/>
          </a:xfrm>
          <a:prstGeom prst="rect">
            <a:avLst/>
          </a:prstGeom>
        </p:spPr>
      </p:pic>
      <p:pic>
        <p:nvPicPr>
          <p:cNvPr id="32" name="Graphic 31" descr="Wi-Fi with solid fill">
            <a:extLst>
              <a:ext uri="{FF2B5EF4-FFF2-40B4-BE49-F238E27FC236}">
                <a16:creationId xmlns:a16="http://schemas.microsoft.com/office/drawing/2014/main" id="{8DB07203-A62A-86E6-AD9B-5B767EAA01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0873" y="1502528"/>
            <a:ext cx="369332" cy="369332"/>
          </a:xfrm>
          <a:prstGeom prst="rect">
            <a:avLst/>
          </a:prstGeom>
        </p:spPr>
      </p:pic>
      <p:pic>
        <p:nvPicPr>
          <p:cNvPr id="33" name="Graphic 32" descr="Wi-Fi with solid fill">
            <a:extLst>
              <a:ext uri="{FF2B5EF4-FFF2-40B4-BE49-F238E27FC236}">
                <a16:creationId xmlns:a16="http://schemas.microsoft.com/office/drawing/2014/main" id="{C6145898-0866-9B6D-7599-8D2EB8D8CE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91076" y="361732"/>
            <a:ext cx="369332" cy="369332"/>
          </a:xfrm>
          <a:prstGeom prst="rect">
            <a:avLst/>
          </a:prstGeom>
        </p:spPr>
      </p:pic>
      <p:pic>
        <p:nvPicPr>
          <p:cNvPr id="34" name="Graphic 33" descr="Wi-Fi with solid fill">
            <a:extLst>
              <a:ext uri="{FF2B5EF4-FFF2-40B4-BE49-F238E27FC236}">
                <a16:creationId xmlns:a16="http://schemas.microsoft.com/office/drawing/2014/main" id="{AE09660B-2920-3B38-5A5A-96CB82E6E6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48978" y="2228507"/>
            <a:ext cx="36933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8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7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659222" y="752716"/>
            <a:ext cx="1101156" cy="143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4803311" y="700980"/>
            <a:ext cx="1786784" cy="136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5462" y="2768916"/>
            <a:ext cx="1786784" cy="126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Battery Swapping Infrastructure – An ...">
            <a:extLst>
              <a:ext uri="{FF2B5EF4-FFF2-40B4-BE49-F238E27FC236}">
                <a16:creationId xmlns:a16="http://schemas.microsoft.com/office/drawing/2014/main" id="{A34DACB7-6C65-8381-1B12-E045A1779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256" y="4927044"/>
            <a:ext cx="2089105" cy="141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lectric Vehicle Charging and the ...">
            <a:extLst>
              <a:ext uri="{FF2B5EF4-FFF2-40B4-BE49-F238E27FC236}">
                <a16:creationId xmlns:a16="http://schemas.microsoft.com/office/drawing/2014/main" id="{28C14378-D5EA-1120-7A46-D2BD29916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246" y="5049085"/>
            <a:ext cx="2671665" cy="128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90BE462-8D30-C559-8707-FAB487EB0757}"/>
              </a:ext>
            </a:extLst>
          </p:cNvPr>
          <p:cNvSpPr/>
          <p:nvPr/>
        </p:nvSpPr>
        <p:spPr>
          <a:xfrm>
            <a:off x="3581400" y="2315583"/>
            <a:ext cx="4410622" cy="20140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6DB0E-E630-E8FD-F273-E928EEEE66C3}"/>
              </a:ext>
            </a:extLst>
          </p:cNvPr>
          <p:cNvSpPr txBox="1"/>
          <p:nvPr/>
        </p:nvSpPr>
        <p:spPr>
          <a:xfrm>
            <a:off x="3699571" y="2375888"/>
            <a:ext cx="4234758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Central Control Monitoring </a:t>
            </a:r>
          </a:p>
        </p:txBody>
      </p:sp>
      <p:pic>
        <p:nvPicPr>
          <p:cNvPr id="1042" name="Picture 18" descr="EV Charging Station Finder App ...">
            <a:extLst>
              <a:ext uri="{FF2B5EF4-FFF2-40B4-BE49-F238E27FC236}">
                <a16:creationId xmlns:a16="http://schemas.microsoft.com/office/drawing/2014/main" id="{6473DBCF-6A86-870B-78F1-360B2BCE3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168" y="2116120"/>
            <a:ext cx="1815168" cy="10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V Charging Station Booking Web ...">
            <a:extLst>
              <a:ext uri="{FF2B5EF4-FFF2-40B4-BE49-F238E27FC236}">
                <a16:creationId xmlns:a16="http://schemas.microsoft.com/office/drawing/2014/main" id="{5D2EF5E6-DB12-829C-753C-CCD11917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595" y="3610450"/>
            <a:ext cx="1314943" cy="73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v Dashboard designs, themes, templates and downloadable graphic elements  on Dribbble">
            <a:extLst>
              <a:ext uri="{FF2B5EF4-FFF2-40B4-BE49-F238E27FC236}">
                <a16:creationId xmlns:a16="http://schemas.microsoft.com/office/drawing/2014/main" id="{3D965FF7-8BF5-E55A-95F4-D59FFCE61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338" y="2804866"/>
            <a:ext cx="4252277" cy="143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The six different types of cloud briefly introduced">
            <a:extLst>
              <a:ext uri="{FF2B5EF4-FFF2-40B4-BE49-F238E27FC236}">
                <a16:creationId xmlns:a16="http://schemas.microsoft.com/office/drawing/2014/main" id="{129C6762-D7CB-1D6A-48B3-4A0FB9404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349" y="3032502"/>
            <a:ext cx="690470" cy="44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E8A2863-DC45-60DF-EDAC-AAA422F086AD}"/>
              </a:ext>
            </a:extLst>
          </p:cNvPr>
          <p:cNvSpPr txBox="1"/>
          <p:nvPr/>
        </p:nvSpPr>
        <p:spPr>
          <a:xfrm>
            <a:off x="8937648" y="6134987"/>
            <a:ext cx="208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Interface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CBDFE-F1C8-2C8F-5896-4A09A257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7253778" cy="681037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A745027-BB8F-A059-1D3C-641C485E832E}"/>
              </a:ext>
            </a:extLst>
          </p:cNvPr>
          <p:cNvSpPr/>
          <p:nvPr/>
        </p:nvSpPr>
        <p:spPr>
          <a:xfrm rot="2529677">
            <a:off x="2908400" y="1884383"/>
            <a:ext cx="574310" cy="176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755352E-23A4-5676-6FFB-11C1705D728E}"/>
              </a:ext>
            </a:extLst>
          </p:cNvPr>
          <p:cNvSpPr/>
          <p:nvPr/>
        </p:nvSpPr>
        <p:spPr>
          <a:xfrm>
            <a:off x="8117960" y="3277699"/>
            <a:ext cx="424400" cy="151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0BE31F44-31DE-C185-DCA7-0E11D5D4B161}"/>
              </a:ext>
            </a:extLst>
          </p:cNvPr>
          <p:cNvSpPr/>
          <p:nvPr/>
        </p:nvSpPr>
        <p:spPr>
          <a:xfrm>
            <a:off x="2438184" y="3475554"/>
            <a:ext cx="930167" cy="182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CD23A64-DDC0-E70A-82C3-D9D37D81D145}"/>
              </a:ext>
            </a:extLst>
          </p:cNvPr>
          <p:cNvSpPr/>
          <p:nvPr/>
        </p:nvSpPr>
        <p:spPr>
          <a:xfrm rot="5400000">
            <a:off x="5666327" y="2019813"/>
            <a:ext cx="305948" cy="192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A97B8C12-417B-D7B4-6837-F03DF5611CE0}"/>
              </a:ext>
            </a:extLst>
          </p:cNvPr>
          <p:cNvSpPr/>
          <p:nvPr/>
        </p:nvSpPr>
        <p:spPr>
          <a:xfrm rot="20333359">
            <a:off x="9469397" y="2742483"/>
            <a:ext cx="499225" cy="1684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415ECD2-0404-3E44-4F42-DFDA3643DDC6}"/>
              </a:ext>
            </a:extLst>
          </p:cNvPr>
          <p:cNvSpPr/>
          <p:nvPr/>
        </p:nvSpPr>
        <p:spPr>
          <a:xfrm rot="1837380">
            <a:off x="9552067" y="3644069"/>
            <a:ext cx="456807" cy="1592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BF23730-191D-68A3-BA17-6BB98DA4B306}"/>
              </a:ext>
            </a:extLst>
          </p:cNvPr>
          <p:cNvSpPr/>
          <p:nvPr/>
        </p:nvSpPr>
        <p:spPr>
          <a:xfrm rot="18865315">
            <a:off x="3818479" y="4620832"/>
            <a:ext cx="440243" cy="132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7DE24CC-1E5F-5AEF-0B7D-29BE369B03AA}"/>
              </a:ext>
            </a:extLst>
          </p:cNvPr>
          <p:cNvSpPr/>
          <p:nvPr/>
        </p:nvSpPr>
        <p:spPr>
          <a:xfrm rot="13520812">
            <a:off x="6608736" y="4530979"/>
            <a:ext cx="440243" cy="132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39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1B0580-26EC-1348-9DFC-D60A35149EA6}"/>
              </a:ext>
            </a:extLst>
          </p:cNvPr>
          <p:cNvSpPr txBox="1"/>
          <p:nvPr/>
        </p:nvSpPr>
        <p:spPr>
          <a:xfrm>
            <a:off x="211769" y="535786"/>
            <a:ext cx="2743200" cy="193650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8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267451" y="702169"/>
            <a:ext cx="508491" cy="66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804353" y="602383"/>
            <a:ext cx="1065645" cy="8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93297" y="687556"/>
            <a:ext cx="930893" cy="66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Battery Swapping Infrastructure – An ...">
            <a:extLst>
              <a:ext uri="{FF2B5EF4-FFF2-40B4-BE49-F238E27FC236}">
                <a16:creationId xmlns:a16="http://schemas.microsoft.com/office/drawing/2014/main" id="{A34DACB7-6C65-8381-1B12-E045A1779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15" y="1549889"/>
            <a:ext cx="1156126" cy="78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lectric Vehicle Charging and the ...">
            <a:extLst>
              <a:ext uri="{FF2B5EF4-FFF2-40B4-BE49-F238E27FC236}">
                <a16:creationId xmlns:a16="http://schemas.microsoft.com/office/drawing/2014/main" id="{28C14378-D5EA-1120-7A46-D2BD29916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89" y="1579866"/>
            <a:ext cx="965042" cy="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90BE462-8D30-C559-8707-FAB487EB0757}"/>
              </a:ext>
            </a:extLst>
          </p:cNvPr>
          <p:cNvSpPr/>
          <p:nvPr/>
        </p:nvSpPr>
        <p:spPr>
          <a:xfrm>
            <a:off x="4866228" y="2605745"/>
            <a:ext cx="3218617" cy="16627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6DB0E-E630-E8FD-F273-E928EEEE66C3}"/>
              </a:ext>
            </a:extLst>
          </p:cNvPr>
          <p:cNvSpPr txBox="1"/>
          <p:nvPr/>
        </p:nvSpPr>
        <p:spPr>
          <a:xfrm>
            <a:off x="5045485" y="2692304"/>
            <a:ext cx="2860099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Central Control Monitoring </a:t>
            </a:r>
          </a:p>
        </p:txBody>
      </p:sp>
      <p:pic>
        <p:nvPicPr>
          <p:cNvPr id="1042" name="Picture 18" descr="EV Charging Station Finder App ...">
            <a:extLst>
              <a:ext uri="{FF2B5EF4-FFF2-40B4-BE49-F238E27FC236}">
                <a16:creationId xmlns:a16="http://schemas.microsoft.com/office/drawing/2014/main" id="{6473DBCF-6A86-870B-78F1-360B2BCE3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8075" y="1263995"/>
            <a:ext cx="1815168" cy="10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V Charging Station Booking Web ...">
            <a:extLst>
              <a:ext uri="{FF2B5EF4-FFF2-40B4-BE49-F238E27FC236}">
                <a16:creationId xmlns:a16="http://schemas.microsoft.com/office/drawing/2014/main" id="{5D2EF5E6-DB12-829C-753C-CCD11917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562" y="4154531"/>
            <a:ext cx="1314943" cy="73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v Dashboard designs, themes, templates and downloadable graphic elements  on Dribbble">
            <a:extLst>
              <a:ext uri="{FF2B5EF4-FFF2-40B4-BE49-F238E27FC236}">
                <a16:creationId xmlns:a16="http://schemas.microsoft.com/office/drawing/2014/main" id="{3D965FF7-8BF5-E55A-95F4-D59FFCE61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492" y="3131282"/>
            <a:ext cx="3138087" cy="106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The six different types of cloud briefly introduced">
            <a:extLst>
              <a:ext uri="{FF2B5EF4-FFF2-40B4-BE49-F238E27FC236}">
                <a16:creationId xmlns:a16="http://schemas.microsoft.com/office/drawing/2014/main" id="{129C6762-D7CB-1D6A-48B3-4A0FB9404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813" y="3085186"/>
            <a:ext cx="690470" cy="44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CBDFE-F1C8-2C8F-5896-4A09A257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7253778" cy="681037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A745027-BB8F-A059-1D3C-641C485E832E}"/>
              </a:ext>
            </a:extLst>
          </p:cNvPr>
          <p:cNvSpPr/>
          <p:nvPr/>
        </p:nvSpPr>
        <p:spPr>
          <a:xfrm rot="1726783" flipV="1">
            <a:off x="2929035" y="2572067"/>
            <a:ext cx="2024881" cy="126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755352E-23A4-5676-6FFB-11C1705D728E}"/>
              </a:ext>
            </a:extLst>
          </p:cNvPr>
          <p:cNvSpPr/>
          <p:nvPr/>
        </p:nvSpPr>
        <p:spPr>
          <a:xfrm>
            <a:off x="3020560" y="3454202"/>
            <a:ext cx="1775074" cy="126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415ECD2-0404-3E44-4F42-DFDA3643DDC6}"/>
              </a:ext>
            </a:extLst>
          </p:cNvPr>
          <p:cNvSpPr/>
          <p:nvPr/>
        </p:nvSpPr>
        <p:spPr>
          <a:xfrm rot="19600390">
            <a:off x="8840843" y="2597843"/>
            <a:ext cx="949655" cy="168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BF23730-191D-68A3-BA17-6BB98DA4B306}"/>
              </a:ext>
            </a:extLst>
          </p:cNvPr>
          <p:cNvSpPr/>
          <p:nvPr/>
        </p:nvSpPr>
        <p:spPr>
          <a:xfrm rot="20294034">
            <a:off x="2980922" y="4497381"/>
            <a:ext cx="1884197" cy="182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7DE24CC-1E5F-5AEF-0B7D-29BE369B03AA}"/>
              </a:ext>
            </a:extLst>
          </p:cNvPr>
          <p:cNvSpPr/>
          <p:nvPr/>
        </p:nvSpPr>
        <p:spPr>
          <a:xfrm rot="1511072">
            <a:off x="8982588" y="3801703"/>
            <a:ext cx="854793" cy="179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25ED2-E3C4-F820-7E40-C3334B4D0FAA}"/>
              </a:ext>
            </a:extLst>
          </p:cNvPr>
          <p:cNvSpPr txBox="1"/>
          <p:nvPr/>
        </p:nvSpPr>
        <p:spPr>
          <a:xfrm>
            <a:off x="202302" y="4507269"/>
            <a:ext cx="2743200" cy="193650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4C67DDAC-D94A-2FC3-2619-E3636DF37F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257984" y="4673652"/>
            <a:ext cx="508491" cy="66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8DA8840C-53B2-1437-8348-B5DA7553EA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794886" y="4573866"/>
            <a:ext cx="1065645" cy="8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71DF1F58-63C1-A1DD-FD5F-07257C9BF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83830" y="4659039"/>
            <a:ext cx="930893" cy="66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attery Swapping Infrastructure – An ...">
            <a:extLst>
              <a:ext uri="{FF2B5EF4-FFF2-40B4-BE49-F238E27FC236}">
                <a16:creationId xmlns:a16="http://schemas.microsoft.com/office/drawing/2014/main" id="{8CB04EA5-4803-2E45-5E3B-F8AAA2C9E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548" y="5521372"/>
            <a:ext cx="1156126" cy="78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6" descr="Electric Vehicle Charging and the ...">
            <a:extLst>
              <a:ext uri="{FF2B5EF4-FFF2-40B4-BE49-F238E27FC236}">
                <a16:creationId xmlns:a16="http://schemas.microsoft.com/office/drawing/2014/main" id="{BA7F97E3-65C8-0C69-A7B0-B9269AC43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22" y="5551349"/>
            <a:ext cx="965042" cy="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546F5C-9552-0765-CAD2-439BD73A9EC9}"/>
              </a:ext>
            </a:extLst>
          </p:cNvPr>
          <p:cNvSpPr txBox="1"/>
          <p:nvPr/>
        </p:nvSpPr>
        <p:spPr>
          <a:xfrm>
            <a:off x="4415196" y="538645"/>
            <a:ext cx="2743200" cy="193650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8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768F1CAD-515C-49FA-88EC-82011BBC9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4470878" y="705028"/>
            <a:ext cx="508491" cy="66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FE8F4122-6B58-DAC7-FCEB-42CB1D95B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5007780" y="605242"/>
            <a:ext cx="1065645" cy="8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C9C57D7A-ACF1-F9E1-B4E0-87A299817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724" y="690415"/>
            <a:ext cx="930893" cy="66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Battery Swapping Infrastructure – An ...">
            <a:extLst>
              <a:ext uri="{FF2B5EF4-FFF2-40B4-BE49-F238E27FC236}">
                <a16:creationId xmlns:a16="http://schemas.microsoft.com/office/drawing/2014/main" id="{DD0E346A-6E25-55FA-BE0E-C6D34E99A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989" y="1597993"/>
            <a:ext cx="1156126" cy="78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 descr="Electric Vehicle Charging and the ...">
            <a:extLst>
              <a:ext uri="{FF2B5EF4-FFF2-40B4-BE49-F238E27FC236}">
                <a16:creationId xmlns:a16="http://schemas.microsoft.com/office/drawing/2014/main" id="{E4133B2B-F092-A567-FBB9-89A058E00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16" y="1582725"/>
            <a:ext cx="965042" cy="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8123BBE-9524-091B-D931-845224FBC798}"/>
              </a:ext>
            </a:extLst>
          </p:cNvPr>
          <p:cNvSpPr txBox="1"/>
          <p:nvPr/>
        </p:nvSpPr>
        <p:spPr>
          <a:xfrm>
            <a:off x="204804" y="2530074"/>
            <a:ext cx="2743200" cy="193650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5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D971C4B0-DC7C-8C1C-7D54-0B587443F3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260486" y="2696457"/>
            <a:ext cx="508491" cy="66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D542687E-653C-5395-955A-FD062B2A0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797388" y="2596671"/>
            <a:ext cx="1065645" cy="8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4B41D56B-5047-E338-93F7-3B951E459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86332" y="2681844"/>
            <a:ext cx="930893" cy="66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Battery Swapping Infrastructure – An ...">
            <a:extLst>
              <a:ext uri="{FF2B5EF4-FFF2-40B4-BE49-F238E27FC236}">
                <a16:creationId xmlns:a16="http://schemas.microsoft.com/office/drawing/2014/main" id="{38B456E0-2FB5-A1B7-5E48-620EB76C9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050" y="3544177"/>
            <a:ext cx="1156126" cy="78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 descr="Electric Vehicle Charging and the ...">
            <a:extLst>
              <a:ext uri="{FF2B5EF4-FFF2-40B4-BE49-F238E27FC236}">
                <a16:creationId xmlns:a16="http://schemas.microsoft.com/office/drawing/2014/main" id="{11575A35-2D5C-29B7-DA02-51E7AEE81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24" y="3574154"/>
            <a:ext cx="965042" cy="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237E74E-0B7D-2EC7-E011-A23781542138}"/>
              </a:ext>
            </a:extLst>
          </p:cNvPr>
          <p:cNvSpPr txBox="1"/>
          <p:nvPr/>
        </p:nvSpPr>
        <p:spPr>
          <a:xfrm>
            <a:off x="5045485" y="4508771"/>
            <a:ext cx="2743200" cy="193650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1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84365B28-E237-283F-C73D-5C650E6C12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5101167" y="4675154"/>
            <a:ext cx="508491" cy="66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07584B6A-F458-48D1-83D7-4AD9EF49F1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5638069" y="4575368"/>
            <a:ext cx="1065645" cy="8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9112AD4C-ECFF-04A8-F70E-C3B8782EC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27013" y="4660541"/>
            <a:ext cx="930893" cy="66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Battery Swapping Infrastructure – An ...">
            <a:extLst>
              <a:ext uri="{FF2B5EF4-FFF2-40B4-BE49-F238E27FC236}">
                <a16:creationId xmlns:a16="http://schemas.microsoft.com/office/drawing/2014/main" id="{A787F7A7-9140-819B-74C7-83A651542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731" y="5522874"/>
            <a:ext cx="1156126" cy="78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6" descr="Electric Vehicle Charging and the ...">
            <a:extLst>
              <a:ext uri="{FF2B5EF4-FFF2-40B4-BE49-F238E27FC236}">
                <a16:creationId xmlns:a16="http://schemas.microsoft.com/office/drawing/2014/main" id="{E819C95F-0283-6820-3D00-9A833809B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605" y="5552851"/>
            <a:ext cx="965042" cy="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976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307956"/>
              </p:ext>
            </p:extLst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Microcontroller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Communication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9</a:t>
            </a:fld>
            <a:endParaRPr lang="en-IN"/>
          </a:p>
        </p:txBody>
      </p:sp>
      <p:pic>
        <p:nvPicPr>
          <p:cNvPr id="11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E6C99F88-A87D-77B4-AD5A-D406F6A27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007941" y="1989597"/>
            <a:ext cx="1634119" cy="212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816221" y="1760020"/>
            <a:ext cx="5990253" cy="77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 Output, Current Output, Power Generation</a:t>
            </a:r>
            <a:endParaRPr lang="en-US" sz="1800" kern="100" dirty="0">
              <a:effectLst/>
              <a:highlight>
                <a:srgbClr val="C0C0C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Temperature, Light Intensity, Humidity, Fault Detection</a:t>
            </a:r>
            <a:endParaRPr lang="en-US" sz="1800" kern="100" dirty="0">
              <a:effectLst/>
              <a:highlight>
                <a:srgbClr val="C0C0C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1" y="2762558"/>
            <a:ext cx="224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ESP32, </a:t>
            </a:r>
            <a:r>
              <a:rPr lang="en-US" sz="1800" b="1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Arduino Uno </a:t>
            </a:r>
            <a:endParaRPr lang="en-US" sz="1800" b="1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4" y="3356907"/>
            <a:ext cx="224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Wireless</a:t>
            </a: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AWS – IOT core, lambda function, Data visualization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10198925" y="4204174"/>
            <a:ext cx="144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Solar Pannel</a:t>
            </a:r>
          </a:p>
        </p:txBody>
      </p:sp>
    </p:spTree>
    <p:extLst>
      <p:ext uri="{BB962C8B-B14F-4D97-AF65-F5344CB8AC3E}">
        <p14:creationId xmlns:p14="http://schemas.microsoft.com/office/powerpoint/2010/main" val="3610554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843086"/>
              </p:ext>
            </p:extLst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BMS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10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816221" y="1760020"/>
            <a:ext cx="682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Voltage, Current, Temperature, Battery Health,  Charge/Discharge Cycles, Energy Input/Output,  Fault Detection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0" y="2762558"/>
            <a:ext cx="274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SOC, SOH, DOD, SOP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4" y="3356907"/>
            <a:ext cx="430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10632232" y="4210166"/>
            <a:ext cx="144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ESS</a:t>
            </a:r>
          </a:p>
        </p:txBody>
      </p:sp>
      <p:pic>
        <p:nvPicPr>
          <p:cNvPr id="3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70194F01-A688-6FC4-6D3C-F34012DBA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9562888" y="2322466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58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605534"/>
              </p:ext>
            </p:extLst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Acquisition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11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816221" y="1760020"/>
            <a:ext cx="7778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Voltage, Current, Frequency, Power Factor, Harmonics, Load, Transformer Health, Fault Detection, Grid Stability, Renewable Energy Integration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1" y="2762558"/>
            <a:ext cx="63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PLC or RTU collects and processes data from sensors.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4" y="3356907"/>
            <a:ext cx="224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Wireless</a:t>
            </a: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AWS – IOT core, lambda function, Data visualization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10851503" y="4069533"/>
            <a:ext cx="84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Grid</a:t>
            </a:r>
          </a:p>
        </p:txBody>
      </p:sp>
      <p:pic>
        <p:nvPicPr>
          <p:cNvPr id="3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FE5E5684-EABA-EF38-B8BB-C27C02A86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857" y="2739423"/>
            <a:ext cx="1921004" cy="136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73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864433"/>
              </p:ext>
            </p:extLst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Processing Unit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12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772540" y="1467488"/>
            <a:ext cx="7537579" cy="1176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 of Charge (SoC), Battery Voltage, Battery Current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Temperature, Battery Health, Swapping Time, Fault Detection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Inventory Management, User Identification, Energy Usage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1" y="2762558"/>
            <a:ext cx="5918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Microcontroller or PLC processes data and manages the swapping process.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77643" y="296486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 rot="420008">
            <a:off x="2987119" y="3511654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9806474" y="4101581"/>
            <a:ext cx="208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Battery Swapping </a:t>
            </a:r>
          </a:p>
        </p:txBody>
      </p:sp>
      <p:pic>
        <p:nvPicPr>
          <p:cNvPr id="7" name="Picture 12" descr="Battery Swapping Infrastructure – An ...">
            <a:extLst>
              <a:ext uri="{FF2B5EF4-FFF2-40B4-BE49-F238E27FC236}">
                <a16:creationId xmlns:a16="http://schemas.microsoft.com/office/drawing/2014/main" id="{D42718BD-5AD3-0CFD-EC9E-89D27FF10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312" y="2611097"/>
            <a:ext cx="2089105" cy="141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524061E-CE31-17E2-4DB8-AE8D6DC8EB37}"/>
              </a:ext>
            </a:extLst>
          </p:cNvPr>
          <p:cNvSpPr txBox="1"/>
          <p:nvPr/>
        </p:nvSpPr>
        <p:spPr>
          <a:xfrm>
            <a:off x="3803353" y="3429316"/>
            <a:ext cx="430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5DE02B-0574-0E52-5A5A-23F92141A3C0}"/>
              </a:ext>
            </a:extLst>
          </p:cNvPr>
          <p:cNvSpPr txBox="1"/>
          <p:nvPr/>
        </p:nvSpPr>
        <p:spPr>
          <a:xfrm>
            <a:off x="3803353" y="3966913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</p:spTree>
    <p:extLst>
      <p:ext uri="{BB962C8B-B14F-4D97-AF65-F5344CB8AC3E}">
        <p14:creationId xmlns:p14="http://schemas.microsoft.com/office/powerpoint/2010/main" val="189891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895797"/>
              </p:ext>
            </p:extLst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Acquisition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13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679234" y="1326578"/>
            <a:ext cx="879579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Status, Charging Power, Charging Time, Energy Delivered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Efficiency, User Identification: Authenticates users, Fault Detection, Utilization Rate, Station Availability, Location Tracking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723623" y="2596978"/>
            <a:ext cx="562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station controller collects and processes sensor data.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3" y="3356907"/>
            <a:ext cx="4538215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9918442" y="4003786"/>
            <a:ext cx="179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DC fast charging</a:t>
            </a:r>
          </a:p>
        </p:txBody>
      </p:sp>
      <p:pic>
        <p:nvPicPr>
          <p:cNvPr id="8" name="Picture 16" descr="Electric Vehicle Charging and the ...">
            <a:extLst>
              <a:ext uri="{FF2B5EF4-FFF2-40B4-BE49-F238E27FC236}">
                <a16:creationId xmlns:a16="http://schemas.microsoft.com/office/drawing/2014/main" id="{F9FF7894-9A33-B0CF-B234-365F0490C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1065" y="2603289"/>
            <a:ext cx="2671665" cy="128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597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768019"/>
              </p:ext>
            </p:extLst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Ingestion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Processing Layer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14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679234" y="1326578"/>
            <a:ext cx="879579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Status, Charging Power, Charging Time, Energy Delivered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Efficiency, User Identification: Authenticates users, Fault Detection, Utilization Rate, Station Availability, Location Tracking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723623" y="2596978"/>
            <a:ext cx="562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station controller collects and processes sensor data.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3" y="3356907"/>
            <a:ext cx="4538215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9004041" y="5841917"/>
            <a:ext cx="253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Cloud and user interface</a:t>
            </a:r>
          </a:p>
        </p:txBody>
      </p:sp>
      <p:pic>
        <p:nvPicPr>
          <p:cNvPr id="9" name="Picture 18" descr="EV Charging Station Finder App ...">
            <a:extLst>
              <a:ext uri="{FF2B5EF4-FFF2-40B4-BE49-F238E27FC236}">
                <a16:creationId xmlns:a16="http://schemas.microsoft.com/office/drawing/2014/main" id="{CDEE0EA5-30DA-2926-778B-652A11A9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807" y="4518219"/>
            <a:ext cx="1815168" cy="10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0" descr="EV Charging Station Booking Web ...">
            <a:extLst>
              <a:ext uri="{FF2B5EF4-FFF2-40B4-BE49-F238E27FC236}">
                <a16:creationId xmlns:a16="http://schemas.microsoft.com/office/drawing/2014/main" id="{640078AD-3A65-2140-302D-5657AF551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894" y="4524290"/>
            <a:ext cx="1742118" cy="97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4" descr="The six different types of cloud briefly introduced">
            <a:extLst>
              <a:ext uri="{FF2B5EF4-FFF2-40B4-BE49-F238E27FC236}">
                <a16:creationId xmlns:a16="http://schemas.microsoft.com/office/drawing/2014/main" id="{AC2424CF-CF27-67A9-A119-C219F5E0C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478" y="3613982"/>
            <a:ext cx="1066831" cy="68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280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B516-F818-CDE4-855F-234D33FF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1623527"/>
            <a:ext cx="5924938" cy="395320"/>
          </a:xfrm>
        </p:spPr>
        <p:txBody>
          <a:bodyPr>
            <a:noAutofit/>
          </a:bodyPr>
          <a:lstStyle/>
          <a:p>
            <a:pPr algn="ctr"/>
            <a:r>
              <a:rPr lang="en-US" sz="1400" b="1" dirty="0"/>
              <a:t>User Interface Application Layer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98B3-3A70-D290-CB82-57B0CA8D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FFDC-2C2F-F265-A86F-E70C1F18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9567-80D9-9909-47BD-426BBBF4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15</a:t>
            </a:fld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861328-839A-07D2-AA86-F6CDE426E1C2}"/>
              </a:ext>
            </a:extLst>
          </p:cNvPr>
          <p:cNvSpPr/>
          <p:nvPr/>
        </p:nvSpPr>
        <p:spPr>
          <a:xfrm>
            <a:off x="615820" y="1623528"/>
            <a:ext cx="5691674" cy="191277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C159BCA-0E5A-74A4-9D2B-C2F0C1420C9C}"/>
              </a:ext>
            </a:extLst>
          </p:cNvPr>
          <p:cNvSpPr txBox="1">
            <a:spLocks/>
          </p:cNvSpPr>
          <p:nvPr/>
        </p:nvSpPr>
        <p:spPr>
          <a:xfrm>
            <a:off x="382555" y="2052997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Cloud Server Layer                                Data storage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F247DA0-51E8-5EE4-2110-F5BDF86BEA9F}"/>
              </a:ext>
            </a:extLst>
          </p:cNvPr>
          <p:cNvSpPr txBox="1">
            <a:spLocks/>
          </p:cNvSpPr>
          <p:nvPr/>
        </p:nvSpPr>
        <p:spPr>
          <a:xfrm>
            <a:off x="475861" y="3140983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Sensor Layer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45A69AC-0424-B273-F1AE-E255E945B06D}"/>
              </a:ext>
            </a:extLst>
          </p:cNvPr>
          <p:cNvSpPr txBox="1">
            <a:spLocks/>
          </p:cNvSpPr>
          <p:nvPr/>
        </p:nvSpPr>
        <p:spPr>
          <a:xfrm>
            <a:off x="382555" y="2405695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Communication Layer   IoT Gateway Layer      Processing Layer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0DA6EB9-8CE1-3277-F437-C17B16883838}"/>
              </a:ext>
            </a:extLst>
          </p:cNvPr>
          <p:cNvSpPr txBox="1">
            <a:spLocks/>
          </p:cNvSpPr>
          <p:nvPr/>
        </p:nvSpPr>
        <p:spPr>
          <a:xfrm>
            <a:off x="475861" y="2742627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Microcontroller Layer  BMS Layer   Data Acquisition Layer   Processing Unit Layer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37EDC0-7686-965A-4F5C-9D4F35C2A25E}"/>
              </a:ext>
            </a:extLst>
          </p:cNvPr>
          <p:cNvCxnSpPr/>
          <p:nvPr/>
        </p:nvCxnSpPr>
        <p:spPr>
          <a:xfrm>
            <a:off x="615820" y="2018847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FD2D2F-3C02-813F-33C1-EA7C7F038144}"/>
              </a:ext>
            </a:extLst>
          </p:cNvPr>
          <p:cNvCxnSpPr/>
          <p:nvPr/>
        </p:nvCxnSpPr>
        <p:spPr>
          <a:xfrm>
            <a:off x="615819" y="2405695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32CE54-46CB-7108-B005-6CB7A7A761A8}"/>
              </a:ext>
            </a:extLst>
          </p:cNvPr>
          <p:cNvCxnSpPr/>
          <p:nvPr/>
        </p:nvCxnSpPr>
        <p:spPr>
          <a:xfrm>
            <a:off x="615819" y="2791111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2EBB10-913A-0C00-1BA9-8CAFFD6AB2CC}"/>
              </a:ext>
            </a:extLst>
          </p:cNvPr>
          <p:cNvCxnSpPr/>
          <p:nvPr/>
        </p:nvCxnSpPr>
        <p:spPr>
          <a:xfrm>
            <a:off x="615819" y="3190724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B5B509-E325-41F7-A69E-41C4680C768B}"/>
              </a:ext>
            </a:extLst>
          </p:cNvPr>
          <p:cNvCxnSpPr/>
          <p:nvPr/>
        </p:nvCxnSpPr>
        <p:spPr>
          <a:xfrm>
            <a:off x="3581400" y="201884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5AC96B-ECCA-58AC-31E9-98DB5E53F1D6}"/>
              </a:ext>
            </a:extLst>
          </p:cNvPr>
          <p:cNvCxnSpPr/>
          <p:nvPr/>
        </p:nvCxnSpPr>
        <p:spPr>
          <a:xfrm>
            <a:off x="4256314" y="241416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98BB796-81FE-68A5-8E72-43FA6CE2E548}"/>
              </a:ext>
            </a:extLst>
          </p:cNvPr>
          <p:cNvCxnSpPr/>
          <p:nvPr/>
        </p:nvCxnSpPr>
        <p:spPr>
          <a:xfrm>
            <a:off x="2785188" y="241416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9FDE99-1D13-F0BA-C2B1-6A6C47792384}"/>
              </a:ext>
            </a:extLst>
          </p:cNvPr>
          <p:cNvCxnSpPr/>
          <p:nvPr/>
        </p:nvCxnSpPr>
        <p:spPr>
          <a:xfrm>
            <a:off x="4688632" y="2801015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A32DCF-99A6-2CE7-3BA7-BAB0A78AC74C}"/>
              </a:ext>
            </a:extLst>
          </p:cNvPr>
          <p:cNvCxnSpPr/>
          <p:nvPr/>
        </p:nvCxnSpPr>
        <p:spPr>
          <a:xfrm>
            <a:off x="3021563" y="2801015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F7C209D-8B14-B7A4-634A-CFA51C8D6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531727"/>
              </p:ext>
            </p:extLst>
          </p:nvPr>
        </p:nvGraphicFramePr>
        <p:xfrm>
          <a:off x="7635549" y="1117832"/>
          <a:ext cx="1628195" cy="2971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195">
                  <a:extLst>
                    <a:ext uri="{9D8B030D-6E8A-4147-A177-3AD203B41FA5}">
                      <a16:colId xmlns:a16="http://schemas.microsoft.com/office/drawing/2014/main" val="1882114574"/>
                    </a:ext>
                  </a:extLst>
                </a:gridCol>
              </a:tblGrid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Application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929084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Presentation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2610049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Session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09849792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Transport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8042238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Network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07641867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Data Link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49658639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Physical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3103966"/>
                  </a:ext>
                </a:extLst>
              </a:tr>
            </a:tbl>
          </a:graphicData>
        </a:graphic>
      </p:graphicFrame>
      <p:sp>
        <p:nvSpPr>
          <p:cNvPr id="36" name="Arrow: Right 35">
            <a:extLst>
              <a:ext uri="{FF2B5EF4-FFF2-40B4-BE49-F238E27FC236}">
                <a16:creationId xmlns:a16="http://schemas.microsoft.com/office/drawing/2014/main" id="{94496337-80A9-DD11-B438-1F4999A8FCF5}"/>
              </a:ext>
            </a:extLst>
          </p:cNvPr>
          <p:cNvSpPr/>
          <p:nvPr/>
        </p:nvSpPr>
        <p:spPr>
          <a:xfrm rot="969476">
            <a:off x="6279989" y="3611880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F784C59-3EB7-2D11-95D6-1B6ABB6C32CF}"/>
              </a:ext>
            </a:extLst>
          </p:cNvPr>
          <p:cNvSpPr/>
          <p:nvPr/>
        </p:nvSpPr>
        <p:spPr>
          <a:xfrm rot="969476">
            <a:off x="6279989" y="3155157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3967172-1196-2CD8-C249-FD61778D57BA}"/>
              </a:ext>
            </a:extLst>
          </p:cNvPr>
          <p:cNvSpPr/>
          <p:nvPr/>
        </p:nvSpPr>
        <p:spPr>
          <a:xfrm rot="1087759">
            <a:off x="6292524" y="2728690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3FBF87F-E8AA-51FC-A0D5-BFF252C43F57}"/>
              </a:ext>
            </a:extLst>
          </p:cNvPr>
          <p:cNvSpPr/>
          <p:nvPr/>
        </p:nvSpPr>
        <p:spPr>
          <a:xfrm>
            <a:off x="6317704" y="2143436"/>
            <a:ext cx="1335394" cy="147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744A00F-4D9E-8EF0-D798-835BB5429BE7}"/>
              </a:ext>
            </a:extLst>
          </p:cNvPr>
          <p:cNvSpPr/>
          <p:nvPr/>
        </p:nvSpPr>
        <p:spPr>
          <a:xfrm rot="21313321">
            <a:off x="6325298" y="1754341"/>
            <a:ext cx="1335394" cy="147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D9221D2-E741-8C33-BC74-DFA6582B7CB4}"/>
              </a:ext>
            </a:extLst>
          </p:cNvPr>
          <p:cNvSpPr/>
          <p:nvPr/>
        </p:nvSpPr>
        <p:spPr>
          <a:xfrm>
            <a:off x="9263744" y="1262929"/>
            <a:ext cx="874526" cy="118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Ui Ux with solid fill">
            <a:extLst>
              <a:ext uri="{FF2B5EF4-FFF2-40B4-BE49-F238E27FC236}">
                <a16:creationId xmlns:a16="http://schemas.microsoft.com/office/drawing/2014/main" id="{CE9B2F2D-F78F-DE4F-3DAC-B68A6DC9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148" y="864730"/>
            <a:ext cx="914400" cy="914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D54EEF6-573C-5AA9-1A7C-6109FDA7D9BE}"/>
              </a:ext>
            </a:extLst>
          </p:cNvPr>
          <p:cNvSpPr txBox="1"/>
          <p:nvPr/>
        </p:nvSpPr>
        <p:spPr>
          <a:xfrm>
            <a:off x="138404" y="4561"/>
            <a:ext cx="11468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IOT Architecture for Battery charging management</a:t>
            </a:r>
          </a:p>
        </p:txBody>
      </p:sp>
    </p:spTree>
    <p:extLst>
      <p:ext uri="{BB962C8B-B14F-4D97-AF65-F5344CB8AC3E}">
        <p14:creationId xmlns:p14="http://schemas.microsoft.com/office/powerpoint/2010/main" val="338959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27D7247-F14B-84C6-FA87-638DA5F0149B}"/>
              </a:ext>
            </a:extLst>
          </p:cNvPr>
          <p:cNvSpPr txBox="1"/>
          <p:nvPr/>
        </p:nvSpPr>
        <p:spPr>
          <a:xfrm>
            <a:off x="5510502" y="431902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C34A8-06AB-DBAF-F8C5-8EADB82D4D01}"/>
              </a:ext>
            </a:extLst>
          </p:cNvPr>
          <p:cNvSpPr txBox="1"/>
          <p:nvPr/>
        </p:nvSpPr>
        <p:spPr>
          <a:xfrm>
            <a:off x="5486397" y="1867287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C9727-3223-55FD-E7C9-048ED812FCCF}"/>
              </a:ext>
            </a:extLst>
          </p:cNvPr>
          <p:cNvSpPr txBox="1"/>
          <p:nvPr/>
        </p:nvSpPr>
        <p:spPr>
          <a:xfrm>
            <a:off x="3387012" y="1867287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674C2-29F1-252D-02BF-2EF4B6DC197B}"/>
              </a:ext>
            </a:extLst>
          </p:cNvPr>
          <p:cNvSpPr txBox="1"/>
          <p:nvPr/>
        </p:nvSpPr>
        <p:spPr>
          <a:xfrm>
            <a:off x="3387012" y="1138300"/>
            <a:ext cx="50307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for the power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0880A-05B1-2B00-58E8-F686A052CDF9}"/>
              </a:ext>
            </a:extLst>
          </p:cNvPr>
          <p:cNvSpPr txBox="1"/>
          <p:nvPr/>
        </p:nvSpPr>
        <p:spPr>
          <a:xfrm>
            <a:off x="7040699" y="4534639"/>
            <a:ext cx="192210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 Fast Charging Station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4D1356-B028-712B-CC4E-599CE393F68B}"/>
              </a:ext>
            </a:extLst>
          </p:cNvPr>
          <p:cNvSpPr txBox="1"/>
          <p:nvPr/>
        </p:nvSpPr>
        <p:spPr>
          <a:xfrm>
            <a:off x="3161910" y="4566594"/>
            <a:ext cx="20177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Battery Swapping Station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46C4F2-1F08-80A0-E450-5671FBC31145}"/>
              </a:ext>
            </a:extLst>
          </p:cNvPr>
          <p:cNvSpPr txBox="1"/>
          <p:nvPr/>
        </p:nvSpPr>
        <p:spPr>
          <a:xfrm>
            <a:off x="2911927" y="2631667"/>
            <a:ext cx="611077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PCC – Point of Common Coupling</a:t>
            </a:r>
          </a:p>
          <a:p>
            <a:pPr marL="342900" indent="-342900">
              <a:buAutoNum type="arabicPeriod"/>
            </a:pPr>
            <a:r>
              <a:rPr lang="en-US" sz="1800" dirty="0"/>
              <a:t>Solar – ON  </a:t>
            </a:r>
            <a:r>
              <a:rPr lang="en-US" sz="1800" dirty="0">
                <a:sym typeface="Wingdings" panose="05000000000000000000" pitchFamily="2" charset="2"/>
              </a:rPr>
              <a:t>  ESS Charge  Grid OFF                 Load ON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Solar – ON  </a:t>
            </a:r>
            <a:r>
              <a:rPr lang="en-US" sz="1800" dirty="0">
                <a:sym typeface="Wingdings" panose="05000000000000000000" pitchFamily="2" charset="2"/>
              </a:rPr>
              <a:t>  ESS &gt;80%    [Grid DC- AC] ON   Load ON 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Solar – OFF </a:t>
            </a:r>
            <a:r>
              <a:rPr lang="en-US" sz="1800" dirty="0">
                <a:sym typeface="Wingdings" panose="05000000000000000000" pitchFamily="2" charset="2"/>
              </a:rPr>
              <a:t>  ESS ON        Grid OFF                  Load ON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Solar – OFF </a:t>
            </a:r>
            <a:r>
              <a:rPr lang="en-US" sz="1800" dirty="0">
                <a:sym typeface="Wingdings" panose="05000000000000000000" pitchFamily="2" charset="2"/>
              </a:rPr>
              <a:t>  ESS &lt;20%    [Grid DC- AC] ON   Load 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64B83A-3170-4D64-7C4B-A50EDDA13F8B}"/>
              </a:ext>
            </a:extLst>
          </p:cNvPr>
          <p:cNvSpPr txBox="1"/>
          <p:nvPr/>
        </p:nvSpPr>
        <p:spPr>
          <a:xfrm>
            <a:off x="7633994" y="1855228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FA4D4B-2E13-8D72-E8F1-011365965F7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902386" y="801234"/>
            <a:ext cx="1" cy="3370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2620B7-EA06-34AD-DFDE-88D589BBC8C8}"/>
              </a:ext>
            </a:extLst>
          </p:cNvPr>
          <p:cNvCxnSpPr/>
          <p:nvPr/>
        </p:nvCxnSpPr>
        <p:spPr>
          <a:xfrm flipH="1">
            <a:off x="3778897" y="1562487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9B4B6C-F235-B9F6-8794-3A700A4BDB84}"/>
              </a:ext>
            </a:extLst>
          </p:cNvPr>
          <p:cNvCxnSpPr/>
          <p:nvPr/>
        </p:nvCxnSpPr>
        <p:spPr>
          <a:xfrm flipH="1">
            <a:off x="5902385" y="1529030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376114-1B2E-C02A-7971-19848502F0F3}"/>
              </a:ext>
            </a:extLst>
          </p:cNvPr>
          <p:cNvCxnSpPr/>
          <p:nvPr/>
        </p:nvCxnSpPr>
        <p:spPr>
          <a:xfrm flipH="1">
            <a:off x="8001764" y="1529030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AFE245-A68E-A6D4-F887-CD91C70F3FF1}"/>
              </a:ext>
            </a:extLst>
          </p:cNvPr>
          <p:cNvCxnSpPr/>
          <p:nvPr/>
        </p:nvCxnSpPr>
        <p:spPr>
          <a:xfrm flipH="1">
            <a:off x="3778893" y="2309873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1B0CDF-B874-67E5-1165-34E4E219F5AF}"/>
              </a:ext>
            </a:extLst>
          </p:cNvPr>
          <p:cNvCxnSpPr/>
          <p:nvPr/>
        </p:nvCxnSpPr>
        <p:spPr>
          <a:xfrm flipH="1">
            <a:off x="5890326" y="2287772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90228AA-D412-BA6D-ED04-7839FAC3EA62}"/>
              </a:ext>
            </a:extLst>
          </p:cNvPr>
          <p:cNvCxnSpPr>
            <a:cxnSpLocks/>
          </p:cNvCxnSpPr>
          <p:nvPr/>
        </p:nvCxnSpPr>
        <p:spPr>
          <a:xfrm flipH="1">
            <a:off x="8001759" y="2267356"/>
            <a:ext cx="7" cy="364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1CFEA6-A25D-3481-87DB-427A1B4B5996}"/>
              </a:ext>
            </a:extLst>
          </p:cNvPr>
          <p:cNvCxnSpPr>
            <a:cxnSpLocks/>
          </p:cNvCxnSpPr>
          <p:nvPr/>
        </p:nvCxnSpPr>
        <p:spPr>
          <a:xfrm flipH="1">
            <a:off x="4170782" y="4155639"/>
            <a:ext cx="7" cy="364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C80CBF-5A7B-0AC1-9D15-EC2108FA26A3}"/>
              </a:ext>
            </a:extLst>
          </p:cNvPr>
          <p:cNvCxnSpPr>
            <a:cxnSpLocks/>
          </p:cNvCxnSpPr>
          <p:nvPr/>
        </p:nvCxnSpPr>
        <p:spPr>
          <a:xfrm flipH="1">
            <a:off x="8001752" y="4155638"/>
            <a:ext cx="7" cy="364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190C43B1-3E01-C2EC-B232-74368BAD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to End Flow</a:t>
            </a:r>
          </a:p>
        </p:txBody>
      </p:sp>
    </p:spTree>
    <p:extLst>
      <p:ext uri="{BB962C8B-B14F-4D97-AF65-F5344CB8AC3E}">
        <p14:creationId xmlns:p14="http://schemas.microsoft.com/office/powerpoint/2010/main" val="2218503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B3B6605-08B1-4BF6-0EA2-370F37A2B254}"/>
              </a:ext>
            </a:extLst>
          </p:cNvPr>
          <p:cNvSpPr/>
          <p:nvPr/>
        </p:nvSpPr>
        <p:spPr>
          <a:xfrm>
            <a:off x="7003089" y="3427321"/>
            <a:ext cx="5042732" cy="27610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D01C3C-2A6E-16FF-4A17-ADD36FA005B2}"/>
              </a:ext>
            </a:extLst>
          </p:cNvPr>
          <p:cNvSpPr/>
          <p:nvPr/>
        </p:nvSpPr>
        <p:spPr>
          <a:xfrm>
            <a:off x="5964748" y="578102"/>
            <a:ext cx="3721013" cy="2485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98CA29-B55B-CAB7-9F72-C47A0075DA02}"/>
              </a:ext>
            </a:extLst>
          </p:cNvPr>
          <p:cNvSpPr/>
          <p:nvPr/>
        </p:nvSpPr>
        <p:spPr>
          <a:xfrm>
            <a:off x="1622375" y="1170194"/>
            <a:ext cx="4021494" cy="264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9D5FC6-C20D-4B6A-264A-4E1B979E45CB}"/>
              </a:ext>
            </a:extLst>
          </p:cNvPr>
          <p:cNvSpPr txBox="1"/>
          <p:nvPr/>
        </p:nvSpPr>
        <p:spPr>
          <a:xfrm>
            <a:off x="3518417" y="563726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0D569CE4-41B4-F4E0-92B3-145CD537463B}"/>
              </a:ext>
            </a:extLst>
          </p:cNvPr>
          <p:cNvSpPr/>
          <p:nvPr/>
        </p:nvSpPr>
        <p:spPr>
          <a:xfrm>
            <a:off x="6080630" y="967748"/>
            <a:ext cx="1618055" cy="133756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5FD8D2-120B-3B1C-4F40-91032B7BD59A}"/>
              </a:ext>
            </a:extLst>
          </p:cNvPr>
          <p:cNvSpPr txBox="1"/>
          <p:nvPr/>
        </p:nvSpPr>
        <p:spPr>
          <a:xfrm>
            <a:off x="3464765" y="1271403"/>
            <a:ext cx="111501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</a:t>
            </a:r>
          </a:p>
          <a:p>
            <a:pPr algn="ctr"/>
            <a:r>
              <a:rPr lang="en-US" dirty="0"/>
              <a:t>Solar Available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07D3F9-DF5A-1AD4-60DB-70056588689F}"/>
              </a:ext>
            </a:extLst>
          </p:cNvPr>
          <p:cNvSpPr txBox="1"/>
          <p:nvPr/>
        </p:nvSpPr>
        <p:spPr>
          <a:xfrm>
            <a:off x="2506235" y="2471732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 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1D96C7-B463-A698-78E6-B4C722163B74}"/>
              </a:ext>
            </a:extLst>
          </p:cNvPr>
          <p:cNvSpPr txBox="1"/>
          <p:nvPr/>
        </p:nvSpPr>
        <p:spPr>
          <a:xfrm>
            <a:off x="1763075" y="1447193"/>
            <a:ext cx="9836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Off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3E65D7-3D9F-6B8F-1259-3D6432A26115}"/>
              </a:ext>
            </a:extLst>
          </p:cNvPr>
          <p:cNvSpPr txBox="1"/>
          <p:nvPr/>
        </p:nvSpPr>
        <p:spPr>
          <a:xfrm>
            <a:off x="3845769" y="2423192"/>
            <a:ext cx="14378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 Charging &gt; 80%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CE7C2851-C7AD-9B34-0BC6-1734F08618CF}"/>
              </a:ext>
            </a:extLst>
          </p:cNvPr>
          <p:cNvSpPr/>
          <p:nvPr/>
        </p:nvSpPr>
        <p:spPr>
          <a:xfrm>
            <a:off x="3012233" y="1271403"/>
            <a:ext cx="1884784" cy="923330"/>
          </a:xfrm>
          <a:prstGeom prst="pen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9455AE-B7CA-0B7B-8A9C-F84BA879CF39}"/>
              </a:ext>
            </a:extLst>
          </p:cNvPr>
          <p:cNvSpPr txBox="1"/>
          <p:nvPr/>
        </p:nvSpPr>
        <p:spPr>
          <a:xfrm>
            <a:off x="6332151" y="1167599"/>
            <a:ext cx="111501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</a:t>
            </a:r>
          </a:p>
          <a:p>
            <a:pPr algn="ctr"/>
            <a:r>
              <a:rPr lang="en-US" dirty="0"/>
              <a:t>Solar Not Available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E51519-17FC-6E5A-5FE9-487BAA6E625B}"/>
              </a:ext>
            </a:extLst>
          </p:cNvPr>
          <p:cNvSpPr txBox="1"/>
          <p:nvPr/>
        </p:nvSpPr>
        <p:spPr>
          <a:xfrm>
            <a:off x="7639978" y="760401"/>
            <a:ext cx="9836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Off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2ACA3C-B9B0-C47F-3F7E-58F452B9D476}"/>
              </a:ext>
            </a:extLst>
          </p:cNvPr>
          <p:cNvSpPr txBox="1"/>
          <p:nvPr/>
        </p:nvSpPr>
        <p:spPr>
          <a:xfrm>
            <a:off x="7981370" y="1479862"/>
            <a:ext cx="14378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 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DAE97-0183-4863-454E-168D8CCA69BB}"/>
              </a:ext>
            </a:extLst>
          </p:cNvPr>
          <p:cNvSpPr txBox="1"/>
          <p:nvPr/>
        </p:nvSpPr>
        <p:spPr>
          <a:xfrm>
            <a:off x="6452282" y="2578502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 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20D3F-C24D-FEBB-AFDE-3EFA2F6F1A6D}"/>
              </a:ext>
            </a:extLst>
          </p:cNvPr>
          <p:cNvSpPr txBox="1"/>
          <p:nvPr/>
        </p:nvSpPr>
        <p:spPr>
          <a:xfrm>
            <a:off x="3813889" y="3401468"/>
            <a:ext cx="15016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to Grid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511963-1A47-CF54-09C9-482193033C17}"/>
              </a:ext>
            </a:extLst>
          </p:cNvPr>
          <p:cNvSpPr txBox="1"/>
          <p:nvPr/>
        </p:nvSpPr>
        <p:spPr>
          <a:xfrm>
            <a:off x="8467097" y="2207796"/>
            <a:ext cx="10337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</a:t>
            </a:r>
          </a:p>
          <a:p>
            <a:pPr algn="ctr"/>
            <a:r>
              <a:rPr lang="en-US" dirty="0"/>
              <a:t>&lt; 20%</a:t>
            </a:r>
          </a:p>
        </p:txBody>
      </p:sp>
      <p:sp>
        <p:nvSpPr>
          <p:cNvPr id="27" name="Flowchart: Decision 26">
            <a:extLst>
              <a:ext uri="{FF2B5EF4-FFF2-40B4-BE49-F238E27FC236}">
                <a16:creationId xmlns:a16="http://schemas.microsoft.com/office/drawing/2014/main" id="{4F82128A-3278-2428-1655-B7016910D751}"/>
              </a:ext>
            </a:extLst>
          </p:cNvPr>
          <p:cNvSpPr/>
          <p:nvPr/>
        </p:nvSpPr>
        <p:spPr>
          <a:xfrm>
            <a:off x="8526625" y="3519177"/>
            <a:ext cx="1618055" cy="133756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046C19-7B73-5E1B-2FA5-FE164259591F}"/>
              </a:ext>
            </a:extLst>
          </p:cNvPr>
          <p:cNvSpPr txBox="1"/>
          <p:nvPr/>
        </p:nvSpPr>
        <p:spPr>
          <a:xfrm>
            <a:off x="8778146" y="3719028"/>
            <a:ext cx="111501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</a:t>
            </a:r>
          </a:p>
          <a:p>
            <a:pPr algn="ctr"/>
            <a:r>
              <a:rPr lang="en-US" dirty="0"/>
              <a:t>Power </a:t>
            </a:r>
          </a:p>
          <a:p>
            <a:pPr algn="ctr"/>
            <a:r>
              <a:rPr lang="en-US" dirty="0"/>
              <a:t>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54133A-D3AE-032C-CF55-D777BC7E36F3}"/>
              </a:ext>
            </a:extLst>
          </p:cNvPr>
          <p:cNvSpPr txBox="1"/>
          <p:nvPr/>
        </p:nvSpPr>
        <p:spPr>
          <a:xfrm>
            <a:off x="7181820" y="4016963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 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A12FB-AA1A-D19E-0B1C-817D52C79F74}"/>
              </a:ext>
            </a:extLst>
          </p:cNvPr>
          <p:cNvSpPr txBox="1"/>
          <p:nvPr/>
        </p:nvSpPr>
        <p:spPr>
          <a:xfrm>
            <a:off x="10355425" y="3996027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Load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7E9FDD-6D23-6B48-5124-905D1D82485C}"/>
              </a:ext>
            </a:extLst>
          </p:cNvPr>
          <p:cNvSpPr txBox="1"/>
          <p:nvPr/>
        </p:nvSpPr>
        <p:spPr>
          <a:xfrm>
            <a:off x="10355425" y="4862488"/>
            <a:ext cx="14378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 Charging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C60850-F581-E3FF-F1E3-58CEF2BFABED}"/>
              </a:ext>
            </a:extLst>
          </p:cNvPr>
          <p:cNvSpPr txBox="1"/>
          <p:nvPr/>
        </p:nvSpPr>
        <p:spPr>
          <a:xfrm>
            <a:off x="8628085" y="5386944"/>
            <a:ext cx="14378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Still Solar Available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E7F585-B322-A05F-EAD1-ABA1B4796823}"/>
              </a:ext>
            </a:extLst>
          </p:cNvPr>
          <p:cNvSpPr txBox="1"/>
          <p:nvPr/>
        </p:nvSpPr>
        <p:spPr>
          <a:xfrm>
            <a:off x="8440825" y="6320717"/>
            <a:ext cx="21672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Cycle Continuous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8678F42-4738-CA1E-9D55-969EC779AE9D}"/>
              </a:ext>
            </a:extLst>
          </p:cNvPr>
          <p:cNvCxnSpPr/>
          <p:nvPr/>
        </p:nvCxnSpPr>
        <p:spPr>
          <a:xfrm flipH="1">
            <a:off x="9428561" y="6035999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E4F17C-AAE3-A766-11A3-870D81FC3005}"/>
              </a:ext>
            </a:extLst>
          </p:cNvPr>
          <p:cNvCxnSpPr/>
          <p:nvPr/>
        </p:nvCxnSpPr>
        <p:spPr>
          <a:xfrm flipH="1">
            <a:off x="8982762" y="1882717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386E4A-60F4-4C30-462A-59D151E8AA2D}"/>
              </a:ext>
            </a:extLst>
          </p:cNvPr>
          <p:cNvCxnSpPr/>
          <p:nvPr/>
        </p:nvCxnSpPr>
        <p:spPr>
          <a:xfrm flipH="1">
            <a:off x="6889657" y="2280666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DF9F08-1AA7-8F45-43A5-95A880BDE345}"/>
              </a:ext>
            </a:extLst>
          </p:cNvPr>
          <p:cNvCxnSpPr/>
          <p:nvPr/>
        </p:nvCxnSpPr>
        <p:spPr>
          <a:xfrm flipH="1">
            <a:off x="4607764" y="3103661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7C96C53-7A6F-E96F-871E-32EF9C1F020A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4537054" y="2194731"/>
            <a:ext cx="0" cy="2024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EF01D5D-2AD7-849E-9758-86C0A9ED81EC}"/>
              </a:ext>
            </a:extLst>
          </p:cNvPr>
          <p:cNvCxnSpPr>
            <a:cxnSpLocks/>
          </p:cNvCxnSpPr>
          <p:nvPr/>
        </p:nvCxnSpPr>
        <p:spPr>
          <a:xfrm flipH="1">
            <a:off x="10094855" y="5614084"/>
            <a:ext cx="8810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09C5FF-6555-2313-77A3-2D60D6493E8C}"/>
              </a:ext>
            </a:extLst>
          </p:cNvPr>
          <p:cNvCxnSpPr/>
          <p:nvPr/>
        </p:nvCxnSpPr>
        <p:spPr>
          <a:xfrm flipH="1">
            <a:off x="3946835" y="966603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EFA05F9-910F-EC03-35A1-F37FE6799CBB}"/>
              </a:ext>
            </a:extLst>
          </p:cNvPr>
          <p:cNvCxnSpPr>
            <a:cxnSpLocks/>
          </p:cNvCxnSpPr>
          <p:nvPr/>
        </p:nvCxnSpPr>
        <p:spPr>
          <a:xfrm flipH="1">
            <a:off x="8215550" y="4201629"/>
            <a:ext cx="3110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96AC491-C832-A3BA-8337-A6F488F23A4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0144680" y="4180693"/>
            <a:ext cx="2107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30F167A-026E-CB6C-B66F-32375BE8DEB5}"/>
              </a:ext>
            </a:extLst>
          </p:cNvPr>
          <p:cNvCxnSpPr>
            <a:cxnSpLocks/>
          </p:cNvCxnSpPr>
          <p:nvPr/>
        </p:nvCxnSpPr>
        <p:spPr>
          <a:xfrm flipH="1">
            <a:off x="2751663" y="1636529"/>
            <a:ext cx="2605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FD28727-A2B5-074E-E6C2-DDEB18C22CC6}"/>
              </a:ext>
            </a:extLst>
          </p:cNvPr>
          <p:cNvCxnSpPr>
            <a:cxnSpLocks/>
          </p:cNvCxnSpPr>
          <p:nvPr/>
        </p:nvCxnSpPr>
        <p:spPr>
          <a:xfrm>
            <a:off x="3451590" y="2207796"/>
            <a:ext cx="0" cy="263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AD31E74-4A08-E4CC-5754-2C1AC2D09196}"/>
              </a:ext>
            </a:extLst>
          </p:cNvPr>
          <p:cNvCxnSpPr>
            <a:cxnSpLocks/>
          </p:cNvCxnSpPr>
          <p:nvPr/>
        </p:nvCxnSpPr>
        <p:spPr>
          <a:xfrm>
            <a:off x="7698685" y="1629264"/>
            <a:ext cx="2826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3BB0ECB-AC14-719A-1A12-496EBCA1D0E8}"/>
              </a:ext>
            </a:extLst>
          </p:cNvPr>
          <p:cNvCxnSpPr>
            <a:cxnSpLocks/>
          </p:cNvCxnSpPr>
          <p:nvPr/>
        </p:nvCxnSpPr>
        <p:spPr>
          <a:xfrm flipV="1">
            <a:off x="6889657" y="929506"/>
            <a:ext cx="756883" cy="370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780D65F-0DB8-D3A9-13E3-0DB2C4357D80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4897017" y="1636529"/>
            <a:ext cx="1183613" cy="37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4947464-D1A1-DE01-19AF-0F1C42EDA215}"/>
              </a:ext>
            </a:extLst>
          </p:cNvPr>
          <p:cNvCxnSpPr>
            <a:cxnSpLocks/>
          </p:cNvCxnSpPr>
          <p:nvPr/>
        </p:nvCxnSpPr>
        <p:spPr>
          <a:xfrm>
            <a:off x="10975908" y="4418043"/>
            <a:ext cx="0" cy="4386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01EBF2-79CD-0C45-1C33-1820CC393A35}"/>
              </a:ext>
            </a:extLst>
          </p:cNvPr>
          <p:cNvCxnSpPr>
            <a:cxnSpLocks/>
          </p:cNvCxnSpPr>
          <p:nvPr/>
        </p:nvCxnSpPr>
        <p:spPr>
          <a:xfrm>
            <a:off x="9332535" y="2874406"/>
            <a:ext cx="0" cy="6927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21498BC-7F4B-29C6-248E-FF100F2C3E91}"/>
              </a:ext>
            </a:extLst>
          </p:cNvPr>
          <p:cNvCxnSpPr/>
          <p:nvPr/>
        </p:nvCxnSpPr>
        <p:spPr>
          <a:xfrm flipV="1">
            <a:off x="10975908" y="5231820"/>
            <a:ext cx="0" cy="3822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A3E8252F-58BE-84C0-2457-F94B80153BE2}"/>
              </a:ext>
            </a:extLst>
          </p:cNvPr>
          <p:cNvCxnSpPr>
            <a:cxnSpLocks/>
            <a:stCxn id="34" idx="1"/>
            <a:endCxn id="35" idx="1"/>
          </p:cNvCxnSpPr>
          <p:nvPr/>
        </p:nvCxnSpPr>
        <p:spPr>
          <a:xfrm rot="10800000">
            <a:off x="3518417" y="748393"/>
            <a:ext cx="4922408" cy="5756991"/>
          </a:xfrm>
          <a:prstGeom prst="curvedConnector3">
            <a:avLst>
              <a:gd name="adj1" fmla="val 15753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itle 1">
            <a:extLst>
              <a:ext uri="{FF2B5EF4-FFF2-40B4-BE49-F238E27FC236}">
                <a16:creationId xmlns:a16="http://schemas.microsoft.com/office/drawing/2014/main" id="{D5DED5DA-39B3-B09B-CDA5-1C655E35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85" y="0"/>
            <a:ext cx="10515600" cy="6810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PCC integration and Automation</a:t>
            </a:r>
          </a:p>
        </p:txBody>
      </p:sp>
    </p:spTree>
    <p:extLst>
      <p:ext uri="{BB962C8B-B14F-4D97-AF65-F5344CB8AC3E}">
        <p14:creationId xmlns:p14="http://schemas.microsoft.com/office/powerpoint/2010/main" val="3052293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92DEB-17F8-2444-A563-F8B2053F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3101-F82C-094A-31EA-29495DDB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4D0CD-C114-CACE-8BCE-D11843D0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18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56E02-494F-9449-5519-ADBEE1C7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85" y="0"/>
            <a:ext cx="10515600" cy="6810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D6726-08C9-E898-15AF-BC7D27E0F174}"/>
              </a:ext>
            </a:extLst>
          </p:cNvPr>
          <p:cNvSpPr txBox="1"/>
          <p:nvPr/>
        </p:nvSpPr>
        <p:spPr>
          <a:xfrm>
            <a:off x="240307" y="574040"/>
            <a:ext cx="13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Solar MPPT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69F7D-3B78-18D7-2845-A391A0677979}"/>
              </a:ext>
            </a:extLst>
          </p:cNvPr>
          <p:cNvSpPr txBox="1"/>
          <p:nvPr/>
        </p:nvSpPr>
        <p:spPr>
          <a:xfrm>
            <a:off x="238017" y="1052526"/>
            <a:ext cx="62467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Initialize Variables Check if input parameters </a:t>
            </a:r>
            <a:r>
              <a:rPr lang="en-US" sz="1200" b="0" i="0" dirty="0">
                <a:effectLst/>
                <a:latin typeface="KaTeX_Main"/>
              </a:rPr>
              <a:t>V</a:t>
            </a:r>
            <a:r>
              <a:rPr lang="en-US" sz="1200" b="0" i="1" dirty="0">
                <a:effectLst/>
                <a:latin typeface="KaTeX_Math"/>
              </a:rPr>
              <a:t>V</a:t>
            </a:r>
            <a:r>
              <a:rPr lang="en-US" sz="1200" b="0" i="0" dirty="0">
                <a:effectLst/>
                <a:latin typeface="__fkGroteskNeue_598ab8"/>
              </a:rPr>
              <a:t> (voltage), </a:t>
            </a:r>
            <a:r>
              <a:rPr lang="en-US" sz="1200" b="0" i="0" dirty="0">
                <a:effectLst/>
                <a:latin typeface="KaTeX_Main"/>
              </a:rPr>
              <a:t>I</a:t>
            </a:r>
            <a:r>
              <a:rPr lang="en-US" sz="1200" b="0" i="1" dirty="0">
                <a:effectLst/>
                <a:latin typeface="KaTeX_Math"/>
              </a:rPr>
              <a:t>I</a:t>
            </a:r>
            <a:r>
              <a:rPr lang="en-US" sz="1200" b="0" i="0" dirty="0">
                <a:effectLst/>
                <a:latin typeface="__fkGroteskNeue_598ab8"/>
              </a:rPr>
              <a:t> (current), and </a:t>
            </a:r>
            <a:r>
              <a:rPr lang="en-US" sz="1200" b="0" i="0" dirty="0">
                <a:effectLst/>
                <a:latin typeface="KaTeX_Main"/>
              </a:rPr>
              <a:t>T</a:t>
            </a:r>
            <a:r>
              <a:rPr lang="en-US" sz="1200" b="0" i="1" dirty="0">
                <a:effectLst/>
                <a:latin typeface="KaTeX_Math"/>
              </a:rPr>
              <a:t>T</a:t>
            </a:r>
            <a:r>
              <a:rPr lang="en-US" sz="1200" b="0" i="0" dirty="0">
                <a:effectLst/>
                <a:latin typeface="__fkGroteskNeue_598ab8"/>
              </a:rPr>
              <a:t> (time) are empty.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Set default values if any parameter is </a:t>
            </a:r>
            <a:r>
              <a:rPr lang="en-US" sz="1200" b="0" i="0" dirty="0" err="1">
                <a:effectLst/>
                <a:latin typeface="__fkGroteskNeue_598ab8"/>
              </a:rPr>
              <a:t>empty:</a:t>
            </a:r>
            <a:r>
              <a:rPr lang="en-US" sz="1200" b="0" i="0" dirty="0" err="1">
                <a:effectLst/>
                <a:latin typeface="KaTeX_Main"/>
              </a:rPr>
              <a:t>V</a:t>
            </a:r>
            <a:r>
              <a:rPr lang="en-US" sz="1200" b="0" i="0" dirty="0">
                <a:effectLst/>
                <a:latin typeface="KaTeX_Main"/>
              </a:rPr>
              <a:t>=370</a:t>
            </a:r>
            <a:r>
              <a:rPr lang="en-US" sz="1200" b="0" i="1" dirty="0">
                <a:effectLst/>
                <a:latin typeface="KaTeX_Math"/>
              </a:rPr>
              <a:t>V</a:t>
            </a:r>
            <a:r>
              <a:rPr lang="en-US" sz="1200" b="0" i="0" dirty="0">
                <a:effectLst/>
                <a:latin typeface="KaTeX_Main"/>
              </a:rPr>
              <a:t>=370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KaTeX_Main"/>
              </a:rPr>
              <a:t>I=0</a:t>
            </a:r>
            <a:r>
              <a:rPr lang="en-US" sz="1200" b="0" i="1" dirty="0">
                <a:effectLst/>
                <a:latin typeface="KaTeX_Math"/>
              </a:rPr>
              <a:t>I</a:t>
            </a:r>
            <a:r>
              <a:rPr lang="en-US" sz="1200" b="0" i="0" dirty="0">
                <a:effectLst/>
                <a:latin typeface="KaTeX_Main"/>
              </a:rPr>
              <a:t>=0, P2=0</a:t>
            </a:r>
            <a:r>
              <a:rPr lang="en-US" sz="1200" b="0" i="1" dirty="0">
                <a:effectLst/>
                <a:latin typeface="KaTeX_Math"/>
              </a:rPr>
              <a:t>P</a:t>
            </a:r>
            <a:r>
              <a:rPr lang="en-US" sz="1200" b="0" i="0" dirty="0">
                <a:effectLst/>
                <a:latin typeface="KaTeX_Main"/>
              </a:rPr>
              <a:t>2=0, P1=0</a:t>
            </a:r>
            <a:r>
              <a:rPr lang="en-US" sz="1200" b="0" i="1" dirty="0">
                <a:effectLst/>
                <a:latin typeface="KaTeX_Math"/>
              </a:rPr>
              <a:t>P</a:t>
            </a:r>
            <a:r>
              <a:rPr lang="en-US" sz="1200" b="0" i="0" dirty="0">
                <a:effectLst/>
                <a:latin typeface="KaTeX_Main"/>
              </a:rPr>
              <a:t>1=0, </a:t>
            </a:r>
            <a:r>
              <a:rPr lang="en-US" sz="1200" b="0" i="0" dirty="0" err="1">
                <a:effectLst/>
                <a:latin typeface="KaTeX_Main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=0</a:t>
            </a:r>
            <a:r>
              <a:rPr lang="en-US" sz="1200" b="0" i="1" dirty="0">
                <a:effectLst/>
                <a:latin typeface="KaTeX_Math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=0, d=1</a:t>
            </a:r>
            <a:r>
              <a:rPr lang="en-US" sz="1200" b="0" i="1" dirty="0">
                <a:effectLst/>
                <a:latin typeface="KaTeX_Math"/>
              </a:rPr>
              <a:t>d</a:t>
            </a:r>
            <a:r>
              <a:rPr lang="en-US" sz="1200" b="0" i="0" dirty="0">
                <a:effectLst/>
                <a:latin typeface="KaTeX_Main"/>
              </a:rPr>
              <a:t>=1, dd=0</a:t>
            </a:r>
            <a:r>
              <a:rPr lang="en-US" sz="1200" b="0" i="1" dirty="0">
                <a:effectLst/>
                <a:latin typeface="KaTeX_Math"/>
              </a:rPr>
              <a:t>dd</a:t>
            </a:r>
            <a:r>
              <a:rPr lang="en-US" sz="1200" b="0" i="0" dirty="0">
                <a:effectLst/>
                <a:latin typeface="KaTeX_Main"/>
              </a:rPr>
              <a:t>=0, n=1</a:t>
            </a:r>
            <a:r>
              <a:rPr lang="en-US" sz="1200" b="0" i="1" dirty="0">
                <a:effectLst/>
                <a:latin typeface="KaTeX_Math"/>
              </a:rPr>
              <a:t>n</a:t>
            </a:r>
            <a:r>
              <a:rPr lang="en-US" sz="1200" b="0" i="0" dirty="0">
                <a:effectLst/>
                <a:latin typeface="KaTeX_Main"/>
              </a:rPr>
              <a:t>=1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Check Time </a:t>
            </a:r>
            <a:r>
              <a:rPr lang="en-US" sz="1200" b="0" i="0" dirty="0" err="1">
                <a:effectLst/>
                <a:latin typeface="__fkGroteskNeue_598ab8"/>
              </a:rPr>
              <a:t>ConditionIf</a:t>
            </a:r>
            <a:r>
              <a:rPr lang="en-US" sz="1200" b="0" i="0" dirty="0">
                <a:effectLst/>
                <a:latin typeface="__fkGroteskNeue_598ab8"/>
              </a:rPr>
              <a:t> </a:t>
            </a:r>
            <a:r>
              <a:rPr lang="en-US" sz="1200" b="0" i="0" dirty="0">
                <a:effectLst/>
                <a:latin typeface="KaTeX_Main"/>
              </a:rPr>
              <a:t>T&gt;n∗0.02</a:t>
            </a:r>
            <a:r>
              <a:rPr lang="en-US" sz="1200" b="0" i="1" dirty="0">
                <a:effectLst/>
                <a:latin typeface="KaTeX_Math"/>
              </a:rPr>
              <a:t>T</a:t>
            </a:r>
            <a:r>
              <a:rPr lang="en-US" sz="1200" b="0" i="0" dirty="0">
                <a:effectLst/>
                <a:latin typeface="KaTeX_Main"/>
              </a:rPr>
              <a:t>&gt;</a:t>
            </a:r>
            <a:r>
              <a:rPr lang="en-US" sz="1200" b="0" i="1" dirty="0">
                <a:effectLst/>
                <a:latin typeface="KaTeX_Math"/>
              </a:rPr>
              <a:t>n</a:t>
            </a:r>
            <a:r>
              <a:rPr lang="en-US" sz="1200" b="0" i="0" dirty="0">
                <a:effectLst/>
                <a:latin typeface="KaTeX_Main"/>
              </a:rPr>
              <a:t>∗0.02</a:t>
            </a:r>
            <a:r>
              <a:rPr lang="en-US" sz="1200" b="0" i="0" dirty="0">
                <a:effectLst/>
                <a:latin typeface="__fkGroteskNeue_598ab8"/>
              </a:rPr>
              <a:t>:Increment </a:t>
            </a:r>
            <a:r>
              <a:rPr lang="en-US" sz="1200" b="0" i="0" dirty="0" err="1">
                <a:effectLst/>
                <a:latin typeface="KaTeX_Main"/>
              </a:rPr>
              <a:t>n</a:t>
            </a:r>
            <a:r>
              <a:rPr lang="en-US" sz="1200" b="0" i="1" dirty="0" err="1">
                <a:effectLst/>
                <a:latin typeface="KaTeX_Math"/>
              </a:rPr>
              <a:t>n</a:t>
            </a:r>
            <a:r>
              <a:rPr lang="en-US" sz="1200" b="0" i="0" dirty="0">
                <a:effectLst/>
                <a:latin typeface="__fkGroteskNeue_598ab8"/>
              </a:rPr>
              <a:t> by 1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Update previous power values:</a:t>
            </a:r>
            <a:r>
              <a:rPr lang="en-US" sz="1200" b="0" i="0" dirty="0">
                <a:effectLst/>
                <a:latin typeface="KaTeX_Main"/>
              </a:rPr>
              <a:t>P1=P2</a:t>
            </a:r>
            <a:r>
              <a:rPr lang="en-US" sz="1200" b="0" i="1" dirty="0">
                <a:effectLst/>
                <a:latin typeface="KaTeX_Math"/>
              </a:rPr>
              <a:t>P</a:t>
            </a:r>
            <a:r>
              <a:rPr lang="en-US" sz="1200" b="0" i="0" dirty="0">
                <a:effectLst/>
                <a:latin typeface="KaTeX_Main"/>
              </a:rPr>
              <a:t>1=</a:t>
            </a:r>
            <a:r>
              <a:rPr lang="en-US" sz="1200" b="0" i="1" dirty="0">
                <a:effectLst/>
                <a:latin typeface="KaTeX_Math"/>
              </a:rPr>
              <a:t>P</a:t>
            </a:r>
            <a:r>
              <a:rPr lang="en-US" sz="1200" b="0" i="0" dirty="0">
                <a:effectLst/>
                <a:latin typeface="KaTeX_Main"/>
              </a:rPr>
              <a:t>2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KaTeX_Main"/>
              </a:rPr>
              <a:t>P2=V∗I</a:t>
            </a:r>
            <a:r>
              <a:rPr lang="en-US" sz="1200" b="0" i="1" dirty="0">
                <a:effectLst/>
                <a:latin typeface="KaTeX_Math"/>
              </a:rPr>
              <a:t>P</a:t>
            </a:r>
            <a:r>
              <a:rPr lang="en-US" sz="1200" b="0" i="0" dirty="0">
                <a:effectLst/>
                <a:latin typeface="KaTeX_Main"/>
              </a:rPr>
              <a:t>2=</a:t>
            </a:r>
            <a:r>
              <a:rPr lang="en-US" sz="1200" b="0" i="1" dirty="0">
                <a:effectLst/>
                <a:latin typeface="KaTeX_Math"/>
              </a:rPr>
              <a:t>V</a:t>
            </a:r>
            <a:r>
              <a:rPr lang="en-US" sz="1200" b="0" i="0" dirty="0">
                <a:effectLst/>
                <a:latin typeface="KaTeX_Main"/>
              </a:rPr>
              <a:t>∗</a:t>
            </a:r>
            <a:r>
              <a:rPr lang="en-US" sz="1200" b="0" i="1" dirty="0">
                <a:effectLst/>
                <a:latin typeface="KaTeX_Math"/>
              </a:rPr>
              <a:t>I</a:t>
            </a:r>
            <a:r>
              <a:rPr lang="en-US" sz="1200" b="0" i="0" dirty="0">
                <a:effectLst/>
                <a:latin typeface="__fkGroteskNeue_598ab8"/>
              </a:rPr>
              <a:t> (Calculate current power)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Calculate Power </a:t>
            </a:r>
            <a:r>
              <a:rPr lang="en-US" sz="1200" b="0" i="0" dirty="0" err="1">
                <a:effectLst/>
                <a:latin typeface="__fkGroteskNeue_598ab8"/>
              </a:rPr>
              <a:t>ChangeCalculate</a:t>
            </a:r>
            <a:r>
              <a:rPr lang="en-US" sz="1200" b="0" i="0" dirty="0">
                <a:effectLst/>
                <a:latin typeface="__fkGroteskNeue_598ab8"/>
              </a:rPr>
              <a:t> change in </a:t>
            </a:r>
            <a:r>
              <a:rPr lang="en-US" sz="1200" b="0" i="0" dirty="0" err="1">
                <a:effectLst/>
                <a:latin typeface="__fkGroteskNeue_598ab8"/>
              </a:rPr>
              <a:t>power:</a:t>
            </a:r>
            <a:r>
              <a:rPr lang="en-US" sz="1200" b="0" i="0" dirty="0" err="1">
                <a:effectLst/>
                <a:latin typeface="KaTeX_Main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=P2−P1</a:t>
            </a:r>
            <a:r>
              <a:rPr lang="en-US" sz="1200" b="0" i="1" dirty="0">
                <a:effectLst/>
                <a:latin typeface="KaTeX_Math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=</a:t>
            </a:r>
            <a:r>
              <a:rPr lang="en-US" sz="1200" b="0" i="1" dirty="0">
                <a:effectLst/>
                <a:latin typeface="KaTeX_Math"/>
              </a:rPr>
              <a:t>P</a:t>
            </a:r>
            <a:r>
              <a:rPr lang="en-US" sz="1200" b="0" i="0" dirty="0">
                <a:effectLst/>
                <a:latin typeface="KaTeX_Main"/>
              </a:rPr>
              <a:t>2−</a:t>
            </a:r>
            <a:r>
              <a:rPr lang="en-US" sz="1200" b="0" i="1" dirty="0">
                <a:effectLst/>
                <a:latin typeface="KaTeX_Math"/>
              </a:rPr>
              <a:t>P</a:t>
            </a:r>
            <a:r>
              <a:rPr lang="en-US" sz="1200" b="0" i="0" dirty="0">
                <a:effectLst/>
                <a:latin typeface="KaTeX_Main"/>
              </a:rPr>
              <a:t>1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Adjust Duty Cycle Based on Power </a:t>
            </a:r>
            <a:r>
              <a:rPr lang="en-US" sz="1200" b="0" i="0" dirty="0" err="1">
                <a:effectLst/>
                <a:latin typeface="__fkGroteskNeue_598ab8"/>
              </a:rPr>
              <a:t>ChangeIf</a:t>
            </a:r>
            <a:r>
              <a:rPr lang="en-US" sz="1200" b="0" i="0" dirty="0">
                <a:effectLst/>
                <a:latin typeface="__fkGroteskNeue_598ab8"/>
              </a:rPr>
              <a:t> </a:t>
            </a:r>
            <a:r>
              <a:rPr lang="en-US" sz="1200" b="0" i="0" dirty="0">
                <a:effectLst/>
                <a:latin typeface="KaTeX_Main"/>
              </a:rPr>
              <a:t>dd==0</a:t>
            </a:r>
            <a:r>
              <a:rPr lang="en-US" sz="1200" b="0" i="1" dirty="0">
                <a:effectLst/>
                <a:latin typeface="KaTeX_Math"/>
              </a:rPr>
              <a:t>dd</a:t>
            </a:r>
            <a:r>
              <a:rPr lang="en-US" sz="1200" b="0" i="0" dirty="0">
                <a:effectLst/>
                <a:latin typeface="KaTeX_Main"/>
              </a:rPr>
              <a:t>==0</a:t>
            </a:r>
            <a:r>
              <a:rPr lang="en-US" sz="1200" b="0" i="0" dirty="0">
                <a:effectLst/>
                <a:latin typeface="__fkGroteskNeue_598ab8"/>
              </a:rPr>
              <a:t>:If </a:t>
            </a:r>
            <a:r>
              <a:rPr lang="en-US" sz="1200" b="0" i="0" dirty="0" err="1">
                <a:effectLst/>
                <a:latin typeface="KaTeX_Main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&gt;1</a:t>
            </a:r>
            <a:r>
              <a:rPr lang="en-US" sz="1200" b="0" i="1" dirty="0">
                <a:effectLst/>
                <a:latin typeface="KaTeX_Math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&gt;1</a:t>
            </a:r>
            <a:r>
              <a:rPr lang="en-US" sz="1200" b="0" i="0" dirty="0">
                <a:effectLst/>
                <a:latin typeface="__fkGroteskNeue_598ab8"/>
              </a:rPr>
              <a:t>:Set </a:t>
            </a:r>
            <a:r>
              <a:rPr lang="en-US" sz="1200" b="0" i="0" dirty="0">
                <a:effectLst/>
                <a:latin typeface="KaTeX_Main"/>
              </a:rPr>
              <a:t>dd=0.01</a:t>
            </a:r>
            <a:r>
              <a:rPr lang="en-US" sz="1200" b="0" i="1" dirty="0">
                <a:effectLst/>
                <a:latin typeface="KaTeX_Math"/>
              </a:rPr>
              <a:t>dd</a:t>
            </a:r>
            <a:r>
              <a:rPr lang="en-US" sz="1200" b="0" i="0" dirty="0">
                <a:effectLst/>
                <a:latin typeface="KaTeX_Main"/>
              </a:rPr>
              <a:t>=0.01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Increment </a:t>
            </a:r>
            <a:r>
              <a:rPr lang="en-US" sz="1200" b="0" i="0" dirty="0">
                <a:effectLst/>
                <a:latin typeface="KaTeX_Main"/>
              </a:rPr>
              <a:t>d</a:t>
            </a:r>
            <a:r>
              <a:rPr lang="en-US" sz="1200" b="0" i="1" dirty="0">
                <a:effectLst/>
                <a:latin typeface="KaTeX_Math"/>
              </a:rPr>
              <a:t>d</a:t>
            </a:r>
            <a:r>
              <a:rPr lang="en-US" sz="1200" b="0" i="0" dirty="0">
                <a:effectLst/>
                <a:latin typeface="__fkGroteskNeue_598ab8"/>
              </a:rPr>
              <a:t> by </a:t>
            </a:r>
            <a:r>
              <a:rPr lang="en-US" sz="1200" b="0" i="0" dirty="0" err="1">
                <a:effectLst/>
                <a:latin typeface="KaTeX_Main"/>
              </a:rPr>
              <a:t>dd</a:t>
            </a:r>
            <a:r>
              <a:rPr lang="en-US" sz="1200" b="0" i="1" dirty="0" err="1">
                <a:effectLst/>
                <a:latin typeface="KaTeX_Math"/>
              </a:rPr>
              <a:t>dd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Else if </a:t>
            </a:r>
            <a:r>
              <a:rPr lang="en-US" sz="1200" b="0" i="0" dirty="0" err="1">
                <a:effectLst/>
                <a:latin typeface="KaTeX_Main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&lt;−1</a:t>
            </a:r>
            <a:r>
              <a:rPr lang="en-US" sz="1200" b="0" i="1" dirty="0">
                <a:effectLst/>
                <a:latin typeface="KaTeX_Math"/>
              </a:rPr>
              <a:t>dP</a:t>
            </a:r>
            <a:r>
              <a:rPr lang="en-US" sz="1200" b="0" i="0" dirty="0">
                <a:effectLst/>
                <a:latin typeface="KaTeX_Main"/>
              </a:rPr>
              <a:t>&lt;−1</a:t>
            </a:r>
            <a:r>
              <a:rPr lang="en-US" sz="1200" b="0" i="0" dirty="0">
                <a:effectLst/>
                <a:latin typeface="__fkGroteskNeue_598ab8"/>
              </a:rPr>
              <a:t>:Set </a:t>
            </a:r>
            <a:r>
              <a:rPr lang="en-US" sz="1200" b="0" i="0" dirty="0">
                <a:effectLst/>
                <a:latin typeface="KaTeX_Main"/>
              </a:rPr>
              <a:t>dd=−0.01</a:t>
            </a:r>
            <a:r>
              <a:rPr lang="en-US" sz="1200" b="0" i="1" dirty="0">
                <a:effectLst/>
                <a:latin typeface="KaTeX_Math"/>
              </a:rPr>
              <a:t>dd</a:t>
            </a:r>
            <a:r>
              <a:rPr lang="en-US" sz="1200" b="0" i="0" dirty="0">
                <a:effectLst/>
                <a:latin typeface="KaTeX_Main"/>
              </a:rPr>
              <a:t>=−0.01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Increment </a:t>
            </a:r>
            <a:r>
              <a:rPr lang="en-US" sz="1200" b="0" i="0" dirty="0">
                <a:effectLst/>
                <a:latin typeface="KaTeX_Main"/>
              </a:rPr>
              <a:t>d</a:t>
            </a:r>
            <a:r>
              <a:rPr lang="en-US" sz="1200" b="0" i="1" dirty="0">
                <a:effectLst/>
                <a:latin typeface="KaTeX_Math"/>
              </a:rPr>
              <a:t>d</a:t>
            </a:r>
            <a:r>
              <a:rPr lang="en-US" sz="1200" b="0" i="0" dirty="0">
                <a:effectLst/>
                <a:latin typeface="__fkGroteskNeue_598ab8"/>
              </a:rPr>
              <a:t> by </a:t>
            </a:r>
            <a:r>
              <a:rPr lang="en-US" sz="1200" b="0" i="0" dirty="0" err="1">
                <a:effectLst/>
                <a:latin typeface="KaTeX_Main"/>
              </a:rPr>
              <a:t>dd</a:t>
            </a:r>
            <a:r>
              <a:rPr lang="en-US" sz="1200" b="0" i="1" dirty="0" err="1">
                <a:effectLst/>
                <a:latin typeface="KaTeX_Math"/>
              </a:rPr>
              <a:t>dd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 err="1">
                <a:effectLst/>
                <a:latin typeface="__fkGroteskNeue_598ab8"/>
              </a:rPr>
              <a:t>Else:Set</a:t>
            </a:r>
            <a:r>
              <a:rPr lang="en-US" sz="1200" b="0" i="0" dirty="0">
                <a:effectLst/>
                <a:latin typeface="__fkGroteskNeue_598ab8"/>
              </a:rPr>
              <a:t> </a:t>
            </a:r>
            <a:r>
              <a:rPr lang="en-US" sz="1200" b="0" i="0" dirty="0">
                <a:effectLst/>
                <a:latin typeface="KaTeX_Main"/>
              </a:rPr>
              <a:t>dd=0</a:t>
            </a:r>
            <a:r>
              <a:rPr lang="en-US" sz="1200" b="0" i="1" dirty="0">
                <a:effectLst/>
                <a:latin typeface="KaTeX_Math"/>
              </a:rPr>
              <a:t>dd</a:t>
            </a:r>
            <a:r>
              <a:rPr lang="en-US" sz="1200" b="0" i="0" dirty="0">
                <a:effectLst/>
                <a:latin typeface="KaTeX_Main"/>
              </a:rPr>
              <a:t>=0</a:t>
            </a:r>
            <a:endParaRPr lang="en-US" sz="1200" b="0" i="0" dirty="0">
              <a:effectLst/>
              <a:latin typeface="__fkGroteskNeue_598ab8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If Duty Cycle Adjustment is </a:t>
            </a:r>
            <a:r>
              <a:rPr lang="en-US" sz="1200" b="0" i="0" dirty="0" err="1">
                <a:effectLst/>
                <a:latin typeface="__fkGroteskNeue_598ab8"/>
              </a:rPr>
              <a:t>ActiveIf</a:t>
            </a:r>
            <a:r>
              <a:rPr lang="en-US" sz="1200" b="0" i="0" dirty="0">
                <a:effectLst/>
                <a:latin typeface="__fkGroteskNeue_598ab8"/>
              </a:rPr>
              <a:t> (</a:t>
            </a:r>
            <a:r>
              <a:rPr lang="en-US" sz="1200" b="0" i="0" dirty="0" err="1">
                <a:effectLst/>
                <a:latin typeface="__fkGroteskNeue_598ab8"/>
              </a:rPr>
              <a:t>dP</a:t>
            </a:r>
            <a:r>
              <a:rPr lang="en-US" sz="1200" b="0" i="0" dirty="0">
                <a:effectLst/>
                <a:latin typeface="__fkGroteskNeue_598ab8"/>
              </a:rPr>
              <a:t>&lt;1)&amp;&amp;(</a:t>
            </a:r>
            <a:r>
              <a:rPr lang="en-US" sz="1200" b="0" i="0" dirty="0" err="1">
                <a:effectLst/>
                <a:latin typeface="__fkGroteskNeue_598ab8"/>
              </a:rPr>
              <a:t>dP</a:t>
            </a:r>
            <a:r>
              <a:rPr lang="en-US" sz="1200" b="0" i="0" dirty="0">
                <a:effectLst/>
                <a:latin typeface="__fkGroteskNeue_598ab8"/>
              </a:rPr>
              <a:t>&gt;-1):Set dd=0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Increment d by dd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 err="1">
                <a:effectLst/>
                <a:latin typeface="__fkGroteskNeue_598ab8"/>
              </a:rPr>
              <a:t>Else:If</a:t>
            </a:r>
            <a:r>
              <a:rPr lang="en-US" sz="1200" b="0" i="0" dirty="0">
                <a:effectLst/>
                <a:latin typeface="__fkGroteskNeue_598ab8"/>
              </a:rPr>
              <a:t> (</a:t>
            </a:r>
            <a:r>
              <a:rPr lang="en-US" sz="1200" b="0" i="0" dirty="0" err="1">
                <a:effectLst/>
                <a:latin typeface="__fkGroteskNeue_598ab8"/>
              </a:rPr>
              <a:t>dP</a:t>
            </a:r>
            <a:r>
              <a:rPr lang="en-US" sz="1200" b="0" i="0" dirty="0">
                <a:effectLst/>
                <a:latin typeface="__fkGroteskNeue_598ab8"/>
              </a:rPr>
              <a:t>/dd)&gt;0:Set dd=0.01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Increment d by dd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 err="1">
                <a:effectLst/>
                <a:latin typeface="__fkGroteskNeue_598ab8"/>
              </a:rPr>
              <a:t>Else:Set</a:t>
            </a:r>
            <a:r>
              <a:rPr lang="en-US" sz="1200" b="0" i="0" dirty="0">
                <a:effectLst/>
                <a:latin typeface="__fkGroteskNeue_598ab8"/>
              </a:rPr>
              <a:t> dd=-0.01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Increment d by dd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Calculate Duty Cycle </a:t>
            </a:r>
            <a:r>
              <a:rPr lang="en-US" sz="1200" b="0" i="0" dirty="0" err="1">
                <a:effectLst/>
                <a:latin typeface="__fkGroteskNeue_598ab8"/>
              </a:rPr>
              <a:t>DCalculate</a:t>
            </a:r>
            <a:r>
              <a:rPr lang="en-US" sz="1200" b="0" i="0" dirty="0">
                <a:effectLst/>
                <a:latin typeface="__fkGroteskNeue_598ab8"/>
              </a:rPr>
              <a:t> duty </a:t>
            </a:r>
            <a:r>
              <a:rPr lang="en-US" sz="1200" b="0" i="0" dirty="0" err="1">
                <a:effectLst/>
                <a:latin typeface="__fkGroteskNeue_598ab8"/>
              </a:rPr>
              <a:t>cycle:D</a:t>
            </a:r>
            <a:r>
              <a:rPr lang="en-US" sz="1200" b="0" i="0" dirty="0">
                <a:effectLst/>
                <a:latin typeface="__fkGroteskNeue_598ab8"/>
              </a:rPr>
              <a:t>=d/(d+1)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Limit Duty Cycle </a:t>
            </a:r>
            <a:r>
              <a:rPr lang="en-US" sz="1200" b="0" i="0" dirty="0" err="1">
                <a:effectLst/>
                <a:latin typeface="__fkGroteskNeue_598ab8"/>
              </a:rPr>
              <a:t>ValuesIf</a:t>
            </a:r>
            <a:r>
              <a:rPr lang="en-US" sz="1200" b="0" i="0" dirty="0">
                <a:effectLst/>
                <a:latin typeface="__fkGroteskNeue_598ab8"/>
              </a:rPr>
              <a:t> D&lt;0.4:Set D=0.4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Update duty </a:t>
            </a:r>
            <a:r>
              <a:rPr lang="en-US" sz="1200" b="0" i="0" dirty="0" err="1">
                <a:effectLst/>
                <a:latin typeface="__fkGroteskNeue_598ab8"/>
              </a:rPr>
              <a:t>cycle:d</a:t>
            </a:r>
            <a:r>
              <a:rPr lang="en-US" sz="1200" b="0" i="0" dirty="0">
                <a:effectLst/>
                <a:latin typeface="__fkGroteskNeue_598ab8"/>
              </a:rPr>
              <a:t>=D/(1-D)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Else if D&gt;0.9:Set D=0.9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Update duty </a:t>
            </a:r>
            <a:r>
              <a:rPr lang="en-US" sz="1200" b="0" i="0" dirty="0" err="1">
                <a:effectLst/>
                <a:latin typeface="__fkGroteskNeue_598ab8"/>
              </a:rPr>
              <a:t>cycle:d</a:t>
            </a:r>
            <a:r>
              <a:rPr lang="en-US" sz="1200" b="0" i="0" dirty="0">
                <a:effectLst/>
                <a:latin typeface="__fkGroteskNeue_598ab8"/>
              </a:rPr>
              <a:t>=D/(1-D)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0" i="0" dirty="0">
                <a:effectLst/>
                <a:latin typeface="__fkGroteskNeue_598ab8"/>
              </a:rPr>
              <a:t>End of Algorithm Return the final value of duty cycle 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D5573-7732-F99C-3F8D-CAACC519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928" y="340518"/>
            <a:ext cx="4675765" cy="552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50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F241-B1F5-04F0-B823-B0FA7C55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A2CBE-B8E6-3AC9-8115-53B1BE1A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4CA7A-578D-BFBB-6655-9A863533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606D9-317B-D563-C7FC-A04BC57B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19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01AF3A-83D0-5AA8-FB00-FD67E43D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85" y="0"/>
            <a:ext cx="10515600" cy="6810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3727F-17AB-0B64-67E7-4E2161DBFD3F}"/>
              </a:ext>
            </a:extLst>
          </p:cNvPr>
          <p:cNvSpPr txBox="1"/>
          <p:nvPr/>
        </p:nvSpPr>
        <p:spPr>
          <a:xfrm>
            <a:off x="240306" y="574040"/>
            <a:ext cx="39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Battery Swapping Station -- Charging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FE3991D-75D4-4AFC-F491-68189C0F3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85" y="681037"/>
            <a:ext cx="5839835" cy="522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Initialize Persistent Variables: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Check if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LoadOnPersistent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and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ChargingOnPersistent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are empty.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If empty, set: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LoadOnPersistent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(Load is initially ON)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ChargingOnPersistent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(Charging is initially OFF)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Check State of Charge (SOC):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If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SOC &gt; 80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Set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LoadOnPersistent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(Turn load ON)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Set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ChargingOnPersistent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(Turn charging OFF)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Else if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SOC &lt; 40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Set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LoadOnPersistent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(Turn load OFF)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Set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ChargingOnPersistent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(Start charging)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Assign Output Values: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Assign output values: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LoadOn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LoadOnPersistent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__fkGroteskNeue_598ab8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ChargingOnPersistent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__fkGroteskNeue_598ab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Return Outputs: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Return the values of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LoadOn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and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2EAB16-7D9B-CD37-8AFE-6FAF8093A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320" y="574040"/>
            <a:ext cx="5273415" cy="501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25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1B1A-05B4-FA9D-A195-D0C2D901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A5A88-FEE4-7CC7-9102-2B2BF2E7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8B960-F411-98DB-162A-8F86F695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D8A1A-E0B2-D8A2-4FA3-5B6E7E07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20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25A6B5-8FDF-F4E7-A629-D4E86DB2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85" y="0"/>
            <a:ext cx="10515600" cy="6810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53690-3DA2-CC9F-1904-F6A63998212B}"/>
              </a:ext>
            </a:extLst>
          </p:cNvPr>
          <p:cNvSpPr txBox="1"/>
          <p:nvPr/>
        </p:nvSpPr>
        <p:spPr>
          <a:xfrm>
            <a:off x="2831020" y="451974"/>
            <a:ext cx="339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 Charging control calculation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B3083-C01F-33D6-499C-791667A00038}"/>
              </a:ext>
            </a:extLst>
          </p:cNvPr>
          <p:cNvSpPr txBox="1"/>
          <p:nvPr/>
        </p:nvSpPr>
        <p:spPr>
          <a:xfrm>
            <a:off x="335901" y="1194318"/>
            <a:ext cx="10767527" cy="5089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35E2304-11DA-E2BB-C039-9EF346D52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01" y="697152"/>
            <a:ext cx="5890267" cy="4610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Input 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Receive input values: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voltage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: Voltage of the battery in volts.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current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: Current flowing into the battery in amperes.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temperature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: Temperature of the battery in degrees Celsius.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Define Constants: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Set constants for calculations: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nominalVoltage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12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(Nominal voltage of the battery in volts).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maxCurrent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100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(Maximum current rating in amperes).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fullChargeCapacity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100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(Full charge capacity in Ah).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minVoltageCutoff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10.5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(Minimum voltage cutoff for the battery in volts).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maxCycles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500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 (Estimated maximum cycles for the battery life).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Voltage Level Calculation: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Assign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voltageLevel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voltage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Current Level Calculation: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Assign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currentLevel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 = current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.</a:t>
            </a:r>
            <a:endParaRPr lang="en-US" altLang="en-US" sz="1100" dirty="0">
              <a:latin typeface="__fkGroteskNeue_598ab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rgbClr val="FF0000"/>
                </a:solidFill>
                <a:latin typeface="__fkGroteskNeue_598ab8"/>
              </a:rPr>
              <a:t>Calculation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09B0B3-2B99-1718-B517-942CD4BC6F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99"/>
          <a:stretch/>
        </p:blipFill>
        <p:spPr>
          <a:xfrm>
            <a:off x="7531273" y="136525"/>
            <a:ext cx="4420421" cy="37367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9A30E1-EE58-C6E8-0E01-5ADBC4A9B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273" y="3873228"/>
            <a:ext cx="4424079" cy="2783744"/>
          </a:xfrm>
          <a:prstGeom prst="rect">
            <a:avLst/>
          </a:prstGeom>
        </p:spPr>
      </p:pic>
      <p:sp>
        <p:nvSpPr>
          <p:cNvPr id="21" name="Rectangle 8">
            <a:extLst>
              <a:ext uri="{FF2B5EF4-FFF2-40B4-BE49-F238E27FC236}">
                <a16:creationId xmlns:a16="http://schemas.microsoft.com/office/drawing/2014/main" id="{06E39E11-9073-4829-B184-63655DF0D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88" y="4449775"/>
            <a:ext cx="7839860" cy="22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Output 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__fkGroteskNeue_598ab8"/>
              </a:rPr>
              <a:t>Return all calculated parameters: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voltageLevel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currentLevel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font-berkeley-mono)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SOC	SOH	DOD</a:t>
            </a:r>
            <a:r>
              <a:rPr lang="en-US" altLang="en-US" sz="1200" dirty="0">
                <a:latin typeface="__fkGroteskNeue_598ab8"/>
              </a:rPr>
              <a:t>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ROH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batteryLifeCycle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insulationResistance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__fkGroteskNeue_598ab8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residualCurrentMonitoring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temperatureMonitoring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font-berkeley-mono)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chargingTime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__fkGroteskNeue_598ab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5D1FEA0-634C-631C-C023-F0CA5EE79940}"/>
              </a:ext>
            </a:extLst>
          </p:cNvPr>
          <p:cNvCxnSpPr/>
          <p:nvPr/>
        </p:nvCxnSpPr>
        <p:spPr>
          <a:xfrm flipV="1">
            <a:off x="1894114" y="3739139"/>
            <a:ext cx="5486400" cy="71063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435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1C3D3-C6DC-3F61-F030-46DD1D9D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8/15/2025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D32D9-17E1-A63C-1C90-B8B5C55B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01D9E-EBC9-73E0-C3FA-73B8DC2A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21</a:t>
            </a:fld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3FC9F8-6EB6-70AD-7FFC-A5DA2E9576AF}"/>
              </a:ext>
            </a:extLst>
          </p:cNvPr>
          <p:cNvGrpSpPr/>
          <p:nvPr/>
        </p:nvGrpSpPr>
        <p:grpSpPr>
          <a:xfrm>
            <a:off x="184665" y="107525"/>
            <a:ext cx="4398120" cy="1100520"/>
            <a:chOff x="184665" y="107525"/>
            <a:chExt cx="4398120" cy="11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01FBFD-65E2-9BCE-D4D6-DEBE0F6D618A}"/>
                    </a:ext>
                  </a:extLst>
                </p14:cNvPr>
                <p14:cNvContentPartPr/>
                <p14:nvPr/>
              </p14:nvContentPartPr>
              <p14:xfrm>
                <a:off x="213825" y="213725"/>
                <a:ext cx="144000" cy="622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01FBFD-65E2-9BCE-D4D6-DEBE0F6D61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7705" y="207605"/>
                  <a:ext cx="15624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458BC7F-2E79-4CA2-000B-D63555FAEF8C}"/>
                    </a:ext>
                  </a:extLst>
                </p14:cNvPr>
                <p14:cNvContentPartPr/>
                <p14:nvPr/>
              </p14:nvContentPartPr>
              <p14:xfrm>
                <a:off x="223545" y="214085"/>
                <a:ext cx="273960" cy="213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458BC7F-2E79-4CA2-000B-D63555FAEF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7425" y="207965"/>
                  <a:ext cx="286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200735-4E0F-EDF1-4917-AE6E7D77AE8C}"/>
                    </a:ext>
                  </a:extLst>
                </p14:cNvPr>
                <p14:cNvContentPartPr/>
                <p14:nvPr/>
              </p14:nvContentPartPr>
              <p14:xfrm>
                <a:off x="602625" y="311285"/>
                <a:ext cx="281520" cy="503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200735-4E0F-EDF1-4917-AE6E7D77AE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6505" y="305165"/>
                  <a:ext cx="29376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DAF3C3-4B34-5A79-8E36-FA165F851E0B}"/>
                    </a:ext>
                  </a:extLst>
                </p14:cNvPr>
                <p14:cNvContentPartPr/>
                <p14:nvPr/>
              </p14:nvContentPartPr>
              <p14:xfrm>
                <a:off x="992145" y="595325"/>
                <a:ext cx="437040" cy="2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5DAF3C3-4B34-5A79-8E36-FA165F851E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6025" y="589205"/>
                  <a:ext cx="449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55C856-DFAC-288C-AC39-18476F82CF57}"/>
                    </a:ext>
                  </a:extLst>
                </p14:cNvPr>
                <p14:cNvContentPartPr/>
                <p14:nvPr/>
              </p14:nvContentPartPr>
              <p14:xfrm>
                <a:off x="1381305" y="321005"/>
                <a:ext cx="133200" cy="623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55C856-DFAC-288C-AC39-18476F82CF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5185" y="314885"/>
                  <a:ext cx="14544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CE65F2-E2BC-4AA2-BFFC-104458218F85}"/>
                    </a:ext>
                  </a:extLst>
                </p14:cNvPr>
                <p14:cNvContentPartPr/>
                <p14:nvPr/>
              </p14:nvContentPartPr>
              <p14:xfrm>
                <a:off x="184665" y="107525"/>
                <a:ext cx="1947240" cy="1041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CE65F2-E2BC-4AA2-BFFC-104458218F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545" y="101405"/>
                  <a:ext cx="1959480" cy="10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537F67-D2A8-466A-4E9F-ADE651259E6E}"/>
                    </a:ext>
                  </a:extLst>
                </p14:cNvPr>
                <p14:cNvContentPartPr/>
                <p14:nvPr/>
              </p14:nvContentPartPr>
              <p14:xfrm>
                <a:off x="2276265" y="632045"/>
                <a:ext cx="407160" cy="10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537F67-D2A8-466A-4E9F-ADE651259E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70145" y="625925"/>
                  <a:ext cx="419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1B79BC-6961-9227-E5FE-69A4328DB9AF}"/>
                    </a:ext>
                  </a:extLst>
                </p14:cNvPr>
                <p14:cNvContentPartPr/>
                <p14:nvPr/>
              </p14:nvContentPartPr>
              <p14:xfrm>
                <a:off x="2626185" y="466805"/>
                <a:ext cx="120240" cy="258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1B79BC-6961-9227-E5FE-69A4328DB9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20065" y="460685"/>
                  <a:ext cx="132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B19064-35F9-8A95-60F6-3CAFB3C202BF}"/>
                    </a:ext>
                  </a:extLst>
                </p14:cNvPr>
                <p14:cNvContentPartPr/>
                <p14:nvPr/>
              </p14:nvContentPartPr>
              <p14:xfrm>
                <a:off x="2607105" y="408485"/>
                <a:ext cx="284400" cy="478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B19064-35F9-8A95-60F6-3CAFB3C202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00985" y="402365"/>
                  <a:ext cx="29664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063680-25FE-5951-E38B-E4A899B86F3D}"/>
                    </a:ext>
                  </a:extLst>
                </p14:cNvPr>
                <p14:cNvContentPartPr/>
                <p14:nvPr/>
              </p14:nvContentPartPr>
              <p14:xfrm>
                <a:off x="3200385" y="408485"/>
                <a:ext cx="69120" cy="33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063680-25FE-5951-E38B-E4A899B86F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4265" y="402365"/>
                  <a:ext cx="813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B58DDD-DA7B-A361-0D93-9EDE01D981B7}"/>
                    </a:ext>
                  </a:extLst>
                </p14:cNvPr>
                <p14:cNvContentPartPr/>
                <p14:nvPr/>
              </p14:nvContentPartPr>
              <p14:xfrm>
                <a:off x="3239265" y="426845"/>
                <a:ext cx="306720" cy="324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B58DDD-DA7B-A361-0D93-9EDE01D981B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3145" y="420725"/>
                  <a:ext cx="3189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6F0763A-2692-CC1B-C456-EC6F60BD8888}"/>
                    </a:ext>
                  </a:extLst>
                </p14:cNvPr>
                <p14:cNvContentPartPr/>
                <p14:nvPr/>
              </p14:nvContentPartPr>
              <p14:xfrm>
                <a:off x="3677025" y="463925"/>
                <a:ext cx="379440" cy="325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6F0763A-2692-CC1B-C456-EC6F60BD888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70905" y="457805"/>
                  <a:ext cx="3916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7C1727A-D074-7165-CBE5-85E38735858A}"/>
                    </a:ext>
                  </a:extLst>
                </p14:cNvPr>
                <p14:cNvContentPartPr/>
                <p14:nvPr/>
              </p14:nvContentPartPr>
              <p14:xfrm>
                <a:off x="4203345" y="456725"/>
                <a:ext cx="283680" cy="353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7C1727A-D074-7165-CBE5-85E3873585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97225" y="450605"/>
                  <a:ext cx="2959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8483A1-DCE2-69F1-7083-71DAAAEFCEAB}"/>
                    </a:ext>
                  </a:extLst>
                </p14:cNvPr>
                <p14:cNvContentPartPr/>
                <p14:nvPr/>
              </p14:nvContentPartPr>
              <p14:xfrm>
                <a:off x="4305225" y="456365"/>
                <a:ext cx="62640" cy="1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8483A1-DCE2-69F1-7083-71DAAAEFCE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99105" y="450245"/>
                  <a:ext cx="74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7E4FE7B-1D38-5185-837D-D78D23C8D91C}"/>
                    </a:ext>
                  </a:extLst>
                </p14:cNvPr>
                <p14:cNvContentPartPr/>
                <p14:nvPr/>
              </p14:nvContentPartPr>
              <p14:xfrm>
                <a:off x="4200825" y="367805"/>
                <a:ext cx="381960" cy="645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7E4FE7B-1D38-5185-837D-D78D23C8D91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94705" y="361685"/>
                  <a:ext cx="39420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94A0CB9-48E5-F5B2-D437-4409CBEDF840}"/>
                    </a:ext>
                  </a:extLst>
                </p14:cNvPr>
                <p14:cNvContentPartPr/>
                <p14:nvPr/>
              </p14:nvContentPartPr>
              <p14:xfrm>
                <a:off x="3278145" y="748325"/>
                <a:ext cx="140760" cy="10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94A0CB9-48E5-F5B2-D437-4409CBEDF8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71665" y="742205"/>
                  <a:ext cx="1530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68317F-410E-F965-E408-3F10235B66A0}"/>
                    </a:ext>
                  </a:extLst>
                </p14:cNvPr>
                <p14:cNvContentPartPr/>
                <p14:nvPr/>
              </p14:nvContentPartPr>
              <p14:xfrm>
                <a:off x="3239265" y="840125"/>
                <a:ext cx="285480" cy="16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68317F-410E-F965-E408-3F10235B66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33145" y="834005"/>
                  <a:ext cx="297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2A9B44-AC02-1E37-0C0F-F71BD35936D5}"/>
                    </a:ext>
                  </a:extLst>
                </p14:cNvPr>
                <p14:cNvContentPartPr/>
                <p14:nvPr/>
              </p14:nvContentPartPr>
              <p14:xfrm>
                <a:off x="3735345" y="865325"/>
                <a:ext cx="271440" cy="4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2A9B44-AC02-1E37-0C0F-F71BD35936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29225" y="859205"/>
                  <a:ext cx="283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7E8816-B03A-9944-0A48-B0927E4826C0}"/>
                    </a:ext>
                  </a:extLst>
                </p14:cNvPr>
                <p14:cNvContentPartPr/>
                <p14:nvPr/>
              </p14:nvContentPartPr>
              <p14:xfrm>
                <a:off x="3345825" y="1003565"/>
                <a:ext cx="20880" cy="5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7E8816-B03A-9944-0A48-B0927E4826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39705" y="997445"/>
                  <a:ext cx="33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DD4683-48F1-287D-7348-6272386360E6}"/>
                    </a:ext>
                  </a:extLst>
                </p14:cNvPr>
                <p14:cNvContentPartPr/>
                <p14:nvPr/>
              </p14:nvContentPartPr>
              <p14:xfrm>
                <a:off x="3276345" y="932285"/>
                <a:ext cx="189000" cy="27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DD4683-48F1-287D-7348-6272386360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70225" y="926165"/>
                  <a:ext cx="201240" cy="28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025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208" y="3694894"/>
            <a:ext cx="4336495" cy="7985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7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Thankyou</a:t>
            </a:r>
            <a:b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8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03C8B8-7D1F-4A4F-BDFB-57D2D1403270}" type="datetime1">
              <a:rPr lang="en-US" smtClean="0"/>
              <a:pPr>
                <a:spcAft>
                  <a:spcPts val="600"/>
                </a:spcAft>
              </a:pPr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14E8D04E-7884-D2D4-7CED-5A6DF1209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7" y="229831"/>
            <a:ext cx="2637504" cy="9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99A0BF-B165-43EC-B5EC-4BD64C6CE5A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19B757F763C144918590A58A3C2100" ma:contentTypeVersion="5" ma:contentTypeDescription="Create a new document." ma:contentTypeScope="" ma:versionID="5d9cf66606784fe127c83b82746892c7">
  <xsd:schema xmlns:xsd="http://www.w3.org/2001/XMLSchema" xmlns:xs="http://www.w3.org/2001/XMLSchema" xmlns:p="http://schemas.microsoft.com/office/2006/metadata/properties" xmlns:ns3="f619aea2-d5ad-4208-a18c-92f8e9acac18" targetNamespace="http://schemas.microsoft.com/office/2006/metadata/properties" ma:root="true" ma:fieldsID="fbda49ceb3f46024ee92e61f4938b5da" ns3:_="">
    <xsd:import namespace="f619aea2-d5ad-4208-a18c-92f8e9acac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9aea2-d5ad-4208-a18c-92f8e9acac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9EF365-2DC5-4C2C-A11A-46598278C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49DF27-365C-4A29-8D2C-AB2B060F964F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f619aea2-d5ad-4208-a18c-92f8e9acac18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F2030F4-1722-4186-8C90-446ABDF8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9aea2-d5ad-4208-a18c-92f8e9acac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8771</TotalTime>
  <Words>1506</Words>
  <Application>Microsoft Office PowerPoint</Application>
  <PresentationFormat>Widescreen</PresentationFormat>
  <Paragraphs>310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__fkGroteskNeue_598ab8</vt:lpstr>
      <vt:lpstr>ADLaM Display</vt:lpstr>
      <vt:lpstr>Aptos</vt:lpstr>
      <vt:lpstr>Arial</vt:lpstr>
      <vt:lpstr>Calibri</vt:lpstr>
      <vt:lpstr>Calibri Light</vt:lpstr>
      <vt:lpstr>KaTeX_Main</vt:lpstr>
      <vt:lpstr>KaTeX_Math</vt:lpstr>
      <vt:lpstr>Times New Roman</vt:lpstr>
      <vt:lpstr>var(--font-berkeley-mono)</vt:lpstr>
      <vt:lpstr>var(--font-fk-grotesk)</vt:lpstr>
      <vt:lpstr>Wingdings</vt:lpstr>
      <vt:lpstr>Office Theme</vt:lpstr>
      <vt:lpstr>Title –  Design of IOT Architecture for Battery Charging Management Technology</vt:lpstr>
      <vt:lpstr>Outline</vt:lpstr>
      <vt:lpstr>Battery Swapping &amp; Fast charging Technology </vt:lpstr>
      <vt:lpstr>Importance of IOT Architecture</vt:lpstr>
      <vt:lpstr>Battery Swapping </vt:lpstr>
      <vt:lpstr>PowerPoint Presentation</vt:lpstr>
      <vt:lpstr> Monitoring Parameters</vt:lpstr>
      <vt:lpstr> Monitoring Parameters</vt:lpstr>
      <vt:lpstr> Monitoring Parameters – Topology - Hardware</vt:lpstr>
      <vt:lpstr> Monitoring Parameters – Topology - Hardware</vt:lpstr>
      <vt:lpstr> Monitoring Parameters – Topology - Hardware</vt:lpstr>
      <vt:lpstr> Monitoring Parameters – Topology - Hardware</vt:lpstr>
      <vt:lpstr> Monitoring Parameters – Topology - Hardware</vt:lpstr>
      <vt:lpstr> Monitoring Parameters – Topology - Hardware</vt:lpstr>
      <vt:lpstr>User Interface Application Layer</vt:lpstr>
      <vt:lpstr>End to End Flow</vt:lpstr>
      <vt:lpstr>PCC integration and Automation</vt:lpstr>
      <vt:lpstr>Algorithms</vt:lpstr>
      <vt:lpstr>Algorithms</vt:lpstr>
      <vt:lpstr>Algorithms</vt:lpstr>
      <vt:lpstr>PowerPoint Presentation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KADIYAM ANUSHA</dc:creator>
  <cp:lastModifiedBy>jagadeeswara kamarajugadda | AP23122100002</cp:lastModifiedBy>
  <cp:revision>557</cp:revision>
  <dcterms:created xsi:type="dcterms:W3CDTF">2021-08-02T06:45:34Z</dcterms:created>
  <dcterms:modified xsi:type="dcterms:W3CDTF">2025-08-15T14:21:32Z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0x010100D019B757F763C144918590A58A3C2100</vt:lpwstr>
  </property>
</Properties>
</file>