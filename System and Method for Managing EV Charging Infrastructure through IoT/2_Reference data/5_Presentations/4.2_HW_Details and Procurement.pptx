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6"/>
  </p:notesMasterIdLst>
  <p:sldIdLst>
    <p:sldId id="257" r:id="rId5"/>
    <p:sldId id="258" r:id="rId6"/>
    <p:sldId id="417" r:id="rId7"/>
    <p:sldId id="439" r:id="rId8"/>
    <p:sldId id="440" r:id="rId9"/>
    <p:sldId id="441" r:id="rId10"/>
    <p:sldId id="442" r:id="rId11"/>
    <p:sldId id="443" r:id="rId12"/>
    <p:sldId id="444" r:id="rId13"/>
    <p:sldId id="445" r:id="rId14"/>
    <p:sldId id="285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  <a:srgbClr val="008E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F6AF7CB-7ACF-42E1-9769-CB1172CEA200}" v="518" dt="2024-07-23T07:58:50.59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964" autoAdjust="0"/>
    <p:restoredTop sz="91984" autoAdjust="0"/>
  </p:normalViewPr>
  <p:slideViewPr>
    <p:cSldViewPr snapToGrid="0">
      <p:cViewPr varScale="1">
        <p:scale>
          <a:sx n="79" d="100"/>
          <a:sy n="79" d="100"/>
        </p:scale>
        <p:origin x="912" y="86"/>
      </p:cViewPr>
      <p:guideLst/>
    </p:cSldViewPr>
  </p:slideViewPr>
  <p:outlineViewPr>
    <p:cViewPr>
      <p:scale>
        <a:sx n="33" d="100"/>
        <a:sy n="33" d="100"/>
      </p:scale>
      <p:origin x="0" y="-1165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880"/>
    </p:cViewPr>
  </p:sorterViewPr>
  <p:notesViewPr>
    <p:cSldViewPr snapToGrid="0">
      <p:cViewPr varScale="1">
        <p:scale>
          <a:sx n="72" d="100"/>
          <a:sy n="72" d="100"/>
        </p:scale>
        <p:origin x="3010" y="4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10E9D3-35D6-41A2-8721-35E54E97FBB5}" type="datetimeFigureOut">
              <a:rPr lang="en-IN" smtClean="0"/>
              <a:t>02-04-2025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206C1D-2A15-49D1-94AC-58C6193961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27798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01CDD-2765-4E0B-8E1E-74E5DF634D54}" type="datetime1">
              <a:rPr lang="en-US" smtClean="0"/>
              <a:t>4/2/2025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Jagadeesh_AP2312210002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CCAAF-6324-40D0-99C1-825B83CC9B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39762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56CEB-6CDE-4930-8E1A-D8F60CF96CEF}" type="datetime1">
              <a:rPr lang="en-US" smtClean="0"/>
              <a:t>4/2/2025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Jagadeesh_AP2312210002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CCAAF-6324-40D0-99C1-825B83CC9B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68133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841D3-185F-47D8-BDE4-D8016A7347DF}" type="datetime1">
              <a:rPr lang="en-US" smtClean="0"/>
              <a:t>4/2/2025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Jagadeesh_AP2312210002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CCAAF-6324-40D0-99C1-825B83CC9B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89111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FF884-9D0E-4B7A-AF59-2FB766C47657}" type="datetime1">
              <a:rPr lang="en-US" smtClean="0"/>
              <a:t>4/2/2025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Jagadeesh_AP2312210002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CCAAF-6324-40D0-99C1-825B83CC9B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50263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F0DF7-C5E0-43EE-B2C3-C8F633061D7B}" type="datetime1">
              <a:rPr lang="en-US" smtClean="0"/>
              <a:t>4/2/2025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Jagadeesh_AP2312210002</a:t>
            </a:r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CCAAF-6324-40D0-99C1-825B83CC9B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95067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16347-16FC-498A-8B0A-492B3F8815B1}" type="datetime1">
              <a:rPr lang="en-US" smtClean="0"/>
              <a:t>4/2/2025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Jagadeesh_AP2312210002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CCAAF-6324-40D0-99C1-825B83CC9B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80739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4F80B-C6ED-4090-B072-93657F87519D}" type="datetime1">
              <a:rPr lang="en-US" smtClean="0"/>
              <a:t>4/2/2025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Jagadeesh_AP2312210002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CCAAF-6324-40D0-99C1-825B83CC9B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64066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4B027-1FEE-41E9-8565-0460820AFA68}" type="datetime1">
              <a:rPr lang="en-US" smtClean="0"/>
              <a:t>4/2/2025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Jagadeesh_AP2312210002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CCAAF-6324-40D0-99C1-825B83CC9B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59357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8CD37-D6CD-4F25-B941-5CDE0236D7C2}" type="datetime1">
              <a:rPr lang="en-US" smtClean="0"/>
              <a:t>4/2/2025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Jagadeesh_AP2312210002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CCAAF-6324-40D0-99C1-825B83CC9B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75184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79B75-EBAB-4ABC-81F0-E36206D12060}" type="datetime1">
              <a:rPr lang="en-US" smtClean="0"/>
              <a:t>4/2/2025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Jagadeesh_AP2312210002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CCAAF-6324-40D0-99C1-825B83CC9B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66120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49227-6DC0-4EAA-81BA-D4C0E6A15063}" type="datetime1">
              <a:rPr lang="en-US" smtClean="0"/>
              <a:t>4/2/2025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Jagadeesh_AP2312210002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CCAAF-6324-40D0-99C1-825B83CC9B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0085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7EF508-18F7-4B4E-977E-A553DA988B11}" type="datetime1">
              <a:rPr lang="en-US" smtClean="0"/>
              <a:t>4/2/2025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Jagadeesh_AP2312210002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FCCAAF-6324-40D0-99C1-825B83CC9B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079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eg"/><Relationship Id="rId5" Type="http://schemas.openxmlformats.org/officeDocument/2006/relationships/image" Target="../media/image8.png"/><Relationship Id="rId10" Type="http://schemas.openxmlformats.org/officeDocument/2006/relationships/image" Target="../media/image13.jpeg"/><Relationship Id="rId4" Type="http://schemas.openxmlformats.org/officeDocument/2006/relationships/image" Target="../media/image7.jpeg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eg"/><Relationship Id="rId5" Type="http://schemas.openxmlformats.org/officeDocument/2006/relationships/image" Target="../media/image8.png"/><Relationship Id="rId10" Type="http://schemas.openxmlformats.org/officeDocument/2006/relationships/image" Target="../media/image13.jpeg"/><Relationship Id="rId4" Type="http://schemas.openxmlformats.org/officeDocument/2006/relationships/image" Target="../media/image7.jpeg"/><Relationship Id="rId9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eg"/><Relationship Id="rId5" Type="http://schemas.openxmlformats.org/officeDocument/2006/relationships/image" Target="../media/image8.png"/><Relationship Id="rId10" Type="http://schemas.openxmlformats.org/officeDocument/2006/relationships/image" Target="../media/image13.jpeg"/><Relationship Id="rId4" Type="http://schemas.openxmlformats.org/officeDocument/2006/relationships/image" Target="../media/image7.jpeg"/><Relationship Id="rId9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6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13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jpeg"/><Relationship Id="rId5" Type="http://schemas.openxmlformats.org/officeDocument/2006/relationships/image" Target="../media/image19.jpeg"/><Relationship Id="rId4" Type="http://schemas.openxmlformats.org/officeDocument/2006/relationships/image" Target="../media/image18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jpeg"/><Relationship Id="rId3" Type="http://schemas.openxmlformats.org/officeDocument/2006/relationships/image" Target="../media/image7.jpeg"/><Relationship Id="rId7" Type="http://schemas.openxmlformats.org/officeDocument/2006/relationships/image" Target="../media/image24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jpe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13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25.jpeg"/><Relationship Id="rId4" Type="http://schemas.openxmlformats.org/officeDocument/2006/relationships/image" Target="../media/image24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56357" y="711243"/>
            <a:ext cx="6493448" cy="1352712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sz="1800" kern="1200" spc="300" dirty="0">
                <a:solidFill>
                  <a:srgbClr val="C0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Title – </a:t>
            </a:r>
            <a:br>
              <a:rPr lang="en-US" sz="2800" kern="1200" spc="300" dirty="0">
                <a:solidFill>
                  <a:srgbClr val="FF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</a:br>
            <a:r>
              <a:rPr lang="en-US" sz="2800" kern="1200" spc="300" dirty="0">
                <a:solidFill>
                  <a:srgbClr val="C0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Design of IOT Architecture for</a:t>
            </a:r>
            <a:br>
              <a:rPr lang="en-US" sz="2800" kern="1200" spc="300" dirty="0">
                <a:solidFill>
                  <a:srgbClr val="C0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</a:br>
            <a:r>
              <a:rPr lang="en-US" sz="2800" kern="1200" spc="300" dirty="0">
                <a:solidFill>
                  <a:srgbClr val="C0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Battery Charging Management Technology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D350E611-2993-456E-8445-FEE8351BB19B}" type="datetime1">
              <a:rPr lang="en-US" smtClean="0"/>
              <a:pPr>
                <a:spcAft>
                  <a:spcPts val="600"/>
                </a:spcAft>
              </a:pPr>
              <a:t>4/2/2025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Jagadeesh_AP2312210002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15FCCAAF-6324-40D0-99C1-825B83CC9B2F}" type="slidenum">
              <a:rPr lang="en-US" smtClean="0"/>
              <a:pPr>
                <a:spcAft>
                  <a:spcPts val="600"/>
                </a:spcAft>
              </a:pPr>
              <a:t>1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14C790-7258-76B7-ED0C-3952226A849A}"/>
              </a:ext>
            </a:extLst>
          </p:cNvPr>
          <p:cNvSpPr txBox="1"/>
          <p:nvPr/>
        </p:nvSpPr>
        <p:spPr>
          <a:xfrm>
            <a:off x="2507" y="5575995"/>
            <a:ext cx="500386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School of Engineering and Sciences (SEAS)</a:t>
            </a:r>
            <a:br>
              <a:rPr lang="en-US" sz="16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r>
              <a:rPr lang="en-US" sz="16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Department of Electronics and Communication Engineering</a:t>
            </a:r>
            <a:br>
              <a:rPr lang="en-US" sz="16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r>
              <a:rPr lang="en-US" sz="16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SRM University, Andhra Pradesh (SRM AP) </a:t>
            </a:r>
            <a:endParaRPr lang="en-US" sz="1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5F8596C-750C-6011-6B31-33F7DF8A40B1}"/>
              </a:ext>
            </a:extLst>
          </p:cNvPr>
          <p:cNvSpPr txBox="1"/>
          <p:nvPr/>
        </p:nvSpPr>
        <p:spPr>
          <a:xfrm>
            <a:off x="7929465" y="300119"/>
            <a:ext cx="41054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Major project 2</a:t>
            </a:r>
            <a:r>
              <a:rPr lang="en-US" sz="2000" b="1" baseline="300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nd</a:t>
            </a:r>
            <a:r>
              <a:rPr lang="en-US" sz="2000" b="1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Review</a:t>
            </a:r>
            <a:r>
              <a:rPr lang="en-US" sz="20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Presentation</a:t>
            </a:r>
            <a:endParaRPr lang="en-US" sz="2000" b="1" dirty="0"/>
          </a:p>
        </p:txBody>
      </p:sp>
      <p:pic>
        <p:nvPicPr>
          <p:cNvPr id="10" name="Picture 9" descr="A black and green logo&#10;&#10;Description automatically generated">
            <a:extLst>
              <a:ext uri="{FF2B5EF4-FFF2-40B4-BE49-F238E27FC236}">
                <a16:creationId xmlns:a16="http://schemas.microsoft.com/office/drawing/2014/main" id="{00387109-12A4-BD5A-150C-D499C1EE4A6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835" y="4321403"/>
            <a:ext cx="3832911" cy="1251603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9F68C0E-BDE4-8591-032A-D863A5568E60}"/>
              </a:ext>
            </a:extLst>
          </p:cNvPr>
          <p:cNvCxnSpPr/>
          <p:nvPr/>
        </p:nvCxnSpPr>
        <p:spPr>
          <a:xfrm flipH="1">
            <a:off x="2507" y="4128093"/>
            <a:ext cx="4926563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2E4A9853-8C9C-9FB2-2020-54A6CCFE56E7}"/>
              </a:ext>
            </a:extLst>
          </p:cNvPr>
          <p:cNvSpPr txBox="1"/>
          <p:nvPr/>
        </p:nvSpPr>
        <p:spPr>
          <a:xfrm>
            <a:off x="440555" y="1398472"/>
            <a:ext cx="428741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Presented by</a:t>
            </a:r>
            <a:br>
              <a:rPr lang="en-US" sz="18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r>
              <a:rPr lang="en-US" sz="18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Jagadeesh_(AP2312210002)</a:t>
            </a:r>
            <a:endParaRPr lang="en-US" sz="1800" kern="12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  <a:p>
            <a:pPr algn="ctr"/>
            <a:endParaRPr lang="en-US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  <a:p>
            <a:pPr algn="ctr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Esteemed guidance of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b="1" dirty="0">
                <a:solidFill>
                  <a:srgbClr val="008E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 Sujith </a:t>
            </a:r>
            <a:r>
              <a:rPr lang="en-US" sz="1800" b="1" dirty="0" err="1">
                <a:solidFill>
                  <a:srgbClr val="008E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Kalluri</a:t>
            </a:r>
            <a:r>
              <a:rPr lang="en-US" sz="1800" b="1" dirty="0">
                <a:solidFill>
                  <a:srgbClr val="008E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rgbClr val="008E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Ph.D</a:t>
            </a:r>
            <a:br>
              <a:rPr lang="en-US" sz="1800" b="1" dirty="0">
                <a:solidFill>
                  <a:srgbClr val="008E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Associate Professor</a:t>
            </a:r>
            <a:endParaRPr lang="en-US" dirty="0"/>
          </a:p>
        </p:txBody>
      </p:sp>
      <p:pic>
        <p:nvPicPr>
          <p:cNvPr id="2050" name="Picture 2" descr="intuions.com">
            <a:extLst>
              <a:ext uri="{FF2B5EF4-FFF2-40B4-BE49-F238E27FC236}">
                <a16:creationId xmlns:a16="http://schemas.microsoft.com/office/drawing/2014/main" id="{0FCAFF62-4320-AD69-DB79-6DCD656F323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896" t="24409" r="25999"/>
          <a:stretch/>
        </p:blipFill>
        <p:spPr bwMode="auto">
          <a:xfrm>
            <a:off x="9537430" y="2698985"/>
            <a:ext cx="2326076" cy="1759004"/>
          </a:xfrm>
          <a:prstGeom prst="decagon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The Role Of IoT In Smart Grid Tech - Intuz">
            <a:extLst>
              <a:ext uri="{FF2B5EF4-FFF2-40B4-BE49-F238E27FC236}">
                <a16:creationId xmlns:a16="http://schemas.microsoft.com/office/drawing/2014/main" id="{CDF7FA1B-5A62-DE3D-001C-A0EDF44D58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0131" y="4321403"/>
            <a:ext cx="3828249" cy="20129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721691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0E3596DD-156A-473E-9BB3-C6A29F7574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2C46C4D6-C474-4E92-B52E-944C1118F7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962785" cy="6858000"/>
          </a:xfrm>
          <a:custGeom>
            <a:avLst/>
            <a:gdLst>
              <a:gd name="connsiteX0" fmla="*/ 1044839 w 5962785"/>
              <a:gd name="connsiteY0" fmla="*/ 0 h 6858000"/>
              <a:gd name="connsiteX1" fmla="*/ 5962785 w 5962785"/>
              <a:gd name="connsiteY1" fmla="*/ 0 h 6858000"/>
              <a:gd name="connsiteX2" fmla="*/ 5962785 w 5962785"/>
              <a:gd name="connsiteY2" fmla="*/ 6858000 h 6858000"/>
              <a:gd name="connsiteX3" fmla="*/ 1469886 w 5962785"/>
              <a:gd name="connsiteY3" fmla="*/ 6858000 h 6858000"/>
              <a:gd name="connsiteX4" fmla="*/ 1416006 w 5962785"/>
              <a:gd name="connsiteY4" fmla="*/ 6823984 h 6858000"/>
              <a:gd name="connsiteX5" fmla="*/ 1232473 w 5962785"/>
              <a:gd name="connsiteY5" fmla="*/ 6733873 h 6858000"/>
              <a:gd name="connsiteX6" fmla="*/ 1075471 w 5962785"/>
              <a:gd name="connsiteY6" fmla="*/ 6503186 h 6858000"/>
              <a:gd name="connsiteX7" fmla="*/ 1020229 w 5962785"/>
              <a:gd name="connsiteY7" fmla="*/ 6438306 h 6858000"/>
              <a:gd name="connsiteX8" fmla="*/ 883579 w 5962785"/>
              <a:gd name="connsiteY8" fmla="*/ 6351798 h 6858000"/>
              <a:gd name="connsiteX9" fmla="*/ 645167 w 5962785"/>
              <a:gd name="connsiteY9" fmla="*/ 6167969 h 6858000"/>
              <a:gd name="connsiteX10" fmla="*/ 732391 w 5962785"/>
              <a:gd name="connsiteY10" fmla="*/ 6124716 h 6858000"/>
              <a:gd name="connsiteX11" fmla="*/ 985339 w 5962785"/>
              <a:gd name="connsiteY11" fmla="*/ 6236455 h 6858000"/>
              <a:gd name="connsiteX12" fmla="*/ 1168509 w 5962785"/>
              <a:gd name="connsiteY12" fmla="*/ 6265291 h 6858000"/>
              <a:gd name="connsiteX13" fmla="*/ 909746 w 5962785"/>
              <a:gd name="connsiteY13" fmla="*/ 6070649 h 6858000"/>
              <a:gd name="connsiteX14" fmla="*/ 659704 w 5962785"/>
              <a:gd name="connsiteY14" fmla="*/ 5818335 h 6858000"/>
              <a:gd name="connsiteX15" fmla="*/ 851597 w 5962785"/>
              <a:gd name="connsiteY15" fmla="*/ 5865193 h 6858000"/>
              <a:gd name="connsiteX16" fmla="*/ 860319 w 5962785"/>
              <a:gd name="connsiteY16" fmla="*/ 5832753 h 6858000"/>
              <a:gd name="connsiteX17" fmla="*/ 691686 w 5962785"/>
              <a:gd name="connsiteY17" fmla="*/ 5533581 h 6858000"/>
              <a:gd name="connsiteX18" fmla="*/ 610278 w 5962785"/>
              <a:gd name="connsiteY18" fmla="*/ 5411029 h 6858000"/>
              <a:gd name="connsiteX19" fmla="*/ 238123 w 5962785"/>
              <a:gd name="connsiteY19" fmla="*/ 5046976 h 6858000"/>
              <a:gd name="connsiteX20" fmla="*/ 592833 w 5962785"/>
              <a:gd name="connsiteY20" fmla="*/ 5209177 h 6858000"/>
              <a:gd name="connsiteX21" fmla="*/ 226494 w 5962785"/>
              <a:gd name="connsiteY21" fmla="*/ 4855939 h 6858000"/>
              <a:gd name="connsiteX22" fmla="*/ 49139 w 5962785"/>
              <a:gd name="connsiteY22" fmla="*/ 4726177 h 6858000"/>
              <a:gd name="connsiteX23" fmla="*/ 5527 w 5962785"/>
              <a:gd name="connsiteY23" fmla="*/ 4650483 h 6858000"/>
              <a:gd name="connsiteX24" fmla="*/ 84029 w 5962785"/>
              <a:gd name="connsiteY24" fmla="*/ 4632460 h 6858000"/>
              <a:gd name="connsiteX25" fmla="*/ 325347 w 5962785"/>
              <a:gd name="connsiteY25" fmla="*/ 4661296 h 6858000"/>
              <a:gd name="connsiteX26" fmla="*/ 25879 w 5962785"/>
              <a:gd name="connsiteY26" fmla="*/ 4423401 h 6858000"/>
              <a:gd name="connsiteX27" fmla="*/ 249753 w 5962785"/>
              <a:gd name="connsiteY27" fmla="*/ 4459446 h 6858000"/>
              <a:gd name="connsiteX28" fmla="*/ 313718 w 5962785"/>
              <a:gd name="connsiteY28" fmla="*/ 4365729 h 6858000"/>
              <a:gd name="connsiteX29" fmla="*/ 418386 w 5962785"/>
              <a:gd name="connsiteY29" fmla="*/ 4214341 h 6858000"/>
              <a:gd name="connsiteX30" fmla="*/ 491072 w 5962785"/>
              <a:gd name="connsiteY30" fmla="*/ 4131438 h 6858000"/>
              <a:gd name="connsiteX31" fmla="*/ 520147 w 5962785"/>
              <a:gd name="connsiteY31" fmla="*/ 3864706 h 6858000"/>
              <a:gd name="connsiteX32" fmla="*/ 459090 w 5962785"/>
              <a:gd name="connsiteY32" fmla="*/ 3572743 h 6858000"/>
              <a:gd name="connsiteX33" fmla="*/ 290458 w 5962785"/>
              <a:gd name="connsiteY33" fmla="*/ 3424959 h 6858000"/>
              <a:gd name="connsiteX34" fmla="*/ 339884 w 5962785"/>
              <a:gd name="connsiteY34" fmla="*/ 3259153 h 6858000"/>
              <a:gd name="connsiteX35" fmla="*/ 697501 w 5962785"/>
              <a:gd name="connsiteY35" fmla="*/ 3360078 h 6858000"/>
              <a:gd name="connsiteX36" fmla="*/ 165437 w 5962785"/>
              <a:gd name="connsiteY36" fmla="*/ 2967190 h 6858000"/>
              <a:gd name="connsiteX37" fmla="*/ 255568 w 5962785"/>
              <a:gd name="connsiteY37" fmla="*/ 2949167 h 6858000"/>
              <a:gd name="connsiteX38" fmla="*/ 578296 w 5962785"/>
              <a:gd name="connsiteY38" fmla="*/ 2725691 h 6858000"/>
              <a:gd name="connsiteX39" fmla="*/ 595740 w 5962785"/>
              <a:gd name="connsiteY39" fmla="*/ 2714876 h 6858000"/>
              <a:gd name="connsiteX40" fmla="*/ 650982 w 5962785"/>
              <a:gd name="connsiteY40" fmla="*/ 2574301 h 6858000"/>
              <a:gd name="connsiteX41" fmla="*/ 825429 w 5962785"/>
              <a:gd name="connsiteY41" fmla="*/ 2552674 h 6858000"/>
              <a:gd name="connsiteX42" fmla="*/ 970802 w 5962785"/>
              <a:gd name="connsiteY42" fmla="*/ 2585115 h 6858000"/>
              <a:gd name="connsiteX43" fmla="*/ 1127805 w 5962785"/>
              <a:gd name="connsiteY43" fmla="*/ 2545465 h 6858000"/>
              <a:gd name="connsiteX44" fmla="*/ 1267362 w 5962785"/>
              <a:gd name="connsiteY44" fmla="*/ 2563488 h 6858000"/>
              <a:gd name="connsiteX45" fmla="*/ 1386568 w 5962785"/>
              <a:gd name="connsiteY45" fmla="*/ 2538257 h 6858000"/>
              <a:gd name="connsiteX46" fmla="*/ 1270270 w 5962785"/>
              <a:gd name="connsiteY46" fmla="*/ 2419309 h 6858000"/>
              <a:gd name="connsiteX47" fmla="*/ 1107453 w 5962785"/>
              <a:gd name="connsiteY47" fmla="*/ 2419309 h 6858000"/>
              <a:gd name="connsiteX48" fmla="*/ 991154 w 5962785"/>
              <a:gd name="connsiteY48" fmla="*/ 2343615 h 6858000"/>
              <a:gd name="connsiteX49" fmla="*/ 880671 w 5962785"/>
              <a:gd name="connsiteY49" fmla="*/ 2206645 h 6858000"/>
              <a:gd name="connsiteX50" fmla="*/ 491072 w 5962785"/>
              <a:gd name="connsiteY50" fmla="*/ 1986771 h 6858000"/>
              <a:gd name="connsiteX51" fmla="*/ 421293 w 5962785"/>
              <a:gd name="connsiteY51" fmla="*/ 1903868 h 6858000"/>
              <a:gd name="connsiteX52" fmla="*/ 1531941 w 5962785"/>
              <a:gd name="connsiteY52" fmla="*/ 2224667 h 6858000"/>
              <a:gd name="connsiteX53" fmla="*/ 1188861 w 5962785"/>
              <a:gd name="connsiteY53" fmla="*/ 2091301 h 6858000"/>
              <a:gd name="connsiteX54" fmla="*/ 1421458 w 5962785"/>
              <a:gd name="connsiteY54" fmla="*/ 2116532 h 6858000"/>
              <a:gd name="connsiteX55" fmla="*/ 1549386 w 5962785"/>
              <a:gd name="connsiteY55" fmla="*/ 2026420 h 6858000"/>
              <a:gd name="connsiteX56" fmla="*/ 1549386 w 5962785"/>
              <a:gd name="connsiteY56" fmla="*/ 1997584 h 6858000"/>
              <a:gd name="connsiteX57" fmla="*/ 1453440 w 5962785"/>
              <a:gd name="connsiteY57" fmla="*/ 1914682 h 6858000"/>
              <a:gd name="connsiteX58" fmla="*/ 1398198 w 5962785"/>
              <a:gd name="connsiteY58" fmla="*/ 1860614 h 6858000"/>
              <a:gd name="connsiteX59" fmla="*/ 1247011 w 5962785"/>
              <a:gd name="connsiteY59" fmla="*/ 1665972 h 6858000"/>
              <a:gd name="connsiteX60" fmla="*/ 1354586 w 5962785"/>
              <a:gd name="connsiteY60" fmla="*/ 1644345 h 6858000"/>
              <a:gd name="connsiteX61" fmla="*/ 1395290 w 5962785"/>
              <a:gd name="connsiteY61" fmla="*/ 1604696 h 6858000"/>
              <a:gd name="connsiteX62" fmla="*/ 1366216 w 5962785"/>
              <a:gd name="connsiteY62" fmla="*/ 1547025 h 6858000"/>
              <a:gd name="connsiteX63" fmla="*/ 1031858 w 5962785"/>
              <a:gd name="connsiteY63" fmla="*/ 1370405 h 6858000"/>
              <a:gd name="connsiteX64" fmla="*/ 1005692 w 5962785"/>
              <a:gd name="connsiteY64" fmla="*/ 1233435 h 6858000"/>
              <a:gd name="connsiteX65" fmla="*/ 1069655 w 5962785"/>
              <a:gd name="connsiteY65" fmla="*/ 1211808 h 6858000"/>
              <a:gd name="connsiteX66" fmla="*/ 1142342 w 5962785"/>
              <a:gd name="connsiteY66" fmla="*/ 1222621 h 6858000"/>
              <a:gd name="connsiteX67" fmla="*/ 1084193 w 5962785"/>
              <a:gd name="connsiteY67" fmla="*/ 1114487 h 6858000"/>
              <a:gd name="connsiteX68" fmla="*/ 848689 w 5962785"/>
              <a:gd name="connsiteY68" fmla="*/ 1006353 h 6858000"/>
              <a:gd name="connsiteX69" fmla="*/ 805077 w 5962785"/>
              <a:gd name="connsiteY69" fmla="*/ 948681 h 6858000"/>
              <a:gd name="connsiteX70" fmla="*/ 863226 w 5962785"/>
              <a:gd name="connsiteY70" fmla="*/ 919844 h 6858000"/>
              <a:gd name="connsiteX71" fmla="*/ 906838 w 5962785"/>
              <a:gd name="connsiteY71" fmla="*/ 909031 h 6858000"/>
              <a:gd name="connsiteX72" fmla="*/ 5527 w 5962785"/>
              <a:gd name="connsiteY72" fmla="*/ 458471 h 6858000"/>
              <a:gd name="connsiteX73" fmla="*/ 209049 w 5962785"/>
              <a:gd name="connsiteY73" fmla="*/ 454867 h 6858000"/>
              <a:gd name="connsiteX74" fmla="*/ 409664 w 5962785"/>
              <a:gd name="connsiteY74" fmla="*/ 526956 h 6858000"/>
              <a:gd name="connsiteX75" fmla="*/ 621908 w 5962785"/>
              <a:gd name="connsiteY75" fmla="*/ 516143 h 6858000"/>
              <a:gd name="connsiteX76" fmla="*/ 822522 w 5962785"/>
              <a:gd name="connsiteY76" fmla="*/ 552188 h 6858000"/>
              <a:gd name="connsiteX77" fmla="*/ 996969 w 5962785"/>
              <a:gd name="connsiteY77" fmla="*/ 552188 h 6858000"/>
              <a:gd name="connsiteX78" fmla="*/ 834151 w 5962785"/>
              <a:gd name="connsiteY78" fmla="*/ 498120 h 6858000"/>
              <a:gd name="connsiteX79" fmla="*/ 773095 w 5962785"/>
              <a:gd name="connsiteY79" fmla="*/ 408008 h 6858000"/>
              <a:gd name="connsiteX80" fmla="*/ 793447 w 5962785"/>
              <a:gd name="connsiteY80" fmla="*/ 325106 h 6858000"/>
              <a:gd name="connsiteX81" fmla="*/ 860319 w 5962785"/>
              <a:gd name="connsiteY81" fmla="*/ 350336 h 6858000"/>
              <a:gd name="connsiteX82" fmla="*/ 938820 w 5962785"/>
              <a:gd name="connsiteY82" fmla="*/ 444054 h 6858000"/>
              <a:gd name="connsiteX83" fmla="*/ 956265 w 5962785"/>
              <a:gd name="connsiteY83" fmla="*/ 386381 h 6858000"/>
              <a:gd name="connsiteX84" fmla="*/ 1002784 w 5962785"/>
              <a:gd name="connsiteY84" fmla="*/ 343127 h 6858000"/>
              <a:gd name="connsiteX85" fmla="*/ 1270270 w 5962785"/>
              <a:gd name="connsiteY85" fmla="*/ 364755 h 6858000"/>
              <a:gd name="connsiteX86" fmla="*/ 1092915 w 5962785"/>
              <a:gd name="connsiteY86" fmla="*/ 180926 h 6858000"/>
              <a:gd name="connsiteX87" fmla="*/ 979525 w 5962785"/>
              <a:gd name="connsiteY87" fmla="*/ 152090 h 6858000"/>
              <a:gd name="connsiteX88" fmla="*/ 953358 w 5962785"/>
              <a:gd name="connsiteY88" fmla="*/ 76396 h 6858000"/>
              <a:gd name="connsiteX89" fmla="*/ 1005692 w 5962785"/>
              <a:gd name="connsiteY89" fmla="*/ 58373 h 6858000"/>
              <a:gd name="connsiteX90" fmla="*/ 1267362 w 5962785"/>
              <a:gd name="connsiteY90" fmla="*/ 123254 h 6858000"/>
              <a:gd name="connsiteX91" fmla="*/ 1310975 w 5962785"/>
              <a:gd name="connsiteY91" fmla="*/ 98023 h 6858000"/>
              <a:gd name="connsiteX92" fmla="*/ 1159787 w 5962785"/>
              <a:gd name="connsiteY92" fmla="*/ 4350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</a:cxnLst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1062" y="277215"/>
            <a:ext cx="3888526" cy="807646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  <a:endParaRPr lang="en-IN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6C19B6FD-226A-4CFB-95DA-A1309CA70088}" type="datetime1">
              <a:rPr lang="en-US" smtClean="0"/>
              <a:pPr>
                <a:spcAft>
                  <a:spcPts val="600"/>
                </a:spcAft>
              </a:pPr>
              <a:t>4/2/2025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Jagadeesh_AP2312210002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15FCCAAF-6324-40D0-99C1-825B83CC9B2F}" type="slidenum">
              <a:rPr lang="en-IN" smtClean="0"/>
              <a:pPr>
                <a:spcAft>
                  <a:spcPts val="600"/>
                </a:spcAft>
              </a:pPr>
              <a:t>2</a:t>
            </a:fld>
            <a:endParaRPr lang="en-IN"/>
          </a:p>
        </p:txBody>
      </p:sp>
      <p:pic>
        <p:nvPicPr>
          <p:cNvPr id="9" name="Picture 8" descr="A black and green logo&#10;&#10;Description automatically generated">
            <a:extLst>
              <a:ext uri="{FF2B5EF4-FFF2-40B4-BE49-F238E27FC236}">
                <a16:creationId xmlns:a16="http://schemas.microsoft.com/office/drawing/2014/main" id="{A4E8363D-BD78-CB08-68C5-EF4C2730BC9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5131" y="909006"/>
            <a:ext cx="2910455" cy="104370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4245924-1534-2B33-F883-AB95C8907383}"/>
              </a:ext>
            </a:extLst>
          </p:cNvPr>
          <p:cNvSpPr txBox="1"/>
          <p:nvPr/>
        </p:nvSpPr>
        <p:spPr>
          <a:xfrm>
            <a:off x="137797" y="1844566"/>
            <a:ext cx="5068266" cy="25423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C00000"/>
                </a:solidFill>
                <a:latin typeface="var(--font-fk-grotesk)"/>
              </a:rPr>
              <a:t>Hardware Implementation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C00000"/>
                </a:solidFill>
                <a:latin typeface="var(--font-fk-grotesk)"/>
              </a:rPr>
              <a:t>	1. Power source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C00000"/>
                </a:solidFill>
                <a:latin typeface="var(--font-fk-grotesk)"/>
              </a:rPr>
              <a:t>	2. Sources control and Automation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C00000"/>
                </a:solidFill>
                <a:latin typeface="var(--font-fk-grotesk)"/>
              </a:rPr>
              <a:t>	3. Load 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C00000"/>
                </a:solidFill>
                <a:latin typeface="var(--font-fk-grotesk)"/>
              </a:rPr>
              <a:t>	   </a:t>
            </a:r>
            <a:r>
              <a:rPr lang="en-US" b="1" dirty="0">
                <a:solidFill>
                  <a:srgbClr val="C00000"/>
                </a:solidFill>
                <a:latin typeface="var(--font-fk-grotesk)"/>
                <a:sym typeface="Wingdings" panose="05000000000000000000" pitchFamily="2" charset="2"/>
              </a:rPr>
              <a:t> Swapping Station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C00000"/>
                </a:solidFill>
                <a:latin typeface="var(--font-fk-grotesk)"/>
                <a:sym typeface="Wingdings" panose="05000000000000000000" pitchFamily="2" charset="2"/>
              </a:rPr>
              <a:t>	   Fast charging Station</a:t>
            </a:r>
            <a:endParaRPr lang="en-US" b="1" dirty="0">
              <a:solidFill>
                <a:srgbClr val="C00000"/>
              </a:solidFill>
              <a:latin typeface="var(--font-fk-grotesk)"/>
            </a:endParaRPr>
          </a:p>
        </p:txBody>
      </p:sp>
    </p:spTree>
    <p:extLst>
      <p:ext uri="{BB962C8B-B14F-4D97-AF65-F5344CB8AC3E}">
        <p14:creationId xmlns:p14="http://schemas.microsoft.com/office/powerpoint/2010/main" val="3569972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6" name="Picture 1055">
            <a:extLst>
              <a:ext uri="{FF2B5EF4-FFF2-40B4-BE49-F238E27FC236}">
                <a16:creationId xmlns:a16="http://schemas.microsoft.com/office/drawing/2014/main" id="{E4E2A13D-5391-3B6B-71B7-08EBE69B2C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6055" y="1968759"/>
            <a:ext cx="2015297" cy="2397968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F1617A-68F7-451A-B322-43A9274F3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56CEB-6CDE-4930-8E1A-D8F60CF96CEF}" type="datetime1">
              <a:rPr lang="en-US" smtClean="0"/>
              <a:t>4/2/2025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EE81F4-4FBF-BA17-1569-C844F3B0F8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Jagadeesh_AP2312210002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7E9104-700E-891F-B04F-D88439DEA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CCAAF-6324-40D0-99C1-825B83CC9B2F}" type="slidenum">
              <a:rPr lang="en-IN" smtClean="0"/>
              <a:t>3</a:t>
            </a:fld>
            <a:endParaRPr lang="en-IN"/>
          </a:p>
        </p:txBody>
      </p:sp>
      <p:pic>
        <p:nvPicPr>
          <p:cNvPr id="1026" name="Picture 2" descr="Buy High Quality 170W/12V Polycrystalline Solar Panel Online | Luminous">
            <a:extLst>
              <a:ext uri="{FF2B5EF4-FFF2-40B4-BE49-F238E27FC236}">
                <a16:creationId xmlns:a16="http://schemas.microsoft.com/office/drawing/2014/main" id="{B9F6085E-6013-CB47-F189-7A66F21D6A7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197" t="11840" r="29706" b="12562"/>
          <a:stretch/>
        </p:blipFill>
        <p:spPr bwMode="auto">
          <a:xfrm>
            <a:off x="102637" y="319088"/>
            <a:ext cx="1373901" cy="17867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15-Year Life Battery Solar 12V 400ah Solar Battery Bank Solar Panel with  Integrated Battery - Solar Battery Bank, Solar Panel with Integrated Battery  | Made-in-China.com">
            <a:extLst>
              <a:ext uri="{FF2B5EF4-FFF2-40B4-BE49-F238E27FC236}">
                <a16:creationId xmlns:a16="http://schemas.microsoft.com/office/drawing/2014/main" id="{682E1BDB-9B98-8395-6A08-769D838CB6C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90" t="16668" r="5967" b="18005"/>
          <a:stretch/>
        </p:blipFill>
        <p:spPr bwMode="auto">
          <a:xfrm>
            <a:off x="2415073" y="4200148"/>
            <a:ext cx="2547257" cy="1940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Premium Vector | Supports of the highvoltage power grid Vector illustration  of utility electric transmission networks Power lines isolated on white  background">
            <a:extLst>
              <a:ext uri="{FF2B5EF4-FFF2-40B4-BE49-F238E27FC236}">
                <a16:creationId xmlns:a16="http://schemas.microsoft.com/office/drawing/2014/main" id="{2A873CD7-CAD5-EBCB-106F-96BDD154C3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295" y="3409666"/>
            <a:ext cx="1564193" cy="11626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FCE9137-E61F-2EB0-E511-9731521E05AF}"/>
              </a:ext>
            </a:extLst>
          </p:cNvPr>
          <p:cNvSpPr txBox="1"/>
          <p:nvPr/>
        </p:nvSpPr>
        <p:spPr>
          <a:xfrm>
            <a:off x="149291" y="2120582"/>
            <a:ext cx="830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Solar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A2B4738-AADD-5231-73F2-81251CB68BC3}"/>
              </a:ext>
            </a:extLst>
          </p:cNvPr>
          <p:cNvSpPr txBox="1"/>
          <p:nvPr/>
        </p:nvSpPr>
        <p:spPr>
          <a:xfrm>
            <a:off x="674137" y="4215395"/>
            <a:ext cx="830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Grid</a:t>
            </a:r>
          </a:p>
        </p:txBody>
      </p:sp>
      <p:pic>
        <p:nvPicPr>
          <p:cNvPr id="36" name="Picture 2">
            <a:extLst>
              <a:ext uri="{FF2B5EF4-FFF2-40B4-BE49-F238E27FC236}">
                <a16:creationId xmlns:a16="http://schemas.microsoft.com/office/drawing/2014/main" id="{74566D4F-9CE1-1DB0-ED96-4D0F6AAB26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077" t="13588" r="3937" b="52425"/>
          <a:stretch/>
        </p:blipFill>
        <p:spPr bwMode="auto">
          <a:xfrm>
            <a:off x="1748672" y="553126"/>
            <a:ext cx="3579108" cy="14156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6E2757FA-C661-4383-AA2D-FA99E4718F8B}"/>
              </a:ext>
            </a:extLst>
          </p:cNvPr>
          <p:cNvCxnSpPr/>
          <p:nvPr/>
        </p:nvCxnSpPr>
        <p:spPr>
          <a:xfrm flipH="1">
            <a:off x="1204799" y="2120583"/>
            <a:ext cx="8181" cy="47332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E47AA407-6B43-6FA6-3816-72BBC540CE65}"/>
              </a:ext>
            </a:extLst>
          </p:cNvPr>
          <p:cNvCxnSpPr/>
          <p:nvPr/>
        </p:nvCxnSpPr>
        <p:spPr>
          <a:xfrm>
            <a:off x="1214130" y="2593910"/>
            <a:ext cx="1650368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5246D429-256B-E299-1E63-6B717D39130B}"/>
              </a:ext>
            </a:extLst>
          </p:cNvPr>
          <p:cNvCxnSpPr/>
          <p:nvPr/>
        </p:nvCxnSpPr>
        <p:spPr>
          <a:xfrm flipV="1">
            <a:off x="2864498" y="1838131"/>
            <a:ext cx="0" cy="75577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12CD4F87-39FE-14B2-7749-CFA2F002AD7A}"/>
              </a:ext>
            </a:extLst>
          </p:cNvPr>
          <p:cNvCxnSpPr/>
          <p:nvPr/>
        </p:nvCxnSpPr>
        <p:spPr>
          <a:xfrm>
            <a:off x="3144416" y="1968759"/>
            <a:ext cx="0" cy="81575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43160B77-0987-44B5-C474-3698A73F78F8}"/>
              </a:ext>
            </a:extLst>
          </p:cNvPr>
          <p:cNvCxnSpPr/>
          <p:nvPr/>
        </p:nvCxnSpPr>
        <p:spPr>
          <a:xfrm flipH="1">
            <a:off x="942392" y="2784515"/>
            <a:ext cx="222068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9DDFFC96-2820-396E-D71B-4C9DC89A6409}"/>
              </a:ext>
            </a:extLst>
          </p:cNvPr>
          <p:cNvCxnSpPr/>
          <p:nvPr/>
        </p:nvCxnSpPr>
        <p:spPr>
          <a:xfrm flipV="1">
            <a:off x="942392" y="2120583"/>
            <a:ext cx="0" cy="66393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B1D5688C-3C43-3655-25C2-85A5B2A9244D}"/>
              </a:ext>
            </a:extLst>
          </p:cNvPr>
          <p:cNvCxnSpPr>
            <a:cxnSpLocks/>
          </p:cNvCxnSpPr>
          <p:nvPr/>
        </p:nvCxnSpPr>
        <p:spPr>
          <a:xfrm>
            <a:off x="3405673" y="1838131"/>
            <a:ext cx="0" cy="259391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C87FADA0-3655-029E-A45F-CE5ABD092F08}"/>
              </a:ext>
            </a:extLst>
          </p:cNvPr>
          <p:cNvCxnSpPr/>
          <p:nvPr/>
        </p:nvCxnSpPr>
        <p:spPr>
          <a:xfrm>
            <a:off x="3688701" y="1838131"/>
            <a:ext cx="0" cy="252859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8" name="Picture 4">
            <a:extLst>
              <a:ext uri="{FF2B5EF4-FFF2-40B4-BE49-F238E27FC236}">
                <a16:creationId xmlns:a16="http://schemas.microsoft.com/office/drawing/2014/main" id="{D69F2FEC-A4F2-656F-D020-8EBE2261234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65" b="38756"/>
          <a:stretch/>
        </p:blipFill>
        <p:spPr bwMode="auto">
          <a:xfrm rot="10800000">
            <a:off x="724338" y="4678769"/>
            <a:ext cx="1138463" cy="605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9" name="Arrow: Right 58">
            <a:extLst>
              <a:ext uri="{FF2B5EF4-FFF2-40B4-BE49-F238E27FC236}">
                <a16:creationId xmlns:a16="http://schemas.microsoft.com/office/drawing/2014/main" id="{092EB76E-10C7-D52C-9F95-1401F0FF5AAF}"/>
              </a:ext>
            </a:extLst>
          </p:cNvPr>
          <p:cNvSpPr/>
          <p:nvPr/>
        </p:nvSpPr>
        <p:spPr>
          <a:xfrm>
            <a:off x="1916932" y="4981276"/>
            <a:ext cx="498141" cy="6205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318ECC9-B4BE-09B0-E2F9-1E2C5A7935DE}"/>
              </a:ext>
            </a:extLst>
          </p:cNvPr>
          <p:cNvSpPr txBox="1"/>
          <p:nvPr/>
        </p:nvSpPr>
        <p:spPr>
          <a:xfrm>
            <a:off x="32991" y="4877110"/>
            <a:ext cx="830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AC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10D303E-B840-9B82-3954-A4C79CCC3F7C}"/>
              </a:ext>
            </a:extLst>
          </p:cNvPr>
          <p:cNvSpPr txBox="1"/>
          <p:nvPr/>
        </p:nvSpPr>
        <p:spPr>
          <a:xfrm>
            <a:off x="1723726" y="4662402"/>
            <a:ext cx="830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DC</a:t>
            </a:r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83623EA7-BFF6-AF0C-CB3E-9B24A32E1EB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1219" y="5545551"/>
            <a:ext cx="1124701" cy="605004"/>
          </a:xfrm>
          <a:prstGeom prst="rect">
            <a:avLst/>
          </a:prstGeom>
        </p:spPr>
      </p:pic>
      <p:sp>
        <p:nvSpPr>
          <p:cNvPr id="1024" name="Arrow: Right 1023">
            <a:extLst>
              <a:ext uri="{FF2B5EF4-FFF2-40B4-BE49-F238E27FC236}">
                <a16:creationId xmlns:a16="http://schemas.microsoft.com/office/drawing/2014/main" id="{E89EAA6A-500D-58BD-7C4E-69E6750C91AC}"/>
              </a:ext>
            </a:extLst>
          </p:cNvPr>
          <p:cNvSpPr/>
          <p:nvPr/>
        </p:nvSpPr>
        <p:spPr>
          <a:xfrm rot="10800000">
            <a:off x="1941116" y="5860665"/>
            <a:ext cx="605389" cy="6205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5" name="TextBox 1024">
            <a:extLst>
              <a:ext uri="{FF2B5EF4-FFF2-40B4-BE49-F238E27FC236}">
                <a16:creationId xmlns:a16="http://schemas.microsoft.com/office/drawing/2014/main" id="{340958B1-4E1A-B35C-B64A-5DA4B8A205DA}"/>
              </a:ext>
            </a:extLst>
          </p:cNvPr>
          <p:cNvSpPr txBox="1"/>
          <p:nvPr/>
        </p:nvSpPr>
        <p:spPr>
          <a:xfrm>
            <a:off x="75554" y="5700657"/>
            <a:ext cx="830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DC</a:t>
            </a:r>
          </a:p>
        </p:txBody>
      </p:sp>
      <p:sp>
        <p:nvSpPr>
          <p:cNvPr id="1027" name="TextBox 1026">
            <a:extLst>
              <a:ext uri="{FF2B5EF4-FFF2-40B4-BE49-F238E27FC236}">
                <a16:creationId xmlns:a16="http://schemas.microsoft.com/office/drawing/2014/main" id="{40B33168-A4F8-3861-99EB-BDBD8937A61D}"/>
              </a:ext>
            </a:extLst>
          </p:cNvPr>
          <p:cNvSpPr txBox="1"/>
          <p:nvPr/>
        </p:nvSpPr>
        <p:spPr>
          <a:xfrm>
            <a:off x="1804989" y="5592011"/>
            <a:ext cx="830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AC</a:t>
            </a:r>
          </a:p>
        </p:txBody>
      </p:sp>
      <p:cxnSp>
        <p:nvCxnSpPr>
          <p:cNvPr id="1033" name="Straight Connector 1032">
            <a:extLst>
              <a:ext uri="{FF2B5EF4-FFF2-40B4-BE49-F238E27FC236}">
                <a16:creationId xmlns:a16="http://schemas.microsoft.com/office/drawing/2014/main" id="{81EE3EB5-3345-62F9-21E4-8787319E45A4}"/>
              </a:ext>
            </a:extLst>
          </p:cNvPr>
          <p:cNvCxnSpPr>
            <a:cxnSpLocks/>
          </p:cNvCxnSpPr>
          <p:nvPr/>
        </p:nvCxnSpPr>
        <p:spPr>
          <a:xfrm>
            <a:off x="4217437" y="1838131"/>
            <a:ext cx="0" cy="110101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37" name="Straight Connector 1036">
            <a:extLst>
              <a:ext uri="{FF2B5EF4-FFF2-40B4-BE49-F238E27FC236}">
                <a16:creationId xmlns:a16="http://schemas.microsoft.com/office/drawing/2014/main" id="{635320AC-207C-5798-1142-21A932614646}"/>
              </a:ext>
            </a:extLst>
          </p:cNvPr>
          <p:cNvCxnSpPr/>
          <p:nvPr/>
        </p:nvCxnSpPr>
        <p:spPr>
          <a:xfrm>
            <a:off x="4217435" y="2939143"/>
            <a:ext cx="133816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39" name="Straight Connector 1038">
            <a:extLst>
              <a:ext uri="{FF2B5EF4-FFF2-40B4-BE49-F238E27FC236}">
                <a16:creationId xmlns:a16="http://schemas.microsoft.com/office/drawing/2014/main" id="{ECEA6AA2-D4E7-1435-402F-B40C64E810C4}"/>
              </a:ext>
            </a:extLst>
          </p:cNvPr>
          <p:cNvCxnSpPr>
            <a:cxnSpLocks/>
          </p:cNvCxnSpPr>
          <p:nvPr/>
        </p:nvCxnSpPr>
        <p:spPr>
          <a:xfrm>
            <a:off x="3903306" y="1848607"/>
            <a:ext cx="0" cy="131913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3" name="Straight Connector 1042">
            <a:extLst>
              <a:ext uri="{FF2B5EF4-FFF2-40B4-BE49-F238E27FC236}">
                <a16:creationId xmlns:a16="http://schemas.microsoft.com/office/drawing/2014/main" id="{DF7AD8DF-3EF5-FCD3-C44B-4B4B5A2E2614}"/>
              </a:ext>
            </a:extLst>
          </p:cNvPr>
          <p:cNvCxnSpPr>
            <a:cxnSpLocks/>
          </p:cNvCxnSpPr>
          <p:nvPr/>
        </p:nvCxnSpPr>
        <p:spPr>
          <a:xfrm>
            <a:off x="3906416" y="3167743"/>
            <a:ext cx="165229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7" name="Straight Connector 1046">
            <a:extLst>
              <a:ext uri="{FF2B5EF4-FFF2-40B4-BE49-F238E27FC236}">
                <a16:creationId xmlns:a16="http://schemas.microsoft.com/office/drawing/2014/main" id="{D9C9A524-C603-63B6-EAAB-CD242AEB7366}"/>
              </a:ext>
            </a:extLst>
          </p:cNvPr>
          <p:cNvCxnSpPr>
            <a:cxnSpLocks/>
          </p:cNvCxnSpPr>
          <p:nvPr/>
        </p:nvCxnSpPr>
        <p:spPr>
          <a:xfrm>
            <a:off x="3903306" y="3411301"/>
            <a:ext cx="0" cy="93590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9" name="Straight Connector 1048">
            <a:extLst>
              <a:ext uri="{FF2B5EF4-FFF2-40B4-BE49-F238E27FC236}">
                <a16:creationId xmlns:a16="http://schemas.microsoft.com/office/drawing/2014/main" id="{59D7FEEC-0EEC-E173-E4B8-66B0F6C27A1C}"/>
              </a:ext>
            </a:extLst>
          </p:cNvPr>
          <p:cNvCxnSpPr>
            <a:cxnSpLocks/>
          </p:cNvCxnSpPr>
          <p:nvPr/>
        </p:nvCxnSpPr>
        <p:spPr>
          <a:xfrm>
            <a:off x="3906416" y="3429000"/>
            <a:ext cx="165229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50" name="Straight Connector 1049">
            <a:extLst>
              <a:ext uri="{FF2B5EF4-FFF2-40B4-BE49-F238E27FC236}">
                <a16:creationId xmlns:a16="http://schemas.microsoft.com/office/drawing/2014/main" id="{62033FE3-C232-FEB2-5C71-5E3B9FD7F353}"/>
              </a:ext>
            </a:extLst>
          </p:cNvPr>
          <p:cNvCxnSpPr/>
          <p:nvPr/>
        </p:nvCxnSpPr>
        <p:spPr>
          <a:xfrm>
            <a:off x="4220547" y="3639842"/>
            <a:ext cx="0" cy="75577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51" name="Straight Connector 1050">
            <a:extLst>
              <a:ext uri="{FF2B5EF4-FFF2-40B4-BE49-F238E27FC236}">
                <a16:creationId xmlns:a16="http://schemas.microsoft.com/office/drawing/2014/main" id="{6CA1E320-1809-F4B2-B486-AB1C48893BA4}"/>
              </a:ext>
            </a:extLst>
          </p:cNvPr>
          <p:cNvCxnSpPr/>
          <p:nvPr/>
        </p:nvCxnSpPr>
        <p:spPr>
          <a:xfrm>
            <a:off x="4217436" y="3652283"/>
            <a:ext cx="133816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53" name="TextBox 1052">
            <a:extLst>
              <a:ext uri="{FF2B5EF4-FFF2-40B4-BE49-F238E27FC236}">
                <a16:creationId xmlns:a16="http://schemas.microsoft.com/office/drawing/2014/main" id="{57F7C6DB-66FF-41AA-DE43-8872D000F81A}"/>
              </a:ext>
            </a:extLst>
          </p:cNvPr>
          <p:cNvSpPr txBox="1"/>
          <p:nvPr/>
        </p:nvSpPr>
        <p:spPr>
          <a:xfrm>
            <a:off x="6096000" y="2085728"/>
            <a:ext cx="8304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DC – DC</a:t>
            </a:r>
          </a:p>
          <a:p>
            <a:pPr algn="ctr"/>
            <a:r>
              <a:rPr lang="en-US" sz="1200" dirty="0"/>
              <a:t>Converter</a:t>
            </a:r>
          </a:p>
        </p:txBody>
      </p:sp>
      <p:sp>
        <p:nvSpPr>
          <p:cNvPr id="1057" name="Arrow: Right 1056">
            <a:extLst>
              <a:ext uri="{FF2B5EF4-FFF2-40B4-BE49-F238E27FC236}">
                <a16:creationId xmlns:a16="http://schemas.microsoft.com/office/drawing/2014/main" id="{8E2E81CB-55C8-646B-0C9B-983BA1E046E0}"/>
              </a:ext>
            </a:extLst>
          </p:cNvPr>
          <p:cNvSpPr/>
          <p:nvPr/>
        </p:nvSpPr>
        <p:spPr>
          <a:xfrm>
            <a:off x="6866936" y="2854359"/>
            <a:ext cx="498141" cy="6205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0" name="TextBox 1059">
            <a:extLst>
              <a:ext uri="{FF2B5EF4-FFF2-40B4-BE49-F238E27FC236}">
                <a16:creationId xmlns:a16="http://schemas.microsoft.com/office/drawing/2014/main" id="{B1C98754-3029-4402-88CD-59DB3920CB76}"/>
              </a:ext>
            </a:extLst>
          </p:cNvPr>
          <p:cNvSpPr txBox="1"/>
          <p:nvPr/>
        </p:nvSpPr>
        <p:spPr>
          <a:xfrm>
            <a:off x="8744218" y="415085"/>
            <a:ext cx="3340360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Procurement_ Part – 1</a:t>
            </a:r>
          </a:p>
          <a:p>
            <a:endParaRPr lang="en-US" dirty="0"/>
          </a:p>
          <a:p>
            <a:r>
              <a:rPr lang="en-US" b="1" dirty="0"/>
              <a:t>Sources</a:t>
            </a:r>
          </a:p>
          <a:p>
            <a:endParaRPr lang="en-US" dirty="0"/>
          </a:p>
          <a:p>
            <a:pPr marL="342900" indent="-342900">
              <a:buAutoNum type="arabicPeriod"/>
            </a:pPr>
            <a:r>
              <a:rPr lang="en-US" u="sng" dirty="0"/>
              <a:t>Solar</a:t>
            </a:r>
          </a:p>
          <a:p>
            <a:r>
              <a:rPr lang="en-US" dirty="0"/>
              <a:t>       Pannel – 1</a:t>
            </a:r>
          </a:p>
          <a:p>
            <a:r>
              <a:rPr lang="en-US" dirty="0"/>
              <a:t>       Solar charger converter</a:t>
            </a:r>
          </a:p>
          <a:p>
            <a:r>
              <a:rPr lang="en-US" dirty="0"/>
              <a:t>       </a:t>
            </a:r>
            <a:endParaRPr lang="en-US" u="sng" dirty="0"/>
          </a:p>
          <a:p>
            <a:r>
              <a:rPr lang="en-US" dirty="0"/>
              <a:t>2.     </a:t>
            </a:r>
            <a:r>
              <a:rPr lang="en-US" u="sng" dirty="0"/>
              <a:t>ESS</a:t>
            </a:r>
          </a:p>
          <a:p>
            <a:r>
              <a:rPr lang="en-US" dirty="0"/>
              <a:t>        Batteries -2</a:t>
            </a:r>
          </a:p>
          <a:p>
            <a:pPr marL="342900" indent="-342900">
              <a:buAutoNum type="arabicPeriod"/>
            </a:pPr>
            <a:endParaRPr lang="en-US" u="sng" dirty="0"/>
          </a:p>
          <a:p>
            <a:pPr marL="342900" indent="-342900">
              <a:buAutoNum type="arabicPeriod"/>
            </a:pPr>
            <a:r>
              <a:rPr lang="en-US" u="sng" dirty="0"/>
              <a:t>Grid</a:t>
            </a:r>
          </a:p>
          <a:p>
            <a:r>
              <a:rPr lang="en-US" dirty="0"/>
              <a:t>       AC – DC  - Adopter – XHM602</a:t>
            </a:r>
          </a:p>
          <a:p>
            <a:r>
              <a:rPr lang="en-US" dirty="0"/>
              <a:t>       DC – AC Converter</a:t>
            </a:r>
          </a:p>
          <a:p>
            <a:endParaRPr lang="en-US" dirty="0"/>
          </a:p>
          <a:p>
            <a:pPr marL="342900" indent="-342900">
              <a:buAutoNum type="arabicPeriod" startAt="3"/>
            </a:pPr>
            <a:r>
              <a:rPr lang="en-US" dirty="0"/>
              <a:t>Load</a:t>
            </a:r>
          </a:p>
          <a:p>
            <a:r>
              <a:rPr lang="en-US" dirty="0"/>
              <a:t>            DC – DC Converter</a:t>
            </a:r>
          </a:p>
          <a:p>
            <a:r>
              <a:rPr lang="en-US" dirty="0"/>
              <a:t>       1. Swapping  - 10 Batteries</a:t>
            </a:r>
          </a:p>
          <a:p>
            <a:r>
              <a:rPr lang="en-US" dirty="0"/>
              <a:t>        2. Fast charge – 12 Batteries</a:t>
            </a:r>
          </a:p>
          <a:p>
            <a:r>
              <a:rPr lang="en-US" u="sng" dirty="0"/>
              <a:t> </a:t>
            </a:r>
          </a:p>
          <a:p>
            <a:pPr marL="342900" indent="-342900">
              <a:buAutoNum type="arabicPeriod"/>
            </a:pPr>
            <a:endParaRPr lang="en-US" u="sng" dirty="0"/>
          </a:p>
          <a:p>
            <a:endParaRPr lang="en-US" dirty="0"/>
          </a:p>
        </p:txBody>
      </p:sp>
      <p:pic>
        <p:nvPicPr>
          <p:cNvPr id="1062" name="Picture 1061">
            <a:extLst>
              <a:ext uri="{FF2B5EF4-FFF2-40B4-BE49-F238E27FC236}">
                <a16:creationId xmlns:a16="http://schemas.microsoft.com/office/drawing/2014/main" id="{E12707D7-7029-4726-7264-9E7592E7783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21681" y="2480447"/>
            <a:ext cx="1253584" cy="747823"/>
          </a:xfrm>
          <a:prstGeom prst="rect">
            <a:avLst/>
          </a:prstGeom>
        </p:spPr>
      </p:pic>
      <p:pic>
        <p:nvPicPr>
          <p:cNvPr id="1063" name="Picture 16" descr="Electric Vehicle Charging and the ...">
            <a:extLst>
              <a:ext uri="{FF2B5EF4-FFF2-40B4-BE49-F238E27FC236}">
                <a16:creationId xmlns:a16="http://schemas.microsoft.com/office/drawing/2014/main" id="{57551E6D-75A9-A527-B796-0E7CF68499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1681" y="3308845"/>
            <a:ext cx="1311970" cy="628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64" name="Arrow: Right 1063">
            <a:extLst>
              <a:ext uri="{FF2B5EF4-FFF2-40B4-BE49-F238E27FC236}">
                <a16:creationId xmlns:a16="http://schemas.microsoft.com/office/drawing/2014/main" id="{6E82AC1B-6B91-9FAE-728D-D4A7F537ACBA}"/>
              </a:ext>
            </a:extLst>
          </p:cNvPr>
          <p:cNvSpPr/>
          <p:nvPr/>
        </p:nvSpPr>
        <p:spPr>
          <a:xfrm>
            <a:off x="6866936" y="3561081"/>
            <a:ext cx="498141" cy="6205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5" name="Title 1">
            <a:extLst>
              <a:ext uri="{FF2B5EF4-FFF2-40B4-BE49-F238E27FC236}">
                <a16:creationId xmlns:a16="http://schemas.microsoft.com/office/drawing/2014/main" id="{08744D15-35DA-7E75-DCF3-0D3CF86EC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5928" y="-85209"/>
            <a:ext cx="5061799" cy="807646"/>
          </a:xfrm>
        </p:spPr>
        <p:txBody>
          <a:bodyPr>
            <a:noAutofit/>
          </a:bodyPr>
          <a:lstStyle/>
          <a:p>
            <a:r>
              <a:rPr lang="en-IN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Integrating Energy source</a:t>
            </a:r>
          </a:p>
        </p:txBody>
      </p:sp>
    </p:spTree>
    <p:extLst>
      <p:ext uri="{BB962C8B-B14F-4D97-AF65-F5344CB8AC3E}">
        <p14:creationId xmlns:p14="http://schemas.microsoft.com/office/powerpoint/2010/main" val="26725814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8E95CD-E4EB-EAE1-62E1-1F2C5DB2FF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6" name="Picture 1055">
            <a:extLst>
              <a:ext uri="{FF2B5EF4-FFF2-40B4-BE49-F238E27FC236}">
                <a16:creationId xmlns:a16="http://schemas.microsoft.com/office/drawing/2014/main" id="{E6CD1E6E-ABAF-CF03-B214-C8F09A99C5C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5156055" y="1968759"/>
            <a:ext cx="2015297" cy="2397968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A6C376-A196-C29C-A63B-7581B8C5A8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56CEB-6CDE-4930-8E1A-D8F60CF96CEF}" type="datetime1">
              <a:rPr lang="en-US" smtClean="0"/>
              <a:t>4/2/2025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1DB70F-565D-1CE8-45B3-A7D8CD576D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Jagadeesh_AP2312210002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D9B6B4-F21B-9DBD-339C-913D350F4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CCAAF-6324-40D0-99C1-825B83CC9B2F}" type="slidenum">
              <a:rPr lang="en-IN" smtClean="0"/>
              <a:t>4</a:t>
            </a:fld>
            <a:endParaRPr lang="en-IN"/>
          </a:p>
        </p:txBody>
      </p:sp>
      <p:pic>
        <p:nvPicPr>
          <p:cNvPr id="1026" name="Picture 2" descr="Buy High Quality 170W/12V Polycrystalline Solar Panel Online | Luminous">
            <a:extLst>
              <a:ext uri="{FF2B5EF4-FFF2-40B4-BE49-F238E27FC236}">
                <a16:creationId xmlns:a16="http://schemas.microsoft.com/office/drawing/2014/main" id="{471652FD-CAD7-7E17-1194-C3F39F56295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197" t="11840" r="29706" b="12562"/>
          <a:stretch/>
        </p:blipFill>
        <p:spPr bwMode="auto">
          <a:xfrm>
            <a:off x="102637" y="319088"/>
            <a:ext cx="1373901" cy="17867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15-Year Life Battery Solar 12V 400ah Solar Battery Bank Solar Panel with  Integrated Battery - Solar Battery Bank, Solar Panel with Integrated Battery  | Made-in-China.com">
            <a:extLst>
              <a:ext uri="{FF2B5EF4-FFF2-40B4-BE49-F238E27FC236}">
                <a16:creationId xmlns:a16="http://schemas.microsoft.com/office/drawing/2014/main" id="{AC8FA18F-72D0-8A7A-D8A7-96A1D18C007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90" t="16668" r="5967" b="18005"/>
          <a:stretch/>
        </p:blipFill>
        <p:spPr bwMode="auto">
          <a:xfrm>
            <a:off x="2415073" y="4200148"/>
            <a:ext cx="2547257" cy="1940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Premium Vector | Supports of the highvoltage power grid Vector illustration  of utility electric transmission networks Power lines isolated on white  background">
            <a:extLst>
              <a:ext uri="{FF2B5EF4-FFF2-40B4-BE49-F238E27FC236}">
                <a16:creationId xmlns:a16="http://schemas.microsoft.com/office/drawing/2014/main" id="{9DB4D72B-009F-7090-506D-1F2E31F0A6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295" y="3463158"/>
            <a:ext cx="1564193" cy="11091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EBD06CF-CFA1-0E46-684C-B4752BDB5973}"/>
              </a:ext>
            </a:extLst>
          </p:cNvPr>
          <p:cNvSpPr txBox="1"/>
          <p:nvPr/>
        </p:nvSpPr>
        <p:spPr>
          <a:xfrm>
            <a:off x="149291" y="2120582"/>
            <a:ext cx="830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Solar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2996DF1-B6F4-BB5D-E219-8229230A8C13}"/>
              </a:ext>
            </a:extLst>
          </p:cNvPr>
          <p:cNvSpPr txBox="1"/>
          <p:nvPr/>
        </p:nvSpPr>
        <p:spPr>
          <a:xfrm>
            <a:off x="674137" y="4215395"/>
            <a:ext cx="830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Grid</a:t>
            </a:r>
          </a:p>
        </p:txBody>
      </p:sp>
      <p:pic>
        <p:nvPicPr>
          <p:cNvPr id="36" name="Picture 2">
            <a:extLst>
              <a:ext uri="{FF2B5EF4-FFF2-40B4-BE49-F238E27FC236}">
                <a16:creationId xmlns:a16="http://schemas.microsoft.com/office/drawing/2014/main" id="{9738235D-A98C-AE43-A0A2-6FFAB1F4640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077" t="13588" r="3937" b="52425"/>
          <a:stretch/>
        </p:blipFill>
        <p:spPr bwMode="auto">
          <a:xfrm>
            <a:off x="1748672" y="553126"/>
            <a:ext cx="3579108" cy="14156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4DFC4270-4044-4DD2-67DB-C13BCBD86E91}"/>
              </a:ext>
            </a:extLst>
          </p:cNvPr>
          <p:cNvCxnSpPr/>
          <p:nvPr/>
        </p:nvCxnSpPr>
        <p:spPr>
          <a:xfrm flipH="1">
            <a:off x="1204799" y="2120583"/>
            <a:ext cx="8181" cy="47332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30D290F6-1F8B-82B4-A121-CEE02BCE2526}"/>
              </a:ext>
            </a:extLst>
          </p:cNvPr>
          <p:cNvCxnSpPr/>
          <p:nvPr/>
        </p:nvCxnSpPr>
        <p:spPr>
          <a:xfrm>
            <a:off x="1214130" y="2593910"/>
            <a:ext cx="1650368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A67E9074-DFA1-35C7-2A22-45261DD577F2}"/>
              </a:ext>
            </a:extLst>
          </p:cNvPr>
          <p:cNvCxnSpPr/>
          <p:nvPr/>
        </p:nvCxnSpPr>
        <p:spPr>
          <a:xfrm flipV="1">
            <a:off x="2864498" y="1838131"/>
            <a:ext cx="0" cy="75577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3016722E-0DC9-99D1-4206-475D5C94021A}"/>
              </a:ext>
            </a:extLst>
          </p:cNvPr>
          <p:cNvCxnSpPr/>
          <p:nvPr/>
        </p:nvCxnSpPr>
        <p:spPr>
          <a:xfrm>
            <a:off x="3144416" y="1968759"/>
            <a:ext cx="0" cy="81575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8C98AEDE-48D9-B52F-4E56-3E88C28A4C8C}"/>
              </a:ext>
            </a:extLst>
          </p:cNvPr>
          <p:cNvCxnSpPr/>
          <p:nvPr/>
        </p:nvCxnSpPr>
        <p:spPr>
          <a:xfrm flipH="1">
            <a:off x="942392" y="2784515"/>
            <a:ext cx="222068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63D40A7E-C328-BBA0-878C-A401EA1829DD}"/>
              </a:ext>
            </a:extLst>
          </p:cNvPr>
          <p:cNvCxnSpPr/>
          <p:nvPr/>
        </p:nvCxnSpPr>
        <p:spPr>
          <a:xfrm flipV="1">
            <a:off x="942392" y="2120583"/>
            <a:ext cx="0" cy="66393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EF0424D4-9F51-A088-B72F-B32B69FBF3F3}"/>
              </a:ext>
            </a:extLst>
          </p:cNvPr>
          <p:cNvCxnSpPr>
            <a:cxnSpLocks/>
          </p:cNvCxnSpPr>
          <p:nvPr/>
        </p:nvCxnSpPr>
        <p:spPr>
          <a:xfrm>
            <a:off x="3405673" y="1838131"/>
            <a:ext cx="0" cy="259391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436E9381-FE63-200B-1709-762FA6233B23}"/>
              </a:ext>
            </a:extLst>
          </p:cNvPr>
          <p:cNvCxnSpPr/>
          <p:nvPr/>
        </p:nvCxnSpPr>
        <p:spPr>
          <a:xfrm>
            <a:off x="3688701" y="1838131"/>
            <a:ext cx="0" cy="252859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8" name="Picture 4">
            <a:extLst>
              <a:ext uri="{FF2B5EF4-FFF2-40B4-BE49-F238E27FC236}">
                <a16:creationId xmlns:a16="http://schemas.microsoft.com/office/drawing/2014/main" id="{3F0A9CF0-CF18-4173-1F4C-8CF6CB4EF82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65" b="38756"/>
          <a:stretch/>
        </p:blipFill>
        <p:spPr bwMode="auto">
          <a:xfrm rot="10800000">
            <a:off x="724338" y="4678769"/>
            <a:ext cx="1138463" cy="605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9" name="Arrow: Right 58">
            <a:extLst>
              <a:ext uri="{FF2B5EF4-FFF2-40B4-BE49-F238E27FC236}">
                <a16:creationId xmlns:a16="http://schemas.microsoft.com/office/drawing/2014/main" id="{6DBA35A9-D749-6397-E187-81A113EB5AC5}"/>
              </a:ext>
            </a:extLst>
          </p:cNvPr>
          <p:cNvSpPr/>
          <p:nvPr/>
        </p:nvSpPr>
        <p:spPr>
          <a:xfrm>
            <a:off x="1916932" y="4981276"/>
            <a:ext cx="498141" cy="6205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75C0F2B-34D1-7375-83D3-3E1617E62101}"/>
              </a:ext>
            </a:extLst>
          </p:cNvPr>
          <p:cNvSpPr txBox="1"/>
          <p:nvPr/>
        </p:nvSpPr>
        <p:spPr>
          <a:xfrm>
            <a:off x="32991" y="4877110"/>
            <a:ext cx="830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AC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52D823C-90B1-1DB6-787A-1BEC6056DD48}"/>
              </a:ext>
            </a:extLst>
          </p:cNvPr>
          <p:cNvSpPr txBox="1"/>
          <p:nvPr/>
        </p:nvSpPr>
        <p:spPr>
          <a:xfrm>
            <a:off x="1723726" y="4662402"/>
            <a:ext cx="830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DC</a:t>
            </a:r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7657CA46-3D1C-7A6C-0020-B3E25F798B88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35000"/>
          </a:blip>
          <a:stretch>
            <a:fillRect/>
          </a:stretch>
        </p:blipFill>
        <p:spPr>
          <a:xfrm>
            <a:off x="731219" y="5545551"/>
            <a:ext cx="1124701" cy="605004"/>
          </a:xfrm>
          <a:prstGeom prst="rect">
            <a:avLst/>
          </a:prstGeom>
        </p:spPr>
      </p:pic>
      <p:sp>
        <p:nvSpPr>
          <p:cNvPr id="1024" name="Arrow: Right 1023">
            <a:extLst>
              <a:ext uri="{FF2B5EF4-FFF2-40B4-BE49-F238E27FC236}">
                <a16:creationId xmlns:a16="http://schemas.microsoft.com/office/drawing/2014/main" id="{E4F64A5B-AC4F-D1C3-7E2C-7410F94AC4DE}"/>
              </a:ext>
            </a:extLst>
          </p:cNvPr>
          <p:cNvSpPr/>
          <p:nvPr/>
        </p:nvSpPr>
        <p:spPr>
          <a:xfrm rot="10800000">
            <a:off x="1941116" y="5860665"/>
            <a:ext cx="605389" cy="6205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5" name="TextBox 1024">
            <a:extLst>
              <a:ext uri="{FF2B5EF4-FFF2-40B4-BE49-F238E27FC236}">
                <a16:creationId xmlns:a16="http://schemas.microsoft.com/office/drawing/2014/main" id="{FFF805DE-02D7-CB09-9B7A-40915EF39C23}"/>
              </a:ext>
            </a:extLst>
          </p:cNvPr>
          <p:cNvSpPr txBox="1"/>
          <p:nvPr/>
        </p:nvSpPr>
        <p:spPr>
          <a:xfrm>
            <a:off x="1774547" y="5533388"/>
            <a:ext cx="830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DC</a:t>
            </a:r>
          </a:p>
        </p:txBody>
      </p:sp>
      <p:sp>
        <p:nvSpPr>
          <p:cNvPr id="1027" name="TextBox 1026">
            <a:extLst>
              <a:ext uri="{FF2B5EF4-FFF2-40B4-BE49-F238E27FC236}">
                <a16:creationId xmlns:a16="http://schemas.microsoft.com/office/drawing/2014/main" id="{3952C75B-903F-85D5-CD2B-4F8B4DB70099}"/>
              </a:ext>
            </a:extLst>
          </p:cNvPr>
          <p:cNvSpPr txBox="1"/>
          <p:nvPr/>
        </p:nvSpPr>
        <p:spPr>
          <a:xfrm>
            <a:off x="39872" y="5693559"/>
            <a:ext cx="830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AC</a:t>
            </a:r>
          </a:p>
        </p:txBody>
      </p:sp>
      <p:cxnSp>
        <p:nvCxnSpPr>
          <p:cNvPr id="1033" name="Straight Connector 1032">
            <a:extLst>
              <a:ext uri="{FF2B5EF4-FFF2-40B4-BE49-F238E27FC236}">
                <a16:creationId xmlns:a16="http://schemas.microsoft.com/office/drawing/2014/main" id="{560C0791-3764-EF57-C425-E91DB5C9838A}"/>
              </a:ext>
            </a:extLst>
          </p:cNvPr>
          <p:cNvCxnSpPr>
            <a:cxnSpLocks/>
          </p:cNvCxnSpPr>
          <p:nvPr/>
        </p:nvCxnSpPr>
        <p:spPr>
          <a:xfrm>
            <a:off x="4217437" y="1838131"/>
            <a:ext cx="0" cy="110101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37" name="Straight Connector 1036">
            <a:extLst>
              <a:ext uri="{FF2B5EF4-FFF2-40B4-BE49-F238E27FC236}">
                <a16:creationId xmlns:a16="http://schemas.microsoft.com/office/drawing/2014/main" id="{F572BEF0-3D54-049B-4336-540C39F28093}"/>
              </a:ext>
            </a:extLst>
          </p:cNvPr>
          <p:cNvCxnSpPr/>
          <p:nvPr/>
        </p:nvCxnSpPr>
        <p:spPr>
          <a:xfrm>
            <a:off x="4217435" y="2939143"/>
            <a:ext cx="133816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39" name="Straight Connector 1038">
            <a:extLst>
              <a:ext uri="{FF2B5EF4-FFF2-40B4-BE49-F238E27FC236}">
                <a16:creationId xmlns:a16="http://schemas.microsoft.com/office/drawing/2014/main" id="{5F27683C-6304-7ADD-2148-0448005B9216}"/>
              </a:ext>
            </a:extLst>
          </p:cNvPr>
          <p:cNvCxnSpPr>
            <a:cxnSpLocks/>
          </p:cNvCxnSpPr>
          <p:nvPr/>
        </p:nvCxnSpPr>
        <p:spPr>
          <a:xfrm>
            <a:off x="3903306" y="1848607"/>
            <a:ext cx="0" cy="131913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3" name="Straight Connector 1042">
            <a:extLst>
              <a:ext uri="{FF2B5EF4-FFF2-40B4-BE49-F238E27FC236}">
                <a16:creationId xmlns:a16="http://schemas.microsoft.com/office/drawing/2014/main" id="{15C3D817-A35A-F3C6-91FD-C20A9B9106AE}"/>
              </a:ext>
            </a:extLst>
          </p:cNvPr>
          <p:cNvCxnSpPr>
            <a:cxnSpLocks/>
          </p:cNvCxnSpPr>
          <p:nvPr/>
        </p:nvCxnSpPr>
        <p:spPr>
          <a:xfrm>
            <a:off x="3906416" y="3167743"/>
            <a:ext cx="165229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7" name="Straight Connector 1046">
            <a:extLst>
              <a:ext uri="{FF2B5EF4-FFF2-40B4-BE49-F238E27FC236}">
                <a16:creationId xmlns:a16="http://schemas.microsoft.com/office/drawing/2014/main" id="{883B7B9C-796B-0E78-F294-779E0CC2D85F}"/>
              </a:ext>
            </a:extLst>
          </p:cNvPr>
          <p:cNvCxnSpPr>
            <a:cxnSpLocks/>
          </p:cNvCxnSpPr>
          <p:nvPr/>
        </p:nvCxnSpPr>
        <p:spPr>
          <a:xfrm>
            <a:off x="3903306" y="3411301"/>
            <a:ext cx="0" cy="93590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9" name="Straight Connector 1048">
            <a:extLst>
              <a:ext uri="{FF2B5EF4-FFF2-40B4-BE49-F238E27FC236}">
                <a16:creationId xmlns:a16="http://schemas.microsoft.com/office/drawing/2014/main" id="{8757DBC3-4F42-B3E2-FCB1-C073D4F1BB3D}"/>
              </a:ext>
            </a:extLst>
          </p:cNvPr>
          <p:cNvCxnSpPr>
            <a:cxnSpLocks/>
          </p:cNvCxnSpPr>
          <p:nvPr/>
        </p:nvCxnSpPr>
        <p:spPr>
          <a:xfrm>
            <a:off x="3906416" y="3429000"/>
            <a:ext cx="165229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50" name="Straight Connector 1049">
            <a:extLst>
              <a:ext uri="{FF2B5EF4-FFF2-40B4-BE49-F238E27FC236}">
                <a16:creationId xmlns:a16="http://schemas.microsoft.com/office/drawing/2014/main" id="{79B90940-3A50-B713-81D1-0C183710640B}"/>
              </a:ext>
            </a:extLst>
          </p:cNvPr>
          <p:cNvCxnSpPr/>
          <p:nvPr/>
        </p:nvCxnSpPr>
        <p:spPr>
          <a:xfrm>
            <a:off x="4220547" y="3639842"/>
            <a:ext cx="0" cy="75577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51" name="Straight Connector 1050">
            <a:extLst>
              <a:ext uri="{FF2B5EF4-FFF2-40B4-BE49-F238E27FC236}">
                <a16:creationId xmlns:a16="http://schemas.microsoft.com/office/drawing/2014/main" id="{7E604921-83DC-8F0A-56C5-17D46E9EC16C}"/>
              </a:ext>
            </a:extLst>
          </p:cNvPr>
          <p:cNvCxnSpPr/>
          <p:nvPr/>
        </p:nvCxnSpPr>
        <p:spPr>
          <a:xfrm>
            <a:off x="4217436" y="3652283"/>
            <a:ext cx="133816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53" name="TextBox 1052">
            <a:extLst>
              <a:ext uri="{FF2B5EF4-FFF2-40B4-BE49-F238E27FC236}">
                <a16:creationId xmlns:a16="http://schemas.microsoft.com/office/drawing/2014/main" id="{37CF5A12-9E42-B4FC-41CA-F15F1A52B423}"/>
              </a:ext>
            </a:extLst>
          </p:cNvPr>
          <p:cNvSpPr txBox="1"/>
          <p:nvPr/>
        </p:nvSpPr>
        <p:spPr>
          <a:xfrm>
            <a:off x="6096000" y="2085728"/>
            <a:ext cx="8304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DC – DC</a:t>
            </a:r>
          </a:p>
          <a:p>
            <a:pPr algn="ctr"/>
            <a:r>
              <a:rPr lang="en-US" sz="1200" dirty="0"/>
              <a:t>Converter</a:t>
            </a:r>
          </a:p>
        </p:txBody>
      </p:sp>
      <p:sp>
        <p:nvSpPr>
          <p:cNvPr id="1057" name="Arrow: Right 1056">
            <a:extLst>
              <a:ext uri="{FF2B5EF4-FFF2-40B4-BE49-F238E27FC236}">
                <a16:creationId xmlns:a16="http://schemas.microsoft.com/office/drawing/2014/main" id="{5712F841-A436-64C6-9BEA-0EA21F98AF8F}"/>
              </a:ext>
            </a:extLst>
          </p:cNvPr>
          <p:cNvSpPr/>
          <p:nvPr/>
        </p:nvSpPr>
        <p:spPr>
          <a:xfrm>
            <a:off x="6866936" y="2854359"/>
            <a:ext cx="498141" cy="6205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62" name="Picture 1061">
            <a:extLst>
              <a:ext uri="{FF2B5EF4-FFF2-40B4-BE49-F238E27FC236}">
                <a16:creationId xmlns:a16="http://schemas.microsoft.com/office/drawing/2014/main" id="{8B2705A7-3B37-2891-F829-10AAA7CBFF8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21681" y="2480447"/>
            <a:ext cx="1253584" cy="747823"/>
          </a:xfrm>
          <a:prstGeom prst="rect">
            <a:avLst/>
          </a:prstGeom>
        </p:spPr>
      </p:pic>
      <p:pic>
        <p:nvPicPr>
          <p:cNvPr id="1063" name="Picture 16" descr="Electric Vehicle Charging and the ...">
            <a:extLst>
              <a:ext uri="{FF2B5EF4-FFF2-40B4-BE49-F238E27FC236}">
                <a16:creationId xmlns:a16="http://schemas.microsoft.com/office/drawing/2014/main" id="{A71D3861-8223-D054-436C-E54B8D6E00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1681" y="3308845"/>
            <a:ext cx="1311970" cy="628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64" name="Arrow: Right 1063">
            <a:extLst>
              <a:ext uri="{FF2B5EF4-FFF2-40B4-BE49-F238E27FC236}">
                <a16:creationId xmlns:a16="http://schemas.microsoft.com/office/drawing/2014/main" id="{0B14929E-BAB8-C2D9-AFE7-EDF0206A6574}"/>
              </a:ext>
            </a:extLst>
          </p:cNvPr>
          <p:cNvSpPr/>
          <p:nvPr/>
        </p:nvSpPr>
        <p:spPr>
          <a:xfrm>
            <a:off x="6866936" y="3561081"/>
            <a:ext cx="498141" cy="6205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F9DB73F-68FF-1ACB-56E7-5788C62805D4}"/>
              </a:ext>
            </a:extLst>
          </p:cNvPr>
          <p:cNvSpPr txBox="1"/>
          <p:nvPr/>
        </p:nvSpPr>
        <p:spPr>
          <a:xfrm>
            <a:off x="1579166" y="2514213"/>
            <a:ext cx="723899" cy="369332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SW_1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11BA90-7126-EB6E-4DDE-B42FE6954CBB}"/>
              </a:ext>
            </a:extLst>
          </p:cNvPr>
          <p:cNvSpPr txBox="1"/>
          <p:nvPr/>
        </p:nvSpPr>
        <p:spPr>
          <a:xfrm>
            <a:off x="3070550" y="2994856"/>
            <a:ext cx="723899" cy="369332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SW_2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616124-E8CD-A91B-38CC-12D84492A730}"/>
              </a:ext>
            </a:extLst>
          </p:cNvPr>
          <p:cNvSpPr txBox="1"/>
          <p:nvPr/>
        </p:nvSpPr>
        <p:spPr>
          <a:xfrm>
            <a:off x="4529052" y="2570181"/>
            <a:ext cx="866556" cy="1477328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dirty="0"/>
              <a:t>SW_5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2DC8E6-9CC6-96B8-6E07-8D30B161AE6C}"/>
              </a:ext>
            </a:extLst>
          </p:cNvPr>
          <p:cNvSpPr txBox="1"/>
          <p:nvPr/>
        </p:nvSpPr>
        <p:spPr>
          <a:xfrm>
            <a:off x="1748672" y="5114962"/>
            <a:ext cx="723899" cy="369332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SW_3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B25C3D7-F529-A2C7-7C4B-D2861D603528}"/>
              </a:ext>
            </a:extLst>
          </p:cNvPr>
          <p:cNvSpPr txBox="1"/>
          <p:nvPr/>
        </p:nvSpPr>
        <p:spPr>
          <a:xfrm>
            <a:off x="1881860" y="5986879"/>
            <a:ext cx="723899" cy="369332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SW_4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DC5007C-F932-23CC-DC6E-DE24E62F20DD}"/>
              </a:ext>
            </a:extLst>
          </p:cNvPr>
          <p:cNvSpPr txBox="1"/>
          <p:nvPr/>
        </p:nvSpPr>
        <p:spPr>
          <a:xfrm>
            <a:off x="4711959" y="4684688"/>
            <a:ext cx="744705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Conditions</a:t>
            </a:r>
          </a:p>
          <a:p>
            <a:pPr marL="342900" indent="-342900">
              <a:buAutoNum type="arabicPeriod"/>
            </a:pPr>
            <a:r>
              <a:rPr lang="en-US" sz="1400" dirty="0"/>
              <a:t>Solar – ON  </a:t>
            </a:r>
            <a:r>
              <a:rPr lang="en-US" sz="1400" dirty="0">
                <a:sym typeface="Wingdings" panose="05000000000000000000" pitchFamily="2" charset="2"/>
              </a:rPr>
              <a:t>  ESS Charge  Grid OFF                 Load ON  - [ON – S1,S2,S5] – [OFF – S3,S4] </a:t>
            </a:r>
          </a:p>
          <a:p>
            <a:pPr marL="342900" indent="-342900">
              <a:buFontTx/>
              <a:buAutoNum type="arabicPeriod"/>
            </a:pPr>
            <a:r>
              <a:rPr lang="en-US" sz="1400" dirty="0"/>
              <a:t>Solar – ON  </a:t>
            </a:r>
            <a:r>
              <a:rPr lang="en-US" sz="1400" dirty="0">
                <a:sym typeface="Wingdings" panose="05000000000000000000" pitchFamily="2" charset="2"/>
              </a:rPr>
              <a:t>  ESS &gt;80%    [Grid DC- AC] ON   Load ON  - [ON – S1,S2,S5,S4] – [OFF – S3] </a:t>
            </a:r>
          </a:p>
          <a:p>
            <a:pPr marL="342900" indent="-342900">
              <a:buFontTx/>
              <a:buAutoNum type="arabicPeriod"/>
            </a:pPr>
            <a:r>
              <a:rPr lang="en-US" sz="1400" dirty="0"/>
              <a:t>Solar – OFF </a:t>
            </a:r>
            <a:r>
              <a:rPr lang="en-US" sz="1400" dirty="0">
                <a:sym typeface="Wingdings" panose="05000000000000000000" pitchFamily="2" charset="2"/>
              </a:rPr>
              <a:t>  ESS ON        Grid OFF                  Load ON  - [ON – S2,S3,S4,S5] – [OFF – S1] </a:t>
            </a:r>
          </a:p>
          <a:p>
            <a:pPr marL="342900" indent="-342900">
              <a:buFontTx/>
              <a:buAutoNum type="arabicPeriod"/>
            </a:pPr>
            <a:r>
              <a:rPr lang="en-US" sz="1400" dirty="0"/>
              <a:t>Solar – OFF </a:t>
            </a:r>
            <a:r>
              <a:rPr lang="en-US" sz="1400" dirty="0">
                <a:sym typeface="Wingdings" panose="05000000000000000000" pitchFamily="2" charset="2"/>
              </a:rPr>
              <a:t>  ESS &lt;20%    [Grid DC- AC] ON   Load ON  - [ON – S3,S5] – [OFF – S1,S2,S4]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BF0E41E-490A-1B1D-D0ED-3022ABA8C2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5928" y="-85209"/>
            <a:ext cx="5061799" cy="807646"/>
          </a:xfrm>
        </p:spPr>
        <p:txBody>
          <a:bodyPr>
            <a:noAutofit/>
          </a:bodyPr>
          <a:lstStyle/>
          <a:p>
            <a:r>
              <a:rPr lang="en-IN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Automation Energy source</a:t>
            </a:r>
          </a:p>
        </p:txBody>
      </p:sp>
    </p:spTree>
    <p:extLst>
      <p:ext uri="{BB962C8B-B14F-4D97-AF65-F5344CB8AC3E}">
        <p14:creationId xmlns:p14="http://schemas.microsoft.com/office/powerpoint/2010/main" val="6907716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D24851-BB7E-803E-9EB3-B224233B3B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6" name="Picture 1055">
            <a:extLst>
              <a:ext uri="{FF2B5EF4-FFF2-40B4-BE49-F238E27FC236}">
                <a16:creationId xmlns:a16="http://schemas.microsoft.com/office/drawing/2014/main" id="{55261BB7-0074-DAEF-E27A-05B315BC9F0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5156055" y="1968759"/>
            <a:ext cx="2015297" cy="2397968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41DF03-4765-4A5A-0268-72F5A97C7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56CEB-6CDE-4930-8E1A-D8F60CF96CEF}" type="datetime1">
              <a:rPr lang="en-US" smtClean="0"/>
              <a:t>4/2/2025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A3C411-D582-2761-B3F9-B2B0214AF9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Jagadeesh_AP2312210002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9361AA-2CC8-CE09-C614-033C91726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CCAAF-6324-40D0-99C1-825B83CC9B2F}" type="slidenum">
              <a:rPr lang="en-IN" smtClean="0"/>
              <a:t>5</a:t>
            </a:fld>
            <a:endParaRPr lang="en-IN"/>
          </a:p>
        </p:txBody>
      </p:sp>
      <p:pic>
        <p:nvPicPr>
          <p:cNvPr id="1026" name="Picture 2" descr="Buy High Quality 170W/12V Polycrystalline Solar Panel Online | Luminous">
            <a:extLst>
              <a:ext uri="{FF2B5EF4-FFF2-40B4-BE49-F238E27FC236}">
                <a16:creationId xmlns:a16="http://schemas.microsoft.com/office/drawing/2014/main" id="{0A3D306F-0491-269A-2B67-0B20736E854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197" t="11840" r="29706" b="12562"/>
          <a:stretch/>
        </p:blipFill>
        <p:spPr bwMode="auto">
          <a:xfrm>
            <a:off x="102637" y="319088"/>
            <a:ext cx="1373901" cy="17867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15-Year Life Battery Solar 12V 400ah Solar Battery Bank Solar Panel with  Integrated Battery - Solar Battery Bank, Solar Panel with Integrated Battery  | Made-in-China.com">
            <a:extLst>
              <a:ext uri="{FF2B5EF4-FFF2-40B4-BE49-F238E27FC236}">
                <a16:creationId xmlns:a16="http://schemas.microsoft.com/office/drawing/2014/main" id="{DD2AE06A-F488-22A5-61CF-1FB623C5104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90" t="16668" r="5967" b="18005"/>
          <a:stretch/>
        </p:blipFill>
        <p:spPr bwMode="auto">
          <a:xfrm>
            <a:off x="2415073" y="4200148"/>
            <a:ext cx="2547257" cy="1940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Premium Vector | Supports of the highvoltage power grid Vector illustration  of utility electric transmission networks Power lines isolated on white  background">
            <a:extLst>
              <a:ext uri="{FF2B5EF4-FFF2-40B4-BE49-F238E27FC236}">
                <a16:creationId xmlns:a16="http://schemas.microsoft.com/office/drawing/2014/main" id="{9A967477-8CA0-3367-B939-F78AFF9E9D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295" y="3463158"/>
            <a:ext cx="1564193" cy="11091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B55504C-AEC6-EB84-B08B-0558BECBFC40}"/>
              </a:ext>
            </a:extLst>
          </p:cNvPr>
          <p:cNvSpPr txBox="1"/>
          <p:nvPr/>
        </p:nvSpPr>
        <p:spPr>
          <a:xfrm>
            <a:off x="149291" y="2120582"/>
            <a:ext cx="830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Solar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B8E8CD6-2B8E-44A6-8D76-47B245BBB176}"/>
              </a:ext>
            </a:extLst>
          </p:cNvPr>
          <p:cNvSpPr txBox="1"/>
          <p:nvPr/>
        </p:nvSpPr>
        <p:spPr>
          <a:xfrm>
            <a:off x="674137" y="4215395"/>
            <a:ext cx="830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Grid</a:t>
            </a:r>
          </a:p>
        </p:txBody>
      </p:sp>
      <p:pic>
        <p:nvPicPr>
          <p:cNvPr id="36" name="Picture 2">
            <a:extLst>
              <a:ext uri="{FF2B5EF4-FFF2-40B4-BE49-F238E27FC236}">
                <a16:creationId xmlns:a16="http://schemas.microsoft.com/office/drawing/2014/main" id="{79FF102E-EDE7-E211-0F27-543BB60961B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077" t="13588" r="3937" b="52425"/>
          <a:stretch/>
        </p:blipFill>
        <p:spPr bwMode="auto">
          <a:xfrm>
            <a:off x="1748672" y="553126"/>
            <a:ext cx="3579108" cy="14156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1630816C-6707-F822-67B0-92144A493046}"/>
              </a:ext>
            </a:extLst>
          </p:cNvPr>
          <p:cNvCxnSpPr/>
          <p:nvPr/>
        </p:nvCxnSpPr>
        <p:spPr>
          <a:xfrm flipH="1">
            <a:off x="1204799" y="2120583"/>
            <a:ext cx="8181" cy="47332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F748238D-FDE4-15C1-CD8C-9E318CE02F38}"/>
              </a:ext>
            </a:extLst>
          </p:cNvPr>
          <p:cNvCxnSpPr/>
          <p:nvPr/>
        </p:nvCxnSpPr>
        <p:spPr>
          <a:xfrm>
            <a:off x="1214130" y="2593910"/>
            <a:ext cx="1650368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71F0A989-F82F-4F8D-34B8-7DD32E1E99AB}"/>
              </a:ext>
            </a:extLst>
          </p:cNvPr>
          <p:cNvCxnSpPr/>
          <p:nvPr/>
        </p:nvCxnSpPr>
        <p:spPr>
          <a:xfrm flipV="1">
            <a:off x="2864498" y="1838131"/>
            <a:ext cx="0" cy="75577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76A6E092-26D6-74E1-142E-7F6303B2F6A5}"/>
              </a:ext>
            </a:extLst>
          </p:cNvPr>
          <p:cNvCxnSpPr/>
          <p:nvPr/>
        </p:nvCxnSpPr>
        <p:spPr>
          <a:xfrm>
            <a:off x="3144416" y="1968759"/>
            <a:ext cx="0" cy="81575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D495F4FB-B9FA-B2DA-BBED-46EB8E6C4B24}"/>
              </a:ext>
            </a:extLst>
          </p:cNvPr>
          <p:cNvCxnSpPr/>
          <p:nvPr/>
        </p:nvCxnSpPr>
        <p:spPr>
          <a:xfrm flipH="1">
            <a:off x="942392" y="2784515"/>
            <a:ext cx="222068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032E2B48-F6C6-6052-28D5-D91FF45DB53C}"/>
              </a:ext>
            </a:extLst>
          </p:cNvPr>
          <p:cNvCxnSpPr/>
          <p:nvPr/>
        </p:nvCxnSpPr>
        <p:spPr>
          <a:xfrm flipV="1">
            <a:off x="942392" y="2120583"/>
            <a:ext cx="0" cy="66393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1554F2C0-20C0-B92D-3FB0-2D1B7A040DA6}"/>
              </a:ext>
            </a:extLst>
          </p:cNvPr>
          <p:cNvCxnSpPr>
            <a:cxnSpLocks/>
          </p:cNvCxnSpPr>
          <p:nvPr/>
        </p:nvCxnSpPr>
        <p:spPr>
          <a:xfrm>
            <a:off x="3405673" y="1838131"/>
            <a:ext cx="0" cy="259391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68289172-E316-8C88-29F6-69BDB49A56E2}"/>
              </a:ext>
            </a:extLst>
          </p:cNvPr>
          <p:cNvCxnSpPr/>
          <p:nvPr/>
        </p:nvCxnSpPr>
        <p:spPr>
          <a:xfrm>
            <a:off x="3688701" y="1838131"/>
            <a:ext cx="0" cy="252859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8" name="Picture 4">
            <a:extLst>
              <a:ext uri="{FF2B5EF4-FFF2-40B4-BE49-F238E27FC236}">
                <a16:creationId xmlns:a16="http://schemas.microsoft.com/office/drawing/2014/main" id="{99BC5431-8A29-9E83-D010-49AF55BB262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65" b="38756"/>
          <a:stretch/>
        </p:blipFill>
        <p:spPr bwMode="auto">
          <a:xfrm rot="10800000">
            <a:off x="724338" y="4678769"/>
            <a:ext cx="1138463" cy="605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9" name="Arrow: Right 58">
            <a:extLst>
              <a:ext uri="{FF2B5EF4-FFF2-40B4-BE49-F238E27FC236}">
                <a16:creationId xmlns:a16="http://schemas.microsoft.com/office/drawing/2014/main" id="{D42ADF4E-B573-7B7E-931B-0074E4D14F4A}"/>
              </a:ext>
            </a:extLst>
          </p:cNvPr>
          <p:cNvSpPr/>
          <p:nvPr/>
        </p:nvSpPr>
        <p:spPr>
          <a:xfrm>
            <a:off x="1916932" y="4981276"/>
            <a:ext cx="498141" cy="6205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5395E36-CE39-548B-6E31-6E008B99371D}"/>
              </a:ext>
            </a:extLst>
          </p:cNvPr>
          <p:cNvSpPr txBox="1"/>
          <p:nvPr/>
        </p:nvSpPr>
        <p:spPr>
          <a:xfrm>
            <a:off x="32991" y="4877110"/>
            <a:ext cx="830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AC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1252CC8-9BF2-5397-B2A0-BFB2CA78438B}"/>
              </a:ext>
            </a:extLst>
          </p:cNvPr>
          <p:cNvSpPr txBox="1"/>
          <p:nvPr/>
        </p:nvSpPr>
        <p:spPr>
          <a:xfrm>
            <a:off x="1723726" y="4662402"/>
            <a:ext cx="830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DC</a:t>
            </a:r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C72A455F-EE0E-C01A-8B1A-2785A7E4185E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35000"/>
          </a:blip>
          <a:stretch>
            <a:fillRect/>
          </a:stretch>
        </p:blipFill>
        <p:spPr>
          <a:xfrm>
            <a:off x="731219" y="5545551"/>
            <a:ext cx="1124701" cy="605004"/>
          </a:xfrm>
          <a:prstGeom prst="rect">
            <a:avLst/>
          </a:prstGeom>
        </p:spPr>
      </p:pic>
      <p:sp>
        <p:nvSpPr>
          <p:cNvPr id="1024" name="Arrow: Right 1023">
            <a:extLst>
              <a:ext uri="{FF2B5EF4-FFF2-40B4-BE49-F238E27FC236}">
                <a16:creationId xmlns:a16="http://schemas.microsoft.com/office/drawing/2014/main" id="{1590202C-8AC1-ACF6-C031-579A061021E3}"/>
              </a:ext>
            </a:extLst>
          </p:cNvPr>
          <p:cNvSpPr/>
          <p:nvPr/>
        </p:nvSpPr>
        <p:spPr>
          <a:xfrm rot="10800000">
            <a:off x="1941116" y="5860665"/>
            <a:ext cx="605389" cy="6205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5" name="TextBox 1024">
            <a:extLst>
              <a:ext uri="{FF2B5EF4-FFF2-40B4-BE49-F238E27FC236}">
                <a16:creationId xmlns:a16="http://schemas.microsoft.com/office/drawing/2014/main" id="{2D5CB56A-1C51-10D7-8916-30577C5E148C}"/>
              </a:ext>
            </a:extLst>
          </p:cNvPr>
          <p:cNvSpPr txBox="1"/>
          <p:nvPr/>
        </p:nvSpPr>
        <p:spPr>
          <a:xfrm>
            <a:off x="1774547" y="5533388"/>
            <a:ext cx="830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DC</a:t>
            </a:r>
          </a:p>
        </p:txBody>
      </p:sp>
      <p:sp>
        <p:nvSpPr>
          <p:cNvPr id="1027" name="TextBox 1026">
            <a:extLst>
              <a:ext uri="{FF2B5EF4-FFF2-40B4-BE49-F238E27FC236}">
                <a16:creationId xmlns:a16="http://schemas.microsoft.com/office/drawing/2014/main" id="{B4239225-C62C-C62A-3AE6-524FA0F581BD}"/>
              </a:ext>
            </a:extLst>
          </p:cNvPr>
          <p:cNvSpPr txBox="1"/>
          <p:nvPr/>
        </p:nvSpPr>
        <p:spPr>
          <a:xfrm>
            <a:off x="39872" y="5693559"/>
            <a:ext cx="830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AC</a:t>
            </a:r>
          </a:p>
        </p:txBody>
      </p:sp>
      <p:cxnSp>
        <p:nvCxnSpPr>
          <p:cNvPr id="1033" name="Straight Connector 1032">
            <a:extLst>
              <a:ext uri="{FF2B5EF4-FFF2-40B4-BE49-F238E27FC236}">
                <a16:creationId xmlns:a16="http://schemas.microsoft.com/office/drawing/2014/main" id="{09308E26-8D6B-181C-6DAA-750B82284339}"/>
              </a:ext>
            </a:extLst>
          </p:cNvPr>
          <p:cNvCxnSpPr>
            <a:cxnSpLocks/>
          </p:cNvCxnSpPr>
          <p:nvPr/>
        </p:nvCxnSpPr>
        <p:spPr>
          <a:xfrm>
            <a:off x="4217437" y="1838131"/>
            <a:ext cx="0" cy="110101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37" name="Straight Connector 1036">
            <a:extLst>
              <a:ext uri="{FF2B5EF4-FFF2-40B4-BE49-F238E27FC236}">
                <a16:creationId xmlns:a16="http://schemas.microsoft.com/office/drawing/2014/main" id="{559A6CC6-1C81-09DF-D116-19CA75E283F2}"/>
              </a:ext>
            </a:extLst>
          </p:cNvPr>
          <p:cNvCxnSpPr/>
          <p:nvPr/>
        </p:nvCxnSpPr>
        <p:spPr>
          <a:xfrm>
            <a:off x="4217435" y="2939143"/>
            <a:ext cx="133816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39" name="Straight Connector 1038">
            <a:extLst>
              <a:ext uri="{FF2B5EF4-FFF2-40B4-BE49-F238E27FC236}">
                <a16:creationId xmlns:a16="http://schemas.microsoft.com/office/drawing/2014/main" id="{846A8005-5D40-1A03-1618-0CCD5AC63F86}"/>
              </a:ext>
            </a:extLst>
          </p:cNvPr>
          <p:cNvCxnSpPr>
            <a:cxnSpLocks/>
          </p:cNvCxnSpPr>
          <p:nvPr/>
        </p:nvCxnSpPr>
        <p:spPr>
          <a:xfrm>
            <a:off x="3903306" y="1848607"/>
            <a:ext cx="0" cy="131913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3" name="Straight Connector 1042">
            <a:extLst>
              <a:ext uri="{FF2B5EF4-FFF2-40B4-BE49-F238E27FC236}">
                <a16:creationId xmlns:a16="http://schemas.microsoft.com/office/drawing/2014/main" id="{1876E233-167C-26D6-BE77-F0E7955096E1}"/>
              </a:ext>
            </a:extLst>
          </p:cNvPr>
          <p:cNvCxnSpPr>
            <a:cxnSpLocks/>
          </p:cNvCxnSpPr>
          <p:nvPr/>
        </p:nvCxnSpPr>
        <p:spPr>
          <a:xfrm>
            <a:off x="3906416" y="3167743"/>
            <a:ext cx="165229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7" name="Straight Connector 1046">
            <a:extLst>
              <a:ext uri="{FF2B5EF4-FFF2-40B4-BE49-F238E27FC236}">
                <a16:creationId xmlns:a16="http://schemas.microsoft.com/office/drawing/2014/main" id="{5BD08560-D535-2599-5EBB-23B2494644F2}"/>
              </a:ext>
            </a:extLst>
          </p:cNvPr>
          <p:cNvCxnSpPr>
            <a:cxnSpLocks/>
          </p:cNvCxnSpPr>
          <p:nvPr/>
        </p:nvCxnSpPr>
        <p:spPr>
          <a:xfrm>
            <a:off x="3903306" y="3411301"/>
            <a:ext cx="0" cy="93590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9" name="Straight Connector 1048">
            <a:extLst>
              <a:ext uri="{FF2B5EF4-FFF2-40B4-BE49-F238E27FC236}">
                <a16:creationId xmlns:a16="http://schemas.microsoft.com/office/drawing/2014/main" id="{59B9611B-13DD-99D0-2693-80FADF732E39}"/>
              </a:ext>
            </a:extLst>
          </p:cNvPr>
          <p:cNvCxnSpPr>
            <a:cxnSpLocks/>
          </p:cNvCxnSpPr>
          <p:nvPr/>
        </p:nvCxnSpPr>
        <p:spPr>
          <a:xfrm>
            <a:off x="3906416" y="3429000"/>
            <a:ext cx="165229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50" name="Straight Connector 1049">
            <a:extLst>
              <a:ext uri="{FF2B5EF4-FFF2-40B4-BE49-F238E27FC236}">
                <a16:creationId xmlns:a16="http://schemas.microsoft.com/office/drawing/2014/main" id="{420B9A15-918D-8CF4-7583-3B602F2C2BC6}"/>
              </a:ext>
            </a:extLst>
          </p:cNvPr>
          <p:cNvCxnSpPr/>
          <p:nvPr/>
        </p:nvCxnSpPr>
        <p:spPr>
          <a:xfrm>
            <a:off x="4220547" y="3639842"/>
            <a:ext cx="0" cy="75577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51" name="Straight Connector 1050">
            <a:extLst>
              <a:ext uri="{FF2B5EF4-FFF2-40B4-BE49-F238E27FC236}">
                <a16:creationId xmlns:a16="http://schemas.microsoft.com/office/drawing/2014/main" id="{6BA1FF12-39D5-F91C-28C0-2B6BCE61BBEF}"/>
              </a:ext>
            </a:extLst>
          </p:cNvPr>
          <p:cNvCxnSpPr/>
          <p:nvPr/>
        </p:nvCxnSpPr>
        <p:spPr>
          <a:xfrm>
            <a:off x="4217436" y="3652283"/>
            <a:ext cx="133816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53" name="TextBox 1052">
            <a:extLst>
              <a:ext uri="{FF2B5EF4-FFF2-40B4-BE49-F238E27FC236}">
                <a16:creationId xmlns:a16="http://schemas.microsoft.com/office/drawing/2014/main" id="{06E27F50-E931-C58D-AA52-7D82498B7E86}"/>
              </a:ext>
            </a:extLst>
          </p:cNvPr>
          <p:cNvSpPr txBox="1"/>
          <p:nvPr/>
        </p:nvSpPr>
        <p:spPr>
          <a:xfrm>
            <a:off x="6096000" y="2085728"/>
            <a:ext cx="8304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DC – DC</a:t>
            </a:r>
          </a:p>
          <a:p>
            <a:pPr algn="ctr"/>
            <a:r>
              <a:rPr lang="en-US" sz="1200" dirty="0"/>
              <a:t>Converter</a:t>
            </a:r>
          </a:p>
        </p:txBody>
      </p:sp>
      <p:sp>
        <p:nvSpPr>
          <p:cNvPr id="1057" name="Arrow: Right 1056">
            <a:extLst>
              <a:ext uri="{FF2B5EF4-FFF2-40B4-BE49-F238E27FC236}">
                <a16:creationId xmlns:a16="http://schemas.microsoft.com/office/drawing/2014/main" id="{8F09EE95-54C3-D795-8B5B-46BFAD5E9772}"/>
              </a:ext>
            </a:extLst>
          </p:cNvPr>
          <p:cNvSpPr/>
          <p:nvPr/>
        </p:nvSpPr>
        <p:spPr>
          <a:xfrm>
            <a:off x="6866936" y="2854359"/>
            <a:ext cx="498141" cy="6205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62" name="Picture 1061">
            <a:extLst>
              <a:ext uri="{FF2B5EF4-FFF2-40B4-BE49-F238E27FC236}">
                <a16:creationId xmlns:a16="http://schemas.microsoft.com/office/drawing/2014/main" id="{735C97A4-DED1-C826-CD61-6D7E04AB09D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21681" y="2480447"/>
            <a:ext cx="1136046" cy="747823"/>
          </a:xfrm>
          <a:prstGeom prst="rect">
            <a:avLst/>
          </a:prstGeom>
        </p:spPr>
      </p:pic>
      <p:pic>
        <p:nvPicPr>
          <p:cNvPr id="1063" name="Picture 16" descr="Electric Vehicle Charging and the ...">
            <a:extLst>
              <a:ext uri="{FF2B5EF4-FFF2-40B4-BE49-F238E27FC236}">
                <a16:creationId xmlns:a16="http://schemas.microsoft.com/office/drawing/2014/main" id="{17DA9F3A-B56B-A847-7634-EE6DFA7E38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1681" y="3308845"/>
            <a:ext cx="1136046" cy="628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64" name="Arrow: Right 1063">
            <a:extLst>
              <a:ext uri="{FF2B5EF4-FFF2-40B4-BE49-F238E27FC236}">
                <a16:creationId xmlns:a16="http://schemas.microsoft.com/office/drawing/2014/main" id="{E4345945-F6E6-D689-8716-391F81F78944}"/>
              </a:ext>
            </a:extLst>
          </p:cNvPr>
          <p:cNvSpPr/>
          <p:nvPr/>
        </p:nvSpPr>
        <p:spPr>
          <a:xfrm>
            <a:off x="6866936" y="3561081"/>
            <a:ext cx="498141" cy="6205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BD3FEBA-C571-C65A-27D5-6BB7F28D7665}"/>
              </a:ext>
            </a:extLst>
          </p:cNvPr>
          <p:cNvSpPr txBox="1"/>
          <p:nvPr/>
        </p:nvSpPr>
        <p:spPr>
          <a:xfrm>
            <a:off x="1579166" y="2514213"/>
            <a:ext cx="723899" cy="369332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SW_1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525948-1EEC-A46D-FF13-7F94BE218D94}"/>
              </a:ext>
            </a:extLst>
          </p:cNvPr>
          <p:cNvSpPr txBox="1"/>
          <p:nvPr/>
        </p:nvSpPr>
        <p:spPr>
          <a:xfrm>
            <a:off x="3070550" y="2994856"/>
            <a:ext cx="723899" cy="369332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SW_2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899C47-8E75-29E8-BA27-EF60D1F5696F}"/>
              </a:ext>
            </a:extLst>
          </p:cNvPr>
          <p:cNvSpPr txBox="1"/>
          <p:nvPr/>
        </p:nvSpPr>
        <p:spPr>
          <a:xfrm>
            <a:off x="4529052" y="2570181"/>
            <a:ext cx="866556" cy="1477328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dirty="0"/>
              <a:t>SW_5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5D71A6-A54B-163D-3B60-1C5A29E49461}"/>
              </a:ext>
            </a:extLst>
          </p:cNvPr>
          <p:cNvSpPr txBox="1"/>
          <p:nvPr/>
        </p:nvSpPr>
        <p:spPr>
          <a:xfrm>
            <a:off x="1748672" y="5114962"/>
            <a:ext cx="723899" cy="369332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SW_3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9E6C561-0A58-BB4C-0F30-B6DC92CC47AE}"/>
              </a:ext>
            </a:extLst>
          </p:cNvPr>
          <p:cNvSpPr txBox="1"/>
          <p:nvPr/>
        </p:nvSpPr>
        <p:spPr>
          <a:xfrm>
            <a:off x="1881860" y="5986879"/>
            <a:ext cx="723899" cy="369332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SW_4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5044657-D435-4F2E-272C-F2244545C4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3384" y="-85209"/>
            <a:ext cx="6494343" cy="807646"/>
          </a:xfrm>
        </p:spPr>
        <p:txBody>
          <a:bodyPr>
            <a:noAutofit/>
          </a:bodyPr>
          <a:lstStyle/>
          <a:p>
            <a:r>
              <a:rPr lang="en-IN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Automation Energy Sensor monitoring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B342DFC-2543-A905-3CDF-AA0A582E769B}"/>
              </a:ext>
            </a:extLst>
          </p:cNvPr>
          <p:cNvSpPr txBox="1"/>
          <p:nvPr/>
        </p:nvSpPr>
        <p:spPr>
          <a:xfrm>
            <a:off x="806235" y="2230448"/>
            <a:ext cx="564674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M-1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310AA68-334D-ED97-9F61-0E4A52FBD841}"/>
              </a:ext>
            </a:extLst>
          </p:cNvPr>
          <p:cNvSpPr txBox="1"/>
          <p:nvPr/>
        </p:nvSpPr>
        <p:spPr>
          <a:xfrm>
            <a:off x="3338632" y="4600944"/>
            <a:ext cx="564674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M-2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30DF597-174F-C054-7432-9CE1216F7704}"/>
              </a:ext>
            </a:extLst>
          </p:cNvPr>
          <p:cNvSpPr txBox="1"/>
          <p:nvPr/>
        </p:nvSpPr>
        <p:spPr>
          <a:xfrm>
            <a:off x="118628" y="4594177"/>
            <a:ext cx="564674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M-3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0DB9127-0DC6-1C42-7469-6F470A1AEA4E}"/>
              </a:ext>
            </a:extLst>
          </p:cNvPr>
          <p:cNvSpPr txBox="1"/>
          <p:nvPr/>
        </p:nvSpPr>
        <p:spPr>
          <a:xfrm>
            <a:off x="140605" y="6103345"/>
            <a:ext cx="564674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M-4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4A9D3C3-5A86-76A2-89F8-8D553A826FF4}"/>
              </a:ext>
            </a:extLst>
          </p:cNvPr>
          <p:cNvSpPr txBox="1"/>
          <p:nvPr/>
        </p:nvSpPr>
        <p:spPr>
          <a:xfrm>
            <a:off x="6633292" y="2569811"/>
            <a:ext cx="564674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M-5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7F0901C-F6C1-C0B3-9F84-22496BA850C6}"/>
              </a:ext>
            </a:extLst>
          </p:cNvPr>
          <p:cNvSpPr txBox="1"/>
          <p:nvPr/>
        </p:nvSpPr>
        <p:spPr>
          <a:xfrm>
            <a:off x="6633292" y="3509923"/>
            <a:ext cx="564674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M-5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975520F-2DD3-0B72-03D3-47B96EA4159A}"/>
              </a:ext>
            </a:extLst>
          </p:cNvPr>
          <p:cNvSpPr txBox="1"/>
          <p:nvPr/>
        </p:nvSpPr>
        <p:spPr>
          <a:xfrm>
            <a:off x="8740246" y="136525"/>
            <a:ext cx="3333126" cy="72943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Procurement_ Part – 2</a:t>
            </a:r>
          </a:p>
          <a:p>
            <a:pPr marL="342900" indent="-342900">
              <a:buAutoNum type="arabicPeriod"/>
            </a:pPr>
            <a:r>
              <a:rPr lang="en-US" u="sng" dirty="0">
                <a:solidFill>
                  <a:schemeClr val="accent6">
                    <a:lumMod val="50000"/>
                  </a:schemeClr>
                </a:solidFill>
              </a:rPr>
              <a:t>Solar</a:t>
            </a:r>
          </a:p>
          <a:p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Voltage, Current, Temp, RTC, Humidity, Light Intensity, SW – M/C_1</a:t>
            </a:r>
          </a:p>
          <a:p>
            <a:r>
              <a:rPr lang="en-US" dirty="0"/>
              <a:t>       </a:t>
            </a:r>
            <a:endParaRPr lang="en-US" u="sng" dirty="0"/>
          </a:p>
          <a:p>
            <a:pPr marL="342900" indent="-342900">
              <a:buAutoNum type="arabicPeriod" startAt="2"/>
            </a:pPr>
            <a:r>
              <a:rPr lang="en-US" u="sng" dirty="0">
                <a:solidFill>
                  <a:schemeClr val="accent5">
                    <a:lumMod val="50000"/>
                  </a:schemeClr>
                </a:solidFill>
              </a:rPr>
              <a:t>ESS</a:t>
            </a:r>
          </a:p>
          <a:p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Voltage, Current, Temp, SW – M/C_2</a:t>
            </a:r>
          </a:p>
          <a:p>
            <a:r>
              <a:rPr lang="en-US" dirty="0"/>
              <a:t>        </a:t>
            </a:r>
            <a:endParaRPr lang="en-US" u="sng" dirty="0"/>
          </a:p>
          <a:p>
            <a:pPr marL="342900" indent="-342900">
              <a:buAutoNum type="arabicPeriod"/>
            </a:pPr>
            <a:r>
              <a:rPr lang="en-US" u="sng" dirty="0">
                <a:solidFill>
                  <a:schemeClr val="accent4">
                    <a:lumMod val="50000"/>
                  </a:schemeClr>
                </a:solidFill>
              </a:rPr>
              <a:t>Grid</a:t>
            </a:r>
          </a:p>
          <a:p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       AC – DC  - Adopter </a:t>
            </a:r>
            <a:r>
              <a:rPr lang="en-US" dirty="0">
                <a:solidFill>
                  <a:schemeClr val="accent4">
                    <a:lumMod val="50000"/>
                  </a:schemeClr>
                </a:solidFill>
                <a:sym typeface="Wingdings" panose="05000000000000000000" pitchFamily="2" charset="2"/>
              </a:rPr>
              <a:t></a:t>
            </a:r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 Voltage, Current , SW – M/C_3</a:t>
            </a:r>
          </a:p>
          <a:p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       DC – AC Converter</a:t>
            </a:r>
          </a:p>
          <a:p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Voltage, Current(AC - Sensors) SW – M/C_4</a:t>
            </a:r>
          </a:p>
          <a:p>
            <a:endParaRPr lang="en-US" dirty="0"/>
          </a:p>
          <a:p>
            <a:pPr marL="342900" indent="-342900">
              <a:buAutoNum type="arabicPeriod" startAt="3"/>
            </a:pPr>
            <a:r>
              <a:rPr lang="en-US" dirty="0">
                <a:solidFill>
                  <a:srgbClr val="FF0000"/>
                </a:solidFill>
              </a:rPr>
              <a:t>Load</a:t>
            </a:r>
          </a:p>
          <a:p>
            <a:r>
              <a:rPr lang="en-US" dirty="0">
                <a:solidFill>
                  <a:srgbClr val="FF0000"/>
                </a:solidFill>
              </a:rPr>
              <a:t>            DC – DC Converter</a:t>
            </a:r>
          </a:p>
          <a:p>
            <a:r>
              <a:rPr lang="en-US" dirty="0">
                <a:solidFill>
                  <a:srgbClr val="FF0000"/>
                </a:solidFill>
              </a:rPr>
              <a:t>       1. Swapping  - Voltage, Current, SW – M/C_4</a:t>
            </a:r>
          </a:p>
          <a:p>
            <a:r>
              <a:rPr lang="en-US" dirty="0">
                <a:solidFill>
                  <a:srgbClr val="FF0000"/>
                </a:solidFill>
              </a:rPr>
              <a:t>2. Fast charge – 12 Batteries Voltage, Current, SW – M/C_5</a:t>
            </a:r>
          </a:p>
          <a:p>
            <a:r>
              <a:rPr lang="en-US" u="sng" dirty="0"/>
              <a:t> </a:t>
            </a:r>
          </a:p>
          <a:p>
            <a:pPr marL="342900" indent="-342900">
              <a:buAutoNum type="arabicPeriod"/>
            </a:pPr>
            <a:endParaRPr lang="en-US" u="sng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68549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2BEA43-92A7-C633-D81C-B2AE43E923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144B29-502E-5D1E-5F33-97ADFBE486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56CEB-6CDE-4930-8E1A-D8F60CF96CEF}" type="datetime1">
              <a:rPr lang="en-US" smtClean="0"/>
              <a:t>4/2/2025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435205-CAC6-D80D-38D9-5FA31DFAE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Jagadeesh_AP2312210002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BA7598-DE70-3766-24B9-9A317FAAA0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CCAAF-6324-40D0-99C1-825B83CC9B2F}" type="slidenum">
              <a:rPr lang="en-IN" smtClean="0"/>
              <a:t>6</a:t>
            </a:fld>
            <a:endParaRPr lang="en-IN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CF62621E-8707-590A-18AF-9779DAB22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5928" y="-85209"/>
            <a:ext cx="5061799" cy="807646"/>
          </a:xfrm>
        </p:spPr>
        <p:txBody>
          <a:bodyPr>
            <a:noAutofit/>
          </a:bodyPr>
          <a:lstStyle/>
          <a:p>
            <a:r>
              <a:rPr lang="en-IN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Load source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FD97848-7044-96A5-9D15-CAA5846A0062}"/>
              </a:ext>
            </a:extLst>
          </p:cNvPr>
          <p:cNvSpPr txBox="1"/>
          <p:nvPr/>
        </p:nvSpPr>
        <p:spPr>
          <a:xfrm>
            <a:off x="8153400" y="1544197"/>
            <a:ext cx="333312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Procurement_ Part – 3</a:t>
            </a:r>
          </a:p>
          <a:p>
            <a:pPr marL="342900" indent="-342900">
              <a:buAutoNum type="arabicPeriod"/>
            </a:pPr>
            <a:r>
              <a:rPr lang="en-US" dirty="0"/>
              <a:t>Swapping </a:t>
            </a:r>
          </a:p>
          <a:p>
            <a:r>
              <a:rPr lang="en-US" dirty="0"/>
              <a:t>       batteries  - 10,</a:t>
            </a:r>
          </a:p>
          <a:p>
            <a:r>
              <a:rPr lang="en-US" dirty="0" err="1"/>
              <a:t>Centlot</a:t>
            </a:r>
            <a:r>
              <a:rPr lang="en-US" dirty="0"/>
              <a:t> </a:t>
            </a:r>
            <a:r>
              <a:rPr lang="en-US" dirty="0" err="1"/>
              <a:t>xt</a:t>
            </a:r>
            <a:r>
              <a:rPr lang="en-US" dirty="0"/>
              <a:t> M60312V Digital charger controller</a:t>
            </a:r>
          </a:p>
          <a:p>
            <a:endParaRPr lang="en-US" dirty="0"/>
          </a:p>
          <a:p>
            <a:r>
              <a:rPr lang="en-US" dirty="0"/>
              <a:t>Voltage</a:t>
            </a:r>
          </a:p>
          <a:p>
            <a:r>
              <a:rPr lang="en-US" dirty="0"/>
              <a:t>Current </a:t>
            </a:r>
          </a:p>
          <a:p>
            <a:r>
              <a:rPr lang="en-US" dirty="0"/>
              <a:t>Temperature</a:t>
            </a:r>
          </a:p>
        </p:txBody>
      </p:sp>
      <p:pic>
        <p:nvPicPr>
          <p:cNvPr id="2050" name="Picture 2" descr="Buy 18650 2550mah Lithium Ion Battery - BAK - 3C Discharge Rate - KTRON  India">
            <a:extLst>
              <a:ext uri="{FF2B5EF4-FFF2-40B4-BE49-F238E27FC236}">
                <a16:creationId xmlns:a16="http://schemas.microsoft.com/office/drawing/2014/main" id="{B4974D09-3AB5-C10B-4162-24768C0EA5A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274" t="16312" r="36761" b="16170"/>
          <a:stretch/>
        </p:blipFill>
        <p:spPr bwMode="auto">
          <a:xfrm>
            <a:off x="1177388" y="3768407"/>
            <a:ext cx="683609" cy="1848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18650 Battery Holder 1S PCB Mounted">
            <a:extLst>
              <a:ext uri="{FF2B5EF4-FFF2-40B4-BE49-F238E27FC236}">
                <a16:creationId xmlns:a16="http://schemas.microsoft.com/office/drawing/2014/main" id="{DEE46576-F42F-C33E-B3F8-3ABC73D3A53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47" t="36454" r="11443" b="39443"/>
          <a:stretch/>
        </p:blipFill>
        <p:spPr bwMode="auto">
          <a:xfrm rot="5400000">
            <a:off x="-156373" y="4370069"/>
            <a:ext cx="1989146" cy="728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CentIoT - XH-M603 12-24V Digital Control Charge Controller Module - for Lithium Li-ion car Battery">
            <a:extLst>
              <a:ext uri="{FF2B5EF4-FFF2-40B4-BE49-F238E27FC236}">
                <a16:creationId xmlns:a16="http://schemas.microsoft.com/office/drawing/2014/main" id="{423C6DE7-AE89-9E94-8297-F44A5ABB41C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32" t="22473" r="8832" b="18942"/>
          <a:stretch/>
        </p:blipFill>
        <p:spPr bwMode="auto">
          <a:xfrm>
            <a:off x="4360264" y="1999915"/>
            <a:ext cx="3333126" cy="2371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A9E0688-EF0C-7182-F2B8-BD9E2D9B49E0}"/>
              </a:ext>
            </a:extLst>
          </p:cNvPr>
          <p:cNvSpPr/>
          <p:nvPr/>
        </p:nvSpPr>
        <p:spPr>
          <a:xfrm>
            <a:off x="272104" y="1536641"/>
            <a:ext cx="1810568" cy="130021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DC Power</a:t>
            </a:r>
          </a:p>
        </p:txBody>
      </p: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5326BC2A-A4A3-8E80-8055-44515B1159D5}"/>
              </a:ext>
            </a:extLst>
          </p:cNvPr>
          <p:cNvCxnSpPr>
            <a:cxnSpLocks/>
          </p:cNvCxnSpPr>
          <p:nvPr/>
        </p:nvCxnSpPr>
        <p:spPr>
          <a:xfrm>
            <a:off x="2096003" y="2183363"/>
            <a:ext cx="2498365" cy="606325"/>
          </a:xfrm>
          <a:prstGeom prst="bentConnector3">
            <a:avLst>
              <a:gd name="adj1" fmla="val 77637"/>
            </a:avLst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DB98C5F6-A58A-A035-A131-3B59677DF2A9}"/>
              </a:ext>
            </a:extLst>
          </p:cNvPr>
          <p:cNvCxnSpPr>
            <a:cxnSpLocks/>
          </p:cNvCxnSpPr>
          <p:nvPr/>
        </p:nvCxnSpPr>
        <p:spPr>
          <a:xfrm>
            <a:off x="2096003" y="2828112"/>
            <a:ext cx="2498365" cy="272137"/>
          </a:xfrm>
          <a:prstGeom prst="bentConnector3">
            <a:avLst>
              <a:gd name="adj1" fmla="val 71661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790D8C5D-F601-3862-2BED-0B4138B8FD91}"/>
              </a:ext>
            </a:extLst>
          </p:cNvPr>
          <p:cNvCxnSpPr>
            <a:cxnSpLocks/>
          </p:cNvCxnSpPr>
          <p:nvPr/>
        </p:nvCxnSpPr>
        <p:spPr>
          <a:xfrm flipV="1">
            <a:off x="1519192" y="3353315"/>
            <a:ext cx="3075176" cy="607004"/>
          </a:xfrm>
          <a:prstGeom prst="bentConnector3">
            <a:avLst>
              <a:gd name="adj1" fmla="val 36346"/>
            </a:avLst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4B68D873-A270-C8E5-8E34-8F4EC920C88B}"/>
              </a:ext>
            </a:extLst>
          </p:cNvPr>
          <p:cNvCxnSpPr>
            <a:cxnSpLocks/>
          </p:cNvCxnSpPr>
          <p:nvPr/>
        </p:nvCxnSpPr>
        <p:spPr>
          <a:xfrm flipV="1">
            <a:off x="1434070" y="3739702"/>
            <a:ext cx="3267999" cy="1808099"/>
          </a:xfrm>
          <a:prstGeom prst="bentConnector3">
            <a:avLst>
              <a:gd name="adj1" fmla="val 44003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6" name="Picture 45">
            <a:extLst>
              <a:ext uri="{FF2B5EF4-FFF2-40B4-BE49-F238E27FC236}">
                <a16:creationId xmlns:a16="http://schemas.microsoft.com/office/drawing/2014/main" id="{A006AFA3-F921-7054-5B17-AD3C71C3A8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2704" y="5645963"/>
            <a:ext cx="2062481" cy="1132207"/>
          </a:xfrm>
          <a:prstGeom prst="rect">
            <a:avLst/>
          </a:prstGeom>
        </p:spPr>
      </p:pic>
      <p:sp>
        <p:nvSpPr>
          <p:cNvPr id="1029" name="TextBox 1028">
            <a:extLst>
              <a:ext uri="{FF2B5EF4-FFF2-40B4-BE49-F238E27FC236}">
                <a16:creationId xmlns:a16="http://schemas.microsoft.com/office/drawing/2014/main" id="{5C686836-8225-13BD-1F9D-B73CC14F5E56}"/>
              </a:ext>
            </a:extLst>
          </p:cNvPr>
          <p:cNvSpPr txBox="1"/>
          <p:nvPr/>
        </p:nvSpPr>
        <p:spPr>
          <a:xfrm>
            <a:off x="3068068" y="2073537"/>
            <a:ext cx="626853" cy="64633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  <a:p>
            <a:r>
              <a:rPr lang="en-US" dirty="0"/>
              <a:t>M-5</a:t>
            </a:r>
          </a:p>
        </p:txBody>
      </p:sp>
      <p:sp>
        <p:nvSpPr>
          <p:cNvPr id="1031" name="TextBox 1030">
            <a:extLst>
              <a:ext uri="{FF2B5EF4-FFF2-40B4-BE49-F238E27FC236}">
                <a16:creationId xmlns:a16="http://schemas.microsoft.com/office/drawing/2014/main" id="{3A173728-62D4-E4AE-AEA2-CAF91B9F09E2}"/>
              </a:ext>
            </a:extLst>
          </p:cNvPr>
          <p:cNvSpPr txBox="1"/>
          <p:nvPr/>
        </p:nvSpPr>
        <p:spPr>
          <a:xfrm>
            <a:off x="3043231" y="3151670"/>
            <a:ext cx="626853" cy="92333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  <a:p>
            <a:r>
              <a:rPr lang="en-US" dirty="0"/>
              <a:t>M-6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72947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6C7FDF-A64D-70BA-2846-A651F0B0D6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E0E7D9-EB9C-2E83-0842-FF3CBE26E5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56CEB-6CDE-4930-8E1A-D8F60CF96CEF}" type="datetime1">
              <a:rPr lang="en-US" smtClean="0"/>
              <a:t>4/2/2025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F386FC-B252-3303-9677-B5517AF9F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Jagadeesh_AP2312210002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DC883-EB7B-C445-4397-A5EEB44D7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CCAAF-6324-40D0-99C1-825B83CC9B2F}" type="slidenum">
              <a:rPr lang="en-IN" smtClean="0"/>
              <a:t>7</a:t>
            </a:fld>
            <a:endParaRPr lang="en-IN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0E0BA662-04DD-A816-1603-5E41908FDA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5928" y="-85209"/>
            <a:ext cx="5061799" cy="807646"/>
          </a:xfrm>
        </p:spPr>
        <p:txBody>
          <a:bodyPr>
            <a:noAutofit/>
          </a:bodyPr>
          <a:lstStyle/>
          <a:p>
            <a:r>
              <a:rPr lang="en-IN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Load source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7B9A181-8E5E-96BE-2F3D-CFA3F6F4EE72}"/>
              </a:ext>
            </a:extLst>
          </p:cNvPr>
          <p:cNvSpPr txBox="1"/>
          <p:nvPr/>
        </p:nvSpPr>
        <p:spPr>
          <a:xfrm>
            <a:off x="8153400" y="1544197"/>
            <a:ext cx="333312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Procurement_ Part – 4</a:t>
            </a:r>
          </a:p>
          <a:p>
            <a:pPr marL="342900" indent="-342900">
              <a:buAutoNum type="arabicPeriod"/>
            </a:pPr>
            <a:r>
              <a:rPr lang="en-US" dirty="0"/>
              <a:t>Swapping </a:t>
            </a:r>
          </a:p>
          <a:p>
            <a:r>
              <a:rPr lang="en-US" dirty="0"/>
              <a:t>       batteries  - 3*4 = 12,</a:t>
            </a:r>
          </a:p>
          <a:p>
            <a:r>
              <a:rPr lang="en-US" dirty="0" err="1"/>
              <a:t>Centlot</a:t>
            </a:r>
            <a:r>
              <a:rPr lang="en-US" dirty="0"/>
              <a:t> </a:t>
            </a:r>
            <a:r>
              <a:rPr lang="en-US" dirty="0" err="1"/>
              <a:t>xt</a:t>
            </a:r>
            <a:r>
              <a:rPr lang="en-US" dirty="0"/>
              <a:t> M60312V Digital charger controller</a:t>
            </a:r>
          </a:p>
          <a:p>
            <a:endParaRPr lang="en-US" dirty="0"/>
          </a:p>
          <a:p>
            <a:r>
              <a:rPr lang="en-US" dirty="0"/>
              <a:t>Voltage</a:t>
            </a:r>
          </a:p>
          <a:p>
            <a:r>
              <a:rPr lang="en-US" dirty="0"/>
              <a:t>Current </a:t>
            </a:r>
          </a:p>
          <a:p>
            <a:r>
              <a:rPr lang="en-US" dirty="0"/>
              <a:t>Temperature</a:t>
            </a:r>
          </a:p>
        </p:txBody>
      </p:sp>
      <p:pic>
        <p:nvPicPr>
          <p:cNvPr id="2054" name="Picture 6" descr="CentIoT - XH-M603 12-24V Digital Control Charge Controller Module - for Lithium Li-ion car Battery">
            <a:extLst>
              <a:ext uri="{FF2B5EF4-FFF2-40B4-BE49-F238E27FC236}">
                <a16:creationId xmlns:a16="http://schemas.microsoft.com/office/drawing/2014/main" id="{94AE2EF3-DC0E-66F1-F4DA-228F41AECFB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32" t="22473" r="8832" b="18942"/>
          <a:stretch/>
        </p:blipFill>
        <p:spPr bwMode="auto">
          <a:xfrm>
            <a:off x="4360264" y="1999915"/>
            <a:ext cx="3333126" cy="2371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95633E51-1736-29EF-08B8-1423A64D6E10}"/>
              </a:ext>
            </a:extLst>
          </p:cNvPr>
          <p:cNvSpPr/>
          <p:nvPr/>
        </p:nvSpPr>
        <p:spPr>
          <a:xfrm>
            <a:off x="272104" y="1536641"/>
            <a:ext cx="1810568" cy="130021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DC Power</a:t>
            </a:r>
          </a:p>
        </p:txBody>
      </p: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D89BCE9D-6569-9DD3-40B2-4FA64811D90A}"/>
              </a:ext>
            </a:extLst>
          </p:cNvPr>
          <p:cNvCxnSpPr>
            <a:cxnSpLocks/>
          </p:cNvCxnSpPr>
          <p:nvPr/>
        </p:nvCxnSpPr>
        <p:spPr>
          <a:xfrm>
            <a:off x="2096003" y="2183363"/>
            <a:ext cx="2498365" cy="606325"/>
          </a:xfrm>
          <a:prstGeom prst="bentConnector3">
            <a:avLst>
              <a:gd name="adj1" fmla="val 77637"/>
            </a:avLst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F44B52D9-6584-1CFB-6B76-3283A5D3D0DF}"/>
              </a:ext>
            </a:extLst>
          </p:cNvPr>
          <p:cNvCxnSpPr>
            <a:cxnSpLocks/>
          </p:cNvCxnSpPr>
          <p:nvPr/>
        </p:nvCxnSpPr>
        <p:spPr>
          <a:xfrm>
            <a:off x="2096003" y="2828112"/>
            <a:ext cx="2498365" cy="272137"/>
          </a:xfrm>
          <a:prstGeom prst="bentConnector3">
            <a:avLst>
              <a:gd name="adj1" fmla="val 71661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664D9880-4FD9-D17B-E1D3-7CC49536DDAC}"/>
              </a:ext>
            </a:extLst>
          </p:cNvPr>
          <p:cNvCxnSpPr>
            <a:cxnSpLocks/>
          </p:cNvCxnSpPr>
          <p:nvPr/>
        </p:nvCxnSpPr>
        <p:spPr>
          <a:xfrm flipV="1">
            <a:off x="1519192" y="3353315"/>
            <a:ext cx="3075176" cy="607004"/>
          </a:xfrm>
          <a:prstGeom prst="bentConnector3">
            <a:avLst>
              <a:gd name="adj1" fmla="val 36346"/>
            </a:avLst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AD054B00-0570-5829-D45D-55AB6CD06788}"/>
              </a:ext>
            </a:extLst>
          </p:cNvPr>
          <p:cNvCxnSpPr>
            <a:cxnSpLocks/>
          </p:cNvCxnSpPr>
          <p:nvPr/>
        </p:nvCxnSpPr>
        <p:spPr>
          <a:xfrm flipV="1">
            <a:off x="1434070" y="3739702"/>
            <a:ext cx="3267999" cy="1808099"/>
          </a:xfrm>
          <a:prstGeom prst="bentConnector3">
            <a:avLst>
              <a:gd name="adj1" fmla="val 44003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85EAD538-BADF-BCE9-8BFC-115C242D8D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672" y="3822424"/>
            <a:ext cx="1905000" cy="1905000"/>
          </a:xfrm>
          <a:prstGeom prst="rect">
            <a:avLst/>
          </a:prstGeom>
        </p:spPr>
      </p:pic>
      <p:pic>
        <p:nvPicPr>
          <p:cNvPr id="7" name="Picture 2" descr="Buy 18650 2550mah Lithium Ion Battery - BAK - 3C Discharge Rate - KTRON  India">
            <a:extLst>
              <a:ext uri="{FF2B5EF4-FFF2-40B4-BE49-F238E27FC236}">
                <a16:creationId xmlns:a16="http://schemas.microsoft.com/office/drawing/2014/main" id="{F2BD2CF5-0ED4-CCEA-A33A-4405E8D5EF9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274" t="16312" r="36761" b="16170"/>
          <a:stretch/>
        </p:blipFill>
        <p:spPr bwMode="auto">
          <a:xfrm>
            <a:off x="734002" y="4325505"/>
            <a:ext cx="337855" cy="1084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Buy 18650 2550mah Lithium Ion Battery - BAK - 3C Discharge Rate - KTRON  India">
            <a:extLst>
              <a:ext uri="{FF2B5EF4-FFF2-40B4-BE49-F238E27FC236}">
                <a16:creationId xmlns:a16="http://schemas.microsoft.com/office/drawing/2014/main" id="{991BF62B-7AC0-0B8C-B2BC-E502F477FDE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274" t="16312" r="36761" b="16170"/>
          <a:stretch/>
        </p:blipFill>
        <p:spPr bwMode="auto">
          <a:xfrm>
            <a:off x="1145039" y="4298024"/>
            <a:ext cx="400956" cy="10844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Buy 18650 2550mah Lithium Ion Battery - BAK - 3C Discharge Rate - KTRON  India">
            <a:extLst>
              <a:ext uri="{FF2B5EF4-FFF2-40B4-BE49-F238E27FC236}">
                <a16:creationId xmlns:a16="http://schemas.microsoft.com/office/drawing/2014/main" id="{47A1667B-35E4-E8F0-318A-7FFC70D4743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274" t="16312" r="36761" b="16170"/>
          <a:stretch/>
        </p:blipFill>
        <p:spPr bwMode="auto">
          <a:xfrm>
            <a:off x="1616094" y="4310131"/>
            <a:ext cx="396479" cy="1072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Buy 18650 2550mah Lithium Ion Battery - BAK - 3C Discharge Rate - KTRON  India">
            <a:extLst>
              <a:ext uri="{FF2B5EF4-FFF2-40B4-BE49-F238E27FC236}">
                <a16:creationId xmlns:a16="http://schemas.microsoft.com/office/drawing/2014/main" id="{3B08F1C3-B5AF-3A93-3951-7E2AE958B4A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274" t="16312" r="36761" b="16170"/>
          <a:stretch/>
        </p:blipFill>
        <p:spPr bwMode="auto">
          <a:xfrm>
            <a:off x="301062" y="4298024"/>
            <a:ext cx="400956" cy="1084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D427251-69D2-A254-CFD8-67B08E886658}"/>
              </a:ext>
            </a:extLst>
          </p:cNvPr>
          <p:cNvSpPr txBox="1"/>
          <p:nvPr/>
        </p:nvSpPr>
        <p:spPr>
          <a:xfrm>
            <a:off x="2914707" y="1964659"/>
            <a:ext cx="626853" cy="92333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  <a:p>
            <a:r>
              <a:rPr lang="en-US" dirty="0"/>
              <a:t>M-5</a:t>
            </a:r>
          </a:p>
          <a:p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4401AB0-E402-46A0-63CC-5F95E9E4103E}"/>
              </a:ext>
            </a:extLst>
          </p:cNvPr>
          <p:cNvSpPr txBox="1"/>
          <p:nvPr/>
        </p:nvSpPr>
        <p:spPr>
          <a:xfrm>
            <a:off x="3043231" y="3151670"/>
            <a:ext cx="626853" cy="92333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  <a:p>
            <a:r>
              <a:rPr lang="en-US" dirty="0"/>
              <a:t>M-7</a:t>
            </a:r>
          </a:p>
          <a:p>
            <a:endParaRPr lang="en-US" dirty="0"/>
          </a:p>
        </p:txBody>
      </p:sp>
      <p:pic>
        <p:nvPicPr>
          <p:cNvPr id="14" name="Picture 16" descr="Electric Vehicle Charging and the ...">
            <a:extLst>
              <a:ext uri="{FF2B5EF4-FFF2-40B4-BE49-F238E27FC236}">
                <a16:creationId xmlns:a16="http://schemas.microsoft.com/office/drawing/2014/main" id="{ED26A157-6038-CB18-BD9D-8F051F8FBB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3231" y="4935130"/>
            <a:ext cx="3260369" cy="15620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04464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D9A270-1C26-9EF9-38E3-E30311F015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5C65D3-7FCB-C588-12B9-1A0F7456B9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56CEB-6CDE-4930-8E1A-D8F60CF96CEF}" type="datetime1">
              <a:rPr lang="en-US" smtClean="0"/>
              <a:t>4/2/2025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B616A8-14C4-07B0-2121-9CACC00DD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Jagadeesh_AP2312210002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DD400B-33A3-71CF-7775-9A94C3598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CCAAF-6324-40D0-99C1-825B83CC9B2F}" type="slidenum">
              <a:rPr lang="en-IN" smtClean="0"/>
              <a:t>8</a:t>
            </a:fld>
            <a:endParaRPr lang="en-IN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C51A1111-5921-6C99-1A73-FBFE0B4B9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5928" y="-85209"/>
            <a:ext cx="5061799" cy="807646"/>
          </a:xfrm>
        </p:spPr>
        <p:txBody>
          <a:bodyPr>
            <a:noAutofit/>
          </a:bodyPr>
          <a:lstStyle/>
          <a:p>
            <a:r>
              <a:rPr lang="en-IN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Discharge unit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299C1A3-DBE4-D36A-B2FB-71D7BA9C4346}"/>
              </a:ext>
            </a:extLst>
          </p:cNvPr>
          <p:cNvSpPr txBox="1"/>
          <p:nvPr/>
        </p:nvSpPr>
        <p:spPr>
          <a:xfrm>
            <a:off x="8153400" y="1544197"/>
            <a:ext cx="333312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Procurement_ Part – 5</a:t>
            </a:r>
          </a:p>
          <a:p>
            <a:endParaRPr lang="en-US" dirty="0"/>
          </a:p>
          <a:p>
            <a:r>
              <a:rPr lang="en-US" dirty="0" err="1"/>
              <a:t>Xcluma</a:t>
            </a:r>
            <a:r>
              <a:rPr lang="en-US" dirty="0"/>
              <a:t> XHM240 - 18650</a:t>
            </a:r>
          </a:p>
        </p:txBody>
      </p:sp>
      <p:pic>
        <p:nvPicPr>
          <p:cNvPr id="6146" name="Picture 2" descr="Xcluma XH M2240 18650 from robu.in">
            <a:extLst>
              <a:ext uri="{FF2B5EF4-FFF2-40B4-BE49-F238E27FC236}">
                <a16:creationId xmlns:a16="http://schemas.microsoft.com/office/drawing/2014/main" id="{877D85BF-0359-5AAC-0B26-8A33BBD37CC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81" t="22735" r="11905" b="25295"/>
          <a:stretch/>
        </p:blipFill>
        <p:spPr bwMode="auto">
          <a:xfrm>
            <a:off x="2836506" y="1959781"/>
            <a:ext cx="4025219" cy="27592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Buy 18650 2550mah Lithium Ion Battery - BAK - 3C Discharge Rate - KTRON  India">
            <a:extLst>
              <a:ext uri="{FF2B5EF4-FFF2-40B4-BE49-F238E27FC236}">
                <a16:creationId xmlns:a16="http://schemas.microsoft.com/office/drawing/2014/main" id="{6DD70629-8F09-D733-84AE-BACC7E86E76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274" t="16312" r="36761" b="16170"/>
          <a:stretch/>
        </p:blipFill>
        <p:spPr bwMode="auto">
          <a:xfrm>
            <a:off x="3176107" y="2649298"/>
            <a:ext cx="396479" cy="1072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2" descr="Buy 18650 2550mah Lithium Ion Battery - BAK - 3C Discharge Rate - KTRON  India">
            <a:extLst>
              <a:ext uri="{FF2B5EF4-FFF2-40B4-BE49-F238E27FC236}">
                <a16:creationId xmlns:a16="http://schemas.microsoft.com/office/drawing/2014/main" id="{999143C2-A2B0-5050-1B10-DE735595B83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274" t="16312" r="36761" b="16170"/>
          <a:stretch/>
        </p:blipFill>
        <p:spPr bwMode="auto">
          <a:xfrm>
            <a:off x="6014445" y="2607310"/>
            <a:ext cx="396479" cy="1072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15560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F1617A-68F7-451A-B322-43A9274F3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56CEB-6CDE-4930-8E1A-D8F60CF96CEF}" type="datetime1">
              <a:rPr lang="en-US" smtClean="0"/>
              <a:t>4/2/2025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EE81F4-4FBF-BA17-1569-C844F3B0F8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Jagadeesh_AP2312210002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7E9104-700E-891F-B04F-D88439DEA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CCAAF-6324-40D0-99C1-825B83CC9B2F}" type="slidenum">
              <a:rPr lang="en-IN" smtClean="0"/>
              <a:t>9</a:t>
            </a:fld>
            <a:endParaRPr lang="en-IN"/>
          </a:p>
        </p:txBody>
      </p:sp>
      <p:pic>
        <p:nvPicPr>
          <p:cNvPr id="1026" name="Picture 2" descr="Buy High Quality 170W/12V Polycrystalline Solar Panel Online | Luminous">
            <a:extLst>
              <a:ext uri="{FF2B5EF4-FFF2-40B4-BE49-F238E27FC236}">
                <a16:creationId xmlns:a16="http://schemas.microsoft.com/office/drawing/2014/main" id="{B9F6085E-6013-CB47-F189-7A66F21D6A7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197" t="11840" r="29706" b="12562"/>
          <a:stretch/>
        </p:blipFill>
        <p:spPr bwMode="auto">
          <a:xfrm>
            <a:off x="401073" y="129800"/>
            <a:ext cx="1373901" cy="17867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15-Year Life Battery Solar 12V 400ah Solar Battery Bank Solar Panel with  Integrated Battery - Solar Battery Bank, Solar Panel with Integrated Battery  | Made-in-China.com">
            <a:extLst>
              <a:ext uri="{FF2B5EF4-FFF2-40B4-BE49-F238E27FC236}">
                <a16:creationId xmlns:a16="http://schemas.microsoft.com/office/drawing/2014/main" id="{682E1BDB-9B98-8395-6A08-769D838CB6C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90" t="16668" r="5967" b="18005"/>
          <a:stretch/>
        </p:blipFill>
        <p:spPr bwMode="auto">
          <a:xfrm>
            <a:off x="80102" y="2319994"/>
            <a:ext cx="2167021" cy="1651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Premium Vector | Supports of the highvoltage power grid Vector illustration  of utility electric transmission networks Power lines isolated on white  background">
            <a:extLst>
              <a:ext uri="{FF2B5EF4-FFF2-40B4-BE49-F238E27FC236}">
                <a16:creationId xmlns:a16="http://schemas.microsoft.com/office/drawing/2014/main" id="{2A873CD7-CAD5-EBCB-106F-96BDD154C3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718" y="4362488"/>
            <a:ext cx="1786784" cy="12669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674B7A5-1E12-DA8A-05EC-D65BC0C1E4CA}"/>
              </a:ext>
            </a:extLst>
          </p:cNvPr>
          <p:cNvSpPr txBox="1"/>
          <p:nvPr/>
        </p:nvSpPr>
        <p:spPr>
          <a:xfrm>
            <a:off x="2088502" y="423027"/>
            <a:ext cx="370425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Solar </a:t>
            </a:r>
          </a:p>
          <a:p>
            <a:r>
              <a:rPr lang="en-US" dirty="0"/>
              <a:t>M/c – 1</a:t>
            </a:r>
          </a:p>
          <a:p>
            <a:r>
              <a:rPr lang="en-US" dirty="0"/>
              <a:t>Voltage, Current, Temp, Humidity, Light Intensity, SW – On/OFF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DE79F70-F40B-BD60-2573-8B322D3A2D43}"/>
              </a:ext>
            </a:extLst>
          </p:cNvPr>
          <p:cNvSpPr txBox="1"/>
          <p:nvPr/>
        </p:nvSpPr>
        <p:spPr>
          <a:xfrm>
            <a:off x="2247123" y="2545361"/>
            <a:ext cx="370425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ESS</a:t>
            </a:r>
          </a:p>
          <a:p>
            <a:r>
              <a:rPr lang="en-US" dirty="0"/>
              <a:t>M/c – 2</a:t>
            </a:r>
          </a:p>
          <a:p>
            <a:r>
              <a:rPr lang="en-US" dirty="0"/>
              <a:t>Voltage, Current, SW – On/OFF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C087C33-81CD-F62E-F069-F5EFD0AEFB31}"/>
              </a:ext>
            </a:extLst>
          </p:cNvPr>
          <p:cNvSpPr txBox="1"/>
          <p:nvPr/>
        </p:nvSpPr>
        <p:spPr>
          <a:xfrm>
            <a:off x="2088501" y="4450855"/>
            <a:ext cx="370425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 Grid</a:t>
            </a:r>
          </a:p>
          <a:p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AC – DC  - Adopter </a:t>
            </a:r>
            <a:r>
              <a:rPr lang="en-US" dirty="0">
                <a:solidFill>
                  <a:schemeClr val="accent4">
                    <a:lumMod val="50000"/>
                  </a:schemeClr>
                </a:solidFill>
                <a:sym typeface="Wingdings" panose="05000000000000000000" pitchFamily="2" charset="2"/>
              </a:rPr>
              <a:t></a:t>
            </a:r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 Voltage, Current , SW – M/C_3</a:t>
            </a:r>
          </a:p>
          <a:p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DC – AC Converter</a:t>
            </a:r>
          </a:p>
          <a:p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Voltage, Current(AC - Sensors) SW – M/C_4</a:t>
            </a:r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E83F5A3-A391-16E6-B70B-37AD5EB4A9AA}"/>
              </a:ext>
            </a:extLst>
          </p:cNvPr>
          <p:cNvSpPr txBox="1"/>
          <p:nvPr/>
        </p:nvSpPr>
        <p:spPr>
          <a:xfrm>
            <a:off x="5792754" y="2545361"/>
            <a:ext cx="943156" cy="1200329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M/C – 1</a:t>
            </a:r>
          </a:p>
          <a:p>
            <a:r>
              <a:rPr lang="en-US" dirty="0"/>
              <a:t>M/C - 2</a:t>
            </a:r>
          </a:p>
          <a:p>
            <a:r>
              <a:rPr lang="en-US" dirty="0"/>
              <a:t>M/C - 3</a:t>
            </a:r>
          </a:p>
          <a:p>
            <a:r>
              <a:rPr lang="en-US" dirty="0"/>
              <a:t>M/C - 4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D403CADC-BC19-ED22-3292-690E38E0CD5C}"/>
              </a:ext>
            </a:extLst>
          </p:cNvPr>
          <p:cNvCxnSpPr/>
          <p:nvPr/>
        </p:nvCxnSpPr>
        <p:spPr>
          <a:xfrm>
            <a:off x="4926563" y="1502229"/>
            <a:ext cx="866191" cy="9703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89D722DC-1303-0655-E9E8-7A200666D90C}"/>
              </a:ext>
            </a:extLst>
          </p:cNvPr>
          <p:cNvCxnSpPr/>
          <p:nvPr/>
        </p:nvCxnSpPr>
        <p:spPr>
          <a:xfrm>
            <a:off x="4945224" y="3121999"/>
            <a:ext cx="746449" cy="235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A6226A18-5216-2934-82E0-6C901924D4A1}"/>
              </a:ext>
            </a:extLst>
          </p:cNvPr>
          <p:cNvCxnSpPr/>
          <p:nvPr/>
        </p:nvCxnSpPr>
        <p:spPr>
          <a:xfrm flipV="1">
            <a:off x="4414144" y="3816220"/>
            <a:ext cx="1378610" cy="16515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170" name="Picture 2" descr="Raspberry Pi 4 Computer, Model B, 4GB ...">
            <a:extLst>
              <a:ext uri="{FF2B5EF4-FFF2-40B4-BE49-F238E27FC236}">
                <a16:creationId xmlns:a16="http://schemas.microsoft.com/office/drawing/2014/main" id="{A58B0812-3F91-CE03-B00B-6678A63B33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1914" y="2420318"/>
            <a:ext cx="2235719" cy="14504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D4929591-2619-CBBF-7D5A-7801DC2411F8}"/>
              </a:ext>
            </a:extLst>
          </p:cNvPr>
          <p:cNvCxnSpPr/>
          <p:nvPr/>
        </p:nvCxnSpPr>
        <p:spPr>
          <a:xfrm>
            <a:off x="6836991" y="3145525"/>
            <a:ext cx="28226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174" name="Picture 6" descr="upload.wikimedia.org/wikipedia/commons/thumb/2/2b/...">
            <a:extLst>
              <a:ext uri="{FF2B5EF4-FFF2-40B4-BE49-F238E27FC236}">
                <a16:creationId xmlns:a16="http://schemas.microsoft.com/office/drawing/2014/main" id="{058BB8FD-DF09-DCDB-28CE-15CA824D02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5922" y="4273334"/>
            <a:ext cx="1092474" cy="10924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8" name="Picture 10" descr="AWS Cloud Practitioner Tutorial">
            <a:extLst>
              <a:ext uri="{FF2B5EF4-FFF2-40B4-BE49-F238E27FC236}">
                <a16:creationId xmlns:a16="http://schemas.microsoft.com/office/drawing/2014/main" id="{935731A7-DB1D-E3EE-F9F8-6C568CBFFA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0579" y="4273334"/>
            <a:ext cx="1170508" cy="10924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80" name="Picture 12" descr="I design user interface UI for website ...">
            <a:extLst>
              <a:ext uri="{FF2B5EF4-FFF2-40B4-BE49-F238E27FC236}">
                <a16:creationId xmlns:a16="http://schemas.microsoft.com/office/drawing/2014/main" id="{87E055DC-FA65-7012-A7B2-2BD4F94FF4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0126" y="4129502"/>
            <a:ext cx="1797990" cy="1196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84598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4F13BF-5279-74D1-11DA-D148B78D31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34DA5E-86E0-40EA-AB48-D796503B06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56CEB-6CDE-4930-8E1A-D8F60CF96CEF}" type="datetime1">
              <a:rPr lang="en-US" smtClean="0"/>
              <a:t>4/2/2025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F1EA67-01AB-491A-7F29-FB65A5F22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Jagadeesh_AP2312210002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4403EB-3E28-296A-B70B-09E0F65EA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CCAAF-6324-40D0-99C1-825B83CC9B2F}" type="slidenum">
              <a:rPr lang="en-IN" smtClean="0"/>
              <a:t>10</a:t>
            </a:fld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122EBA-66B6-B623-94BB-2068C3E8BA92}"/>
              </a:ext>
            </a:extLst>
          </p:cNvPr>
          <p:cNvSpPr txBox="1"/>
          <p:nvPr/>
        </p:nvSpPr>
        <p:spPr>
          <a:xfrm>
            <a:off x="2088502" y="423027"/>
            <a:ext cx="370425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Swapping station</a:t>
            </a:r>
          </a:p>
          <a:p>
            <a:r>
              <a:rPr lang="en-US" dirty="0"/>
              <a:t>M/c – 5</a:t>
            </a:r>
          </a:p>
          <a:p>
            <a:r>
              <a:rPr lang="en-US" dirty="0"/>
              <a:t>Voltage, Current SW – On/OFF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D5C58D8-9AA0-CC5F-9260-B5F5BDC7F30B}"/>
              </a:ext>
            </a:extLst>
          </p:cNvPr>
          <p:cNvSpPr txBox="1"/>
          <p:nvPr/>
        </p:nvSpPr>
        <p:spPr>
          <a:xfrm>
            <a:off x="2088501" y="4450855"/>
            <a:ext cx="370425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 Fast Charging</a:t>
            </a:r>
          </a:p>
          <a:p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M/C_6</a:t>
            </a:r>
          </a:p>
          <a:p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Voltage, Current, SW – M/C_4</a:t>
            </a:r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6ED0A41-5FEB-57C7-B9FB-FA2ED96623CD}"/>
              </a:ext>
            </a:extLst>
          </p:cNvPr>
          <p:cNvSpPr txBox="1"/>
          <p:nvPr/>
        </p:nvSpPr>
        <p:spPr>
          <a:xfrm>
            <a:off x="5792754" y="2545361"/>
            <a:ext cx="943156" cy="646331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M/C – 1</a:t>
            </a:r>
          </a:p>
          <a:p>
            <a:r>
              <a:rPr lang="en-US" dirty="0"/>
              <a:t>M/C - 2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D6CE07BB-D041-7770-A166-97C011B3F74F}"/>
              </a:ext>
            </a:extLst>
          </p:cNvPr>
          <p:cNvCxnSpPr/>
          <p:nvPr/>
        </p:nvCxnSpPr>
        <p:spPr>
          <a:xfrm>
            <a:off x="4926563" y="1502229"/>
            <a:ext cx="866191" cy="9703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76BBF91D-FA49-5CAF-1747-9725AB265A1E}"/>
              </a:ext>
            </a:extLst>
          </p:cNvPr>
          <p:cNvCxnSpPr>
            <a:cxnSpLocks/>
          </p:cNvCxnSpPr>
          <p:nvPr/>
        </p:nvCxnSpPr>
        <p:spPr>
          <a:xfrm flipV="1">
            <a:off x="3674564" y="3191692"/>
            <a:ext cx="2017109" cy="12591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170" name="Picture 2" descr="Raspberry Pi 4 Computer, Model B, 4GB ...">
            <a:extLst>
              <a:ext uri="{FF2B5EF4-FFF2-40B4-BE49-F238E27FC236}">
                <a16:creationId xmlns:a16="http://schemas.microsoft.com/office/drawing/2014/main" id="{AE5302E9-240F-3E6B-B829-38FC072C83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1914" y="2420318"/>
            <a:ext cx="2235719" cy="14504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61BFB455-1761-C41A-8547-67229249E337}"/>
              </a:ext>
            </a:extLst>
          </p:cNvPr>
          <p:cNvCxnSpPr/>
          <p:nvPr/>
        </p:nvCxnSpPr>
        <p:spPr>
          <a:xfrm>
            <a:off x="6836991" y="3145525"/>
            <a:ext cx="28226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174" name="Picture 6" descr="upload.wikimedia.org/wikipedia/commons/thumb/2/2b/...">
            <a:extLst>
              <a:ext uri="{FF2B5EF4-FFF2-40B4-BE49-F238E27FC236}">
                <a16:creationId xmlns:a16="http://schemas.microsoft.com/office/drawing/2014/main" id="{52DC1D60-B5AD-65FE-4369-AC6E3FB56D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5922" y="4273334"/>
            <a:ext cx="1092474" cy="10924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8" name="Picture 10" descr="AWS Cloud Practitioner Tutorial">
            <a:extLst>
              <a:ext uri="{FF2B5EF4-FFF2-40B4-BE49-F238E27FC236}">
                <a16:creationId xmlns:a16="http://schemas.microsoft.com/office/drawing/2014/main" id="{2C8EB574-CA0D-92DF-8BE8-E7B902C03A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0579" y="4273334"/>
            <a:ext cx="1170508" cy="10924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80" name="Picture 12" descr="I design user interface UI for website ...">
            <a:extLst>
              <a:ext uri="{FF2B5EF4-FFF2-40B4-BE49-F238E27FC236}">
                <a16:creationId xmlns:a16="http://schemas.microsoft.com/office/drawing/2014/main" id="{326F948F-02EC-D4F0-2F03-1B66EF5351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0126" y="4129502"/>
            <a:ext cx="1797990" cy="1196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78912DC-5753-470A-19C1-A176D8FA96F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020" y="491149"/>
            <a:ext cx="2062481" cy="1132207"/>
          </a:xfrm>
          <a:prstGeom prst="rect">
            <a:avLst/>
          </a:prstGeom>
        </p:spPr>
      </p:pic>
      <p:pic>
        <p:nvPicPr>
          <p:cNvPr id="7" name="Picture 16" descr="Electric Vehicle Charging and the ...">
            <a:extLst>
              <a:ext uri="{FF2B5EF4-FFF2-40B4-BE49-F238E27FC236}">
                <a16:creationId xmlns:a16="http://schemas.microsoft.com/office/drawing/2014/main" id="{62C1B2EB-3F55-2109-9198-CAA0B18FF4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733" y="4727741"/>
            <a:ext cx="1841277" cy="11322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024362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DDA8CE9-E0A6-4FF2-823D-D08607606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1195564-33B9-434B-9641-764F5905A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1D18C537-E336-47C4-836B-C342A230F8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52475" y="1"/>
            <a:ext cx="4262009" cy="2602764"/>
            <a:chOff x="6867015" y="-1"/>
            <a:chExt cx="5324985" cy="3251912"/>
          </a:xfrm>
          <a:solidFill>
            <a:schemeClr val="accent5">
              <a:alpha val="5000"/>
            </a:schemeClr>
          </a:solidFill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81F97D2-9A0D-4CA5-B9AF-27B558BCF1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678A47C-892D-47C9-A5D8-F8860B1B05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9E8FDFA-59ED-4D6F-BA20-10CDF8436C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E958D9A5-8003-4D92-8C05-787C630F75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5A1259D8-0C3A-4069-A22F-537BBBB61A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60995" y="62352"/>
            <a:ext cx="6028697" cy="6795648"/>
            <a:chOff x="6160995" y="62352"/>
            <a:chExt cx="6028697" cy="6795648"/>
          </a:xfrm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D90700B4-CEB5-450F-9EA7-95E355B503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82080" y="81632"/>
              <a:ext cx="6007612" cy="6776368"/>
            </a:xfrm>
            <a:custGeom>
              <a:avLst/>
              <a:gdLst>
                <a:gd name="connsiteX0" fmla="*/ 4493599 w 6007612"/>
                <a:gd name="connsiteY0" fmla="*/ 0 h 6797829"/>
                <a:gd name="connsiteX1" fmla="*/ 5981837 w 6007612"/>
                <a:gd name="connsiteY1" fmla="*/ 314220 h 6797829"/>
                <a:gd name="connsiteX2" fmla="*/ 6007612 w 6007612"/>
                <a:gd name="connsiteY2" fmla="*/ 327088 h 6797829"/>
                <a:gd name="connsiteX3" fmla="*/ 6007612 w 6007612"/>
                <a:gd name="connsiteY3" fmla="*/ 1316637 h 6797829"/>
                <a:gd name="connsiteX4" fmla="*/ 5852405 w 6007612"/>
                <a:gd name="connsiteY4" fmla="*/ 1209899 h 6797829"/>
                <a:gd name="connsiteX5" fmla="*/ 5622498 w 6007612"/>
                <a:gd name="connsiteY5" fmla="*/ 1086619 h 6797829"/>
                <a:gd name="connsiteX6" fmla="*/ 4493032 w 6007612"/>
                <a:gd name="connsiteY6" fmla="*/ 851533 h 6797829"/>
                <a:gd name="connsiteX7" fmla="*/ 3155579 w 6007612"/>
                <a:gd name="connsiteY7" fmla="*/ 1108326 h 6797829"/>
                <a:gd name="connsiteX8" fmla="*/ 1963832 w 6007612"/>
                <a:gd name="connsiteY8" fmla="*/ 1817700 h 6797829"/>
                <a:gd name="connsiteX9" fmla="*/ 1144646 w 6007612"/>
                <a:gd name="connsiteY9" fmla="*/ 2832814 h 6797829"/>
                <a:gd name="connsiteX10" fmla="*/ 851249 w 6007612"/>
                <a:gd name="connsiteY10" fmla="*/ 3998599 h 6797829"/>
                <a:gd name="connsiteX11" fmla="*/ 1336319 w 6007612"/>
                <a:gd name="connsiteY11" fmla="*/ 5057837 h 6797829"/>
                <a:gd name="connsiteX12" fmla="*/ 1597084 w 6007612"/>
                <a:gd name="connsiteY12" fmla="*/ 5424583 h 6797829"/>
                <a:gd name="connsiteX13" fmla="*/ 2591910 w 6007612"/>
                <a:gd name="connsiteY13" fmla="*/ 6440122 h 6797829"/>
                <a:gd name="connsiteX14" fmla="*/ 3899854 w 6007612"/>
                <a:gd name="connsiteY14" fmla="*/ 6780621 h 6797829"/>
                <a:gd name="connsiteX15" fmla="*/ 4741172 w 6007612"/>
                <a:gd name="connsiteY15" fmla="*/ 6563979 h 6797829"/>
                <a:gd name="connsiteX16" fmla="*/ 5649171 w 6007612"/>
                <a:gd name="connsiteY16" fmla="*/ 5938452 h 6797829"/>
                <a:gd name="connsiteX17" fmla="*/ 5873475 w 6007612"/>
                <a:gd name="connsiteY17" fmla="*/ 5764656 h 6797829"/>
                <a:gd name="connsiteX18" fmla="*/ 6007612 w 6007612"/>
                <a:gd name="connsiteY18" fmla="*/ 5660343 h 6797829"/>
                <a:gd name="connsiteX19" fmla="*/ 6007612 w 6007612"/>
                <a:gd name="connsiteY19" fmla="*/ 6737454 h 6797829"/>
                <a:gd name="connsiteX20" fmla="*/ 5929386 w 6007612"/>
                <a:gd name="connsiteY20" fmla="*/ 6797829 h 6797829"/>
                <a:gd name="connsiteX21" fmla="*/ 1656512 w 6007612"/>
                <a:gd name="connsiteY21" fmla="*/ 6797829 h 6797829"/>
                <a:gd name="connsiteX22" fmla="*/ 1630254 w 6007612"/>
                <a:gd name="connsiteY22" fmla="*/ 6775222 h 6797829"/>
                <a:gd name="connsiteX23" fmla="*/ 892250 w 6007612"/>
                <a:gd name="connsiteY23" fmla="*/ 5902700 h 6797829"/>
                <a:gd name="connsiteX24" fmla="*/ 0 w 6007612"/>
                <a:gd name="connsiteY24" fmla="*/ 3998599 h 6797829"/>
                <a:gd name="connsiteX25" fmla="*/ 4493032 w 6007612"/>
                <a:gd name="connsiteY25" fmla="*/ 285 h 6797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6007612" h="6797829">
                  <a:moveTo>
                    <a:pt x="4493599" y="0"/>
                  </a:moveTo>
                  <a:cubicBezTo>
                    <a:pt x="5048011" y="0"/>
                    <a:pt x="5546284" y="111886"/>
                    <a:pt x="5981837" y="314220"/>
                  </a:cubicBezTo>
                  <a:lnTo>
                    <a:pt x="6007612" y="327088"/>
                  </a:lnTo>
                  <a:lnTo>
                    <a:pt x="6007612" y="1316637"/>
                  </a:lnTo>
                  <a:lnTo>
                    <a:pt x="5852405" y="1209899"/>
                  </a:lnTo>
                  <a:cubicBezTo>
                    <a:pt x="5778266" y="1164709"/>
                    <a:pt x="5701526" y="1123535"/>
                    <a:pt x="5622498" y="1086619"/>
                  </a:cubicBezTo>
                  <a:cubicBezTo>
                    <a:pt x="5286822" y="930699"/>
                    <a:pt x="4906882" y="851533"/>
                    <a:pt x="4493032" y="851533"/>
                  </a:cubicBezTo>
                  <a:cubicBezTo>
                    <a:pt x="4056201" y="851533"/>
                    <a:pt x="3593263" y="940631"/>
                    <a:pt x="3155579" y="1108326"/>
                  </a:cubicBezTo>
                  <a:cubicBezTo>
                    <a:pt x="2721215" y="1275979"/>
                    <a:pt x="2318305" y="1515819"/>
                    <a:pt x="1963832" y="1817700"/>
                  </a:cubicBezTo>
                  <a:cubicBezTo>
                    <a:pt x="1617657" y="2114360"/>
                    <a:pt x="1334332" y="2465358"/>
                    <a:pt x="1144646" y="2832814"/>
                  </a:cubicBezTo>
                  <a:cubicBezTo>
                    <a:pt x="950561" y="3210060"/>
                    <a:pt x="851249" y="3602202"/>
                    <a:pt x="851249" y="3998599"/>
                  </a:cubicBezTo>
                  <a:cubicBezTo>
                    <a:pt x="851249" y="4377547"/>
                    <a:pt x="999792" y="4597311"/>
                    <a:pt x="1336319" y="5057837"/>
                  </a:cubicBezTo>
                  <a:cubicBezTo>
                    <a:pt x="1420450" y="5173181"/>
                    <a:pt x="1507419" y="5292497"/>
                    <a:pt x="1597084" y="5424583"/>
                  </a:cubicBezTo>
                  <a:cubicBezTo>
                    <a:pt x="1914175" y="5891917"/>
                    <a:pt x="2239493" y="6224189"/>
                    <a:pt x="2591910" y="6440122"/>
                  </a:cubicBezTo>
                  <a:cubicBezTo>
                    <a:pt x="2965467" y="6669393"/>
                    <a:pt x="3393219" y="6780621"/>
                    <a:pt x="3899854" y="6780621"/>
                  </a:cubicBezTo>
                  <a:cubicBezTo>
                    <a:pt x="4187861" y="6780621"/>
                    <a:pt x="4454583" y="6711812"/>
                    <a:pt x="4741172" y="6563979"/>
                  </a:cubicBezTo>
                  <a:cubicBezTo>
                    <a:pt x="5034852" y="6412173"/>
                    <a:pt x="5326263" y="6190848"/>
                    <a:pt x="5649171" y="5938452"/>
                  </a:cubicBezTo>
                  <a:cubicBezTo>
                    <a:pt x="5724931" y="5879291"/>
                    <a:pt x="5800409" y="5821406"/>
                    <a:pt x="5873475" y="5764656"/>
                  </a:cubicBezTo>
                  <a:lnTo>
                    <a:pt x="6007612" y="5660343"/>
                  </a:lnTo>
                  <a:lnTo>
                    <a:pt x="6007612" y="6737454"/>
                  </a:lnTo>
                  <a:lnTo>
                    <a:pt x="5929386" y="6797829"/>
                  </a:lnTo>
                  <a:lnTo>
                    <a:pt x="1656512" y="6797829"/>
                  </a:lnTo>
                  <a:lnTo>
                    <a:pt x="1630254" y="6775222"/>
                  </a:lnTo>
                  <a:cubicBezTo>
                    <a:pt x="1360562" y="6528765"/>
                    <a:pt x="1117699" y="6235219"/>
                    <a:pt x="892250" y="5902700"/>
                  </a:cubicBezTo>
                  <a:cubicBezTo>
                    <a:pt x="459249" y="5264548"/>
                    <a:pt x="0" y="4826722"/>
                    <a:pt x="0" y="3998599"/>
                  </a:cubicBezTo>
                  <a:cubicBezTo>
                    <a:pt x="0" y="1790460"/>
                    <a:pt x="2262336" y="285"/>
                    <a:pt x="4493032" y="2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0582300F-F646-4FC3-94FC-0582F4B5E0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60995" y="62352"/>
              <a:ext cx="6028697" cy="6795648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FBB8E8B8-1900-4326-8858-F375F5D8A0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63721" y="81632"/>
              <a:ext cx="6025971" cy="6776368"/>
            </a:xfrm>
            <a:custGeom>
              <a:avLst/>
              <a:gdLst>
                <a:gd name="connsiteX0" fmla="*/ 6025971 w 6025971"/>
                <a:gd name="connsiteY0" fmla="*/ 5825635 h 6797829"/>
                <a:gd name="connsiteX1" fmla="*/ 6025971 w 6025971"/>
                <a:gd name="connsiteY1" fmla="*/ 6723285 h 6797829"/>
                <a:gd name="connsiteX2" fmla="*/ 5929386 w 6025971"/>
                <a:gd name="connsiteY2" fmla="*/ 6797829 h 6797829"/>
                <a:gd name="connsiteX3" fmla="*/ 4560411 w 6025971"/>
                <a:gd name="connsiteY3" fmla="*/ 6797829 h 6797829"/>
                <a:gd name="connsiteX4" fmla="*/ 4597731 w 6025971"/>
                <a:gd name="connsiteY4" fmla="*/ 6785305 h 6797829"/>
                <a:gd name="connsiteX5" fmla="*/ 5736707 w 6025971"/>
                <a:gd name="connsiteY5" fmla="*/ 6050108 h 6797829"/>
                <a:gd name="connsiteX6" fmla="*/ 5960301 w 6025971"/>
                <a:gd name="connsiteY6" fmla="*/ 5876738 h 6797829"/>
                <a:gd name="connsiteX7" fmla="*/ 4493599 w 6025971"/>
                <a:gd name="connsiteY7" fmla="*/ 0 h 6797829"/>
                <a:gd name="connsiteX8" fmla="*/ 5981837 w 6025971"/>
                <a:gd name="connsiteY8" fmla="*/ 314220 h 6797829"/>
                <a:gd name="connsiteX9" fmla="*/ 6025971 w 6025971"/>
                <a:gd name="connsiteY9" fmla="*/ 336254 h 6797829"/>
                <a:gd name="connsiteX10" fmla="*/ 6025971 w 6025971"/>
                <a:gd name="connsiteY10" fmla="*/ 1157325 h 6797829"/>
                <a:gd name="connsiteX11" fmla="*/ 5925889 w 6025971"/>
                <a:gd name="connsiteY11" fmla="*/ 1088522 h 6797829"/>
                <a:gd name="connsiteX12" fmla="*/ 5682227 w 6025971"/>
                <a:gd name="connsiteY12" fmla="*/ 957939 h 6797829"/>
                <a:gd name="connsiteX13" fmla="*/ 4493032 w 6025971"/>
                <a:gd name="connsiteY13" fmla="*/ 709658 h 6797829"/>
                <a:gd name="connsiteX14" fmla="*/ 3104646 w 6025971"/>
                <a:gd name="connsiteY14" fmla="*/ 976666 h 6797829"/>
                <a:gd name="connsiteX15" fmla="*/ 1871612 w 6025971"/>
                <a:gd name="connsiteY15" fmla="*/ 1710017 h 6797829"/>
                <a:gd name="connsiteX16" fmla="*/ 1018661 w 6025971"/>
                <a:gd name="connsiteY16" fmla="*/ 2767694 h 6797829"/>
                <a:gd name="connsiteX17" fmla="*/ 709374 w 6025971"/>
                <a:gd name="connsiteY17" fmla="*/ 3998599 h 6797829"/>
                <a:gd name="connsiteX18" fmla="*/ 1221258 w 6025971"/>
                <a:gd name="connsiteY18" fmla="*/ 5141684 h 6797829"/>
                <a:gd name="connsiteX19" fmla="*/ 1479187 w 6025971"/>
                <a:gd name="connsiteY19" fmla="*/ 5504459 h 6797829"/>
                <a:gd name="connsiteX20" fmla="*/ 3021272 w 6025971"/>
                <a:gd name="connsiteY20" fmla="*/ 6793670 h 6797829"/>
                <a:gd name="connsiteX21" fmla="*/ 3035805 w 6025971"/>
                <a:gd name="connsiteY21" fmla="*/ 6797829 h 6797829"/>
                <a:gd name="connsiteX22" fmla="*/ 1656512 w 6025971"/>
                <a:gd name="connsiteY22" fmla="*/ 6797829 h 6797829"/>
                <a:gd name="connsiteX23" fmla="*/ 1630254 w 6025971"/>
                <a:gd name="connsiteY23" fmla="*/ 6775222 h 6797829"/>
                <a:gd name="connsiteX24" fmla="*/ 892250 w 6025971"/>
                <a:gd name="connsiteY24" fmla="*/ 5902700 h 6797829"/>
                <a:gd name="connsiteX25" fmla="*/ 0 w 6025971"/>
                <a:gd name="connsiteY25" fmla="*/ 3998599 h 6797829"/>
                <a:gd name="connsiteX26" fmla="*/ 4493032 w 6025971"/>
                <a:gd name="connsiteY26" fmla="*/ 285 h 6797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6025971" h="6797829">
                  <a:moveTo>
                    <a:pt x="6025971" y="5825635"/>
                  </a:moveTo>
                  <a:lnTo>
                    <a:pt x="6025971" y="6723285"/>
                  </a:lnTo>
                  <a:lnTo>
                    <a:pt x="5929386" y="6797829"/>
                  </a:lnTo>
                  <a:lnTo>
                    <a:pt x="4560411" y="6797829"/>
                  </a:lnTo>
                  <a:lnTo>
                    <a:pt x="4597731" y="6785305"/>
                  </a:lnTo>
                  <a:cubicBezTo>
                    <a:pt x="4964953" y="6637825"/>
                    <a:pt x="5315251" y="6379435"/>
                    <a:pt x="5736707" y="6050108"/>
                  </a:cubicBezTo>
                  <a:cubicBezTo>
                    <a:pt x="5812043" y="5991230"/>
                    <a:pt x="5887377" y="5933488"/>
                    <a:pt x="5960301" y="5876738"/>
                  </a:cubicBezTo>
                  <a:close/>
                  <a:moveTo>
                    <a:pt x="4493599" y="0"/>
                  </a:moveTo>
                  <a:cubicBezTo>
                    <a:pt x="5048011" y="0"/>
                    <a:pt x="5546284" y="111886"/>
                    <a:pt x="5981837" y="314220"/>
                  </a:cubicBezTo>
                  <a:lnTo>
                    <a:pt x="6025971" y="336254"/>
                  </a:lnTo>
                  <a:lnTo>
                    <a:pt x="6025971" y="1157325"/>
                  </a:lnTo>
                  <a:lnTo>
                    <a:pt x="5925889" y="1088522"/>
                  </a:lnTo>
                  <a:cubicBezTo>
                    <a:pt x="5847314" y="1040649"/>
                    <a:pt x="5765982" y="997036"/>
                    <a:pt x="5682227" y="957939"/>
                  </a:cubicBezTo>
                  <a:cubicBezTo>
                    <a:pt x="5327823" y="793222"/>
                    <a:pt x="4927595" y="709658"/>
                    <a:pt x="4493032" y="709658"/>
                  </a:cubicBezTo>
                  <a:cubicBezTo>
                    <a:pt x="4031940" y="709658"/>
                    <a:pt x="3564888" y="799465"/>
                    <a:pt x="3104646" y="976666"/>
                  </a:cubicBezTo>
                  <a:cubicBezTo>
                    <a:pt x="2655243" y="1149867"/>
                    <a:pt x="2238358" y="1397822"/>
                    <a:pt x="1871612" y="1710017"/>
                  </a:cubicBezTo>
                  <a:cubicBezTo>
                    <a:pt x="1506427" y="2022852"/>
                    <a:pt x="1219414" y="2378815"/>
                    <a:pt x="1018661" y="2767694"/>
                  </a:cubicBezTo>
                  <a:cubicBezTo>
                    <a:pt x="813368" y="3165227"/>
                    <a:pt x="709374" y="3579358"/>
                    <a:pt x="709374" y="3998599"/>
                  </a:cubicBezTo>
                  <a:cubicBezTo>
                    <a:pt x="709374" y="4421103"/>
                    <a:pt x="875510" y="4667680"/>
                    <a:pt x="1221258" y="5141684"/>
                  </a:cubicBezTo>
                  <a:cubicBezTo>
                    <a:pt x="1304681" y="5256035"/>
                    <a:pt x="1390941" y="5374217"/>
                    <a:pt x="1479187" y="5504459"/>
                  </a:cubicBezTo>
                  <a:cubicBezTo>
                    <a:pt x="1942790" y="6187719"/>
                    <a:pt x="2430063" y="6601673"/>
                    <a:pt x="3021272" y="6793670"/>
                  </a:cubicBezTo>
                  <a:lnTo>
                    <a:pt x="3035805" y="6797829"/>
                  </a:lnTo>
                  <a:lnTo>
                    <a:pt x="1656512" y="6797829"/>
                  </a:lnTo>
                  <a:lnTo>
                    <a:pt x="1630254" y="6775222"/>
                  </a:lnTo>
                  <a:cubicBezTo>
                    <a:pt x="1360562" y="6528765"/>
                    <a:pt x="1117699" y="6235219"/>
                    <a:pt x="892250" y="5902700"/>
                  </a:cubicBezTo>
                  <a:cubicBezTo>
                    <a:pt x="459249" y="5264548"/>
                    <a:pt x="0" y="4826722"/>
                    <a:pt x="0" y="3998599"/>
                  </a:cubicBezTo>
                  <a:cubicBezTo>
                    <a:pt x="0" y="1790460"/>
                    <a:pt x="2262336" y="285"/>
                    <a:pt x="4493032" y="2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5208" y="3694894"/>
            <a:ext cx="4336495" cy="798521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sz="72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Thankyou</a:t>
            </a:r>
            <a:br>
              <a:rPr lang="en-US" sz="48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endParaRPr lang="en-US" sz="4800" b="1" kern="12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6703C8B8-7D1F-4A4F-BDFB-57D2D1403270}" type="datetime1">
              <a:rPr lang="en-US" smtClean="0"/>
              <a:pPr>
                <a:spcAft>
                  <a:spcPts val="600"/>
                </a:spcAft>
              </a:pPr>
              <a:t>4/2/2025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Jagadeesh_AP2312210002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15FCCAAF-6324-40D0-99C1-825B83CC9B2F}" type="slidenum">
              <a:rPr lang="en-US" smtClean="0"/>
              <a:pPr>
                <a:spcAft>
                  <a:spcPts val="600"/>
                </a:spcAft>
              </a:pPr>
              <a:t>11</a:t>
            </a:fld>
            <a:endParaRPr lang="en-US"/>
          </a:p>
        </p:txBody>
      </p:sp>
      <p:pic>
        <p:nvPicPr>
          <p:cNvPr id="9" name="Picture 8" descr="A black and green logo&#10;&#10;Description automatically generated">
            <a:extLst>
              <a:ext uri="{FF2B5EF4-FFF2-40B4-BE49-F238E27FC236}">
                <a16:creationId xmlns:a16="http://schemas.microsoft.com/office/drawing/2014/main" id="{14E8D04E-7884-D2D4-7CED-5A6DF1209AB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297" y="229831"/>
            <a:ext cx="2637504" cy="94582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2816ACE-EA04-C176-5833-ED923EA60E1B}"/>
              </a:ext>
            </a:extLst>
          </p:cNvPr>
          <p:cNvSpPr txBox="1"/>
          <p:nvPr/>
        </p:nvSpPr>
        <p:spPr>
          <a:xfrm>
            <a:off x="132707" y="5508134"/>
            <a:ext cx="11754427" cy="64633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0" i="0" dirty="0">
                <a:effectLst/>
                <a:latin typeface="__fkGroteskNeue_598ab8"/>
              </a:rPr>
              <a:t>Harnessing renewable energy through innovative battery charging solutions not only reduces operational costs but,</a:t>
            </a:r>
          </a:p>
          <a:p>
            <a:r>
              <a:rPr lang="en-US" b="1" i="0" dirty="0">
                <a:effectLst/>
                <a:latin typeface="__fkGroteskNeue_598ab8"/>
              </a:rPr>
              <a:t>IOT</a:t>
            </a:r>
            <a:r>
              <a:rPr lang="en-US" b="0" i="0" dirty="0">
                <a:effectLst/>
                <a:latin typeface="__fkGroteskNeue_598ab8"/>
              </a:rPr>
              <a:t> Integration is the way for a sustainable future, enabling us to power our vehicles while preserving our planet.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C200BB-9FC5-F69D-EC72-49D8DCF7E31E}"/>
              </a:ext>
            </a:extLst>
          </p:cNvPr>
          <p:cNvSpPr txBox="1"/>
          <p:nvPr/>
        </p:nvSpPr>
        <p:spPr>
          <a:xfrm>
            <a:off x="170297" y="2615568"/>
            <a:ext cx="67341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__Roboto_Flex_b8e8b1"/>
              </a:rPr>
              <a:t>Talk to yourself once in a day,</a:t>
            </a:r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__Roboto_Flex_b8e8b1"/>
              </a:rPr>
              <a:t> otherwise, you may miss meeting an intelligent person in this world. 					</a:t>
            </a:r>
            <a:r>
              <a:rPr lang="en-US" b="1" i="0" dirty="0">
                <a:solidFill>
                  <a:srgbClr val="000000"/>
                </a:solidFill>
                <a:effectLst/>
                <a:latin typeface="__Roboto_Flex_b8e8b1"/>
              </a:rPr>
              <a:t>Swami Vivekananda</a:t>
            </a:r>
          </a:p>
        </p:txBody>
      </p:sp>
    </p:spTree>
    <p:extLst>
      <p:ext uri="{BB962C8B-B14F-4D97-AF65-F5344CB8AC3E}">
        <p14:creationId xmlns:p14="http://schemas.microsoft.com/office/powerpoint/2010/main" val="841562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499A0BF-B165-43EC-B5EC-4BD64C6CE5AA}">
  <we:reference id="wa200005566" version="3.0.0.2" store="en-US" storeType="OMEX"/>
  <we:alternateReferences>
    <we:reference id="wa200005566" version="3.0.0.2" store="wa200005566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019B757F763C144918590A58A3C2100" ma:contentTypeVersion="5" ma:contentTypeDescription="Create a new document." ma:contentTypeScope="" ma:versionID="5d9cf66606784fe127c83b82746892c7">
  <xsd:schema xmlns:xsd="http://www.w3.org/2001/XMLSchema" xmlns:xs="http://www.w3.org/2001/XMLSchema" xmlns:p="http://schemas.microsoft.com/office/2006/metadata/properties" xmlns:ns3="f619aea2-d5ad-4208-a18c-92f8e9acac18" targetNamespace="http://schemas.microsoft.com/office/2006/metadata/properties" ma:root="true" ma:fieldsID="fbda49ceb3f46024ee92e61f4938b5da" ns3:_="">
    <xsd:import namespace="f619aea2-d5ad-4208-a18c-92f8e9acac18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619aea2-d5ad-4208-a18c-92f8e9acac1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F2030F4-1722-4186-8C90-446ABDF8898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619aea2-d5ad-4208-a18c-92f8e9acac1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49EF365-2DC5-4C2C-A11A-46598278C32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249DF27-365C-4A29-8D2C-AB2B060F964F}">
  <ds:schemaRefs>
    <ds:schemaRef ds:uri="http://purl.org/dc/terms/"/>
    <ds:schemaRef ds:uri="http://purl.org/dc/elements/1.1/"/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http://www.w3.org/XML/1998/namespace"/>
    <ds:schemaRef ds:uri="f619aea2-d5ad-4208-a18c-92f8e9acac18"/>
    <ds:schemaRef ds:uri="http://schemas.microsoft.com/office/2006/metadata/propertie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9628</TotalTime>
  <Words>818</Words>
  <Application>Microsoft Office PowerPoint</Application>
  <PresentationFormat>Widescreen</PresentationFormat>
  <Paragraphs>194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1" baseType="lpstr">
      <vt:lpstr>__fkGroteskNeue_598ab8</vt:lpstr>
      <vt:lpstr>__Roboto_Flex_b8e8b1</vt:lpstr>
      <vt:lpstr>ADLaM Display</vt:lpstr>
      <vt:lpstr>Arial</vt:lpstr>
      <vt:lpstr>Calibri</vt:lpstr>
      <vt:lpstr>Calibri Light</vt:lpstr>
      <vt:lpstr>Times New Roman</vt:lpstr>
      <vt:lpstr>var(--font-fk-grotesk)</vt:lpstr>
      <vt:lpstr>Wingdings</vt:lpstr>
      <vt:lpstr>Office Theme</vt:lpstr>
      <vt:lpstr>Title –  Design of IOT Architecture for Battery Charging Management Technology</vt:lpstr>
      <vt:lpstr>Outline</vt:lpstr>
      <vt:lpstr>Integrating Energy source</vt:lpstr>
      <vt:lpstr>Automation Energy source</vt:lpstr>
      <vt:lpstr>Automation Energy Sensor monitoring</vt:lpstr>
      <vt:lpstr>Load source</vt:lpstr>
      <vt:lpstr>Load source</vt:lpstr>
      <vt:lpstr>Discharge unit</vt:lpstr>
      <vt:lpstr>PowerPoint Presentation</vt:lpstr>
      <vt:lpstr>PowerPoint Presentation</vt:lpstr>
      <vt:lpstr>Thankyou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KADIYAM ANUSHA</dc:creator>
  <cp:lastModifiedBy>jagadeeswara kamarajugadda | AP23122100002</cp:lastModifiedBy>
  <cp:revision>627</cp:revision>
  <dcterms:created xsi:type="dcterms:W3CDTF">2021-08-02T06:45:34Z</dcterms:created>
  <dcterms:modified xsi:type="dcterms:W3CDTF">2025-04-02T16:57:07Z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0x010100D019B757F763C144918590A58A3C2100</vt:lpwstr>
  </property>
</Properties>
</file>