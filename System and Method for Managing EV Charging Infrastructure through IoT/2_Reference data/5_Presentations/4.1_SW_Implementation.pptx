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256" r:id="rId6"/>
    <p:sldId id="258" r:id="rId7"/>
    <p:sldId id="428" r:id="rId8"/>
    <p:sldId id="417" r:id="rId9"/>
    <p:sldId id="427" r:id="rId10"/>
    <p:sldId id="430" r:id="rId11"/>
    <p:sldId id="431" r:id="rId12"/>
    <p:sldId id="434" r:id="rId13"/>
    <p:sldId id="435" r:id="rId14"/>
    <p:sldId id="429" r:id="rId15"/>
    <p:sldId id="436" r:id="rId16"/>
    <p:sldId id="432" r:id="rId17"/>
    <p:sldId id="433" r:id="rId18"/>
    <p:sldId id="285" r:id="rId19"/>
    <p:sldId id="43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AF7CB-7ACF-42E1-9769-CB1172CEA200}" v="518" dt="2024-07-23T07:58:50.5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64" autoAdjust="0"/>
    <p:restoredTop sz="91984" autoAdjust="0"/>
  </p:normalViewPr>
  <p:slideViewPr>
    <p:cSldViewPr snapToGrid="0">
      <p:cViewPr varScale="1">
        <p:scale>
          <a:sx n="82" d="100"/>
          <a:sy n="82" d="100"/>
        </p:scale>
        <p:origin x="859" y="72"/>
      </p:cViewPr>
      <p:guideLst/>
    </p:cSldViewPr>
  </p:slideViewPr>
  <p:outlineViewPr>
    <p:cViewPr>
      <p:scale>
        <a:sx n="33" d="100"/>
        <a:sy n="33" d="100"/>
      </p:scale>
      <p:origin x="0" y="-1165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80"/>
    </p:cViewPr>
  </p:sorterViewPr>
  <p:notesViewPr>
    <p:cSldViewPr snapToGrid="0">
      <p:cViewPr varScale="1">
        <p:scale>
          <a:sx n="72" d="100"/>
          <a:sy n="72" d="100"/>
        </p:scale>
        <p:origin x="301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tay\Desktop\Calcul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Sheet1!$O$11:$O$12</c:f>
              <c:strCache>
                <c:ptCount val="2"/>
                <c:pt idx="0">
                  <c:v>Total Energy  claculation</c:v>
                </c:pt>
                <c:pt idx="1">
                  <c:v>Power sources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Sheet1!$O$13:$O$22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0-0927-4525-83BF-4A1308216AE4}"/>
            </c:ext>
          </c:extLst>
        </c:ser>
        <c:ser>
          <c:idx val="1"/>
          <c:order val="1"/>
          <c:tx>
            <c:strRef>
              <c:f>Sheet1!$P$11:$P$12</c:f>
              <c:strCache>
                <c:ptCount val="2"/>
                <c:pt idx="0">
                  <c:v>Total Energy  claculation</c:v>
                </c:pt>
                <c:pt idx="1">
                  <c:v>KW / day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Sheet1!$P$13:$P$22</c:f>
              <c:numCache>
                <c:formatCode>#,##0</c:formatCode>
                <c:ptCount val="10"/>
                <c:pt idx="0">
                  <c:v>1816.8</c:v>
                </c:pt>
                <c:pt idx="1">
                  <c:v>1032</c:v>
                </c:pt>
                <c:pt idx="2">
                  <c:v>576</c:v>
                </c:pt>
                <c:pt idx="3">
                  <c:v>208.79999999999998</c:v>
                </c:pt>
                <c:pt idx="4">
                  <c:v>1608</c:v>
                </c:pt>
                <c:pt idx="6">
                  <c:v>21801.599999999999</c:v>
                </c:pt>
                <c:pt idx="8">
                  <c:v>19296</c:v>
                </c:pt>
                <c:pt idx="9">
                  <c:v>2505.5999999999985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27-4525-83BF-4A1308216AE4}"/>
            </c:ext>
          </c:extLst>
        </c:ser>
        <c:ser>
          <c:idx val="2"/>
          <c:order val="2"/>
          <c:tx>
            <c:strRef>
              <c:f>Sheet1!$Q$11:$Q$12</c:f>
              <c:strCache>
                <c:ptCount val="2"/>
                <c:pt idx="0">
                  <c:v>Total Energy  claculation</c:v>
                </c:pt>
                <c:pt idx="1">
                  <c:v>KW / Month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Sheet1!$Q$13:$Q$22</c:f>
              <c:numCache>
                <c:formatCode>#,##0</c:formatCode>
                <c:ptCount val="10"/>
                <c:pt idx="0">
                  <c:v>54504</c:v>
                </c:pt>
                <c:pt idx="1">
                  <c:v>30960</c:v>
                </c:pt>
                <c:pt idx="2">
                  <c:v>17280</c:v>
                </c:pt>
                <c:pt idx="3">
                  <c:v>6263.9999999999991</c:v>
                </c:pt>
                <c:pt idx="4">
                  <c:v>48240</c:v>
                </c:pt>
                <c:pt idx="6">
                  <c:v>654048</c:v>
                </c:pt>
                <c:pt idx="8">
                  <c:v>578880</c:v>
                </c:pt>
                <c:pt idx="9">
                  <c:v>75168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927-4525-83BF-4A1308216AE4}"/>
            </c:ext>
          </c:extLst>
        </c:ser>
        <c:ser>
          <c:idx val="3"/>
          <c:order val="3"/>
          <c:tx>
            <c:strRef>
              <c:f>Sheet1!$R$11:$R$12</c:f>
              <c:strCache>
                <c:ptCount val="2"/>
                <c:pt idx="0">
                  <c:v>Total Energy  claculation</c:v>
                </c:pt>
                <c:pt idx="1">
                  <c:v>KW / year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Sheet1!$R$13:$R$22</c:f>
              <c:numCache>
                <c:formatCode>#,##0</c:formatCode>
                <c:ptCount val="10"/>
                <c:pt idx="0">
                  <c:v>663132</c:v>
                </c:pt>
                <c:pt idx="1">
                  <c:v>376680</c:v>
                </c:pt>
                <c:pt idx="2">
                  <c:v>210240</c:v>
                </c:pt>
                <c:pt idx="3">
                  <c:v>76212</c:v>
                </c:pt>
                <c:pt idx="4">
                  <c:v>586920</c:v>
                </c:pt>
                <c:pt idx="6">
                  <c:v>7957584</c:v>
                </c:pt>
                <c:pt idx="8">
                  <c:v>7043040</c:v>
                </c:pt>
                <c:pt idx="9">
                  <c:v>914544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927-4525-83BF-4A1308216AE4}"/>
            </c:ext>
          </c:extLst>
        </c:ser>
        <c:ser>
          <c:idx val="4"/>
          <c:order val="4"/>
          <c:tx>
            <c:strRef>
              <c:f>Sheet1!$S$11:$S$12</c:f>
              <c:strCache>
                <c:ptCount val="2"/>
                <c:pt idx="0">
                  <c:v>Total Energy  claculation</c:v>
                </c:pt>
                <c:pt idx="1">
                  <c:v>KW / 5 years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Sheet1!$N$13:$N$22</c:f>
              <c:strCache>
                <c:ptCount val="10"/>
                <c:pt idx="0">
                  <c:v>Required full Power From Grid</c:v>
                </c:pt>
                <c:pt idx="1">
                  <c:v>Solar</c:v>
                </c:pt>
                <c:pt idx="2">
                  <c:v>ESS</c:v>
                </c:pt>
                <c:pt idx="3">
                  <c:v>Grid</c:v>
                </c:pt>
                <c:pt idx="4">
                  <c:v>Total Power saving / Day</c:v>
                </c:pt>
                <c:pt idx="6">
                  <c:v>Total Cost  / Day            12rs / unit</c:v>
                </c:pt>
                <c:pt idx="8">
                  <c:v>Total Cost Saving / Day  12rs / unit</c:v>
                </c:pt>
                <c:pt idx="9">
                  <c:v>Spending Amount</c:v>
                </c:pt>
              </c:strCache>
            </c:strRef>
          </c:cat>
          <c:val>
            <c:numRef>
              <c:f>Sheet1!$S$13:$S$22</c:f>
              <c:numCache>
                <c:formatCode>#,##0</c:formatCode>
                <c:ptCount val="10"/>
                <c:pt idx="0">
                  <c:v>3315660</c:v>
                </c:pt>
                <c:pt idx="1">
                  <c:v>1883400</c:v>
                </c:pt>
                <c:pt idx="2">
                  <c:v>1051200</c:v>
                </c:pt>
                <c:pt idx="3">
                  <c:v>381060</c:v>
                </c:pt>
                <c:pt idx="4">
                  <c:v>2934600</c:v>
                </c:pt>
                <c:pt idx="6">
                  <c:v>39787920</c:v>
                </c:pt>
                <c:pt idx="8">
                  <c:v>35215200</c:v>
                </c:pt>
                <c:pt idx="9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927-4525-83BF-4A1308216A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78262496"/>
        <c:axId val="478254336"/>
      </c:barChart>
      <c:catAx>
        <c:axId val="478262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54336"/>
        <c:crosses val="autoZero"/>
        <c:auto val="1"/>
        <c:lblAlgn val="ctr"/>
        <c:lblOffset val="100"/>
        <c:noMultiLvlLbl val="0"/>
      </c:catAx>
      <c:valAx>
        <c:axId val="478254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8262496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Sheet1!$N$27</c:f>
              <c:strCache>
                <c:ptCount val="1"/>
                <c:pt idx="0">
                  <c:v>Fast charging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110000"/>
                    <a:satMod val="105000"/>
                    <a:tint val="67000"/>
                  </a:schemeClr>
                </a:gs>
                <a:gs pos="50000">
                  <a:schemeClr val="accent1">
                    <a:lumMod val="105000"/>
                    <a:satMod val="103000"/>
                    <a:tint val="73000"/>
                  </a:schemeClr>
                </a:gs>
                <a:gs pos="100000">
                  <a:schemeClr val="accent1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Sheet1!$O$27:$S$27</c:f>
              <c:numCache>
                <c:formatCode>#,##0</c:formatCode>
                <c:ptCount val="5"/>
                <c:pt idx="1">
                  <c:v>26793.75</c:v>
                </c:pt>
                <c:pt idx="2">
                  <c:v>803812.5</c:v>
                </c:pt>
                <c:pt idx="3">
                  <c:v>9779718.75</c:v>
                </c:pt>
                <c:pt idx="4">
                  <c:v>48898593.75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D-4FEE-9FC1-6A98E33678CE}"/>
            </c:ext>
          </c:extLst>
        </c:ser>
        <c:ser>
          <c:idx val="1"/>
          <c:order val="1"/>
          <c:tx>
            <c:strRef>
              <c:f>Sheet1!$N$28</c:f>
              <c:strCache>
                <c:ptCount val="1"/>
                <c:pt idx="0">
                  <c:v>Battery Swapping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lumMod val="110000"/>
                    <a:satMod val="105000"/>
                    <a:tint val="67000"/>
                  </a:schemeClr>
                </a:gs>
                <a:gs pos="50000">
                  <a:schemeClr val="accent2">
                    <a:lumMod val="105000"/>
                    <a:satMod val="103000"/>
                    <a:tint val="73000"/>
                  </a:schemeClr>
                </a:gs>
                <a:gs pos="100000">
                  <a:schemeClr val="accent2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2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Sheet1!$O$28:$S$28</c:f>
              <c:numCache>
                <c:formatCode>#,##0</c:formatCode>
                <c:ptCount val="5"/>
                <c:pt idx="1">
                  <c:v>2700</c:v>
                </c:pt>
                <c:pt idx="2">
                  <c:v>81000</c:v>
                </c:pt>
                <c:pt idx="3">
                  <c:v>985500</c:v>
                </c:pt>
                <c:pt idx="4">
                  <c:v>4927500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D-4FEE-9FC1-6A98E33678CE}"/>
            </c:ext>
          </c:extLst>
        </c:ser>
        <c:ser>
          <c:idx val="2"/>
          <c:order val="2"/>
          <c:tx>
            <c:strRef>
              <c:f>Sheet1!$N$29</c:f>
              <c:strCache>
                <c:ptCount val="1"/>
                <c:pt idx="0">
                  <c:v>Total Revenue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lumMod val="110000"/>
                    <a:satMod val="105000"/>
                    <a:tint val="67000"/>
                  </a:schemeClr>
                </a:gs>
                <a:gs pos="50000">
                  <a:schemeClr val="accent3">
                    <a:lumMod val="105000"/>
                    <a:satMod val="103000"/>
                    <a:tint val="73000"/>
                  </a:schemeClr>
                </a:gs>
                <a:gs pos="100000">
                  <a:schemeClr val="accent3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3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Sheet1!$O$29:$S$29</c:f>
              <c:numCache>
                <c:formatCode>#,##0</c:formatCode>
                <c:ptCount val="5"/>
                <c:pt idx="1">
                  <c:v>29493.75</c:v>
                </c:pt>
                <c:pt idx="2">
                  <c:v>884812.5</c:v>
                </c:pt>
                <c:pt idx="3">
                  <c:v>10765218.75</c:v>
                </c:pt>
                <c:pt idx="4">
                  <c:v>53826093.75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6D-4FEE-9FC1-6A98E33678CE}"/>
            </c:ext>
          </c:extLst>
        </c:ser>
        <c:ser>
          <c:idx val="3"/>
          <c:order val="3"/>
          <c:tx>
            <c:strRef>
              <c:f>Sheet1!$N$30</c:f>
              <c:strCache>
                <c:ptCount val="1"/>
                <c:pt idx="0">
                  <c:v>Spending Amount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lumMod val="110000"/>
                    <a:satMod val="105000"/>
                    <a:tint val="67000"/>
                  </a:schemeClr>
                </a:gs>
                <a:gs pos="50000">
                  <a:schemeClr val="accent4">
                    <a:lumMod val="105000"/>
                    <a:satMod val="103000"/>
                    <a:tint val="73000"/>
                  </a:schemeClr>
                </a:gs>
                <a:gs pos="100000">
                  <a:schemeClr val="accent4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4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Sheet1!$O$30:$S$30</c:f>
              <c:numCache>
                <c:formatCode>#,##0</c:formatCode>
                <c:ptCount val="5"/>
                <c:pt idx="1">
                  <c:v>2505.5999999999985</c:v>
                </c:pt>
                <c:pt idx="2">
                  <c:v>75168</c:v>
                </c:pt>
                <c:pt idx="3">
                  <c:v>914544</c:v>
                </c:pt>
                <c:pt idx="4">
                  <c:v>4572720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26D-4FEE-9FC1-6A98E33678CE}"/>
            </c:ext>
          </c:extLst>
        </c:ser>
        <c:ser>
          <c:idx val="4"/>
          <c:order val="4"/>
          <c:tx>
            <c:strRef>
              <c:f>Sheet1!$N$31</c:f>
              <c:strCache>
                <c:ptCount val="1"/>
                <c:pt idx="0">
                  <c:v>Total Profit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accent5">
                  <a:shade val="95000"/>
                </a:schemeClr>
              </a:solidFill>
              <a:round/>
            </a:ln>
            <a:effectLst/>
          </c:spPr>
          <c:invertIfNegative val="0"/>
          <c:cat>
            <c:strRef>
              <c:f>Sheet1!$O$25:$S$26</c:f>
              <c:strCache>
                <c:ptCount val="5"/>
                <c:pt idx="1">
                  <c:v>Per day</c:v>
                </c:pt>
                <c:pt idx="2">
                  <c:v>Per Month</c:v>
                </c:pt>
                <c:pt idx="3">
                  <c:v>Per Year</c:v>
                </c:pt>
                <c:pt idx="4">
                  <c:v>Per 5 Years</c:v>
                </c:pt>
              </c:strCache>
            </c:strRef>
          </c:cat>
          <c:val>
            <c:numRef>
              <c:f>Sheet1!$O$31:$S$31</c:f>
              <c:numCache>
                <c:formatCode>#,##0</c:formatCode>
                <c:ptCount val="5"/>
                <c:pt idx="1">
                  <c:v>26988.15</c:v>
                </c:pt>
                <c:pt idx="2">
                  <c:v>809644.5</c:v>
                </c:pt>
                <c:pt idx="3">
                  <c:v>9850674.75</c:v>
                </c:pt>
                <c:pt idx="4">
                  <c:v>49253373.75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6D-4FEE-9FC1-6A98E33678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557145615"/>
        <c:axId val="1557138895"/>
      </c:barChart>
      <c:catAx>
        <c:axId val="15571456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38895"/>
        <c:crosses val="autoZero"/>
        <c:auto val="1"/>
        <c:lblAlgn val="ctr"/>
        <c:lblOffset val="100"/>
        <c:noMultiLvlLbl val="0"/>
      </c:catAx>
      <c:valAx>
        <c:axId val="1557138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7145615"/>
        <c:crosses val="autoZero"/>
        <c:crossBetween val="between"/>
        <c:majorUnit val="300000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10E9D3-35D6-41A2-8721-35E54E97FBB5}" type="datetimeFigureOut">
              <a:rPr lang="en-IN" smtClean="0"/>
              <a:t>20-11-2024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206C1D-2A15-49D1-94AC-58C6193961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779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01CDD-2765-4E0B-8E1E-74E5DF634D54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9762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813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841D3-185F-47D8-BDE4-D8016A7347D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911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F884-9D0E-4B7A-AF59-2FB766C47657}" type="datetime1">
              <a:rPr lang="en-US" smtClean="0"/>
              <a:t>11/20/2024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6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F0DF7-C5E0-43EE-B2C3-C8F633061D7B}" type="datetime1">
              <a:rPr lang="en-US" smtClean="0"/>
              <a:t>11/20/2024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506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16347-16FC-498A-8B0A-492B3F8815B1}" type="datetime1">
              <a:rPr lang="en-US" smtClean="0"/>
              <a:t>11/20/2024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73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4F80B-C6ED-4090-B072-93657F87519D}" type="datetime1">
              <a:rPr lang="en-US" smtClean="0"/>
              <a:t>11/20/2024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406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4B027-1FEE-41E9-8565-0460820AFA68}" type="datetime1">
              <a:rPr lang="en-US" smtClean="0"/>
              <a:t>11/20/2024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9357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8CD37-D6CD-4F25-B941-5CDE0236D7C2}" type="datetime1">
              <a:rPr lang="en-US" smtClean="0"/>
              <a:t>11/20/2024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1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79B75-EBAB-4ABC-81F0-E36206D12060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612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49227-6DC0-4EAA-81BA-D4C0E6A15063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08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EF508-18F7-4B4E-977E-A553DA988B11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CCAAF-6324-40D0-99C1-825B83CC9B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7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hyperlink" Target="mailto:Jatayujagadeesh@gmail.com" TargetMode="External"/><Relationship Id="rId7" Type="http://schemas.openxmlformats.org/officeDocument/2006/relationships/image" Target="../media/image8.svg"/><Relationship Id="rId12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jpeg"/><Relationship Id="rId5" Type="http://schemas.openxmlformats.org/officeDocument/2006/relationships/image" Target="../media/image21.jpeg"/><Relationship Id="rId15" Type="http://schemas.openxmlformats.org/officeDocument/2006/relationships/image" Target="../media/image31.svg"/><Relationship Id="rId10" Type="http://schemas.openxmlformats.org/officeDocument/2006/relationships/image" Target="../media/image26.jpeg"/><Relationship Id="rId4" Type="http://schemas.openxmlformats.org/officeDocument/2006/relationships/image" Target="../media/image20.jpeg"/><Relationship Id="rId9" Type="http://schemas.openxmlformats.org/officeDocument/2006/relationships/image" Target="../media/image25.jpe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1.jpeg"/><Relationship Id="rId7" Type="http://schemas.openxmlformats.org/officeDocument/2006/relationships/image" Target="../media/image45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Relationship Id="rId9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6357" y="711243"/>
            <a:ext cx="6493448" cy="135271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1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Title – </a:t>
            </a:r>
            <a:br>
              <a:rPr lang="en-US" sz="2800" kern="1200" spc="3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Design of IOT Architecture for</a:t>
            </a:r>
            <a:b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800" kern="1200" spc="3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Battery Charging Management Technology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350E611-2993-456E-8445-FEE8351BB19B}" type="datetime1">
              <a:rPr lang="en-US" smtClean="0"/>
              <a:pPr>
                <a:spcAft>
                  <a:spcPts val="600"/>
                </a:spcAft>
              </a:pPr>
              <a:t>11/20/2024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4C790-7258-76B7-ED0C-3952226A849A}"/>
              </a:ext>
            </a:extLst>
          </p:cNvPr>
          <p:cNvSpPr txBox="1"/>
          <p:nvPr/>
        </p:nvSpPr>
        <p:spPr>
          <a:xfrm>
            <a:off x="2507" y="5575995"/>
            <a:ext cx="5003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School of Engineering and Sciences (SEAS)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Department of Electronics and Communication Engineering</a:t>
            </a:r>
            <a:br>
              <a:rPr lang="en-US" sz="16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6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SRM University, Andhra Pradesh (SRM AP) 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F8596C-750C-6011-6B31-33F7DF8A40B1}"/>
              </a:ext>
            </a:extLst>
          </p:cNvPr>
          <p:cNvSpPr txBox="1"/>
          <p:nvPr/>
        </p:nvSpPr>
        <p:spPr>
          <a:xfrm>
            <a:off x="7929465" y="300119"/>
            <a:ext cx="4105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Major project 2</a:t>
            </a:r>
            <a:r>
              <a:rPr lang="en-US" sz="2000" b="1" baseline="300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nd</a:t>
            </a:r>
            <a:r>
              <a:rPr lang="en-US" sz="2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Review</a:t>
            </a:r>
            <a:r>
              <a:rPr lang="en-US" sz="2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Presentation</a:t>
            </a:r>
            <a:endParaRPr lang="en-US" sz="2000" b="1" dirty="0"/>
          </a:p>
        </p:txBody>
      </p:sp>
      <p:pic>
        <p:nvPicPr>
          <p:cNvPr id="10" name="Picture 9" descr="A black and green logo&#10;&#10;Description automatically generated">
            <a:extLst>
              <a:ext uri="{FF2B5EF4-FFF2-40B4-BE49-F238E27FC236}">
                <a16:creationId xmlns:a16="http://schemas.microsoft.com/office/drawing/2014/main" id="{00387109-12A4-BD5A-150C-D499C1EE4A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5" y="4321403"/>
            <a:ext cx="3832911" cy="125160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F68C0E-BDE4-8591-032A-D863A5568E60}"/>
              </a:ext>
            </a:extLst>
          </p:cNvPr>
          <p:cNvCxnSpPr/>
          <p:nvPr/>
        </p:nvCxnSpPr>
        <p:spPr>
          <a:xfrm flipH="1">
            <a:off x="2507" y="4128093"/>
            <a:ext cx="49265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4A9853-8C9C-9FB2-2020-54A6CCFE56E7}"/>
              </a:ext>
            </a:extLst>
          </p:cNvPr>
          <p:cNvSpPr txBox="1"/>
          <p:nvPr/>
        </p:nvSpPr>
        <p:spPr>
          <a:xfrm>
            <a:off x="440555" y="1398472"/>
            <a:ext cx="42874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Presented by</a:t>
            </a:r>
            <a:br>
              <a:rPr lang="en-US" sz="18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1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Jagadeesh_(AP2312210002)</a:t>
            </a:r>
            <a:endParaRPr lang="en-US" sz="18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endParaRPr lang="en-US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Sujith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Kalluri</a:t>
            </a:r>
            <a: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br>
              <a:rPr lang="en-US" sz="18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US" dirty="0"/>
          </a:p>
        </p:txBody>
      </p:sp>
      <p:pic>
        <p:nvPicPr>
          <p:cNvPr id="2050" name="Picture 2" descr="intuions.com">
            <a:extLst>
              <a:ext uri="{FF2B5EF4-FFF2-40B4-BE49-F238E27FC236}">
                <a16:creationId xmlns:a16="http://schemas.microsoft.com/office/drawing/2014/main" id="{0FCAFF62-4320-AD69-DB79-6DCD656F32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96" t="24409" r="25999"/>
          <a:stretch/>
        </p:blipFill>
        <p:spPr bwMode="auto">
          <a:xfrm>
            <a:off x="9537430" y="2698985"/>
            <a:ext cx="2326076" cy="1759004"/>
          </a:xfrm>
          <a:prstGeom prst="decagon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Role Of IoT In Smart Grid Tech - Intuz">
            <a:extLst>
              <a:ext uri="{FF2B5EF4-FFF2-40B4-BE49-F238E27FC236}">
                <a16:creationId xmlns:a16="http://schemas.microsoft.com/office/drawing/2014/main" id="{CDF7FA1B-5A62-DE3D-001C-A0EDF44D5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131" y="4321403"/>
            <a:ext cx="3828249" cy="2012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691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E05A3-A676-047A-F29C-19F216082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9484" y="0"/>
            <a:ext cx="2399070" cy="56043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Me </a:t>
            </a:r>
          </a:p>
        </p:txBody>
      </p:sp>
      <p:pic>
        <p:nvPicPr>
          <p:cNvPr id="9" name="Picture 8" descr="A person with a green lanyard&#10;&#10;Description automatically generated">
            <a:extLst>
              <a:ext uri="{FF2B5EF4-FFF2-40B4-BE49-F238E27FC236}">
                <a16:creationId xmlns:a16="http://schemas.microsoft.com/office/drawing/2014/main" id="{71D07A70-29D5-B42B-5D32-E239E5FD5C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9804">
            <a:off x="5976941" y="2630431"/>
            <a:ext cx="1721040" cy="172104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51F82AB-9E67-AEA0-22F1-0BC32806ACB5}"/>
              </a:ext>
            </a:extLst>
          </p:cNvPr>
          <p:cNvSpPr/>
          <p:nvPr/>
        </p:nvSpPr>
        <p:spPr>
          <a:xfrm>
            <a:off x="110694" y="594619"/>
            <a:ext cx="6548125" cy="18583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Profile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Name – 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Jagadeeswara Chandra 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bose</a:t>
            </a:r>
            <a:r>
              <a:rPr lang="en-US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 am M. Tech student in Embedded Systems and IoT with 2 years of industry experience and a passion for developing affordable utility products to help underprivileged communities.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0917F9F-41E3-5CEE-981F-2F6821E698C2}"/>
              </a:ext>
            </a:extLst>
          </p:cNvPr>
          <p:cNvSpPr/>
          <p:nvPr/>
        </p:nvSpPr>
        <p:spPr>
          <a:xfrm>
            <a:off x="7484569" y="1080838"/>
            <a:ext cx="4596737" cy="121763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b="0" i="0" dirty="0">
                <a:effectLst/>
                <a:latin typeface="__fkGroteskNeue_598ab8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My career objective is to continuously develop and redefine my skills and expertise in edge technologies.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C0B8C6B-EA19-64E0-EA5E-D7B2216BE0A5}"/>
              </a:ext>
            </a:extLst>
          </p:cNvPr>
          <p:cNvSpPr/>
          <p:nvPr/>
        </p:nvSpPr>
        <p:spPr>
          <a:xfrm>
            <a:off x="-21390" y="3254398"/>
            <a:ext cx="5794928" cy="10379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am passionate about to creating a platform that transforms an ecosystem to support my friends and society, particularly those who are financially underprivileged. 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FE47AEF-9C7A-8A85-2B68-8BC66A257F6C}"/>
              </a:ext>
            </a:extLst>
          </p:cNvPr>
          <p:cNvSpPr/>
          <p:nvPr/>
        </p:nvSpPr>
        <p:spPr>
          <a:xfrm>
            <a:off x="56456" y="5312502"/>
            <a:ext cx="3866615" cy="147483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Contact info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strike="noStrike" kern="1200" cap="none" spc="0" normalizeH="0" baseline="0" noProof="0" dirty="0">
                <a:ln>
                  <a:noFill/>
                </a:ln>
                <a:solidFill>
                  <a:srgbClr val="96607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        </a:t>
            </a:r>
            <a:r>
              <a:rPr kumimoji="0" lang="en-US" b="0" i="0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Jatayujagadeesh@gmail.com</a:t>
            </a:r>
            <a:endParaRPr kumimoji="0" lang="en-US" b="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+91 – 9705233003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Guntur district, Andhra Pradesh</a:t>
            </a:r>
          </a:p>
        </p:txBody>
      </p:sp>
      <p:pic>
        <p:nvPicPr>
          <p:cNvPr id="15" name="Graphic 14" descr="Envelope with solid fill">
            <a:extLst>
              <a:ext uri="{FF2B5EF4-FFF2-40B4-BE49-F238E27FC236}">
                <a16:creationId xmlns:a16="http://schemas.microsoft.com/office/drawing/2014/main" id="{98EE0306-29E1-833D-54E5-84F300D538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592" y="5568785"/>
            <a:ext cx="387327" cy="422787"/>
          </a:xfrm>
          <a:prstGeom prst="rect">
            <a:avLst/>
          </a:prstGeom>
        </p:spPr>
      </p:pic>
      <p:pic>
        <p:nvPicPr>
          <p:cNvPr id="17" name="Graphic 16" descr="Receiver with solid fill">
            <a:extLst>
              <a:ext uri="{FF2B5EF4-FFF2-40B4-BE49-F238E27FC236}">
                <a16:creationId xmlns:a16="http://schemas.microsoft.com/office/drawing/2014/main" id="{30A6FC12-8711-91D0-6AA1-CCAEBAD757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670" y="6030205"/>
            <a:ext cx="301755" cy="329380"/>
          </a:xfrm>
          <a:prstGeom prst="rect">
            <a:avLst/>
          </a:prstGeom>
        </p:spPr>
      </p:pic>
      <p:pic>
        <p:nvPicPr>
          <p:cNvPr id="19" name="Graphic 18" descr="Work from home Wi-Fi with solid fill">
            <a:extLst>
              <a:ext uri="{FF2B5EF4-FFF2-40B4-BE49-F238E27FC236}">
                <a16:creationId xmlns:a16="http://schemas.microsoft.com/office/drawing/2014/main" id="{F0E37ABB-3EBC-E7EF-C487-AF1143DA83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670" y="6423670"/>
            <a:ext cx="349413" cy="381402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1F2D1A-B4BB-600C-7A2A-54DA27CA416F}"/>
              </a:ext>
            </a:extLst>
          </p:cNvPr>
          <p:cNvSpPr/>
          <p:nvPr/>
        </p:nvSpPr>
        <p:spPr>
          <a:xfrm>
            <a:off x="5326543" y="5180140"/>
            <a:ext cx="6754763" cy="1567120"/>
          </a:xfrm>
          <a:prstGeom prst="roundRect">
            <a:avLst/>
          </a:prstGeom>
          <a:solidFill>
            <a:srgbClr val="FF9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Tech in Embedded Systems and IoT  	        - CGPA: 8.50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Tech in Electrical and Electronics Engineering    - CGPA: 71.10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Diploma in Electrical and Electronics Engineering   - 71.20%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SSC 					         - 82%</a:t>
            </a:r>
          </a:p>
          <a:p>
            <a:endParaRPr lang="en-US" sz="1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5E912EE-6635-136B-A2C5-8FB191BBE99B}"/>
              </a:ext>
            </a:extLst>
          </p:cNvPr>
          <p:cNvSpPr/>
          <p:nvPr/>
        </p:nvSpPr>
        <p:spPr>
          <a:xfrm>
            <a:off x="5883417" y="2546652"/>
            <a:ext cx="1919670" cy="1858365"/>
          </a:xfrm>
          <a:prstGeom prst="ellipse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F12A29B-A37B-F5C6-5575-E2BD7DDFA1F3}"/>
              </a:ext>
            </a:extLst>
          </p:cNvPr>
          <p:cNvCxnSpPr>
            <a:cxnSpLocks/>
          </p:cNvCxnSpPr>
          <p:nvPr/>
        </p:nvCxnSpPr>
        <p:spPr>
          <a:xfrm rot="10800000">
            <a:off x="2979174" y="2452985"/>
            <a:ext cx="3116828" cy="415017"/>
          </a:xfrm>
          <a:prstGeom prst="bentConnector3">
            <a:avLst>
              <a:gd name="adj1" fmla="val 10015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562411E0-C4DD-4787-B1FF-C99FF5995ABF}"/>
              </a:ext>
            </a:extLst>
          </p:cNvPr>
          <p:cNvCxnSpPr>
            <a:cxnSpLocks/>
            <a:stCxn id="23" idx="0"/>
            <a:endCxn id="11" idx="1"/>
          </p:cNvCxnSpPr>
          <p:nvPr/>
        </p:nvCxnSpPr>
        <p:spPr>
          <a:xfrm rot="5400000" flipH="1" flipV="1">
            <a:off x="6735412" y="1797496"/>
            <a:ext cx="856996" cy="641317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124B39B-1900-A2C5-DB42-C8DF0050D142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7416765" y="4280121"/>
            <a:ext cx="1287160" cy="900019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DC43F5D-E357-EF60-466D-DBEFFDD0DEC2}"/>
              </a:ext>
            </a:extLst>
          </p:cNvPr>
          <p:cNvCxnSpPr>
            <a:cxnSpLocks/>
            <a:stCxn id="23" idx="4"/>
            <a:endCxn id="12" idx="2"/>
          </p:cNvCxnSpPr>
          <p:nvPr/>
        </p:nvCxnSpPr>
        <p:spPr>
          <a:xfrm rot="5400000" flipH="1">
            <a:off x="4803337" y="2365103"/>
            <a:ext cx="112651" cy="3967178"/>
          </a:xfrm>
          <a:prstGeom prst="bentConnector3">
            <a:avLst>
              <a:gd name="adj1" fmla="val -202928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CEA3B7-0923-3994-DFFA-33AD262F7EB7}"/>
              </a:ext>
            </a:extLst>
          </p:cNvPr>
          <p:cNvSpPr/>
          <p:nvPr/>
        </p:nvSpPr>
        <p:spPr>
          <a:xfrm>
            <a:off x="7822570" y="2792360"/>
            <a:ext cx="4258735" cy="1396181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Internships &amp; Experience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9B1B862-7BBF-3453-49CA-0F8E613AC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9109" y="3290073"/>
            <a:ext cx="764815" cy="747969"/>
          </a:xfrm>
          <a:prstGeom prst="rect">
            <a:avLst/>
          </a:prstGeom>
        </p:spPr>
      </p:pic>
      <p:pic>
        <p:nvPicPr>
          <p:cNvPr id="1028" name="Picture 4" descr="Emertxe - Leaders in Embedded Systems, Linux &amp; IoT Training ...">
            <a:extLst>
              <a:ext uri="{FF2B5EF4-FFF2-40B4-BE49-F238E27FC236}">
                <a16:creationId xmlns:a16="http://schemas.microsoft.com/office/drawing/2014/main" id="{AF5D4F8A-6171-FDC9-373A-AD6B23F2A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7781" y="3289298"/>
            <a:ext cx="1238032" cy="747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PSIS Solutions | LinkedIn">
            <a:extLst>
              <a:ext uri="{FF2B5EF4-FFF2-40B4-BE49-F238E27FC236}">
                <a16:creationId xmlns:a16="http://schemas.microsoft.com/office/drawing/2014/main" id="{8CB9A201-C9DA-48A3-2B86-05320C050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830" y="3289298"/>
            <a:ext cx="900019" cy="747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Amara Raja Group - Wikipedia">
            <a:extLst>
              <a:ext uri="{FF2B5EF4-FFF2-40B4-BE49-F238E27FC236}">
                <a16:creationId xmlns:a16="http://schemas.microsoft.com/office/drawing/2014/main" id="{23E34FA8-50DF-1E64-E766-77CE26559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8332" y="2959510"/>
            <a:ext cx="1238033" cy="116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8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062" y="277215"/>
            <a:ext cx="3888526" cy="80764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19B6FD-226A-4CFB-95DA-A1309CA70088}" type="datetime1">
              <a:rPr lang="en-US" smtClean="0"/>
              <a:pPr>
                <a:spcAft>
                  <a:spcPts val="600"/>
                </a:spcAft>
              </a:pPr>
              <a:t>11/20/2024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Jagadeesh_AP2312210002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A4E8363D-BD78-CB08-68C5-EF4C2730BC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131" y="909006"/>
            <a:ext cx="2910455" cy="104370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4245924-1534-2B33-F883-AB95C8907383}"/>
              </a:ext>
            </a:extLst>
          </p:cNvPr>
          <p:cNvSpPr txBox="1"/>
          <p:nvPr/>
        </p:nvSpPr>
        <p:spPr>
          <a:xfrm>
            <a:off x="137797" y="1844566"/>
            <a:ext cx="5068266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Problem statement &amp; Research gap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Designed Architecture for Charging Management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Proposed System &amp; Methodology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MATLAB Simulation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  <a:latin typeface="var(--font-fk-grotesk)"/>
              </a:rPr>
              <a:t>Numerical Estimation Energy and cost Saving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9C0AC2-DA49-22C5-CC09-7A4CBE1B1223}"/>
              </a:ext>
            </a:extLst>
          </p:cNvPr>
          <p:cNvSpPr txBox="1"/>
          <p:nvPr/>
        </p:nvSpPr>
        <p:spPr>
          <a:xfrm>
            <a:off x="6285534" y="2778423"/>
            <a:ext cx="5068266" cy="2542363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Solar, ESS, Grid – Integration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PCC – Point of Common Coupling – Automation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ESS – Energy Storage system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30 – Battery Swapping System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4 – Fast Charging System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  <a:latin typeface="var(--font-fk-grotesk)"/>
              </a:rPr>
              <a:t>Data Acquisition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D4C9CF0-1DE2-1F00-D1FF-8B8AE5067019}"/>
              </a:ext>
            </a:extLst>
          </p:cNvPr>
          <p:cNvCxnSpPr/>
          <p:nvPr/>
        </p:nvCxnSpPr>
        <p:spPr>
          <a:xfrm>
            <a:off x="3581400" y="2985796"/>
            <a:ext cx="2704134" cy="634482"/>
          </a:xfrm>
          <a:prstGeom prst="bentConnector3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972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D5C4C-8A5F-1BE6-FDA1-84E25E02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7FDD5-97B2-1112-B5CC-B64F6E386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5F3A4-3E3B-625E-0905-DCFE0830E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4</a:t>
            </a:fld>
            <a:endParaRPr lang="en-IN"/>
          </a:p>
        </p:txBody>
      </p:sp>
      <p:pic>
        <p:nvPicPr>
          <p:cNvPr id="1026" name="Picture 2" descr="A EV Charging Station  66KV with grid and Load with 30nos EV Swapping Station and 4 Fast charging Station with vehicles. Image 3 of 4">
            <a:extLst>
              <a:ext uri="{FF2B5EF4-FFF2-40B4-BE49-F238E27FC236}">
                <a16:creationId xmlns:a16="http://schemas.microsoft.com/office/drawing/2014/main" id="{C4190998-36CE-B16F-F702-8706976E1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450" y="612291"/>
            <a:ext cx="3046348" cy="209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generation plat Non renable energy. Image 3 of 4">
            <a:extLst>
              <a:ext uri="{FF2B5EF4-FFF2-40B4-BE49-F238E27FC236}">
                <a16:creationId xmlns:a16="http://schemas.microsoft.com/office/drawing/2014/main" id="{C71A6AFB-78A3-3F38-C36B-D5BBC095EE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005" y="545387"/>
            <a:ext cx="2897620" cy="209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3A2F3B-93BF-24E1-3E80-0F24820A3971}"/>
              </a:ext>
            </a:extLst>
          </p:cNvPr>
          <p:cNvCxnSpPr>
            <a:cxnSpLocks/>
            <a:stCxn id="1028" idx="3"/>
          </p:cNvCxnSpPr>
          <p:nvPr/>
        </p:nvCxnSpPr>
        <p:spPr>
          <a:xfrm flipV="1">
            <a:off x="3954625" y="1577392"/>
            <a:ext cx="3048825" cy="155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8326FE-ECE3-FFAE-7DCF-9795936B7F83}"/>
              </a:ext>
            </a:extLst>
          </p:cNvPr>
          <p:cNvSpPr txBox="1"/>
          <p:nvPr/>
        </p:nvSpPr>
        <p:spPr>
          <a:xfrm>
            <a:off x="678025" y="2731414"/>
            <a:ext cx="1151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Lack of Pollution – need More Transportation – Need coal mines – More Generation cost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9FF802-91D5-D240-CE18-D27913D3478A}"/>
              </a:ext>
            </a:extLst>
          </p:cNvPr>
          <p:cNvSpPr txBox="1"/>
          <p:nvPr/>
        </p:nvSpPr>
        <p:spPr>
          <a:xfrm>
            <a:off x="553566" y="3193081"/>
            <a:ext cx="115139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Why IOT needed</a:t>
            </a:r>
          </a:p>
          <a:p>
            <a:endParaRPr lang="en-US" sz="2400" b="1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002060"/>
                </a:solidFill>
              </a:rPr>
              <a:t>Real Time Data Monitoring</a:t>
            </a:r>
          </a:p>
          <a:p>
            <a:r>
              <a:rPr lang="en-US" sz="2400" dirty="0">
                <a:solidFill>
                  <a:srgbClr val="002060"/>
                </a:solidFill>
              </a:rPr>
              <a:t>Pre estimation Power Demand</a:t>
            </a:r>
          </a:p>
          <a:p>
            <a:r>
              <a:rPr lang="en-US" sz="2400" dirty="0">
                <a:solidFill>
                  <a:srgbClr val="002060"/>
                </a:solidFill>
              </a:rPr>
              <a:t>To Reuse Harmonic's Imbalance</a:t>
            </a:r>
          </a:p>
          <a:p>
            <a:r>
              <a:rPr lang="en-US" sz="2400" dirty="0">
                <a:solidFill>
                  <a:srgbClr val="002060"/>
                </a:solidFill>
              </a:rPr>
              <a:t>Central Monitoring System</a:t>
            </a:r>
          </a:p>
          <a:p>
            <a:r>
              <a:rPr lang="en-US" sz="2400" dirty="0">
                <a:solidFill>
                  <a:srgbClr val="002060"/>
                </a:solidFill>
              </a:rPr>
              <a:t>End User Integration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8CEBE6-B980-448B-6F98-72EE278685C8}"/>
              </a:ext>
            </a:extLst>
          </p:cNvPr>
          <p:cNvSpPr txBox="1"/>
          <p:nvPr/>
        </p:nvSpPr>
        <p:spPr>
          <a:xfrm>
            <a:off x="4707293" y="5282546"/>
            <a:ext cx="7484707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</a:rPr>
              <a:t>EV are Rapidly Increasing in the world Automotive Market</a:t>
            </a:r>
          </a:p>
          <a:p>
            <a:r>
              <a:rPr lang="en-US" sz="2400" dirty="0">
                <a:solidFill>
                  <a:srgbClr val="002060"/>
                </a:solidFill>
              </a:rPr>
              <a:t>So, There is a Demand of Charging Infra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53C5A8-2068-3B71-FF1C-D3C455AB9C48}"/>
              </a:ext>
            </a:extLst>
          </p:cNvPr>
          <p:cNvSpPr txBox="1"/>
          <p:nvPr/>
        </p:nvSpPr>
        <p:spPr>
          <a:xfrm>
            <a:off x="223934" y="40970"/>
            <a:ext cx="9405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Problem Statement and Research Gap with IOT Tech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97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1617A-68F7-451A-B322-43A9274F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E81F4-4FBF-BA17-1569-C844F3B0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E9104-700E-891F-B04F-D88439DEA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5</a:t>
            </a:fld>
            <a:endParaRPr lang="en-IN"/>
          </a:p>
        </p:txBody>
      </p:sp>
      <p:pic>
        <p:nvPicPr>
          <p:cNvPr id="1026" name="Picture 2" descr="Buy High Quality 170W/12V Polycrystalline Solar Panel Online | Luminous">
            <a:extLst>
              <a:ext uri="{FF2B5EF4-FFF2-40B4-BE49-F238E27FC236}">
                <a16:creationId xmlns:a16="http://schemas.microsoft.com/office/drawing/2014/main" id="{B9F6085E-6013-CB47-F189-7A66F21D6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97" t="11840" r="29706" b="12562"/>
          <a:stretch/>
        </p:blipFill>
        <p:spPr bwMode="auto">
          <a:xfrm>
            <a:off x="102637" y="319088"/>
            <a:ext cx="1373901" cy="1786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PPT Solar Inverter &amp; Charge Controller in India | Enertech">
            <a:extLst>
              <a:ext uri="{FF2B5EF4-FFF2-40B4-BE49-F238E27FC236}">
                <a16:creationId xmlns:a16="http://schemas.microsoft.com/office/drawing/2014/main" id="{66C5D335-3642-242D-39D8-8D863EB17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2483" y="319088"/>
            <a:ext cx="1373901" cy="166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5-Year Life Battery Solar 12V 400ah Solar Battery Bank Solar Panel with  Integrated Battery - Solar Battery Bank, Solar Panel with Integrated Battery  | Made-in-China.com">
            <a:extLst>
              <a:ext uri="{FF2B5EF4-FFF2-40B4-BE49-F238E27FC236}">
                <a16:creationId xmlns:a16="http://schemas.microsoft.com/office/drawing/2014/main" id="{682E1BDB-9B98-8395-6A08-769D838CB6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90" t="16668" r="5967" b="18005"/>
          <a:stretch/>
        </p:blipFill>
        <p:spPr bwMode="auto">
          <a:xfrm>
            <a:off x="3783627" y="59533"/>
            <a:ext cx="2547257" cy="19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c-dc Converter Module Price-China Ac-dc Converter Module Price  Manufacturers &amp; Suppliers | Made in China">
            <a:extLst>
              <a:ext uri="{FF2B5EF4-FFF2-40B4-BE49-F238E27FC236}">
                <a16:creationId xmlns:a16="http://schemas.microsoft.com/office/drawing/2014/main" id="{6705A5DC-3A9C-2F34-6305-AA6AA7017C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79" b="25182"/>
          <a:stretch/>
        </p:blipFill>
        <p:spPr bwMode="auto">
          <a:xfrm>
            <a:off x="6615531" y="342601"/>
            <a:ext cx="1524000" cy="8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mium Vector | Supports of the highvoltage power grid Vector illustration  of utility electric transmission networks Power lines isolated on white  background">
            <a:extLst>
              <a:ext uri="{FF2B5EF4-FFF2-40B4-BE49-F238E27FC236}">
                <a16:creationId xmlns:a16="http://schemas.microsoft.com/office/drawing/2014/main" id="{2A873CD7-CAD5-EBCB-106F-96BDD154C3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5718" y="439674"/>
            <a:ext cx="1786784" cy="126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attery Swapping Infrastructure – An ...">
            <a:extLst>
              <a:ext uri="{FF2B5EF4-FFF2-40B4-BE49-F238E27FC236}">
                <a16:creationId xmlns:a16="http://schemas.microsoft.com/office/drawing/2014/main" id="{71E5126C-CA1C-7AE1-409A-BB93C44B0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5" y="2730500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Battery Swapping Infrastructure – An ...">
            <a:extLst>
              <a:ext uri="{FF2B5EF4-FFF2-40B4-BE49-F238E27FC236}">
                <a16:creationId xmlns:a16="http://schemas.microsoft.com/office/drawing/2014/main" id="{A34DACB7-6C65-8381-1B12-E045A1779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5" y="4634706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uck Boost DC-DC Converter 25A/50A/100A - Camper-Camper">
            <a:extLst>
              <a:ext uri="{FF2B5EF4-FFF2-40B4-BE49-F238E27FC236}">
                <a16:creationId xmlns:a16="http://schemas.microsoft.com/office/drawing/2014/main" id="{447DB487-027E-0627-C52F-D4E222199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790" y="2850057"/>
            <a:ext cx="1007221" cy="100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lectric Vehicle Charging and the ...">
            <a:extLst>
              <a:ext uri="{FF2B5EF4-FFF2-40B4-BE49-F238E27FC236}">
                <a16:creationId xmlns:a16="http://schemas.microsoft.com/office/drawing/2014/main" id="{28C14378-D5EA-1120-7A46-D2BD29916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384" y="4612040"/>
            <a:ext cx="3260369" cy="156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90BE462-8D30-C559-8707-FAB487EB0757}"/>
              </a:ext>
            </a:extLst>
          </p:cNvPr>
          <p:cNvSpPr/>
          <p:nvPr/>
        </p:nvSpPr>
        <p:spPr>
          <a:xfrm>
            <a:off x="6726383" y="1766305"/>
            <a:ext cx="5256276" cy="23866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DB0E-E630-E8FD-F273-E928EEEE66C3}"/>
              </a:ext>
            </a:extLst>
          </p:cNvPr>
          <p:cNvSpPr txBox="1"/>
          <p:nvPr/>
        </p:nvSpPr>
        <p:spPr>
          <a:xfrm>
            <a:off x="6844553" y="1826610"/>
            <a:ext cx="5046693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Central Control Monitoring </a:t>
            </a:r>
          </a:p>
        </p:txBody>
      </p:sp>
      <p:pic>
        <p:nvPicPr>
          <p:cNvPr id="1042" name="Picture 18" descr="EV Charging Station Finder App ...">
            <a:extLst>
              <a:ext uri="{FF2B5EF4-FFF2-40B4-BE49-F238E27FC236}">
                <a16:creationId xmlns:a16="http://schemas.microsoft.com/office/drawing/2014/main" id="{6473DBCF-6A86-870B-78F1-360B2BCE3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227" y="5296913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V Charging Station Booking Web ...">
            <a:extLst>
              <a:ext uri="{FF2B5EF4-FFF2-40B4-BE49-F238E27FC236}">
                <a16:creationId xmlns:a16="http://schemas.microsoft.com/office/drawing/2014/main" id="{5D2EF5E6-DB12-829C-753C-CCD11917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63298" y="5396516"/>
            <a:ext cx="1314943" cy="73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Ev Dashboard designs, themes, templates and downloadable graphic elements  on Dribbble">
            <a:extLst>
              <a:ext uri="{FF2B5EF4-FFF2-40B4-BE49-F238E27FC236}">
                <a16:creationId xmlns:a16="http://schemas.microsoft.com/office/drawing/2014/main" id="{3D965FF7-8BF5-E55A-95F4-D59FFCE61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321" y="2255588"/>
            <a:ext cx="5038925" cy="1706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The six different types of cloud briefly introduced">
            <a:extLst>
              <a:ext uri="{FF2B5EF4-FFF2-40B4-BE49-F238E27FC236}">
                <a16:creationId xmlns:a16="http://schemas.microsoft.com/office/drawing/2014/main" id="{129C6762-D7CB-1D6A-48B3-4A0FB9404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483" y="4271099"/>
            <a:ext cx="690470" cy="443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2B6A3F-9C22-7C7B-AFDB-987162CEC81B}"/>
              </a:ext>
            </a:extLst>
          </p:cNvPr>
          <p:cNvSpPr txBox="1"/>
          <p:nvPr/>
        </p:nvSpPr>
        <p:spPr>
          <a:xfrm>
            <a:off x="9094237" y="4374301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Cloud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E9137-E61F-2EB0-E511-9731521E05AF}"/>
              </a:ext>
            </a:extLst>
          </p:cNvPr>
          <p:cNvSpPr txBox="1"/>
          <p:nvPr/>
        </p:nvSpPr>
        <p:spPr>
          <a:xfrm>
            <a:off x="374375" y="2120583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C13550-198C-C692-19A4-D1FEB18D4E1E}"/>
              </a:ext>
            </a:extLst>
          </p:cNvPr>
          <p:cNvSpPr txBox="1"/>
          <p:nvPr/>
        </p:nvSpPr>
        <p:spPr>
          <a:xfrm>
            <a:off x="2080678" y="168701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MPPT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79C8AD-CBEA-9A91-E158-EACFA57E4601}"/>
              </a:ext>
            </a:extLst>
          </p:cNvPr>
          <p:cNvSpPr txBox="1"/>
          <p:nvPr/>
        </p:nvSpPr>
        <p:spPr>
          <a:xfrm>
            <a:off x="4582537" y="2056351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26504E-E39A-2860-DB4E-E81C9AD9B988}"/>
              </a:ext>
            </a:extLst>
          </p:cNvPr>
          <p:cNvSpPr txBox="1"/>
          <p:nvPr/>
        </p:nvSpPr>
        <p:spPr>
          <a:xfrm>
            <a:off x="6734124" y="1100496"/>
            <a:ext cx="164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 directional converter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C68D2B-4FBE-D32B-3A0D-67D03A0B9985}"/>
              </a:ext>
            </a:extLst>
          </p:cNvPr>
          <p:cNvSpPr txBox="1"/>
          <p:nvPr/>
        </p:nvSpPr>
        <p:spPr>
          <a:xfrm>
            <a:off x="10339110" y="1182155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5A945D-D3BE-FEF7-03D7-C67A6B941D17}"/>
              </a:ext>
            </a:extLst>
          </p:cNvPr>
          <p:cNvSpPr txBox="1"/>
          <p:nvPr/>
        </p:nvSpPr>
        <p:spPr>
          <a:xfrm>
            <a:off x="1035698" y="6169580"/>
            <a:ext cx="147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Swapping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736A9-64CE-F745-167B-8BE03206282D}"/>
              </a:ext>
            </a:extLst>
          </p:cNvPr>
          <p:cNvSpPr txBox="1"/>
          <p:nvPr/>
        </p:nvSpPr>
        <p:spPr>
          <a:xfrm>
            <a:off x="4108400" y="6132884"/>
            <a:ext cx="147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Fast Charging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8A2863-DC45-60DF-EDAC-AAA422F086AD}"/>
              </a:ext>
            </a:extLst>
          </p:cNvPr>
          <p:cNvSpPr txBox="1"/>
          <p:nvPr/>
        </p:nvSpPr>
        <p:spPr>
          <a:xfrm>
            <a:off x="8937648" y="6134987"/>
            <a:ext cx="208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 Interface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061994-B443-340D-80A2-3F81634E8AC5}"/>
              </a:ext>
            </a:extLst>
          </p:cNvPr>
          <p:cNvSpPr txBox="1"/>
          <p:nvPr/>
        </p:nvSpPr>
        <p:spPr>
          <a:xfrm>
            <a:off x="3350845" y="3812453"/>
            <a:ext cx="1478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 – Boost converter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1EB37A30-7752-DEC5-E7E5-59399A31BAEA}"/>
              </a:ext>
            </a:extLst>
          </p:cNvPr>
          <p:cNvSpPr/>
          <p:nvPr/>
        </p:nvSpPr>
        <p:spPr>
          <a:xfrm>
            <a:off x="1544269" y="1277010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67CB3B4-D02C-730A-92F3-22C514EB5235}"/>
              </a:ext>
            </a:extLst>
          </p:cNvPr>
          <p:cNvSpPr/>
          <p:nvPr/>
        </p:nvSpPr>
        <p:spPr>
          <a:xfrm>
            <a:off x="3176270" y="1265704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AB1D696E-DFE6-4518-04D2-93B756B84D01}"/>
              </a:ext>
            </a:extLst>
          </p:cNvPr>
          <p:cNvSpPr/>
          <p:nvPr/>
        </p:nvSpPr>
        <p:spPr>
          <a:xfrm>
            <a:off x="6218435" y="883908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7864166-20CC-2B5C-E2DE-25B29E8B540E}"/>
              </a:ext>
            </a:extLst>
          </p:cNvPr>
          <p:cNvSpPr/>
          <p:nvPr/>
        </p:nvSpPr>
        <p:spPr>
          <a:xfrm>
            <a:off x="8542215" y="1265704"/>
            <a:ext cx="903503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D636E99B-FF50-8804-1D4D-05F8E729A8E1}"/>
              </a:ext>
            </a:extLst>
          </p:cNvPr>
          <p:cNvSpPr/>
          <p:nvPr/>
        </p:nvSpPr>
        <p:spPr>
          <a:xfrm rot="10800000">
            <a:off x="8536219" y="1062690"/>
            <a:ext cx="903503" cy="848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4C45763-C240-87F9-3D26-349BF2DF6A8D}"/>
              </a:ext>
            </a:extLst>
          </p:cNvPr>
          <p:cNvSpPr/>
          <p:nvPr/>
        </p:nvSpPr>
        <p:spPr>
          <a:xfrm rot="5400000">
            <a:off x="9211318" y="4936798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2BB23D4-9143-31FE-9CDE-8FB872B66184}"/>
              </a:ext>
            </a:extLst>
          </p:cNvPr>
          <p:cNvSpPr/>
          <p:nvPr/>
        </p:nvSpPr>
        <p:spPr>
          <a:xfrm rot="5400000">
            <a:off x="3828657" y="2387023"/>
            <a:ext cx="858900" cy="67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6C609F7-3737-DC89-A700-79F09D45C6AD}"/>
              </a:ext>
            </a:extLst>
          </p:cNvPr>
          <p:cNvSpPr/>
          <p:nvPr/>
        </p:nvSpPr>
        <p:spPr>
          <a:xfrm rot="10800000">
            <a:off x="3056570" y="3352547"/>
            <a:ext cx="456807" cy="898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FE8FF38-DE27-5B6D-BED1-F6C88FD5344B}"/>
              </a:ext>
            </a:extLst>
          </p:cNvPr>
          <p:cNvSpPr/>
          <p:nvPr/>
        </p:nvSpPr>
        <p:spPr>
          <a:xfrm rot="5400000">
            <a:off x="4225957" y="3263667"/>
            <a:ext cx="2512489" cy="97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Wi-Fi with solid fill">
            <a:extLst>
              <a:ext uri="{FF2B5EF4-FFF2-40B4-BE49-F238E27FC236}">
                <a16:creationId xmlns:a16="http://schemas.microsoft.com/office/drawing/2014/main" id="{052A63D8-C1B5-B968-C4D7-009A607848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2660" y="2024093"/>
            <a:ext cx="369332" cy="369332"/>
          </a:xfrm>
          <a:prstGeom prst="rect">
            <a:avLst/>
          </a:prstGeom>
        </p:spPr>
      </p:pic>
      <p:pic>
        <p:nvPicPr>
          <p:cNvPr id="32" name="Graphic 31" descr="Wi-Fi with solid fill">
            <a:extLst>
              <a:ext uri="{FF2B5EF4-FFF2-40B4-BE49-F238E27FC236}">
                <a16:creationId xmlns:a16="http://schemas.microsoft.com/office/drawing/2014/main" id="{8DB07203-A62A-86E6-AD9B-5B767EAA01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09575" y="1685091"/>
            <a:ext cx="369332" cy="369332"/>
          </a:xfrm>
          <a:prstGeom prst="rect">
            <a:avLst/>
          </a:prstGeom>
        </p:spPr>
      </p:pic>
      <p:pic>
        <p:nvPicPr>
          <p:cNvPr id="33" name="Graphic 32" descr="Wi-Fi with solid fill">
            <a:extLst>
              <a:ext uri="{FF2B5EF4-FFF2-40B4-BE49-F238E27FC236}">
                <a16:creationId xmlns:a16="http://schemas.microsoft.com/office/drawing/2014/main" id="{C6145898-0866-9B6D-7599-8D2EB8D8CE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69778" y="544295"/>
            <a:ext cx="369332" cy="369332"/>
          </a:xfrm>
          <a:prstGeom prst="rect">
            <a:avLst/>
          </a:prstGeom>
        </p:spPr>
      </p:pic>
      <p:pic>
        <p:nvPicPr>
          <p:cNvPr id="34" name="Graphic 33" descr="Wi-Fi with solid fill">
            <a:extLst>
              <a:ext uri="{FF2B5EF4-FFF2-40B4-BE49-F238E27FC236}">
                <a16:creationId xmlns:a16="http://schemas.microsoft.com/office/drawing/2014/main" id="{AE09660B-2920-3B38-5A5A-96CB82E6E6D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27680" y="2411070"/>
            <a:ext cx="369332" cy="3693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EA9BD2-5A10-17D9-B6A8-800FCAC93C78}"/>
              </a:ext>
            </a:extLst>
          </p:cNvPr>
          <p:cNvSpPr txBox="1"/>
          <p:nvPr/>
        </p:nvSpPr>
        <p:spPr>
          <a:xfrm>
            <a:off x="8860449" y="96306"/>
            <a:ext cx="3203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</a:rPr>
              <a:t>Proposed Methodology</a:t>
            </a:r>
          </a:p>
        </p:txBody>
      </p:sp>
    </p:spTree>
    <p:extLst>
      <p:ext uri="{BB962C8B-B14F-4D97-AF65-F5344CB8AC3E}">
        <p14:creationId xmlns:p14="http://schemas.microsoft.com/office/powerpoint/2010/main" val="2672581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B516-F818-CDE4-855F-234D33FF3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55" y="1623527"/>
            <a:ext cx="5924938" cy="395320"/>
          </a:xfrm>
        </p:spPr>
        <p:txBody>
          <a:bodyPr>
            <a:noAutofit/>
          </a:bodyPr>
          <a:lstStyle/>
          <a:p>
            <a:pPr algn="ctr"/>
            <a:r>
              <a:rPr lang="en-US" sz="1400" b="1" dirty="0"/>
              <a:t>User Interface Application Layer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E98B3-3A70-D290-CB82-57B0CA8D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8FFDC-2C2F-F265-A86F-E70C1F186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9567-80D9-9909-47BD-426BBBF4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6</a:t>
            </a:fld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861328-839A-07D2-AA86-F6CDE426E1C2}"/>
              </a:ext>
            </a:extLst>
          </p:cNvPr>
          <p:cNvSpPr/>
          <p:nvPr/>
        </p:nvSpPr>
        <p:spPr>
          <a:xfrm>
            <a:off x="615820" y="1623528"/>
            <a:ext cx="5691674" cy="191277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C159BCA-0E5A-74A4-9D2B-C2F0C1420C9C}"/>
              </a:ext>
            </a:extLst>
          </p:cNvPr>
          <p:cNvSpPr txBox="1">
            <a:spLocks/>
          </p:cNvSpPr>
          <p:nvPr/>
        </p:nvSpPr>
        <p:spPr>
          <a:xfrm>
            <a:off x="382555" y="205299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Cloud Server Layer                                Data storage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2F247DA0-51E8-5EE4-2110-F5BDF86BEA9F}"/>
              </a:ext>
            </a:extLst>
          </p:cNvPr>
          <p:cNvSpPr txBox="1">
            <a:spLocks/>
          </p:cNvSpPr>
          <p:nvPr/>
        </p:nvSpPr>
        <p:spPr>
          <a:xfrm>
            <a:off x="475861" y="3140983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Sensor Layer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45A69AC-0424-B273-F1AE-E255E945B06D}"/>
              </a:ext>
            </a:extLst>
          </p:cNvPr>
          <p:cNvSpPr txBox="1">
            <a:spLocks/>
          </p:cNvSpPr>
          <p:nvPr/>
        </p:nvSpPr>
        <p:spPr>
          <a:xfrm>
            <a:off x="382555" y="2405695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Communication Layer   IoT Gateway Layer      Processing Layer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0DA6EB9-8CE1-3277-F437-C17B16883838}"/>
              </a:ext>
            </a:extLst>
          </p:cNvPr>
          <p:cNvSpPr txBox="1">
            <a:spLocks/>
          </p:cNvSpPr>
          <p:nvPr/>
        </p:nvSpPr>
        <p:spPr>
          <a:xfrm>
            <a:off x="475861" y="2742627"/>
            <a:ext cx="5924938" cy="395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 b="1" dirty="0"/>
              <a:t>Microcontroller Layer  BMS Layer   Data Acquisition Layer   Processing Unit Layer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37EDC0-7686-965A-4F5C-9D4F35C2A25E}"/>
              </a:ext>
            </a:extLst>
          </p:cNvPr>
          <p:cNvCxnSpPr/>
          <p:nvPr/>
        </p:nvCxnSpPr>
        <p:spPr>
          <a:xfrm>
            <a:off x="615820" y="2018847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AFD2D2F-3C02-813F-33C1-EA7C7F038144}"/>
              </a:ext>
            </a:extLst>
          </p:cNvPr>
          <p:cNvCxnSpPr/>
          <p:nvPr/>
        </p:nvCxnSpPr>
        <p:spPr>
          <a:xfrm>
            <a:off x="615819" y="2405695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032CE54-46CB-7108-B005-6CB7A7A761A8}"/>
              </a:ext>
            </a:extLst>
          </p:cNvPr>
          <p:cNvCxnSpPr/>
          <p:nvPr/>
        </p:nvCxnSpPr>
        <p:spPr>
          <a:xfrm>
            <a:off x="615819" y="2791111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2EBB10-913A-0C00-1BA9-8CAFFD6AB2CC}"/>
              </a:ext>
            </a:extLst>
          </p:cNvPr>
          <p:cNvCxnSpPr/>
          <p:nvPr/>
        </p:nvCxnSpPr>
        <p:spPr>
          <a:xfrm>
            <a:off x="615819" y="3190724"/>
            <a:ext cx="5691673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6B5B509-E325-41F7-A69E-41C4680C768B}"/>
              </a:ext>
            </a:extLst>
          </p:cNvPr>
          <p:cNvCxnSpPr/>
          <p:nvPr/>
        </p:nvCxnSpPr>
        <p:spPr>
          <a:xfrm>
            <a:off x="3581400" y="201884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65AC96B-ECCA-58AC-31E9-98DB5E53F1D6}"/>
              </a:ext>
            </a:extLst>
          </p:cNvPr>
          <p:cNvCxnSpPr/>
          <p:nvPr/>
        </p:nvCxnSpPr>
        <p:spPr>
          <a:xfrm>
            <a:off x="4256314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8BB796-81FE-68A5-8E72-43FA6CE2E548}"/>
              </a:ext>
            </a:extLst>
          </p:cNvPr>
          <p:cNvCxnSpPr/>
          <p:nvPr/>
        </p:nvCxnSpPr>
        <p:spPr>
          <a:xfrm>
            <a:off x="2785188" y="2414167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C9FDE99-1D13-F0BA-C2B1-6A6C47792384}"/>
              </a:ext>
            </a:extLst>
          </p:cNvPr>
          <p:cNvCxnSpPr/>
          <p:nvPr/>
        </p:nvCxnSpPr>
        <p:spPr>
          <a:xfrm>
            <a:off x="4688632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9A32DCF-99A6-2CE7-3BA7-BAB0A78AC74C}"/>
              </a:ext>
            </a:extLst>
          </p:cNvPr>
          <p:cNvCxnSpPr/>
          <p:nvPr/>
        </p:nvCxnSpPr>
        <p:spPr>
          <a:xfrm>
            <a:off x="3021563" y="2801015"/>
            <a:ext cx="0" cy="38684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F7C209D-8B14-B7A4-634A-CFA51C8D6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31727"/>
              </p:ext>
            </p:extLst>
          </p:nvPr>
        </p:nvGraphicFramePr>
        <p:xfrm>
          <a:off x="7635549" y="1117832"/>
          <a:ext cx="1628195" cy="29710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8195">
                  <a:extLst>
                    <a:ext uri="{9D8B030D-6E8A-4147-A177-3AD203B41FA5}">
                      <a16:colId xmlns:a16="http://schemas.microsoft.com/office/drawing/2014/main" val="1882114574"/>
                    </a:ext>
                  </a:extLst>
                </a:gridCol>
              </a:tblGrid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Application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4929084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Presentation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3261004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Session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09849792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Transport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68042238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Network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07641867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>
                          <a:effectLst/>
                        </a:rPr>
                        <a:t>Data Link Layer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49658639"/>
                  </a:ext>
                </a:extLst>
              </a:tr>
              <a:tr h="42443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dirty="0">
                          <a:effectLst/>
                        </a:rPr>
                        <a:t>Physical Layer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3103966"/>
                  </a:ext>
                </a:extLst>
              </a:tr>
            </a:tbl>
          </a:graphicData>
        </a:graphic>
      </p:graphicFrame>
      <p:sp>
        <p:nvSpPr>
          <p:cNvPr id="36" name="Arrow: Right 35">
            <a:extLst>
              <a:ext uri="{FF2B5EF4-FFF2-40B4-BE49-F238E27FC236}">
                <a16:creationId xmlns:a16="http://schemas.microsoft.com/office/drawing/2014/main" id="{94496337-80A9-DD11-B438-1F4999A8FCF5}"/>
              </a:ext>
            </a:extLst>
          </p:cNvPr>
          <p:cNvSpPr/>
          <p:nvPr/>
        </p:nvSpPr>
        <p:spPr>
          <a:xfrm rot="969476">
            <a:off x="6279989" y="361188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7F784C59-3EB7-2D11-95D6-1B6ABB6C32CF}"/>
              </a:ext>
            </a:extLst>
          </p:cNvPr>
          <p:cNvSpPr/>
          <p:nvPr/>
        </p:nvSpPr>
        <p:spPr>
          <a:xfrm rot="969476">
            <a:off x="6279989" y="3155157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3967172-1196-2CD8-C249-FD61778D57BA}"/>
              </a:ext>
            </a:extLst>
          </p:cNvPr>
          <p:cNvSpPr/>
          <p:nvPr/>
        </p:nvSpPr>
        <p:spPr>
          <a:xfrm rot="1087759">
            <a:off x="6292524" y="2728690"/>
            <a:ext cx="1400943" cy="1273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3FBF87F-E8AA-51FC-A0D5-BFF252C43F57}"/>
              </a:ext>
            </a:extLst>
          </p:cNvPr>
          <p:cNvSpPr/>
          <p:nvPr/>
        </p:nvSpPr>
        <p:spPr>
          <a:xfrm>
            <a:off x="6317704" y="2143436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744A00F-4D9E-8EF0-D798-835BB5429BE7}"/>
              </a:ext>
            </a:extLst>
          </p:cNvPr>
          <p:cNvSpPr/>
          <p:nvPr/>
        </p:nvSpPr>
        <p:spPr>
          <a:xfrm rot="21313321">
            <a:off x="6325298" y="1754341"/>
            <a:ext cx="1335394" cy="1472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1D9221D2-E741-8C33-BC74-DFA6582B7CB4}"/>
              </a:ext>
            </a:extLst>
          </p:cNvPr>
          <p:cNvSpPr/>
          <p:nvPr/>
        </p:nvSpPr>
        <p:spPr>
          <a:xfrm>
            <a:off x="9263744" y="1262929"/>
            <a:ext cx="874526" cy="1180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Ui Ux with solid fill">
            <a:extLst>
              <a:ext uri="{FF2B5EF4-FFF2-40B4-BE49-F238E27FC236}">
                <a16:creationId xmlns:a16="http://schemas.microsoft.com/office/drawing/2014/main" id="{CE9B2F2D-F78F-DE4F-3DAC-B68A6DC95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2148" y="864730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D54EEF6-573C-5AA9-1A7C-6109FDA7D9BE}"/>
              </a:ext>
            </a:extLst>
          </p:cNvPr>
          <p:cNvSpPr txBox="1"/>
          <p:nvPr/>
        </p:nvSpPr>
        <p:spPr>
          <a:xfrm>
            <a:off x="138403" y="4561"/>
            <a:ext cx="11954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IOT Architecture for Battery charging management</a:t>
            </a:r>
          </a:p>
        </p:txBody>
      </p:sp>
    </p:spTree>
    <p:extLst>
      <p:ext uri="{BB962C8B-B14F-4D97-AF65-F5344CB8AC3E}">
        <p14:creationId xmlns:p14="http://schemas.microsoft.com/office/powerpoint/2010/main" val="338959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0D5A-0899-2C6A-E146-79066CE80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90535-F57E-BA86-E80F-C75BBF47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84B04-A69E-E301-41AF-1CA3F609A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42E32-A080-5AFC-7445-647CBB39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7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34A9C-E6E9-FC91-577A-CCAC586AA458}"/>
              </a:ext>
            </a:extLst>
          </p:cNvPr>
          <p:cNvSpPr txBox="1"/>
          <p:nvPr/>
        </p:nvSpPr>
        <p:spPr>
          <a:xfrm>
            <a:off x="251926" y="136525"/>
            <a:ext cx="9405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Designed Proposed Simulation Model in MATAB Simulation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C6948C-5D47-A73B-2CD9-30FE16D1E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1271"/>
            <a:ext cx="12192000" cy="48554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D4BBEF-2B47-1841-34E5-489ABEF21554}"/>
              </a:ext>
            </a:extLst>
          </p:cNvPr>
          <p:cNvSpPr txBox="1"/>
          <p:nvPr/>
        </p:nvSpPr>
        <p:spPr>
          <a:xfrm>
            <a:off x="523664" y="1288539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Solar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D5967B-8D0A-EB09-EC35-6A6392DAADFB}"/>
              </a:ext>
            </a:extLst>
          </p:cNvPr>
          <p:cNvSpPr txBox="1"/>
          <p:nvPr/>
        </p:nvSpPr>
        <p:spPr>
          <a:xfrm>
            <a:off x="7081935" y="4980352"/>
            <a:ext cx="1235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Fast Charging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ACF1F-EB50-9D44-4CC0-2A831BB3082A}"/>
              </a:ext>
            </a:extLst>
          </p:cNvPr>
          <p:cNvSpPr txBox="1"/>
          <p:nvPr/>
        </p:nvSpPr>
        <p:spPr>
          <a:xfrm>
            <a:off x="4626023" y="498035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ESS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775894-4F26-E6CF-7BB1-95BD245EEC64}"/>
              </a:ext>
            </a:extLst>
          </p:cNvPr>
          <p:cNvSpPr txBox="1"/>
          <p:nvPr/>
        </p:nvSpPr>
        <p:spPr>
          <a:xfrm>
            <a:off x="4694448" y="1808422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PCC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C0B0DE-6BF7-EF95-8EDC-F611C78B66FE}"/>
              </a:ext>
            </a:extLst>
          </p:cNvPr>
          <p:cNvSpPr txBox="1"/>
          <p:nvPr/>
        </p:nvSpPr>
        <p:spPr>
          <a:xfrm>
            <a:off x="2262708" y="1368906"/>
            <a:ext cx="1168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Converter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B749F-8EEE-B3EE-D440-DB5F8B7F9FDB}"/>
              </a:ext>
            </a:extLst>
          </p:cNvPr>
          <p:cNvSpPr txBox="1"/>
          <p:nvPr/>
        </p:nvSpPr>
        <p:spPr>
          <a:xfrm>
            <a:off x="-17512" y="5836589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Central Monitoring System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F27FA2-95D4-B9B6-C671-08CB65892A40}"/>
              </a:ext>
            </a:extLst>
          </p:cNvPr>
          <p:cNvSpPr txBox="1"/>
          <p:nvPr/>
        </p:nvSpPr>
        <p:spPr>
          <a:xfrm>
            <a:off x="565652" y="2947407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G</a:t>
            </a:r>
            <a:r>
              <a:rPr lang="en-US" b="1" dirty="0">
                <a:highlight>
                  <a:srgbClr val="FFFF00"/>
                </a:highlight>
              </a:rPr>
              <a:t>rid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9863D0-EE67-F647-12DF-F401AB32B06E}"/>
              </a:ext>
            </a:extLst>
          </p:cNvPr>
          <p:cNvSpPr txBox="1"/>
          <p:nvPr/>
        </p:nvSpPr>
        <p:spPr>
          <a:xfrm>
            <a:off x="7457864" y="790034"/>
            <a:ext cx="2066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Swapping Station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6FF5DD-24BA-9957-7805-DD8FDE4801C0}"/>
              </a:ext>
            </a:extLst>
          </p:cNvPr>
          <p:cNvSpPr txBox="1"/>
          <p:nvPr/>
        </p:nvSpPr>
        <p:spPr>
          <a:xfrm>
            <a:off x="10994944" y="1789092"/>
            <a:ext cx="1344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Charging </a:t>
            </a:r>
          </a:p>
          <a:p>
            <a:pPr algn="ctr"/>
            <a:r>
              <a:rPr lang="en-IN" b="1" dirty="0">
                <a:highlight>
                  <a:srgbClr val="FFFF00"/>
                </a:highlight>
              </a:rPr>
              <a:t>Monitoring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51A49F-03ED-2D90-A470-B44ADF77B084}"/>
              </a:ext>
            </a:extLst>
          </p:cNvPr>
          <p:cNvSpPr txBox="1"/>
          <p:nvPr/>
        </p:nvSpPr>
        <p:spPr>
          <a:xfrm>
            <a:off x="9982200" y="2066091"/>
            <a:ext cx="1159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Vehicles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A60A34-C1EF-40B3-8B81-4BE01595BE5D}"/>
              </a:ext>
            </a:extLst>
          </p:cNvPr>
          <p:cNvSpPr txBox="1"/>
          <p:nvPr/>
        </p:nvSpPr>
        <p:spPr>
          <a:xfrm>
            <a:off x="5804790" y="1808422"/>
            <a:ext cx="1344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Divider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F52182-9AB7-0F67-FC74-B081C21205A4}"/>
              </a:ext>
            </a:extLst>
          </p:cNvPr>
          <p:cNvSpPr txBox="1"/>
          <p:nvPr/>
        </p:nvSpPr>
        <p:spPr>
          <a:xfrm>
            <a:off x="8775846" y="2586339"/>
            <a:ext cx="12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Converter</a:t>
            </a: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91814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0E697-F02A-0A45-AFC8-AEC6B316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8D794-25A8-527A-2A76-E36C34B3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14A0F-979E-11C9-F61A-978892BF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C638D-E02C-F266-2FB8-8CFAE791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8</a:t>
            </a:fld>
            <a:endParaRPr lang="en-IN" dirty="0"/>
          </a:p>
        </p:txBody>
      </p:sp>
      <p:pic>
        <p:nvPicPr>
          <p:cNvPr id="17" name="Picture 16" descr="A white door with a clock&#10;&#10;Description automatically generated">
            <a:extLst>
              <a:ext uri="{FF2B5EF4-FFF2-40B4-BE49-F238E27FC236}">
                <a16:creationId xmlns:a16="http://schemas.microsoft.com/office/drawing/2014/main" id="{8C8F4DA5-7AD7-C6ED-1888-3A995492F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40" y="2699607"/>
            <a:ext cx="2819402" cy="1458786"/>
          </a:xfrm>
          <a:prstGeom prst="rect">
            <a:avLst/>
          </a:prstGeom>
        </p:spPr>
      </p:pic>
      <p:pic>
        <p:nvPicPr>
          <p:cNvPr id="29" name="Picture 28" descr="A line of power lines&#10;&#10;Description automatically generated">
            <a:extLst>
              <a:ext uri="{FF2B5EF4-FFF2-40B4-BE49-F238E27FC236}">
                <a16:creationId xmlns:a16="http://schemas.microsoft.com/office/drawing/2014/main" id="{DBE12891-45DC-BB90-F3A8-FD2EFFB51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94" y="4438789"/>
            <a:ext cx="1723872" cy="1723872"/>
          </a:xfrm>
          <a:prstGeom prst="rect">
            <a:avLst/>
          </a:prstGeom>
        </p:spPr>
      </p:pic>
      <p:pic>
        <p:nvPicPr>
          <p:cNvPr id="39" name="Picture 38" descr="A group of solar panels&#10;&#10;Description automatically generated">
            <a:extLst>
              <a:ext uri="{FF2B5EF4-FFF2-40B4-BE49-F238E27FC236}">
                <a16:creationId xmlns:a16="http://schemas.microsoft.com/office/drawing/2014/main" id="{F23A4926-382C-9DED-D8B7-393043B7F9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21" y="617636"/>
            <a:ext cx="2085485" cy="1546712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9DE9823-0308-6FB3-AB2F-E06F4C63D50E}"/>
              </a:ext>
            </a:extLst>
          </p:cNvPr>
          <p:cNvSpPr txBox="1"/>
          <p:nvPr/>
        </p:nvSpPr>
        <p:spPr>
          <a:xfrm>
            <a:off x="3678594" y="239295"/>
            <a:ext cx="4834812" cy="196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dirty="0"/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 Output: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	Measures the voltage generated.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 Output:	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Monitors the current produced.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Generation: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	Calculates power output (P = V × I).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Temperature: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	Assesses panel temperature for efficiency.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Light Intensity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	Measures sunlight exposure.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Detection:</a:t>
            </a:r>
            <a:r>
              <a:rPr lang="en-US" sz="1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	Identifies malfunctions or short circuits.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944D4F-0F44-6A6B-D5CA-5EA22017BF34}"/>
              </a:ext>
            </a:extLst>
          </p:cNvPr>
          <p:cNvSpPr txBox="1"/>
          <p:nvPr/>
        </p:nvSpPr>
        <p:spPr>
          <a:xfrm>
            <a:off x="9746555" y="381015"/>
            <a:ext cx="21799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Voltage	430V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Current	100A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KW/h 43KW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/ Day 1032KW</a:t>
            </a:r>
          </a:p>
          <a:p>
            <a:endParaRPr lang="en-IN" sz="1400" b="1" kern="100" dirty="0">
              <a:solidFill>
                <a:srgbClr val="00206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Generation in day  - 60%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8F97E4-31E6-9F71-21F7-9632BEB8E109}"/>
              </a:ext>
            </a:extLst>
          </p:cNvPr>
          <p:cNvSpPr txBox="1"/>
          <p:nvPr/>
        </p:nvSpPr>
        <p:spPr>
          <a:xfrm>
            <a:off x="3581399" y="2510986"/>
            <a:ext cx="5899695" cy="197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State of Charge (SoC): </a:t>
            </a:r>
            <a:r>
              <a:rPr lang="en-US" sz="1400" dirty="0"/>
              <a:t>	Available battery capacity as a percentage.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Voltage:</a:t>
            </a:r>
            <a:r>
              <a:rPr lang="en-US" sz="1400" dirty="0"/>
              <a:t>		 Voltage of individual cells or overall battery bank.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Current: </a:t>
            </a:r>
            <a:r>
              <a:rPr lang="en-US" sz="1400" dirty="0"/>
              <a:t>		Charging and discharging current measurements.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Temperature: </a:t>
            </a:r>
            <a:r>
              <a:rPr lang="en-US" sz="1400" dirty="0"/>
              <a:t>	Battery temperature for optimal performance.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Charge/Discharge Cycles</a:t>
            </a:r>
            <a:r>
              <a:rPr lang="en-US" sz="1400" dirty="0"/>
              <a:t>: Tracking the number of cycles for lifespan prediction.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Fault Detection:</a:t>
            </a:r>
            <a:r>
              <a:rPr lang="en-US" sz="1400" dirty="0"/>
              <a:t>	Identifying issues like short circuits or imbalances.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B02764-9D26-AA50-1A6A-B9D5C7C37D2C}"/>
              </a:ext>
            </a:extLst>
          </p:cNvPr>
          <p:cNvSpPr txBox="1"/>
          <p:nvPr/>
        </p:nvSpPr>
        <p:spPr>
          <a:xfrm>
            <a:off x="9867853" y="2676184"/>
            <a:ext cx="2204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	  480 V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	  50 A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KW/h 24 KW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/ Day 576 KW</a:t>
            </a:r>
          </a:p>
          <a:p>
            <a:endParaRPr lang="en-IN" sz="1400" b="1" kern="100" dirty="0">
              <a:solidFill>
                <a:srgbClr val="00206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Generation in day  - 30%</a:t>
            </a:r>
            <a:endParaRPr lang="en-IN" sz="1400" b="1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5C86D1-DA04-B4AA-6EC4-81589D360F63}"/>
              </a:ext>
            </a:extLst>
          </p:cNvPr>
          <p:cNvSpPr txBox="1"/>
          <p:nvPr/>
        </p:nvSpPr>
        <p:spPr>
          <a:xfrm>
            <a:off x="3581399" y="4679066"/>
            <a:ext cx="6120519" cy="1311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Voltage:</a:t>
            </a:r>
            <a:r>
              <a:rPr lang="en-US" sz="1400" dirty="0"/>
              <a:t>		 Voltage of individual cells or overall battery bank.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Current: </a:t>
            </a:r>
            <a:r>
              <a:rPr lang="en-US" sz="1400" dirty="0"/>
              <a:t>		Charging and discharging current measurements.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Converter:		AC – DC – DC – DC – DC – AC  - Bidirectional converter</a:t>
            </a:r>
          </a:p>
          <a:p>
            <a:pPr marL="0" marR="0">
              <a:lnSpc>
                <a:spcPct val="107000"/>
              </a:lnSpc>
              <a:spcAft>
                <a:spcPts val="800"/>
              </a:spcAft>
            </a:pPr>
            <a:r>
              <a:rPr lang="en-US" sz="1400" b="1" dirty="0"/>
              <a:t>Fault Detection:</a:t>
            </a:r>
            <a:r>
              <a:rPr lang="en-US" sz="1400" dirty="0"/>
              <a:t>	Harmonics or any Faults.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D9B764-60C3-9282-8385-79FE0F93AB81}"/>
              </a:ext>
            </a:extLst>
          </p:cNvPr>
          <p:cNvSpPr txBox="1"/>
          <p:nvPr/>
        </p:nvSpPr>
        <p:spPr>
          <a:xfrm>
            <a:off x="9867853" y="4654509"/>
            <a:ext cx="22044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kern="100" dirty="0">
                <a:solidFill>
                  <a:srgbClr val="00206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	  435 V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	  20 A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KW/h 9KW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 / Day  209 KW</a:t>
            </a:r>
          </a:p>
          <a:p>
            <a:endParaRPr lang="en-IN" sz="1400" b="1" kern="100" dirty="0">
              <a:solidFill>
                <a:srgbClr val="002060"/>
              </a:solidFill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Generation in day  - 10%</a:t>
            </a:r>
            <a:endParaRPr lang="en-IN" sz="1400" b="1" kern="100" dirty="0">
              <a:solidFill>
                <a:srgbClr val="00206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0C58BBF-709E-9A63-F1F9-B2B9A2F67B87}"/>
              </a:ext>
            </a:extLst>
          </p:cNvPr>
          <p:cNvCxnSpPr>
            <a:cxnSpLocks/>
          </p:cNvCxnSpPr>
          <p:nvPr/>
        </p:nvCxnSpPr>
        <p:spPr>
          <a:xfrm flipV="1">
            <a:off x="363894" y="6162661"/>
            <a:ext cx="8149512" cy="36554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AA5EB5B-32AD-B078-930E-C1993F9507E7}"/>
              </a:ext>
            </a:extLst>
          </p:cNvPr>
          <p:cNvCxnSpPr>
            <a:cxnSpLocks/>
          </p:cNvCxnSpPr>
          <p:nvPr/>
        </p:nvCxnSpPr>
        <p:spPr>
          <a:xfrm flipV="1">
            <a:off x="363894" y="4549446"/>
            <a:ext cx="10263673" cy="33567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5ECD308-1395-879B-F23D-66CF4D4FE346}"/>
              </a:ext>
            </a:extLst>
          </p:cNvPr>
          <p:cNvCxnSpPr>
            <a:cxnSpLocks/>
          </p:cNvCxnSpPr>
          <p:nvPr/>
        </p:nvCxnSpPr>
        <p:spPr>
          <a:xfrm flipV="1">
            <a:off x="516294" y="2364128"/>
            <a:ext cx="10008637" cy="34602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BCF13EA-7A17-06C8-1D4B-91257CD5B332}"/>
              </a:ext>
            </a:extLst>
          </p:cNvPr>
          <p:cNvCxnSpPr/>
          <p:nvPr/>
        </p:nvCxnSpPr>
        <p:spPr>
          <a:xfrm>
            <a:off x="9607420" y="434975"/>
            <a:ext cx="0" cy="1726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29D7923-A91E-72E5-FDB1-6C3CE113F97D}"/>
              </a:ext>
            </a:extLst>
          </p:cNvPr>
          <p:cNvCxnSpPr>
            <a:cxnSpLocks/>
          </p:cNvCxnSpPr>
          <p:nvPr/>
        </p:nvCxnSpPr>
        <p:spPr>
          <a:xfrm>
            <a:off x="9692587" y="4758425"/>
            <a:ext cx="0" cy="159792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343D8692-D48E-CA9A-AAA5-79E4746651C4}"/>
              </a:ext>
            </a:extLst>
          </p:cNvPr>
          <p:cNvCxnSpPr/>
          <p:nvPr/>
        </p:nvCxnSpPr>
        <p:spPr>
          <a:xfrm>
            <a:off x="9607420" y="2510986"/>
            <a:ext cx="0" cy="17265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46FBFB2-958B-F772-1D92-D774928095D3}"/>
              </a:ext>
            </a:extLst>
          </p:cNvPr>
          <p:cNvSpPr txBox="1"/>
          <p:nvPr/>
        </p:nvSpPr>
        <p:spPr>
          <a:xfrm>
            <a:off x="87499" y="-88245"/>
            <a:ext cx="9405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Integrated Power Sources – IOT Based Monitoring Parameters</a:t>
            </a:r>
            <a:endParaRPr lang="en-US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112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82848-7CC2-FBBF-851C-68A17CAA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A0D8A-620A-14FB-E3B9-A09DCFA9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564AB-BB0A-247D-FAEC-78794CC1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131B8-329D-89CB-8766-34FD921B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AAE2EF-C1C8-9718-87C2-894560BFE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59829"/>
            <a:ext cx="12036903" cy="4313362"/>
          </a:xfrm>
          <a:prstGeom prst="rect">
            <a:avLst/>
          </a:prstGeom>
        </p:spPr>
      </p:pic>
      <p:pic>
        <p:nvPicPr>
          <p:cNvPr id="33" name="Picture 32" descr="A diagram of a power plant&#10;&#10;Description automatically generated">
            <a:extLst>
              <a:ext uri="{FF2B5EF4-FFF2-40B4-BE49-F238E27FC236}">
                <a16:creationId xmlns:a16="http://schemas.microsoft.com/office/drawing/2014/main" id="{4633E18B-06BE-3AA2-1DCE-05A20B93E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3384" y="538149"/>
            <a:ext cx="2492558" cy="17485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D7B15D-BEB6-1B97-16D6-A87333274252}"/>
              </a:ext>
            </a:extLst>
          </p:cNvPr>
          <p:cNvSpPr txBox="1"/>
          <p:nvPr/>
        </p:nvSpPr>
        <p:spPr>
          <a:xfrm>
            <a:off x="87498" y="0"/>
            <a:ext cx="12126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Integrated PCC – Point of common coupling – Fully Automated &amp; Logically connected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5592B9-6E9E-8802-44B8-3947D485B909}"/>
              </a:ext>
            </a:extLst>
          </p:cNvPr>
          <p:cNvSpPr txBox="1"/>
          <p:nvPr/>
        </p:nvSpPr>
        <p:spPr>
          <a:xfrm>
            <a:off x="9071409" y="4971355"/>
            <a:ext cx="261650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Output of PCC </a:t>
            </a:r>
          </a:p>
          <a:p>
            <a:endParaRPr lang="en-IN" sz="1400" b="1" kern="100" dirty="0">
              <a:solidFill>
                <a:srgbClr val="00206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Voltage	      430 V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Current	      80   A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KW/h    75  KW</a:t>
            </a:r>
          </a:p>
          <a:p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Power / Day     1800 KW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EE3EBB-DC33-EFEE-6771-F7AB042B5FC5}"/>
              </a:ext>
            </a:extLst>
          </p:cNvPr>
          <p:cNvSpPr txBox="1"/>
          <p:nvPr/>
        </p:nvSpPr>
        <p:spPr>
          <a:xfrm>
            <a:off x="504084" y="4440468"/>
            <a:ext cx="7649316" cy="16927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Conditions </a:t>
            </a:r>
          </a:p>
          <a:p>
            <a:endParaRPr lang="en-IN" b="1" kern="100" dirty="0">
              <a:solidFill>
                <a:srgbClr val="002060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Solar – ON	-- ESS charge 	Grid OFF  --      ESS &gt;80% ESS </a:t>
            </a:r>
            <a:r>
              <a:rPr lang="en-IN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Grid</a:t>
            </a:r>
          </a:p>
          <a:p>
            <a:pPr marL="342900" indent="-342900">
              <a:buAutoNum type="arabicPeriod"/>
            </a:pPr>
            <a:r>
              <a:rPr lang="en-IN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Solar – OFF	-- ESS ON	Grid OFF	</a:t>
            </a:r>
          </a:p>
          <a:p>
            <a:pPr marL="342900" indent="-342900">
              <a:buAutoNum type="arabicPeriod"/>
            </a:pPr>
            <a:r>
              <a:rPr lang="en-IN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Solar – OFF	-- ESS &lt;20%	Grid ON	           ESS charge</a:t>
            </a:r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			</a:t>
            </a:r>
            <a:r>
              <a:rPr lang="en-IN" sz="1400" b="1" kern="100" dirty="0">
                <a:solidFill>
                  <a:srgbClr val="00206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566258-B71A-12DA-CF0B-63D0EA9C65CB}"/>
              </a:ext>
            </a:extLst>
          </p:cNvPr>
          <p:cNvSpPr txBox="1"/>
          <p:nvPr/>
        </p:nvSpPr>
        <p:spPr>
          <a:xfrm>
            <a:off x="7429871" y="780486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Solar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E3A638-60CD-D4C5-65D1-B2ED2920ECB2}"/>
              </a:ext>
            </a:extLst>
          </p:cNvPr>
          <p:cNvSpPr txBox="1"/>
          <p:nvPr/>
        </p:nvSpPr>
        <p:spPr>
          <a:xfrm>
            <a:off x="7014659" y="2325498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ESS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A409F-73CB-E76A-8C79-68C300FD67DD}"/>
              </a:ext>
            </a:extLst>
          </p:cNvPr>
          <p:cNvSpPr txBox="1"/>
          <p:nvPr/>
        </p:nvSpPr>
        <p:spPr>
          <a:xfrm>
            <a:off x="7097081" y="3382983"/>
            <a:ext cx="830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G</a:t>
            </a:r>
            <a:r>
              <a:rPr lang="en-US" b="1" dirty="0">
                <a:highlight>
                  <a:srgbClr val="FFFF00"/>
                </a:highlight>
              </a:rPr>
              <a:t>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DC2BE4-40C7-02C4-62E7-7DCD23A0DCEF}"/>
              </a:ext>
            </a:extLst>
          </p:cNvPr>
          <p:cNvSpPr txBox="1"/>
          <p:nvPr/>
        </p:nvSpPr>
        <p:spPr>
          <a:xfrm>
            <a:off x="11192475" y="2604359"/>
            <a:ext cx="979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PCC</a:t>
            </a:r>
          </a:p>
          <a:p>
            <a:pPr algn="ctr"/>
            <a:r>
              <a:rPr lang="en-IN" b="1" dirty="0">
                <a:highlight>
                  <a:srgbClr val="FFFF00"/>
                </a:highlight>
              </a:rPr>
              <a:t>Output</a:t>
            </a:r>
            <a:endParaRPr lang="en-US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218F9D-E5D9-AA70-51A6-48E69D20E479}"/>
              </a:ext>
            </a:extLst>
          </p:cNvPr>
          <p:cNvSpPr txBox="1"/>
          <p:nvPr/>
        </p:nvSpPr>
        <p:spPr>
          <a:xfrm>
            <a:off x="10691533" y="3669104"/>
            <a:ext cx="1607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FFFF00"/>
                </a:highlight>
              </a:rPr>
              <a:t>Power Management</a:t>
            </a: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970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F0E21-9E64-E1B7-71B4-BACCB75E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E13FE-E316-435C-B07E-5DC4E731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CAD33-8705-C398-192B-1F70673A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9A371-6BA7-BE15-B9BE-BF4DB246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10</a:t>
            </a:fld>
            <a:endParaRPr lang="en-IN"/>
          </a:p>
        </p:txBody>
      </p:sp>
      <p:pic>
        <p:nvPicPr>
          <p:cNvPr id="27" name="Picture 26" descr="A grey electric vehicle charging station&#10;&#10;Description automatically generated">
            <a:extLst>
              <a:ext uri="{FF2B5EF4-FFF2-40B4-BE49-F238E27FC236}">
                <a16:creationId xmlns:a16="http://schemas.microsoft.com/office/drawing/2014/main" id="{5EA2FB33-BDAA-0B73-7A60-6131CE505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3" r="22288"/>
          <a:stretch/>
        </p:blipFill>
        <p:spPr>
          <a:xfrm>
            <a:off x="39470" y="2944438"/>
            <a:ext cx="1597460" cy="2509375"/>
          </a:xfrm>
          <a:prstGeom prst="rect">
            <a:avLst/>
          </a:prstGeom>
        </p:spPr>
      </p:pic>
      <p:pic>
        <p:nvPicPr>
          <p:cNvPr id="3" name="Picture 2" descr="A close-up of a charging station&#10;&#10;Description automatically generated">
            <a:extLst>
              <a:ext uri="{FF2B5EF4-FFF2-40B4-BE49-F238E27FC236}">
                <a16:creationId xmlns:a16="http://schemas.microsoft.com/office/drawing/2014/main" id="{66787DB3-E434-5A68-84BA-77742EE714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51" y="3123566"/>
            <a:ext cx="1221307" cy="489227"/>
          </a:xfrm>
          <a:prstGeom prst="rect">
            <a:avLst/>
          </a:prstGeom>
        </p:spPr>
      </p:pic>
      <p:pic>
        <p:nvPicPr>
          <p:cNvPr id="8" name="Picture 7" descr="A row of white electronic devices&#10;&#10;Description automatically generated">
            <a:extLst>
              <a:ext uri="{FF2B5EF4-FFF2-40B4-BE49-F238E27FC236}">
                <a16:creationId xmlns:a16="http://schemas.microsoft.com/office/drawing/2014/main" id="{B66B2A03-EC46-CF5F-C2F6-2F8BDEBE0D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3" y="757400"/>
            <a:ext cx="2912958" cy="1712771"/>
          </a:xfrm>
          <a:prstGeom prst="rect">
            <a:avLst/>
          </a:prstGeom>
        </p:spPr>
      </p:pic>
      <p:pic>
        <p:nvPicPr>
          <p:cNvPr id="14" name="Picture 13" descr="A close-up of a charging station&#10;&#10;Description automatically generated">
            <a:extLst>
              <a:ext uri="{FF2B5EF4-FFF2-40B4-BE49-F238E27FC236}">
                <a16:creationId xmlns:a16="http://schemas.microsoft.com/office/drawing/2014/main" id="{3F97A1B1-BF4B-5D37-7614-28457DA8D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64" y="3716406"/>
            <a:ext cx="1221307" cy="489227"/>
          </a:xfrm>
          <a:prstGeom prst="rect">
            <a:avLst/>
          </a:prstGeom>
        </p:spPr>
      </p:pic>
      <p:pic>
        <p:nvPicPr>
          <p:cNvPr id="15" name="Picture 14" descr="A close-up of a charging station&#10;&#10;Description automatically generated">
            <a:extLst>
              <a:ext uri="{FF2B5EF4-FFF2-40B4-BE49-F238E27FC236}">
                <a16:creationId xmlns:a16="http://schemas.microsoft.com/office/drawing/2014/main" id="{28FF56F2-6519-CBC6-E775-78C74F32CF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50" y="4296230"/>
            <a:ext cx="1221307" cy="489227"/>
          </a:xfrm>
          <a:prstGeom prst="rect">
            <a:avLst/>
          </a:prstGeom>
        </p:spPr>
      </p:pic>
      <p:pic>
        <p:nvPicPr>
          <p:cNvPr id="16" name="Picture 15" descr="A close-up of a charging station&#10;&#10;Description automatically generated">
            <a:extLst>
              <a:ext uri="{FF2B5EF4-FFF2-40B4-BE49-F238E27FC236}">
                <a16:creationId xmlns:a16="http://schemas.microsoft.com/office/drawing/2014/main" id="{09E8EC6B-18C5-13B9-7328-5ABD4A8FC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4763" y="4872954"/>
            <a:ext cx="1221307" cy="48922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29F4E62-92DA-B5AB-E42E-DE614693304A}"/>
              </a:ext>
            </a:extLst>
          </p:cNvPr>
          <p:cNvSpPr txBox="1"/>
          <p:nvPr/>
        </p:nvSpPr>
        <p:spPr>
          <a:xfrm>
            <a:off x="2933837" y="367290"/>
            <a:ext cx="797483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State of Charge (SoC):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Available battery capacity as a percentage.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Voltage: 	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Voltage of individual battery packs.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Current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	        Charging and discharging current measurements.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Battery Temperature:   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Monitors battery temperature for safety.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Swapping Time: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        Measures time taken for each battery swap.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Energy Usage: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        Measures of energy consumed during swaps.</a:t>
            </a:r>
          </a:p>
          <a:p>
            <a:pPr marL="0" marR="0">
              <a:spcAft>
                <a:spcPts val="6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Detection: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         Identifies issues like short circuits.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5A0155-75A8-8E18-A24D-12661CD921AD}"/>
              </a:ext>
            </a:extLst>
          </p:cNvPr>
          <p:cNvSpPr txBox="1"/>
          <p:nvPr/>
        </p:nvSpPr>
        <p:spPr>
          <a:xfrm>
            <a:off x="9625347" y="1429119"/>
            <a:ext cx="2566654" cy="143116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>
              <a:spcAft>
                <a:spcPts val="600"/>
              </a:spcAft>
            </a:pPr>
            <a:r>
              <a:rPr lang="en-IN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Batteries – 30</a:t>
            </a:r>
          </a:p>
          <a:p>
            <a:pPr marL="0" marR="0">
              <a:spcAft>
                <a:spcPts val="600"/>
              </a:spcAft>
            </a:pPr>
            <a:r>
              <a:rPr lang="en-IN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Voltage 	- 12</a:t>
            </a:r>
          </a:p>
          <a:p>
            <a:pPr marL="0" marR="0">
              <a:spcAft>
                <a:spcPts val="600"/>
              </a:spcAft>
            </a:pPr>
            <a:r>
              <a:rPr lang="en-IN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	- 10A</a:t>
            </a:r>
          </a:p>
          <a:p>
            <a:pPr marL="0" marR="0">
              <a:spcAft>
                <a:spcPts val="600"/>
              </a:spcAft>
            </a:pPr>
            <a:r>
              <a:rPr lang="en-IN" kern="100" dirty="0">
                <a:solidFill>
                  <a:srgbClr val="00206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Power/ battery – 0.12kw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8EF28C5-75D8-C3A2-9966-7BA75F6A2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415388"/>
              </p:ext>
            </p:extLst>
          </p:nvPr>
        </p:nvGraphicFramePr>
        <p:xfrm>
          <a:off x="3298623" y="3253943"/>
          <a:ext cx="8698266" cy="1903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6956">
                  <a:extLst>
                    <a:ext uri="{9D8B030D-6E8A-4147-A177-3AD203B41FA5}">
                      <a16:colId xmlns:a16="http://schemas.microsoft.com/office/drawing/2014/main" val="3910007662"/>
                    </a:ext>
                  </a:extLst>
                </a:gridCol>
                <a:gridCol w="868706">
                  <a:extLst>
                    <a:ext uri="{9D8B030D-6E8A-4147-A177-3AD203B41FA5}">
                      <a16:colId xmlns:a16="http://schemas.microsoft.com/office/drawing/2014/main" val="1970377202"/>
                    </a:ext>
                  </a:extLst>
                </a:gridCol>
                <a:gridCol w="812660">
                  <a:extLst>
                    <a:ext uri="{9D8B030D-6E8A-4147-A177-3AD203B41FA5}">
                      <a16:colId xmlns:a16="http://schemas.microsoft.com/office/drawing/2014/main" val="1391981430"/>
                    </a:ext>
                  </a:extLst>
                </a:gridCol>
                <a:gridCol w="1218990">
                  <a:extLst>
                    <a:ext uri="{9D8B030D-6E8A-4147-A177-3AD203B41FA5}">
                      <a16:colId xmlns:a16="http://schemas.microsoft.com/office/drawing/2014/main" val="759936030"/>
                    </a:ext>
                  </a:extLst>
                </a:gridCol>
                <a:gridCol w="868706">
                  <a:extLst>
                    <a:ext uri="{9D8B030D-6E8A-4147-A177-3AD203B41FA5}">
                      <a16:colId xmlns:a16="http://schemas.microsoft.com/office/drawing/2014/main" val="1526608679"/>
                    </a:ext>
                  </a:extLst>
                </a:gridCol>
                <a:gridCol w="882717">
                  <a:extLst>
                    <a:ext uri="{9D8B030D-6E8A-4147-A177-3AD203B41FA5}">
                      <a16:colId xmlns:a16="http://schemas.microsoft.com/office/drawing/2014/main" val="2872351686"/>
                    </a:ext>
                  </a:extLst>
                </a:gridCol>
                <a:gridCol w="1076073">
                  <a:extLst>
                    <a:ext uri="{9D8B030D-6E8A-4147-A177-3AD203B41FA5}">
                      <a16:colId xmlns:a16="http://schemas.microsoft.com/office/drawing/2014/main" val="1991849292"/>
                    </a:ext>
                  </a:extLst>
                </a:gridCol>
                <a:gridCol w="756615">
                  <a:extLst>
                    <a:ext uri="{9D8B030D-6E8A-4147-A177-3AD203B41FA5}">
                      <a16:colId xmlns:a16="http://schemas.microsoft.com/office/drawing/2014/main" val="2328893658"/>
                    </a:ext>
                  </a:extLst>
                </a:gridCol>
                <a:gridCol w="1036843">
                  <a:extLst>
                    <a:ext uri="{9D8B030D-6E8A-4147-A177-3AD203B41FA5}">
                      <a16:colId xmlns:a16="http://schemas.microsoft.com/office/drawing/2014/main" val="1030210425"/>
                    </a:ext>
                  </a:extLst>
                </a:gridCol>
              </a:tblGrid>
              <a:tr h="3392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Cars</a:t>
                      </a:r>
                      <a:endParaRPr lang="en-US" sz="12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Voltage (V)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Power (kW)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u="none" strike="noStrike">
                          <a:effectLst/>
                        </a:rPr>
                        <a:t>Battery Capacity (kWh)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SOC Avaliable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Required Current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Charging Time in hr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Unit charge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Cost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3380484"/>
                  </a:ext>
                </a:extLst>
              </a:tr>
              <a:tr h="38067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1 - Tata Nexon - EV </a:t>
                      </a:r>
                      <a:endParaRPr lang="en-US" sz="10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30.2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75.5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2.47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745.83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03032243"/>
                  </a:ext>
                </a:extLst>
              </a:tr>
              <a:tr h="2482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2- MG ZS EV</a:t>
                      </a:r>
                      <a:endParaRPr lang="en-US" sz="12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44.5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125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1.49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743.75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74148217"/>
                  </a:ext>
                </a:extLst>
              </a:tr>
              <a:tr h="2482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</a:rPr>
                        <a:t>3-Tata Trigo EV</a:t>
                      </a:r>
                      <a:endParaRPr lang="en-US" sz="12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16.8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50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4.40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739.58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03814087"/>
                  </a:ext>
                </a:extLst>
              </a:tr>
              <a:tr h="2482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4- Mahindra eVerito</a:t>
                      </a:r>
                      <a:endParaRPr lang="en-US" sz="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400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60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175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1.07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747.92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55928412"/>
                  </a:ext>
                </a:extLst>
              </a:tr>
              <a:tr h="4386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Total Power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167</a:t>
                      </a:r>
                      <a:endParaRPr lang="en-US" sz="2000" b="1" i="0" u="none" strike="noStrike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Total Time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>
                          <a:effectLst/>
                        </a:rPr>
                        <a:t>9</a:t>
                      </a:r>
                      <a:endParaRPr lang="en-US" sz="2000" b="1" i="0" u="none" strike="noStrike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</a:rPr>
                        <a:t>Total Revenue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u="none" strike="noStrike" dirty="0">
                          <a:effectLst/>
                        </a:rPr>
                        <a:t>2977</a:t>
                      </a:r>
                      <a:endParaRPr lang="en-US" sz="2000" b="1" i="0" u="none" strike="noStrike" dirty="0">
                        <a:solidFill>
                          <a:srgbClr val="FFC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19051987"/>
                  </a:ext>
                </a:extLst>
              </a:tr>
            </a:tbl>
          </a:graphicData>
        </a:graphic>
      </p:graphicFrame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12E18D-CF4A-61E8-5564-5AF5CDD007EF}"/>
              </a:ext>
            </a:extLst>
          </p:cNvPr>
          <p:cNvCxnSpPr>
            <a:cxnSpLocks/>
          </p:cNvCxnSpPr>
          <p:nvPr/>
        </p:nvCxnSpPr>
        <p:spPr>
          <a:xfrm flipV="1">
            <a:off x="245706" y="2985351"/>
            <a:ext cx="10008637" cy="34602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19F4BD7-B7D2-7F97-3372-FD9D8C14BF3E}"/>
              </a:ext>
            </a:extLst>
          </p:cNvPr>
          <p:cNvSpPr txBox="1"/>
          <p:nvPr/>
        </p:nvSpPr>
        <p:spPr>
          <a:xfrm>
            <a:off x="245706" y="0"/>
            <a:ext cx="8278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Swapping Station and DC Fast Charging</a:t>
            </a:r>
            <a:endParaRPr lang="en-US" sz="2400" b="1" dirty="0">
              <a:solidFill>
                <a:srgbClr val="002060"/>
              </a:solidFill>
            </a:endParaRPr>
          </a:p>
        </p:txBody>
      </p:sp>
      <p:pic>
        <p:nvPicPr>
          <p:cNvPr id="25" name="Picture 24" descr="A blue car with a green license plate&#10;&#10;Description automatically generated">
            <a:extLst>
              <a:ext uri="{FF2B5EF4-FFF2-40B4-BE49-F238E27FC236}">
                <a16:creationId xmlns:a16="http://schemas.microsoft.com/office/drawing/2014/main" id="{28C1A42D-A241-6951-1374-23C73BD15A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258" y="5259070"/>
            <a:ext cx="1324380" cy="881315"/>
          </a:xfrm>
          <a:prstGeom prst="rect">
            <a:avLst/>
          </a:prstGeom>
        </p:spPr>
      </p:pic>
      <p:pic>
        <p:nvPicPr>
          <p:cNvPr id="28" name="Picture 27" descr="A red car with a white background with Holden Arboretum in the background&#10;&#10;Description automatically generated">
            <a:extLst>
              <a:ext uri="{FF2B5EF4-FFF2-40B4-BE49-F238E27FC236}">
                <a16:creationId xmlns:a16="http://schemas.microsoft.com/office/drawing/2014/main" id="{33D3961C-396B-1623-B75E-F7413DF76CC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327" y="5163405"/>
            <a:ext cx="1435881" cy="896455"/>
          </a:xfrm>
          <a:prstGeom prst="rect">
            <a:avLst/>
          </a:prstGeom>
        </p:spPr>
      </p:pic>
      <p:pic>
        <p:nvPicPr>
          <p:cNvPr id="30" name="Picture 29" descr="A white car with black trim&#10;&#10;Description automatically generated">
            <a:extLst>
              <a:ext uri="{FF2B5EF4-FFF2-40B4-BE49-F238E27FC236}">
                <a16:creationId xmlns:a16="http://schemas.microsoft.com/office/drawing/2014/main" id="{1BCB5CFE-F9B8-87FF-08AD-C1AEB80ECB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4300" y="5239951"/>
            <a:ext cx="1324380" cy="743362"/>
          </a:xfrm>
          <a:prstGeom prst="rect">
            <a:avLst/>
          </a:prstGeom>
        </p:spPr>
      </p:pic>
      <p:pic>
        <p:nvPicPr>
          <p:cNvPr id="33" name="Picture 32" descr="A green car with a black roof&#10;&#10;Description automatically generated">
            <a:extLst>
              <a:ext uri="{FF2B5EF4-FFF2-40B4-BE49-F238E27FC236}">
                <a16:creationId xmlns:a16="http://schemas.microsoft.com/office/drawing/2014/main" id="{8844942F-927B-93FC-45D1-6F36075C98A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4343" y="5275492"/>
            <a:ext cx="938600" cy="550987"/>
          </a:xfrm>
          <a:prstGeom prst="rect">
            <a:avLst/>
          </a:prstGeom>
        </p:spPr>
      </p:pic>
      <p:pic>
        <p:nvPicPr>
          <p:cNvPr id="2050" name="Picture 2" descr="Battery Swapping &amp; Charging Stations ...">
            <a:extLst>
              <a:ext uri="{FF2B5EF4-FFF2-40B4-BE49-F238E27FC236}">
                <a16:creationId xmlns:a16="http://schemas.microsoft.com/office/drawing/2014/main" id="{1F8F626B-C209-DB52-C1A6-5BAB3D62F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802" y="133299"/>
            <a:ext cx="1908085" cy="121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87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16D35-857B-73CD-42C0-11859BF0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51B70-01A5-60B1-CBC0-6111D718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2F62E-6FD1-E8C1-79DF-98D93707A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6CB45E-77A7-C89B-1A9E-280A4CCD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94" r="295" b="6992"/>
          <a:stretch/>
        </p:blipFill>
        <p:spPr>
          <a:xfrm>
            <a:off x="1071466" y="454695"/>
            <a:ext cx="9817358" cy="27646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BE3B76-1446-FB67-3E5F-0D92504B58AF}"/>
              </a:ext>
            </a:extLst>
          </p:cNvPr>
          <p:cNvSpPr txBox="1"/>
          <p:nvPr/>
        </p:nvSpPr>
        <p:spPr>
          <a:xfrm>
            <a:off x="242596" y="0"/>
            <a:ext cx="94052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Central Monitoring Station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846B1F-E8A8-AD79-1AB7-F27DD3F9BAFE}"/>
              </a:ext>
            </a:extLst>
          </p:cNvPr>
          <p:cNvSpPr txBox="1"/>
          <p:nvPr/>
        </p:nvSpPr>
        <p:spPr>
          <a:xfrm>
            <a:off x="1518838" y="3618450"/>
            <a:ext cx="4125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EV Parameters calculation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02481-E3C7-89BB-1EFB-3AC1829F1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729" y="4173165"/>
            <a:ext cx="4573560" cy="23852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47EA87B-6505-61D1-6546-720C99A274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19"/>
          <a:stretch/>
        </p:blipFill>
        <p:spPr>
          <a:xfrm>
            <a:off x="447726" y="4053337"/>
            <a:ext cx="6369803" cy="23852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A63F480-F928-DE56-FF30-A73DC38ABFD9}"/>
              </a:ext>
            </a:extLst>
          </p:cNvPr>
          <p:cNvSpPr txBox="1"/>
          <p:nvPr/>
        </p:nvSpPr>
        <p:spPr>
          <a:xfrm>
            <a:off x="7305955" y="3678430"/>
            <a:ext cx="4999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</a:rPr>
              <a:t>EV Battery charging Parameters</a:t>
            </a:r>
            <a:endParaRPr lang="en-US" sz="2800" b="1" dirty="0">
              <a:solidFill>
                <a:srgbClr val="00206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54675BE-11EF-B2B7-EEE5-4D12559CE4CF}"/>
              </a:ext>
            </a:extLst>
          </p:cNvPr>
          <p:cNvCxnSpPr/>
          <p:nvPr/>
        </p:nvCxnSpPr>
        <p:spPr>
          <a:xfrm>
            <a:off x="311285" y="3455429"/>
            <a:ext cx="10019489" cy="0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05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283-2D51-2DD3-13BF-DE704A66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746D2-A341-1CA6-8A2F-7CBE1159A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557B8-0127-CE3B-FD39-E4E624A3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0B03B-7160-1C0D-4C9D-EA75D6118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12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35641-3D2B-AA83-CF31-D4FAE5180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402055"/>
              </p:ext>
            </p:extLst>
          </p:nvPr>
        </p:nvGraphicFramePr>
        <p:xfrm>
          <a:off x="266700" y="136525"/>
          <a:ext cx="11553826" cy="2120901"/>
        </p:xfrm>
        <a:graphic>
          <a:graphicData uri="http://schemas.openxmlformats.org/drawingml/2006/table">
            <a:tbl>
              <a:tblPr/>
              <a:tblGrid>
                <a:gridCol w="885311">
                  <a:extLst>
                    <a:ext uri="{9D8B030D-6E8A-4147-A177-3AD203B41FA5}">
                      <a16:colId xmlns:a16="http://schemas.microsoft.com/office/drawing/2014/main" val="4209489189"/>
                    </a:ext>
                  </a:extLst>
                </a:gridCol>
                <a:gridCol w="656079">
                  <a:extLst>
                    <a:ext uri="{9D8B030D-6E8A-4147-A177-3AD203B41FA5}">
                      <a16:colId xmlns:a16="http://schemas.microsoft.com/office/drawing/2014/main" val="34668946"/>
                    </a:ext>
                  </a:extLst>
                </a:gridCol>
                <a:gridCol w="616554">
                  <a:extLst>
                    <a:ext uri="{9D8B030D-6E8A-4147-A177-3AD203B41FA5}">
                      <a16:colId xmlns:a16="http://schemas.microsoft.com/office/drawing/2014/main" val="895211206"/>
                    </a:ext>
                  </a:extLst>
                </a:gridCol>
                <a:gridCol w="1146160">
                  <a:extLst>
                    <a:ext uri="{9D8B030D-6E8A-4147-A177-3AD203B41FA5}">
                      <a16:colId xmlns:a16="http://schemas.microsoft.com/office/drawing/2014/main" val="1197518995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3469946241"/>
                    </a:ext>
                  </a:extLst>
                </a:gridCol>
                <a:gridCol w="648174">
                  <a:extLst>
                    <a:ext uri="{9D8B030D-6E8A-4147-A177-3AD203B41FA5}">
                      <a16:colId xmlns:a16="http://schemas.microsoft.com/office/drawing/2014/main" val="3626885485"/>
                    </a:ext>
                  </a:extLst>
                </a:gridCol>
                <a:gridCol w="223962">
                  <a:extLst>
                    <a:ext uri="{9D8B030D-6E8A-4147-A177-3AD203B41FA5}">
                      <a16:colId xmlns:a16="http://schemas.microsoft.com/office/drawing/2014/main" val="1923535993"/>
                    </a:ext>
                  </a:extLst>
                </a:gridCol>
                <a:gridCol w="1580912">
                  <a:extLst>
                    <a:ext uri="{9D8B030D-6E8A-4147-A177-3AD203B41FA5}">
                      <a16:colId xmlns:a16="http://schemas.microsoft.com/office/drawing/2014/main" val="2896980921"/>
                    </a:ext>
                  </a:extLst>
                </a:gridCol>
                <a:gridCol w="782551">
                  <a:extLst>
                    <a:ext uri="{9D8B030D-6E8A-4147-A177-3AD203B41FA5}">
                      <a16:colId xmlns:a16="http://schemas.microsoft.com/office/drawing/2014/main" val="796534009"/>
                    </a:ext>
                  </a:extLst>
                </a:gridCol>
                <a:gridCol w="505891">
                  <a:extLst>
                    <a:ext uri="{9D8B030D-6E8A-4147-A177-3AD203B41FA5}">
                      <a16:colId xmlns:a16="http://schemas.microsoft.com/office/drawing/2014/main" val="1314866839"/>
                    </a:ext>
                  </a:extLst>
                </a:gridCol>
                <a:gridCol w="1051306">
                  <a:extLst>
                    <a:ext uri="{9D8B030D-6E8A-4147-A177-3AD203B41FA5}">
                      <a16:colId xmlns:a16="http://schemas.microsoft.com/office/drawing/2014/main" val="149460085"/>
                    </a:ext>
                  </a:extLst>
                </a:gridCol>
                <a:gridCol w="184440">
                  <a:extLst>
                    <a:ext uri="{9D8B030D-6E8A-4147-A177-3AD203B41FA5}">
                      <a16:colId xmlns:a16="http://schemas.microsoft.com/office/drawing/2014/main" val="3893193770"/>
                    </a:ext>
                  </a:extLst>
                </a:gridCol>
                <a:gridCol w="1786429">
                  <a:extLst>
                    <a:ext uri="{9D8B030D-6E8A-4147-A177-3AD203B41FA5}">
                      <a16:colId xmlns:a16="http://schemas.microsoft.com/office/drawing/2014/main" val="3618429772"/>
                    </a:ext>
                  </a:extLst>
                </a:gridCol>
                <a:gridCol w="837883">
                  <a:extLst>
                    <a:ext uri="{9D8B030D-6E8A-4147-A177-3AD203B41FA5}">
                      <a16:colId xmlns:a16="http://schemas.microsoft.com/office/drawing/2014/main" val="2562856153"/>
                    </a:ext>
                  </a:extLst>
                </a:gridCol>
              </a:tblGrid>
              <a:tr h="450074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Generation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PCC - </a:t>
                      </a:r>
                      <a:r>
                        <a:rPr lang="en-US" sz="1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Point of common coupling</a:t>
                      </a:r>
                      <a:endParaRPr lang="en-US" sz="1900" b="1" i="0" u="none" strike="noStrike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 - Charging </a:t>
                      </a: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280773"/>
                  </a:ext>
                </a:extLst>
              </a:tr>
              <a:tr h="4241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Voltage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Current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% of Generation/day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 [P]- KWh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Power/day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PCC will Logically be controlled on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avalibility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of source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No.of batteries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82615"/>
                  </a:ext>
                </a:extLst>
              </a:tr>
              <a:tr h="2346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- [V]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Output Power/day in KW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418077"/>
                  </a:ext>
                </a:extLst>
              </a:tr>
              <a:tr h="2346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 - [I]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Amper hour - capacity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309095"/>
                  </a:ext>
                </a:extLst>
              </a:tr>
              <a:tr h="3970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- [W] - KW/h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1800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Gen /day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charge - Watt / hr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48000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673191"/>
                  </a:ext>
                </a:extLst>
              </a:tr>
              <a:tr h="380435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Generation per day in KW/24 hr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1817</a:t>
                      </a:r>
                    </a:p>
                  </a:txBody>
                  <a:tcPr marL="5924" marR="5924" marT="59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Avaliability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1.17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1772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use / day</a:t>
                      </a:r>
                    </a:p>
                  </a:txBody>
                  <a:tcPr marL="5924" marR="5924" marT="5924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924" marR="5924" marT="592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 / one cycle charge - KW 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5924" marR="5924" marT="59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6632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524995-73E9-653E-8391-4C07FB160B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041003"/>
              </p:ext>
            </p:extLst>
          </p:nvPr>
        </p:nvGraphicFramePr>
        <p:xfrm>
          <a:off x="193676" y="2505868"/>
          <a:ext cx="6273802" cy="3151014"/>
        </p:xfrm>
        <a:graphic>
          <a:graphicData uri="http://schemas.openxmlformats.org/drawingml/2006/table">
            <a:tbl>
              <a:tblPr/>
              <a:tblGrid>
                <a:gridCol w="953672">
                  <a:extLst>
                    <a:ext uri="{9D8B030D-6E8A-4147-A177-3AD203B41FA5}">
                      <a16:colId xmlns:a16="http://schemas.microsoft.com/office/drawing/2014/main" val="1798620186"/>
                    </a:ext>
                  </a:extLst>
                </a:gridCol>
                <a:gridCol w="565392">
                  <a:extLst>
                    <a:ext uri="{9D8B030D-6E8A-4147-A177-3AD203B41FA5}">
                      <a16:colId xmlns:a16="http://schemas.microsoft.com/office/drawing/2014/main" val="3913095961"/>
                    </a:ext>
                  </a:extLst>
                </a:gridCol>
                <a:gridCol w="531331">
                  <a:extLst>
                    <a:ext uri="{9D8B030D-6E8A-4147-A177-3AD203B41FA5}">
                      <a16:colId xmlns:a16="http://schemas.microsoft.com/office/drawing/2014/main" val="2871789687"/>
                    </a:ext>
                  </a:extLst>
                </a:gridCol>
                <a:gridCol w="790186">
                  <a:extLst>
                    <a:ext uri="{9D8B030D-6E8A-4147-A177-3AD203B41FA5}">
                      <a16:colId xmlns:a16="http://schemas.microsoft.com/office/drawing/2014/main" val="1953625170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3373208181"/>
                    </a:ext>
                  </a:extLst>
                </a:gridCol>
                <a:gridCol w="558579">
                  <a:extLst>
                    <a:ext uri="{9D8B030D-6E8A-4147-A177-3AD203B41FA5}">
                      <a16:colId xmlns:a16="http://schemas.microsoft.com/office/drawing/2014/main" val="969684601"/>
                    </a:ext>
                  </a:extLst>
                </a:gridCol>
                <a:gridCol w="156675">
                  <a:extLst>
                    <a:ext uri="{9D8B030D-6E8A-4147-A177-3AD203B41FA5}">
                      <a16:colId xmlns:a16="http://schemas.microsoft.com/office/drawing/2014/main" val="63752399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230714472"/>
                    </a:ext>
                  </a:extLst>
                </a:gridCol>
                <a:gridCol w="435965">
                  <a:extLst>
                    <a:ext uri="{9D8B030D-6E8A-4147-A177-3AD203B41FA5}">
                      <a16:colId xmlns:a16="http://schemas.microsoft.com/office/drawing/2014/main" val="3638591449"/>
                    </a:ext>
                  </a:extLst>
                </a:gridCol>
                <a:gridCol w="613075">
                  <a:extLst>
                    <a:ext uri="{9D8B030D-6E8A-4147-A177-3AD203B41FA5}">
                      <a16:colId xmlns:a16="http://schemas.microsoft.com/office/drawing/2014/main" val="1932536717"/>
                    </a:ext>
                  </a:extLst>
                </a:gridCol>
                <a:gridCol w="674383">
                  <a:extLst>
                    <a:ext uri="{9D8B030D-6E8A-4147-A177-3AD203B41FA5}">
                      <a16:colId xmlns:a16="http://schemas.microsoft.com/office/drawing/2014/main" val="3529453680"/>
                    </a:ext>
                  </a:extLst>
                </a:gridCol>
              </a:tblGrid>
              <a:tr h="438610">
                <a:tc gridSpan="11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Fast Charging Station Load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725375"/>
                  </a:ext>
                </a:extLst>
              </a:tr>
              <a:tr h="367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Voltage (V)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(kW)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Capacity (kWh)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SOC Avaliable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Time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Unit charge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21943"/>
                  </a:ext>
                </a:extLst>
              </a:tr>
              <a:tr h="41175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1 - Tata Nexon - EV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30.2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745.83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88640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2- MG ZS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743.75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151023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3-Tata Trigo EV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739.58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927739"/>
                  </a:ext>
                </a:extLst>
              </a:tr>
              <a:tr h="268537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4- Mahindra eVerito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747.92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41430"/>
                  </a:ext>
                </a:extLst>
              </a:tr>
              <a:tr h="47441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2977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139195"/>
                  </a:ext>
                </a:extLst>
              </a:tr>
              <a:tr h="20587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1856043"/>
                  </a:ext>
                </a:extLst>
              </a:tr>
              <a:tr h="429659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1670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KW power can charge / day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Time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/ 96 hr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 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26794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82769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C80B168-4223-A4A4-46E5-B8581C11C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131911"/>
              </p:ext>
            </p:extLst>
          </p:nvPr>
        </p:nvGraphicFramePr>
        <p:xfrm>
          <a:off x="6657978" y="2505868"/>
          <a:ext cx="5340346" cy="3177540"/>
        </p:xfrm>
        <a:graphic>
          <a:graphicData uri="http://schemas.openxmlformats.org/drawingml/2006/table">
            <a:tbl>
              <a:tblPr/>
              <a:tblGrid>
                <a:gridCol w="2874633">
                  <a:extLst>
                    <a:ext uri="{9D8B030D-6E8A-4147-A177-3AD203B41FA5}">
                      <a16:colId xmlns:a16="http://schemas.microsoft.com/office/drawing/2014/main" val="782479973"/>
                    </a:ext>
                  </a:extLst>
                </a:gridCol>
                <a:gridCol w="500466">
                  <a:extLst>
                    <a:ext uri="{9D8B030D-6E8A-4147-A177-3AD203B41FA5}">
                      <a16:colId xmlns:a16="http://schemas.microsoft.com/office/drawing/2014/main" val="194678521"/>
                    </a:ext>
                  </a:extLst>
                </a:gridCol>
                <a:gridCol w="140375">
                  <a:extLst>
                    <a:ext uri="{9D8B030D-6E8A-4147-A177-3AD203B41FA5}">
                      <a16:colId xmlns:a16="http://schemas.microsoft.com/office/drawing/2014/main" val="1520005749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4209074804"/>
                    </a:ext>
                  </a:extLst>
                </a:gridCol>
                <a:gridCol w="390608">
                  <a:extLst>
                    <a:ext uri="{9D8B030D-6E8A-4147-A177-3AD203B41FA5}">
                      <a16:colId xmlns:a16="http://schemas.microsoft.com/office/drawing/2014/main" val="2029921102"/>
                    </a:ext>
                  </a:extLst>
                </a:gridCol>
                <a:gridCol w="439434">
                  <a:extLst>
                    <a:ext uri="{9D8B030D-6E8A-4147-A177-3AD203B41FA5}">
                      <a16:colId xmlns:a16="http://schemas.microsoft.com/office/drawing/2014/main" val="3094895876"/>
                    </a:ext>
                  </a:extLst>
                </a:gridCol>
                <a:gridCol w="604222">
                  <a:extLst>
                    <a:ext uri="{9D8B030D-6E8A-4147-A177-3AD203B41FA5}">
                      <a16:colId xmlns:a16="http://schemas.microsoft.com/office/drawing/2014/main" val="2601552489"/>
                    </a:ext>
                  </a:extLst>
                </a:gridCol>
              </a:tblGrid>
              <a:tr h="396240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 Station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06503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069017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Under maintance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28865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Avaliable batteries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420259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Voltage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Batteries charging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910069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Current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Cost of charge per battery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96199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Time / Battery in hr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Total Amout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434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No of Cycle 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0247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Power/Battery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944305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Station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2629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Required for Full Swapping Station per Day - KW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>
                          <a:solidFill>
                            <a:srgbClr val="FFC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396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92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24727-9AED-7EA4-1461-9778DFC72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9E4BE-0041-AB16-80D9-CB67CAB90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13</a:t>
            </a:fld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38D2B9-CF14-5222-2C31-70CF3F22A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672003"/>
              </p:ext>
            </p:extLst>
          </p:nvPr>
        </p:nvGraphicFramePr>
        <p:xfrm>
          <a:off x="206375" y="136525"/>
          <a:ext cx="6280151" cy="3381861"/>
        </p:xfrm>
        <a:graphic>
          <a:graphicData uri="http://schemas.openxmlformats.org/drawingml/2006/table">
            <a:tbl>
              <a:tblPr/>
              <a:tblGrid>
                <a:gridCol w="1963361">
                  <a:extLst>
                    <a:ext uri="{9D8B030D-6E8A-4147-A177-3AD203B41FA5}">
                      <a16:colId xmlns:a16="http://schemas.microsoft.com/office/drawing/2014/main" val="3924510819"/>
                    </a:ext>
                  </a:extLst>
                </a:gridCol>
                <a:gridCol w="832152">
                  <a:extLst>
                    <a:ext uri="{9D8B030D-6E8A-4147-A177-3AD203B41FA5}">
                      <a16:colId xmlns:a16="http://schemas.microsoft.com/office/drawing/2014/main" val="3737081838"/>
                    </a:ext>
                  </a:extLst>
                </a:gridCol>
                <a:gridCol w="1014186">
                  <a:extLst>
                    <a:ext uri="{9D8B030D-6E8A-4147-A177-3AD203B41FA5}">
                      <a16:colId xmlns:a16="http://schemas.microsoft.com/office/drawing/2014/main" val="3508650473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1151167311"/>
                    </a:ext>
                  </a:extLst>
                </a:gridCol>
                <a:gridCol w="1378252">
                  <a:extLst>
                    <a:ext uri="{9D8B030D-6E8A-4147-A177-3AD203B41FA5}">
                      <a16:colId xmlns:a16="http://schemas.microsoft.com/office/drawing/2014/main" val="3548363626"/>
                    </a:ext>
                  </a:extLst>
                </a:gridCol>
              </a:tblGrid>
              <a:tr h="36879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 dirty="0">
                          <a:solidFill>
                            <a:srgbClr val="002060"/>
                          </a:solidFill>
                          <a:effectLst/>
                          <a:latin typeface="Calibri" panose="020F0502020204030204" pitchFamily="34" charset="0"/>
                        </a:rPr>
                        <a:t>Total Energy  calculation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86107"/>
                  </a:ext>
                </a:extLst>
              </a:tr>
              <a:tr h="1956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sources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KW /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60821"/>
                  </a:ext>
                </a:extLst>
              </a:tr>
              <a:tr h="34621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Required full Power From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54,504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663,132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3,315,660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3C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075095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Solar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30,960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376,680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1,883,400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65861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17,280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1,051,200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801533"/>
                  </a:ext>
                </a:extLst>
              </a:tr>
              <a:tr h="22579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6,264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76,212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381,060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04638"/>
                  </a:ext>
                </a:extLst>
              </a:tr>
              <a:tr h="3989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Power saving / Day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1,608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48,240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586,920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2,934,600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64361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83128"/>
                  </a:ext>
                </a:extLst>
              </a:tr>
              <a:tr h="36126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 / Day          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21,802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654,048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7,957,584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39,787,920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8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50410"/>
                  </a:ext>
                </a:extLst>
              </a:tr>
              <a:tr h="2182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897099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Cost Saving / Day  12rs / unit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19,296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578,880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7,043,040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35,215,200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186786"/>
                  </a:ext>
                </a:extLst>
              </a:tr>
              <a:tr h="1956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6623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D1C3483-744D-0422-D369-64E419A6A2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343769"/>
              </p:ext>
            </p:extLst>
          </p:nvPr>
        </p:nvGraphicFramePr>
        <p:xfrm>
          <a:off x="6781804" y="542925"/>
          <a:ext cx="5203821" cy="2860673"/>
        </p:xfrm>
        <a:graphic>
          <a:graphicData uri="http://schemas.openxmlformats.org/drawingml/2006/table">
            <a:tbl>
              <a:tblPr/>
              <a:tblGrid>
                <a:gridCol w="1626868">
                  <a:extLst>
                    <a:ext uri="{9D8B030D-6E8A-4147-A177-3AD203B41FA5}">
                      <a16:colId xmlns:a16="http://schemas.microsoft.com/office/drawing/2014/main" val="2116811209"/>
                    </a:ext>
                  </a:extLst>
                </a:gridCol>
                <a:gridCol w="689533">
                  <a:extLst>
                    <a:ext uri="{9D8B030D-6E8A-4147-A177-3AD203B41FA5}">
                      <a16:colId xmlns:a16="http://schemas.microsoft.com/office/drawing/2014/main" val="3819634284"/>
                    </a:ext>
                  </a:extLst>
                </a:gridCol>
                <a:gridCol w="840368">
                  <a:extLst>
                    <a:ext uri="{9D8B030D-6E8A-4147-A177-3AD203B41FA5}">
                      <a16:colId xmlns:a16="http://schemas.microsoft.com/office/drawing/2014/main" val="931623807"/>
                    </a:ext>
                  </a:extLst>
                </a:gridCol>
                <a:gridCol w="905013">
                  <a:extLst>
                    <a:ext uri="{9D8B030D-6E8A-4147-A177-3AD203B41FA5}">
                      <a16:colId xmlns:a16="http://schemas.microsoft.com/office/drawing/2014/main" val="1566685999"/>
                    </a:ext>
                  </a:extLst>
                </a:gridCol>
                <a:gridCol w="1142039">
                  <a:extLst>
                    <a:ext uri="{9D8B030D-6E8A-4147-A177-3AD203B41FA5}">
                      <a16:colId xmlns:a16="http://schemas.microsoft.com/office/drawing/2014/main" val="1876004634"/>
                    </a:ext>
                  </a:extLst>
                </a:gridCol>
              </a:tblGrid>
              <a:tr h="384071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Revenue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1737847"/>
                  </a:ext>
                </a:extLst>
              </a:tr>
              <a:tr h="3443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day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Month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Year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 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A9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899184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Fast charging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803,813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9,779,719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48,898,594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226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Battery Swapping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2,700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985,500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4,927,500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2823889"/>
                  </a:ext>
                </a:extLst>
              </a:tr>
              <a:tr h="397316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Revenue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29,494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884,813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10,765,219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53,826,094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3083054"/>
                  </a:ext>
                </a:extLst>
              </a:tr>
              <a:tr h="410560"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Spending Amount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2,506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75,168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914,544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4,572,720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318633"/>
                  </a:ext>
                </a:extLst>
              </a:tr>
              <a:tr h="52975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Profit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26,988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809,645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9,850,675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49,253,374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91085"/>
                  </a:ext>
                </a:extLst>
              </a:tr>
            </a:tbl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A861B896-E294-8040-52F5-EE7F42A8D2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2954047"/>
              </p:ext>
            </p:extLst>
          </p:nvPr>
        </p:nvGraphicFramePr>
        <p:xfrm>
          <a:off x="288929" y="3609975"/>
          <a:ext cx="6280152" cy="33099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109A5BC7-EA64-08C3-358B-AE3639BB60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9971312"/>
              </p:ext>
            </p:extLst>
          </p:nvPr>
        </p:nvGraphicFramePr>
        <p:xfrm>
          <a:off x="7210425" y="350837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99612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490D4-5833-00A6-8584-27EFC6EC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4572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98ADA5E-EA2D-2858-DDB2-8FFF1F4C5488}"/>
              </a:ext>
            </a:extLst>
          </p:cNvPr>
          <p:cNvSpPr txBox="1"/>
          <p:nvPr/>
        </p:nvSpPr>
        <p:spPr>
          <a:xfrm>
            <a:off x="6007169" y="2644686"/>
            <a:ext cx="3336546" cy="1983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Pending</a:t>
            </a:r>
            <a:endParaRPr lang="en-US" sz="2000" dirty="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AWS Cloud Integrations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User Interface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C8E86-677D-B889-8DBC-EE6C0990CB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7766"/>
            <a:ext cx="182542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0956CEB-6CDE-4930-8E1A-D8F60CF96CEF}" type="datetime1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11/20/2024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730262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D68BE-5080-EDF1-5AD2-5079CCAA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2822" y="641776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C0ABD-DB8B-217D-0BC7-03D81B6A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17766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45A0FC-9689-3427-751E-9BBBE449CE45}"/>
              </a:ext>
            </a:extLst>
          </p:cNvPr>
          <p:cNvSpPr txBox="1"/>
          <p:nvPr/>
        </p:nvSpPr>
        <p:spPr>
          <a:xfrm>
            <a:off x="466739" y="1535870"/>
            <a:ext cx="501015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002060"/>
                </a:solidFill>
              </a:rPr>
              <a:t>Conclusion</a:t>
            </a:r>
            <a:endParaRPr lang="en-IN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Energy Source Integration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Optimized Charging Solutions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Energy Cost Saving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Future Stability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4CD093-A47F-DD9C-026B-C4AFCAE97BC7}"/>
              </a:ext>
            </a:extLst>
          </p:cNvPr>
          <p:cNvSpPr txBox="1"/>
          <p:nvPr/>
        </p:nvSpPr>
        <p:spPr>
          <a:xfrm>
            <a:off x="8020050" y="458652"/>
            <a:ext cx="50101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002060"/>
                </a:solidFill>
              </a:rPr>
              <a:t>Tools Used</a:t>
            </a:r>
            <a:endParaRPr lang="en-IN" dirty="0"/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MATLAB Simulation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IN" dirty="0"/>
              <a:t>Spreadsheet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18C0C7-3321-7222-218C-B8FBDE90D949}"/>
              </a:ext>
            </a:extLst>
          </p:cNvPr>
          <p:cNvSpPr txBox="1"/>
          <p:nvPr/>
        </p:nvSpPr>
        <p:spPr>
          <a:xfrm>
            <a:off x="3452093" y="5320771"/>
            <a:ext cx="501015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IN" b="1" dirty="0">
                <a:solidFill>
                  <a:srgbClr val="002060"/>
                </a:solidFill>
              </a:rPr>
              <a:t>Future Works</a:t>
            </a:r>
            <a:endParaRPr lang="en-US" b="1" dirty="0">
              <a:solidFill>
                <a:srgbClr val="002060"/>
              </a:solidFill>
            </a:endParaRPr>
          </a:p>
          <a:p>
            <a:pPr>
              <a:spcAft>
                <a:spcPts val="600"/>
              </a:spcAft>
            </a:pPr>
            <a:r>
              <a:rPr lang="en-IN" dirty="0"/>
              <a:t>1. Hardware setup</a:t>
            </a:r>
          </a:p>
        </p:txBody>
      </p:sp>
    </p:spTree>
    <p:extLst>
      <p:ext uri="{BB962C8B-B14F-4D97-AF65-F5344CB8AC3E}">
        <p14:creationId xmlns:p14="http://schemas.microsoft.com/office/powerpoint/2010/main" val="629168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5208" y="3694894"/>
            <a:ext cx="4336495" cy="798521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72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Thankyou</a:t>
            </a:r>
            <a:b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800" b="1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703C8B8-7D1F-4A4F-BDFB-57D2D1403270}" type="datetime1">
              <a:rPr lang="en-US" smtClean="0"/>
              <a:pPr>
                <a:spcAft>
                  <a:spcPts val="600"/>
                </a:spcAft>
              </a:pPr>
              <a:t>11/20/2024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Jagadeesh_AP2312210002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15FCCAAF-6324-40D0-99C1-825B83CC9B2F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Picture 8" descr="A black and green logo&#10;&#10;Description automatically generated">
            <a:extLst>
              <a:ext uri="{FF2B5EF4-FFF2-40B4-BE49-F238E27FC236}">
                <a16:creationId xmlns:a16="http://schemas.microsoft.com/office/drawing/2014/main" id="{14E8D04E-7884-D2D4-7CED-5A6DF1209A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97" y="229831"/>
            <a:ext cx="2637504" cy="945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816ACE-EA04-C176-5833-ED923EA60E1B}"/>
              </a:ext>
            </a:extLst>
          </p:cNvPr>
          <p:cNvSpPr txBox="1"/>
          <p:nvPr/>
        </p:nvSpPr>
        <p:spPr>
          <a:xfrm>
            <a:off x="132707" y="5508134"/>
            <a:ext cx="117544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0" i="0" dirty="0">
                <a:effectLst/>
                <a:latin typeface="__fkGroteskNeue_598ab8"/>
              </a:rPr>
              <a:t>Harnessing renewable energy through innovative battery charging solutions not only reduces operational costs but,</a:t>
            </a:r>
          </a:p>
          <a:p>
            <a:r>
              <a:rPr lang="en-US" b="1" i="0" dirty="0">
                <a:effectLst/>
                <a:latin typeface="__fkGroteskNeue_598ab8"/>
              </a:rPr>
              <a:t>IOT</a:t>
            </a:r>
            <a:r>
              <a:rPr lang="en-US" b="0" i="0" dirty="0">
                <a:effectLst/>
                <a:latin typeface="__fkGroteskNeue_598ab8"/>
              </a:rPr>
              <a:t> Integration is the way for a sustainable future, enabling us to power our vehicles while preserving our planet.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C200BB-9FC5-F69D-EC72-49D8DCF7E31E}"/>
              </a:ext>
            </a:extLst>
          </p:cNvPr>
          <p:cNvSpPr txBox="1"/>
          <p:nvPr/>
        </p:nvSpPr>
        <p:spPr>
          <a:xfrm>
            <a:off x="170297" y="2615568"/>
            <a:ext cx="67341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__Roboto_Flex_b8e8b1"/>
              </a:rPr>
              <a:t>Talk to yourself once in a day,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__Roboto_Flex_b8e8b1"/>
              </a:rPr>
              <a:t> otherwise, you may miss meeting an intelligent person in this world. 					</a:t>
            </a:r>
            <a:r>
              <a:rPr lang="en-US" b="1" i="0" dirty="0">
                <a:solidFill>
                  <a:srgbClr val="000000"/>
                </a:solidFill>
                <a:effectLst/>
                <a:latin typeface="__Roboto_Flex_b8e8b1"/>
              </a:rPr>
              <a:t>Swami Vivekananda</a:t>
            </a:r>
          </a:p>
        </p:txBody>
      </p:sp>
    </p:spTree>
    <p:extLst>
      <p:ext uri="{BB962C8B-B14F-4D97-AF65-F5344CB8AC3E}">
        <p14:creationId xmlns:p14="http://schemas.microsoft.com/office/powerpoint/2010/main" val="8415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2BEA-9126-10E1-7CA5-376478EB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56CEB-6CDE-4930-8E1A-D8F60CF96CEF}" type="datetime1">
              <a:rPr lang="en-US" smtClean="0"/>
              <a:t>11/20/2024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CDEDC-470D-65D0-02BA-7C326102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Jagadeesh_AP2312210002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AAEB9-6268-ED19-29D6-379C30A3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CCAAF-6324-40D0-99C1-825B83CC9B2F}" type="slidenum">
              <a:rPr lang="en-IN" smtClean="0"/>
              <a:t>16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F86C99-9C5C-B515-E3CD-DD2FD0693E39}"/>
              </a:ext>
            </a:extLst>
          </p:cNvPr>
          <p:cNvSpPr txBox="1"/>
          <p:nvPr/>
        </p:nvSpPr>
        <p:spPr>
          <a:xfrm>
            <a:off x="2736201" y="903831"/>
            <a:ext cx="16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Collected Data </a:t>
            </a:r>
          </a:p>
        </p:txBody>
      </p:sp>
      <p:pic>
        <p:nvPicPr>
          <p:cNvPr id="1028" name="Picture 4" descr="Node-RED - Wikipedia">
            <a:extLst>
              <a:ext uri="{FF2B5EF4-FFF2-40B4-BE49-F238E27FC236}">
                <a16:creationId xmlns:a16="http://schemas.microsoft.com/office/drawing/2014/main" id="{8E65646E-73C3-4CAD-42F0-542EFF57A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275" y="1718935"/>
            <a:ext cx="1176946" cy="117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ode-red-dashboard (node) - Node-RED">
            <a:extLst>
              <a:ext uri="{FF2B5EF4-FFF2-40B4-BE49-F238E27FC236}">
                <a16:creationId xmlns:a16="http://schemas.microsoft.com/office/drawing/2014/main" id="{307B573F-E874-BA50-56C9-8F3CC0F7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3525" y="3274476"/>
            <a:ext cx="1756445" cy="135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troduction to Cloud Security with AWS ...">
            <a:extLst>
              <a:ext uri="{FF2B5EF4-FFF2-40B4-BE49-F238E27FC236}">
                <a16:creationId xmlns:a16="http://schemas.microsoft.com/office/drawing/2014/main" id="{A66D98DC-2689-6811-B859-DFD4B4FED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95" y="1697784"/>
            <a:ext cx="1406602" cy="1053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1B04D8-77CB-80FA-C08C-E912EAD3AE79}"/>
              </a:ext>
            </a:extLst>
          </p:cNvPr>
          <p:cNvSpPr txBox="1"/>
          <p:nvPr/>
        </p:nvSpPr>
        <p:spPr>
          <a:xfrm>
            <a:off x="5990923" y="2947253"/>
            <a:ext cx="16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Storage</a:t>
            </a:r>
          </a:p>
        </p:txBody>
      </p:sp>
      <p:pic>
        <p:nvPicPr>
          <p:cNvPr id="10" name="Picture 18" descr="EV Charging Station Finder App ...">
            <a:extLst>
              <a:ext uri="{FF2B5EF4-FFF2-40B4-BE49-F238E27FC236}">
                <a16:creationId xmlns:a16="http://schemas.microsoft.com/office/drawing/2014/main" id="{10632EEA-3FC2-DABC-0F16-08730DD66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196" y="3737325"/>
            <a:ext cx="1815168" cy="1038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EV Charging Station Booking Web ...">
            <a:extLst>
              <a:ext uri="{FF2B5EF4-FFF2-40B4-BE49-F238E27FC236}">
                <a16:creationId xmlns:a16="http://schemas.microsoft.com/office/drawing/2014/main" id="{E46E4AB5-A8C5-BA07-B6A0-A198AEEAB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4125" y="3938417"/>
            <a:ext cx="1314943" cy="73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73F084-A452-1E58-A913-C9601FF05016}"/>
              </a:ext>
            </a:extLst>
          </p:cNvPr>
          <p:cNvSpPr txBox="1"/>
          <p:nvPr/>
        </p:nvSpPr>
        <p:spPr>
          <a:xfrm>
            <a:off x="6797187" y="4790884"/>
            <a:ext cx="1690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User Interface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985F1D-E242-D303-42CD-BA3E7190BD65}"/>
              </a:ext>
            </a:extLst>
          </p:cNvPr>
          <p:cNvSpPr txBox="1"/>
          <p:nvPr/>
        </p:nvSpPr>
        <p:spPr>
          <a:xfrm>
            <a:off x="2369725" y="4635378"/>
            <a:ext cx="242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Central control Pannel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3F171DF-0133-62C0-B5B4-0467DBCC9791}"/>
              </a:ext>
            </a:extLst>
          </p:cNvPr>
          <p:cNvSpPr/>
          <p:nvPr/>
        </p:nvSpPr>
        <p:spPr>
          <a:xfrm rot="5400000">
            <a:off x="3313468" y="1350704"/>
            <a:ext cx="369333" cy="1665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7C9C68F-8D1D-C656-EE49-329090989762}"/>
              </a:ext>
            </a:extLst>
          </p:cNvPr>
          <p:cNvSpPr/>
          <p:nvPr/>
        </p:nvSpPr>
        <p:spPr>
          <a:xfrm rot="5400000">
            <a:off x="3230202" y="2997282"/>
            <a:ext cx="369333" cy="1665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8C5DB0A-E79F-7E4F-0558-4AA702F51719}"/>
              </a:ext>
            </a:extLst>
          </p:cNvPr>
          <p:cNvSpPr/>
          <p:nvPr/>
        </p:nvSpPr>
        <p:spPr>
          <a:xfrm>
            <a:off x="4123924" y="2222622"/>
            <a:ext cx="1512271" cy="1319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6851082-CED1-5932-863E-61C54F78A0B4}"/>
              </a:ext>
            </a:extLst>
          </p:cNvPr>
          <p:cNvSpPr/>
          <p:nvPr/>
        </p:nvSpPr>
        <p:spPr>
          <a:xfrm rot="5400000">
            <a:off x="6171964" y="2693815"/>
            <a:ext cx="369333" cy="1665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400A9F5-1472-85B7-E245-2645F02FF776}"/>
              </a:ext>
            </a:extLst>
          </p:cNvPr>
          <p:cNvSpPr/>
          <p:nvPr/>
        </p:nvSpPr>
        <p:spPr>
          <a:xfrm rot="5400000">
            <a:off x="6171963" y="3429194"/>
            <a:ext cx="369333" cy="1665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99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499A0BF-B165-43EC-B5EC-4BD64C6CE5AA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19B757F763C144918590A58A3C2100" ma:contentTypeVersion="5" ma:contentTypeDescription="Create a new document." ma:contentTypeScope="" ma:versionID="5d9cf66606784fe127c83b82746892c7">
  <xsd:schema xmlns:xsd="http://www.w3.org/2001/XMLSchema" xmlns:xs="http://www.w3.org/2001/XMLSchema" xmlns:p="http://schemas.microsoft.com/office/2006/metadata/properties" xmlns:ns3="f619aea2-d5ad-4208-a18c-92f8e9acac18" targetNamespace="http://schemas.microsoft.com/office/2006/metadata/properties" ma:root="true" ma:fieldsID="fbda49ceb3f46024ee92e61f4938b5da" ns3:_="">
    <xsd:import namespace="f619aea2-d5ad-4208-a18c-92f8e9acac1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9aea2-d5ad-4208-a18c-92f8e9aca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9EF365-2DC5-4C2C-A11A-46598278C3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49DF27-365C-4A29-8D2C-AB2B060F964F}">
  <ds:schemaRefs>
    <ds:schemaRef ds:uri="http://purl.org/dc/terms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f619aea2-d5ad-4208-a18c-92f8e9acac18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F2030F4-1722-4186-8C90-446ABDF889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9aea2-d5ad-4208-a18c-92f8e9acac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8894</TotalTime>
  <Words>1607</Words>
  <Application>Microsoft Office PowerPoint</Application>
  <PresentationFormat>Widescreen</PresentationFormat>
  <Paragraphs>501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__fkGroteskNeue_598ab8</vt:lpstr>
      <vt:lpstr>__Roboto_Flex_b8e8b1</vt:lpstr>
      <vt:lpstr>ADLaM Display</vt:lpstr>
      <vt:lpstr>Aptos</vt:lpstr>
      <vt:lpstr>Arial</vt:lpstr>
      <vt:lpstr>Calibri</vt:lpstr>
      <vt:lpstr>Calibri Light</vt:lpstr>
      <vt:lpstr>Times New Roman</vt:lpstr>
      <vt:lpstr>var(--font-fk-grotesk)</vt:lpstr>
      <vt:lpstr>Office Theme</vt:lpstr>
      <vt:lpstr>Title –  Design of IOT Architecture for Battery Charging Management Technology</vt:lpstr>
      <vt:lpstr>About Me </vt:lpstr>
      <vt:lpstr>Outline</vt:lpstr>
      <vt:lpstr>PowerPoint Presentation</vt:lpstr>
      <vt:lpstr>PowerPoint Presentation</vt:lpstr>
      <vt:lpstr>User Interface Application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KADIYAM ANUSHA</dc:creator>
  <cp:lastModifiedBy>jagadeeswara kamarajugadda | AP23122100002</cp:lastModifiedBy>
  <cp:revision>588</cp:revision>
  <dcterms:created xsi:type="dcterms:W3CDTF">2021-08-02T06:45:34Z</dcterms:created>
  <dcterms:modified xsi:type="dcterms:W3CDTF">2024-11-20T05:46:47Z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0x010100D019B757F763C144918590A58A3C2100</vt:lpwstr>
  </property>
</Properties>
</file>