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0" r:id="rId2"/>
    <p:sldId id="423" r:id="rId3"/>
    <p:sldId id="424" r:id="rId4"/>
    <p:sldId id="425" r:id="rId5"/>
    <p:sldId id="426" r:id="rId6"/>
    <p:sldId id="428" r:id="rId7"/>
    <p:sldId id="4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1482-551D-6134-3475-CF5E49D4E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E20BD-495B-7628-E503-D41EAA059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41DAA-ED74-DAC5-F0BA-219864B9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4DA0-D161-C34D-266D-1834A50C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97D5-4603-844C-3AEF-F8236FE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5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C467-D429-33C3-9E54-97FA245A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F6DF-2D16-AD26-C9A4-4854DEC5C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8431-427D-7B73-5443-71CB83D0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1BE44-58BD-AD80-60F4-2DDD78EE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C13C9-42BF-9260-5C14-EC5CB061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5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66CF-2BEF-611E-C497-6B640C62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E3FE-DC55-5361-9BC6-A8DA144D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A699-202C-5998-2A66-8556FD43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8B23-A66A-02D1-0BE3-2D3F1C43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2909-1D22-775B-7024-7FFC3050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D93B-146E-71B1-414C-4EBA24FE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A7CD-F698-5C92-D4A1-5932A7514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E6A7-577C-169D-EAE7-CAA086B7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69869-B295-FB45-F38F-D84C08AF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93B47-156A-C792-09F6-C3F9D077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41E60-5E16-7E45-2FFC-D6403259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3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C139-E288-4710-BA0F-0CC03F70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62064-F8B7-F806-DD41-EB8F12853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E1610-E23C-272F-B9FC-9A6ED3F17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F7DE7-A616-88B0-FC31-7BFEAF257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8A037-252A-3435-8D34-5214291F2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6A3D7-F45A-DB0E-6632-9A17A5F4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B498A-448E-4DF8-74B2-56B1ACCC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F6C01-62F0-D726-F69D-523EDB6A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F8AE-7BA5-407F-32A0-B4A42850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5080A-6299-2101-7F3B-520DE66F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33CE3-4E85-E2DC-8DC5-F47E5BF1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2916F-9F25-42C5-55E1-2BCE839C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6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A6D72-F9A6-B1E0-598C-A643A256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1BA63-B799-509A-3962-574270703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1444-0AE9-757C-DB4A-761F3F21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F50D-B7FA-44DE-7750-A3C6A8C6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3457-EB5D-C377-F171-68EEA3AA7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4CA8C-5761-37BA-9FFA-1F642438C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CA1BC-E5F3-3414-B692-BC50D5ED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6BD27-E24D-A82A-1739-C4E7D05F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D5B4-783C-50B5-09DC-7F7D14BD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17CB-5510-0256-4168-AE3E79B5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55AE0-FCC8-E55D-8FF7-651FB3D12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06F52-C3B9-324F-FC1B-CB0A803B2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EBDB5-2C62-6CBA-5C5B-545D0062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E133C-75C9-0414-7942-FBA6D306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8A726-77C6-ACB1-402E-1873A6DA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2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F336-706A-A998-4555-4167F87D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C6B3F-D5AD-A7BC-FA45-AF8D21449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99284-F022-9D62-4B16-058F9C81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B4AE-AA32-A72B-7199-06763469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0C2F-D00F-4AC4-9295-F93DE193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8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7E6A6-397B-83F2-5EDD-A58BD506F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44B2F-DFD0-0FF0-31C3-C915DF725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0C04-FD7C-4B6F-F5F5-7BD58C2B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DAAA8-EF1B-0C01-8451-67A9AA3D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19B35-7282-59B9-9FDA-48500A2C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5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7DBEB-4773-1A76-5BAF-864B643B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C8D9C-2E7B-CD18-32E0-69D0673A4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C8B6-A218-C0B0-68AF-0D8F0B748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6F104-71CC-4B5B-BB09-47E1234FE090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1E53A-D69C-A870-C44E-0975A3786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30CA7-CA77-85E4-BAC8-4D8D0B13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8969D-6D49-41F0-B296-1FC456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1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Microcontroller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Communication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</a:t>
            </a:fld>
            <a:endParaRPr lang="en-IN"/>
          </a:p>
        </p:txBody>
      </p:sp>
      <p:pic>
        <p:nvPicPr>
          <p:cNvPr id="11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E6C99F88-A87D-77B4-AD5A-D406F6A27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007941" y="1989597"/>
            <a:ext cx="1634119" cy="212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5990253" cy="77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 Output, Current Output, Power Generation</a:t>
            </a:r>
            <a:endParaRPr lang="en-US" sz="1800" kern="100" dirty="0">
              <a:effectLst/>
              <a:highlight>
                <a:srgbClr val="C0C0C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Temperature, Light Intensity, Humidity, Fault Detection</a:t>
            </a:r>
            <a:endParaRPr lang="en-US" sz="1800" kern="100" dirty="0">
              <a:effectLst/>
              <a:highlight>
                <a:srgbClr val="C0C0C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ESP32, </a:t>
            </a:r>
            <a:r>
              <a:rPr lang="en-US" sz="1800" b="1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Arduino Uno </a:t>
            </a:r>
            <a:endParaRPr lang="en-US" sz="1800" b="1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Wireless</a:t>
            </a: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AWS – IOT core, lambda function, Data visualization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198925" y="4204174"/>
            <a:ext cx="144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Solar Pannel</a:t>
            </a:r>
          </a:p>
        </p:txBody>
      </p:sp>
    </p:spTree>
    <p:extLst>
      <p:ext uri="{BB962C8B-B14F-4D97-AF65-F5344CB8AC3E}">
        <p14:creationId xmlns:p14="http://schemas.microsoft.com/office/powerpoint/2010/main" val="3610554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BMS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682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Voltage, Current, Temperature, Battery Health,  Charge/Discharge Cycles, Energy Input/Output,  Fault Detection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0" y="2762558"/>
            <a:ext cx="27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SOC, SOH, DOD, SOP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430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632232" y="4210166"/>
            <a:ext cx="144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ESS</a:t>
            </a:r>
          </a:p>
        </p:txBody>
      </p:sp>
      <p:pic>
        <p:nvPicPr>
          <p:cNvPr id="3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70194F01-A688-6FC4-6D3C-F34012DBA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9562888" y="2322466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58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816221" y="1760020"/>
            <a:ext cx="777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Voltage, Current, Frequency, Power Factor, Harmonics, Load, Transformer Health, Fault Detection, Grid Stability, Renewable Energy Integration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63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PLC or RTU collects and processes data from sensors.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4" y="3356907"/>
            <a:ext cx="224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Wireless</a:t>
            </a: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AWS – IOT core, lambda function, Data visualization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10851503" y="4069533"/>
            <a:ext cx="8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Grid</a:t>
            </a:r>
          </a:p>
        </p:txBody>
      </p:sp>
      <p:pic>
        <p:nvPicPr>
          <p:cNvPr id="3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FE5E5684-EABA-EF38-B8BB-C27C02A86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857" y="2739423"/>
            <a:ext cx="1921004" cy="136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73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Processing Unit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4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772540" y="1467488"/>
            <a:ext cx="7537579" cy="117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 of Charge (SoC), Battery Voltage, Battery Current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Temperature, Battery Health, Swapping Time, Fault Detection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Inventory Management, User Identification, Energy Usage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816221" y="2762558"/>
            <a:ext cx="5918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or PLC processes data and manages the swapping process.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77643" y="296486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 rot="420008">
            <a:off x="2987119" y="3511654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806474" y="4101581"/>
            <a:ext cx="208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Battery Swapping </a:t>
            </a:r>
          </a:p>
        </p:txBody>
      </p:sp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D42718BD-5AD3-0CFD-EC9E-89D27FF10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312" y="2611097"/>
            <a:ext cx="2089105" cy="141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524061E-CE31-17E2-4DB8-AE8D6DC8EB37}"/>
              </a:ext>
            </a:extLst>
          </p:cNvPr>
          <p:cNvSpPr txBox="1"/>
          <p:nvPr/>
        </p:nvSpPr>
        <p:spPr>
          <a:xfrm>
            <a:off x="3803353" y="3429316"/>
            <a:ext cx="430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5DE02B-0574-0E52-5A5A-23F92141A3C0}"/>
              </a:ext>
            </a:extLst>
          </p:cNvPr>
          <p:cNvSpPr txBox="1"/>
          <p:nvPr/>
        </p:nvSpPr>
        <p:spPr>
          <a:xfrm>
            <a:off x="3803353" y="3966913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</p:spTree>
    <p:extLst>
      <p:ext uri="{BB962C8B-B14F-4D97-AF65-F5344CB8AC3E}">
        <p14:creationId xmlns:p14="http://schemas.microsoft.com/office/powerpoint/2010/main" val="189891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Sensor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 Gateway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5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679234" y="1326578"/>
            <a:ext cx="879579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Status, Charging Power, Charging Time, Energy Delivered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Efficiency, User Identification: Authenticates users, Fault Detection, Utilization Rate, Station Availability, Location Tracking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723623" y="2596978"/>
            <a:ext cx="562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station controller collects and processes sensor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3" y="3356907"/>
            <a:ext cx="4538215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918442" y="4003786"/>
            <a:ext cx="179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DC fast charging</a:t>
            </a:r>
          </a:p>
        </p:txBody>
      </p:sp>
      <p:pic>
        <p:nvPicPr>
          <p:cNvPr id="8" name="Picture 16" descr="Electric Vehicle Charging and the ...">
            <a:extLst>
              <a:ext uri="{FF2B5EF4-FFF2-40B4-BE49-F238E27FC236}">
                <a16:creationId xmlns:a16="http://schemas.microsoft.com/office/drawing/2014/main" id="{F9FF7894-9A33-B0CF-B234-365F0490C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1065" y="2603289"/>
            <a:ext cx="2671665" cy="128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597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EACF-B976-DC78-2A7B-61B1ADB7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Parameters – Topology - Hardware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61E3E2-182B-A67E-2C50-FC9D2EC876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159" y="2400298"/>
          <a:ext cx="2315466" cy="2236790"/>
        </p:xfrm>
        <a:graphic>
          <a:graphicData uri="http://schemas.openxmlformats.org/drawingml/2006/table">
            <a:tbl>
              <a:tblPr/>
              <a:tblGrid>
                <a:gridCol w="2315466">
                  <a:extLst>
                    <a:ext uri="{9D8B030D-6E8A-4147-A177-3AD203B41FA5}">
                      <a16:colId xmlns:a16="http://schemas.microsoft.com/office/drawing/2014/main" val="2360783943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75414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Ingestion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0568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Processing Layer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25943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Cloud Server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96969"/>
                  </a:ext>
                </a:extLst>
              </a:tr>
              <a:tr h="447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User Interface Layer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831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7B2F-AFBB-2AD0-20C8-E04FF76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3363-3FE8-D5F7-EE9C-AA19502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C9E3-06AE-72D0-205A-1C6E55B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79E95-416D-969B-95B7-2CD0962EC4AE}"/>
              </a:ext>
            </a:extLst>
          </p:cNvPr>
          <p:cNvSpPr txBox="1"/>
          <p:nvPr/>
        </p:nvSpPr>
        <p:spPr>
          <a:xfrm>
            <a:off x="3679234" y="1326578"/>
            <a:ext cx="879579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Status, Charging Power, Charging Time, Energy Delivered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Efficiency, User Identification: Authenticates users, Fault Detection, Utilization Rate, Station Availability, Location Tracking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FB1827-B2AD-D21E-86D8-FD92D9AFB03B}"/>
              </a:ext>
            </a:extLst>
          </p:cNvPr>
          <p:cNvSpPr/>
          <p:nvPr/>
        </p:nvSpPr>
        <p:spPr>
          <a:xfrm rot="20074456">
            <a:off x="2987119" y="2246719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DD153-644E-95FE-ADB4-C8C4B07675F1}"/>
              </a:ext>
            </a:extLst>
          </p:cNvPr>
          <p:cNvSpPr txBox="1"/>
          <p:nvPr/>
        </p:nvSpPr>
        <p:spPr>
          <a:xfrm>
            <a:off x="3723623" y="2596978"/>
            <a:ext cx="562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Charging station controller collects and processes sensor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8A0C9-8DC4-57F0-4D65-7109BAFE05CE}"/>
              </a:ext>
            </a:extLst>
          </p:cNvPr>
          <p:cNvSpPr/>
          <p:nvPr/>
        </p:nvSpPr>
        <p:spPr>
          <a:xfrm>
            <a:off x="2956305" y="285193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61E5-035E-1C3C-45C2-21EF049291CD}"/>
              </a:ext>
            </a:extLst>
          </p:cNvPr>
          <p:cNvSpPr txBox="1"/>
          <p:nvPr/>
        </p:nvSpPr>
        <p:spPr>
          <a:xfrm>
            <a:off x="3850433" y="3356907"/>
            <a:ext cx="4538215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controller and Cloud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sz="1800" b="1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F8DF01-2F11-54DC-D249-E56B6BCCCD8B}"/>
              </a:ext>
            </a:extLst>
          </p:cNvPr>
          <p:cNvSpPr/>
          <p:nvPr/>
        </p:nvSpPr>
        <p:spPr>
          <a:xfrm>
            <a:off x="2987118" y="342340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2CE40-50B4-7BA8-7178-AF01014CF928}"/>
              </a:ext>
            </a:extLst>
          </p:cNvPr>
          <p:cNvSpPr txBox="1"/>
          <p:nvPr/>
        </p:nvSpPr>
        <p:spPr>
          <a:xfrm>
            <a:off x="3772540" y="4003786"/>
            <a:ext cx="5523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Stores data and runs analytics for insights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B854674-8CC3-1A03-4948-887C683CFDF3}"/>
              </a:ext>
            </a:extLst>
          </p:cNvPr>
          <p:cNvSpPr/>
          <p:nvPr/>
        </p:nvSpPr>
        <p:spPr>
          <a:xfrm rot="1079745">
            <a:off x="2963112" y="3974245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287D-E438-8BA4-AB03-CE1556048FD0}"/>
              </a:ext>
            </a:extLst>
          </p:cNvPr>
          <p:cNvSpPr txBox="1"/>
          <p:nvPr/>
        </p:nvSpPr>
        <p:spPr>
          <a:xfrm>
            <a:off x="3772540" y="4802302"/>
            <a:ext cx="152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highlight>
                  <a:srgbClr val="FF00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WEB, or APP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4895E-F91E-7416-AE17-D4D4F839CB10}"/>
              </a:ext>
            </a:extLst>
          </p:cNvPr>
          <p:cNvSpPr/>
          <p:nvPr/>
        </p:nvSpPr>
        <p:spPr>
          <a:xfrm rot="1818275">
            <a:off x="2977644" y="4578103"/>
            <a:ext cx="816235" cy="190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2BE37-7347-2504-79D1-D68E2CB2BA6F}"/>
              </a:ext>
            </a:extLst>
          </p:cNvPr>
          <p:cNvSpPr txBox="1"/>
          <p:nvPr/>
        </p:nvSpPr>
        <p:spPr>
          <a:xfrm>
            <a:off x="9004041" y="5841917"/>
            <a:ext cx="253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Cloud and user interface</a:t>
            </a:r>
          </a:p>
        </p:txBody>
      </p:sp>
      <p:pic>
        <p:nvPicPr>
          <p:cNvPr id="9" name="Picture 18" descr="EV Charging Station Finder App ...">
            <a:extLst>
              <a:ext uri="{FF2B5EF4-FFF2-40B4-BE49-F238E27FC236}">
                <a16:creationId xmlns:a16="http://schemas.microsoft.com/office/drawing/2014/main" id="{CDEE0EA5-30DA-2926-778B-652A11A9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07" y="4518219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EV Charging Station Booking Web ...">
            <a:extLst>
              <a:ext uri="{FF2B5EF4-FFF2-40B4-BE49-F238E27FC236}">
                <a16:creationId xmlns:a16="http://schemas.microsoft.com/office/drawing/2014/main" id="{640078AD-3A65-2140-302D-5657AF551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894" y="4524290"/>
            <a:ext cx="1742118" cy="97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4" descr="The six different types of cloud briefly introduced">
            <a:extLst>
              <a:ext uri="{FF2B5EF4-FFF2-40B4-BE49-F238E27FC236}">
                <a16:creationId xmlns:a16="http://schemas.microsoft.com/office/drawing/2014/main" id="{AC2424CF-CF27-67A9-A119-C219F5E0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478" y="3613982"/>
            <a:ext cx="1066831" cy="68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280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B516-F818-CDE4-855F-234D33FF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1623527"/>
            <a:ext cx="5924938" cy="395320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/>
              <a:t>User Interface Application Layer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98B3-3A70-D290-CB82-57B0CA8D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12/6/2024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FFDC-2C2F-F265-A86F-E70C1F18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9567-80D9-9909-47BD-426BBBF4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7</a:t>
            </a:fld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61328-839A-07D2-AA86-F6CDE426E1C2}"/>
              </a:ext>
            </a:extLst>
          </p:cNvPr>
          <p:cNvSpPr/>
          <p:nvPr/>
        </p:nvSpPr>
        <p:spPr>
          <a:xfrm>
            <a:off x="615820" y="1623528"/>
            <a:ext cx="5691674" cy="19127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C159BCA-0E5A-74A4-9D2B-C2F0C1420C9C}"/>
              </a:ext>
            </a:extLst>
          </p:cNvPr>
          <p:cNvSpPr txBox="1">
            <a:spLocks/>
          </p:cNvSpPr>
          <p:nvPr/>
        </p:nvSpPr>
        <p:spPr>
          <a:xfrm>
            <a:off x="382555" y="205299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Cloud Server Layer                                Data storage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F247DA0-51E8-5EE4-2110-F5BDF86BEA9F}"/>
              </a:ext>
            </a:extLst>
          </p:cNvPr>
          <p:cNvSpPr txBox="1">
            <a:spLocks/>
          </p:cNvSpPr>
          <p:nvPr/>
        </p:nvSpPr>
        <p:spPr>
          <a:xfrm>
            <a:off x="475861" y="3140983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Sensor Layer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45A69AC-0424-B273-F1AE-E255E945B06D}"/>
              </a:ext>
            </a:extLst>
          </p:cNvPr>
          <p:cNvSpPr txBox="1">
            <a:spLocks/>
          </p:cNvSpPr>
          <p:nvPr/>
        </p:nvSpPr>
        <p:spPr>
          <a:xfrm>
            <a:off x="382555" y="2405695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Communication Layer   IoT Gateway Layer      Processing Layer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0DA6EB9-8CE1-3277-F437-C17B16883838}"/>
              </a:ext>
            </a:extLst>
          </p:cNvPr>
          <p:cNvSpPr txBox="1">
            <a:spLocks/>
          </p:cNvSpPr>
          <p:nvPr/>
        </p:nvSpPr>
        <p:spPr>
          <a:xfrm>
            <a:off x="475861" y="274262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Microcontroller Layer  BMS Layer   Data Acquisition Layer   Processing Unit Layer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37EDC0-7686-965A-4F5C-9D4F35C2A25E}"/>
              </a:ext>
            </a:extLst>
          </p:cNvPr>
          <p:cNvCxnSpPr/>
          <p:nvPr/>
        </p:nvCxnSpPr>
        <p:spPr>
          <a:xfrm>
            <a:off x="615820" y="2018847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FD2D2F-3C02-813F-33C1-EA7C7F038144}"/>
              </a:ext>
            </a:extLst>
          </p:cNvPr>
          <p:cNvCxnSpPr/>
          <p:nvPr/>
        </p:nvCxnSpPr>
        <p:spPr>
          <a:xfrm>
            <a:off x="615819" y="2405695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32CE54-46CB-7108-B005-6CB7A7A761A8}"/>
              </a:ext>
            </a:extLst>
          </p:cNvPr>
          <p:cNvCxnSpPr/>
          <p:nvPr/>
        </p:nvCxnSpPr>
        <p:spPr>
          <a:xfrm>
            <a:off x="615819" y="2791111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2EBB10-913A-0C00-1BA9-8CAFFD6AB2CC}"/>
              </a:ext>
            </a:extLst>
          </p:cNvPr>
          <p:cNvCxnSpPr/>
          <p:nvPr/>
        </p:nvCxnSpPr>
        <p:spPr>
          <a:xfrm>
            <a:off x="615819" y="3190724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B5B509-E325-41F7-A69E-41C4680C768B}"/>
              </a:ext>
            </a:extLst>
          </p:cNvPr>
          <p:cNvCxnSpPr/>
          <p:nvPr/>
        </p:nvCxnSpPr>
        <p:spPr>
          <a:xfrm>
            <a:off x="3581400" y="201884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5AC96B-ECCA-58AC-31E9-98DB5E53F1D6}"/>
              </a:ext>
            </a:extLst>
          </p:cNvPr>
          <p:cNvCxnSpPr/>
          <p:nvPr/>
        </p:nvCxnSpPr>
        <p:spPr>
          <a:xfrm>
            <a:off x="4256314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8BB796-81FE-68A5-8E72-43FA6CE2E548}"/>
              </a:ext>
            </a:extLst>
          </p:cNvPr>
          <p:cNvCxnSpPr/>
          <p:nvPr/>
        </p:nvCxnSpPr>
        <p:spPr>
          <a:xfrm>
            <a:off x="2785188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9FDE99-1D13-F0BA-C2B1-6A6C47792384}"/>
              </a:ext>
            </a:extLst>
          </p:cNvPr>
          <p:cNvCxnSpPr/>
          <p:nvPr/>
        </p:nvCxnSpPr>
        <p:spPr>
          <a:xfrm>
            <a:off x="4688632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A32DCF-99A6-2CE7-3BA7-BAB0A78AC74C}"/>
              </a:ext>
            </a:extLst>
          </p:cNvPr>
          <p:cNvCxnSpPr/>
          <p:nvPr/>
        </p:nvCxnSpPr>
        <p:spPr>
          <a:xfrm>
            <a:off x="3021563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F7C209D-8B14-B7A4-634A-CFA51C8D6F14}"/>
              </a:ext>
            </a:extLst>
          </p:cNvPr>
          <p:cNvGraphicFramePr>
            <a:graphicFrameLocks noGrp="1"/>
          </p:cNvGraphicFramePr>
          <p:nvPr/>
        </p:nvGraphicFramePr>
        <p:xfrm>
          <a:off x="7635549" y="1117832"/>
          <a:ext cx="1628195" cy="3041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195">
                  <a:extLst>
                    <a:ext uri="{9D8B030D-6E8A-4147-A177-3AD203B41FA5}">
                      <a16:colId xmlns:a16="http://schemas.microsoft.com/office/drawing/2014/main" val="1882114574"/>
                    </a:ext>
                  </a:extLst>
                </a:gridCol>
              </a:tblGrid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Application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929084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Presentation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261004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Session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9849792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Transport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8042238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Network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7641867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Data Link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4965863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Physical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103966"/>
                  </a:ext>
                </a:extLst>
              </a:tr>
            </a:tbl>
          </a:graphicData>
        </a:graphic>
      </p:graphicFrame>
      <p:sp>
        <p:nvSpPr>
          <p:cNvPr id="36" name="Arrow: Right 35">
            <a:extLst>
              <a:ext uri="{FF2B5EF4-FFF2-40B4-BE49-F238E27FC236}">
                <a16:creationId xmlns:a16="http://schemas.microsoft.com/office/drawing/2014/main" id="{94496337-80A9-DD11-B438-1F4999A8FCF5}"/>
              </a:ext>
            </a:extLst>
          </p:cNvPr>
          <p:cNvSpPr/>
          <p:nvPr/>
        </p:nvSpPr>
        <p:spPr>
          <a:xfrm rot="969476">
            <a:off x="6279989" y="361188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F784C59-3EB7-2D11-95D6-1B6ABB6C32CF}"/>
              </a:ext>
            </a:extLst>
          </p:cNvPr>
          <p:cNvSpPr/>
          <p:nvPr/>
        </p:nvSpPr>
        <p:spPr>
          <a:xfrm rot="969476">
            <a:off x="6279989" y="3155157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3967172-1196-2CD8-C249-FD61778D57BA}"/>
              </a:ext>
            </a:extLst>
          </p:cNvPr>
          <p:cNvSpPr/>
          <p:nvPr/>
        </p:nvSpPr>
        <p:spPr>
          <a:xfrm rot="1087759">
            <a:off x="6292524" y="272869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3FBF87F-E8AA-51FC-A0D5-BFF252C43F57}"/>
              </a:ext>
            </a:extLst>
          </p:cNvPr>
          <p:cNvSpPr/>
          <p:nvPr/>
        </p:nvSpPr>
        <p:spPr>
          <a:xfrm>
            <a:off x="6317704" y="2143436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744A00F-4D9E-8EF0-D798-835BB5429BE7}"/>
              </a:ext>
            </a:extLst>
          </p:cNvPr>
          <p:cNvSpPr/>
          <p:nvPr/>
        </p:nvSpPr>
        <p:spPr>
          <a:xfrm rot="21313321">
            <a:off x="6325298" y="1754341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D9221D2-E741-8C33-BC74-DFA6582B7CB4}"/>
              </a:ext>
            </a:extLst>
          </p:cNvPr>
          <p:cNvSpPr/>
          <p:nvPr/>
        </p:nvSpPr>
        <p:spPr>
          <a:xfrm>
            <a:off x="9263744" y="1262929"/>
            <a:ext cx="874526" cy="118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Ui Ux with solid fill">
            <a:extLst>
              <a:ext uri="{FF2B5EF4-FFF2-40B4-BE49-F238E27FC236}">
                <a16:creationId xmlns:a16="http://schemas.microsoft.com/office/drawing/2014/main" id="{CE9B2F2D-F78F-DE4F-3DAC-B68A6DC9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148" y="864730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D54EEF6-573C-5AA9-1A7C-6109FDA7D9BE}"/>
              </a:ext>
            </a:extLst>
          </p:cNvPr>
          <p:cNvSpPr txBox="1"/>
          <p:nvPr/>
        </p:nvSpPr>
        <p:spPr>
          <a:xfrm>
            <a:off x="138404" y="4561"/>
            <a:ext cx="11468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IOT Architecture for Battery charging management</a:t>
            </a:r>
          </a:p>
        </p:txBody>
      </p:sp>
    </p:spTree>
    <p:extLst>
      <p:ext uri="{BB962C8B-B14F-4D97-AF65-F5344CB8AC3E}">
        <p14:creationId xmlns:p14="http://schemas.microsoft.com/office/powerpoint/2010/main" val="338959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 Monitoring Parameters – Topology - Hardware</vt:lpstr>
      <vt:lpstr>User Interface Application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jagadeeswara kamarajugadda | AP23122100002</dc:creator>
  <cp:lastModifiedBy>jagadeeswara kamarajugadda | AP23122100002</cp:lastModifiedBy>
  <cp:revision>1</cp:revision>
  <dcterms:created xsi:type="dcterms:W3CDTF">2024-12-06T16:02:45Z</dcterms:created>
  <dcterms:modified xsi:type="dcterms:W3CDTF">2024-12-06T16:02:48Z</dcterms:modified>
</cp:coreProperties>
</file>