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57" r:id="rId5"/>
    <p:sldId id="258" r:id="rId6"/>
    <p:sldId id="399" r:id="rId7"/>
    <p:sldId id="400" r:id="rId8"/>
    <p:sldId id="28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AF7CB-7ACF-42E1-9769-CB1172CEA200}" v="518" dt="2024-07-23T07:58:50.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64" autoAdjust="0"/>
    <p:restoredTop sz="91984" autoAdjust="0"/>
  </p:normalViewPr>
  <p:slideViewPr>
    <p:cSldViewPr snapToGrid="0">
      <p:cViewPr varScale="1">
        <p:scale>
          <a:sx n="79" d="100"/>
          <a:sy n="79" d="100"/>
        </p:scale>
        <p:origin x="912" y="96"/>
      </p:cViewPr>
      <p:guideLst/>
    </p:cSldViewPr>
  </p:slideViewPr>
  <p:outlineViewPr>
    <p:cViewPr>
      <p:scale>
        <a:sx n="33" d="100"/>
        <a:sy n="33" d="100"/>
      </p:scale>
      <p:origin x="0" y="-11650"/>
    </p:cViewPr>
  </p:outlineViewPr>
  <p:notesTextViewPr>
    <p:cViewPr>
      <p:scale>
        <a:sx n="1" d="1"/>
        <a:sy n="1" d="1"/>
      </p:scale>
      <p:origin x="0" y="0"/>
    </p:cViewPr>
  </p:notesTextViewPr>
  <p:sorterViewPr>
    <p:cViewPr>
      <p:scale>
        <a:sx n="100" d="100"/>
        <a:sy n="100" d="100"/>
      </p:scale>
      <p:origin x="0" y="-2880"/>
    </p:cViewPr>
  </p:sorterViewPr>
  <p:notesViewPr>
    <p:cSldViewPr snapToGrid="0">
      <p:cViewPr varScale="1">
        <p:scale>
          <a:sx n="72" d="100"/>
          <a:sy n="72" d="100"/>
        </p:scale>
        <p:origin x="301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0E9D3-35D6-41A2-8721-35E54E97FBB5}" type="datetimeFigureOut">
              <a:rPr lang="en-IN" smtClean="0"/>
              <a:t>15-08-2025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06C1D-2A15-49D1-94AC-58C619396119}" type="slidenum">
              <a:rPr lang="en-IN" smtClean="0"/>
              <a:t>‹#›</a:t>
            </a:fld>
            <a:endParaRPr lang="en-IN"/>
          </a:p>
        </p:txBody>
      </p:sp>
    </p:spTree>
    <p:extLst>
      <p:ext uri="{BB962C8B-B14F-4D97-AF65-F5344CB8AC3E}">
        <p14:creationId xmlns:p14="http://schemas.microsoft.com/office/powerpoint/2010/main" val="702779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DB01CDD-2765-4E0B-8E1E-74E5DF634D54}"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713976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956CEB-6CDE-4930-8E1A-D8F60CF96CEF}"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3626813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841D3-185F-47D8-BDE4-D8016A7347DF}"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338911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26FF884-9D0E-4B7A-AF59-2FB766C47657}" type="datetime1">
              <a:rPr lang="en-US" smtClean="0"/>
              <a:t>8/15/2025</a:t>
            </a:fld>
            <a:endParaRPr lang="en-IN"/>
          </a:p>
        </p:txBody>
      </p:sp>
      <p:sp>
        <p:nvSpPr>
          <p:cNvPr id="6" name="Footer Placeholder 5"/>
          <p:cNvSpPr>
            <a:spLocks noGrp="1"/>
          </p:cNvSpPr>
          <p:nvPr>
            <p:ph type="ftr" sz="quarter" idx="11"/>
          </p:nvPr>
        </p:nvSpPr>
        <p:spPr/>
        <p:txBody>
          <a:bodyPr/>
          <a:lstStyle/>
          <a:p>
            <a:r>
              <a:rPr lang="en-US" dirty="0"/>
              <a:t>Jagadeesh_AP2312210002</a:t>
            </a:r>
            <a:endParaRPr lang="en-IN" dirty="0"/>
          </a:p>
        </p:txBody>
      </p:sp>
      <p:sp>
        <p:nvSpPr>
          <p:cNvPr id="7" name="Slide Number Placeholder 6"/>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705026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1AF0DF7-C5E0-43EE-B2C3-C8F633061D7B}" type="datetime1">
              <a:rPr lang="en-US" smtClean="0"/>
              <a:t>8/15/2025</a:t>
            </a:fld>
            <a:endParaRPr lang="en-IN"/>
          </a:p>
        </p:txBody>
      </p:sp>
      <p:sp>
        <p:nvSpPr>
          <p:cNvPr id="8" name="Footer Placeholder 7"/>
          <p:cNvSpPr>
            <a:spLocks noGrp="1"/>
          </p:cNvSpPr>
          <p:nvPr>
            <p:ph type="ftr" sz="quarter" idx="11"/>
          </p:nvPr>
        </p:nvSpPr>
        <p:spPr/>
        <p:txBody>
          <a:bodyPr/>
          <a:lstStyle/>
          <a:p>
            <a:r>
              <a:rPr lang="en-US" dirty="0"/>
              <a:t>Jagadeesh_AP2312210002</a:t>
            </a:r>
            <a:endParaRPr lang="en-IN" dirty="0"/>
          </a:p>
        </p:txBody>
      </p:sp>
      <p:sp>
        <p:nvSpPr>
          <p:cNvPr id="9" name="Slide Number Placeholder 8"/>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879506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4616347-16FC-498A-8B0A-492B3F8815B1}" type="datetime1">
              <a:rPr lang="en-US" smtClean="0"/>
              <a:t>8/15/2025</a:t>
            </a:fld>
            <a:endParaRPr lang="en-IN"/>
          </a:p>
        </p:txBody>
      </p:sp>
      <p:sp>
        <p:nvSpPr>
          <p:cNvPr id="4" name="Footer Placeholder 3"/>
          <p:cNvSpPr>
            <a:spLocks noGrp="1"/>
          </p:cNvSpPr>
          <p:nvPr>
            <p:ph type="ftr" sz="quarter" idx="11"/>
          </p:nvPr>
        </p:nvSpPr>
        <p:spPr/>
        <p:txBody>
          <a:bodyPr/>
          <a:lstStyle/>
          <a:p>
            <a:r>
              <a:rPr lang="en-US" dirty="0"/>
              <a:t>Jagadeesh_AP2312210002</a:t>
            </a:r>
            <a:endParaRPr lang="en-IN" dirty="0"/>
          </a:p>
        </p:txBody>
      </p:sp>
      <p:sp>
        <p:nvSpPr>
          <p:cNvPr id="5" name="Slide Number Placeholder 4"/>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2908073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4F80B-C6ED-4090-B072-93657F87519D}" type="datetime1">
              <a:rPr lang="en-US" smtClean="0"/>
              <a:t>8/15/2025</a:t>
            </a:fld>
            <a:endParaRPr lang="en-IN"/>
          </a:p>
        </p:txBody>
      </p:sp>
      <p:sp>
        <p:nvSpPr>
          <p:cNvPr id="3" name="Footer Placeholder 2"/>
          <p:cNvSpPr>
            <a:spLocks noGrp="1"/>
          </p:cNvSpPr>
          <p:nvPr>
            <p:ph type="ftr" sz="quarter" idx="11"/>
          </p:nvPr>
        </p:nvSpPr>
        <p:spPr/>
        <p:txBody>
          <a:bodyPr/>
          <a:lstStyle/>
          <a:p>
            <a:r>
              <a:rPr lang="en-US" dirty="0"/>
              <a:t>Jagadeesh_AP2312210002</a:t>
            </a:r>
            <a:endParaRPr lang="en-IN" dirty="0"/>
          </a:p>
        </p:txBody>
      </p:sp>
      <p:sp>
        <p:nvSpPr>
          <p:cNvPr id="4" name="Slide Number Placeholder 3"/>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3026406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E4B027-1FEE-41E9-8565-0460820AFA68}" type="datetime1">
              <a:rPr lang="en-US" smtClean="0"/>
              <a:t>8/15/2025</a:t>
            </a:fld>
            <a:endParaRPr lang="en-IN"/>
          </a:p>
        </p:txBody>
      </p:sp>
      <p:sp>
        <p:nvSpPr>
          <p:cNvPr id="6" name="Footer Placeholder 5"/>
          <p:cNvSpPr>
            <a:spLocks noGrp="1"/>
          </p:cNvSpPr>
          <p:nvPr>
            <p:ph type="ftr" sz="quarter" idx="11"/>
          </p:nvPr>
        </p:nvSpPr>
        <p:spPr/>
        <p:txBody>
          <a:bodyPr/>
          <a:lstStyle/>
          <a:p>
            <a:r>
              <a:rPr lang="en-US" dirty="0"/>
              <a:t>Jagadeesh_AP2312210002</a:t>
            </a:r>
            <a:endParaRPr lang="en-IN" dirty="0"/>
          </a:p>
        </p:txBody>
      </p:sp>
      <p:sp>
        <p:nvSpPr>
          <p:cNvPr id="7" name="Slide Number Placeholder 6"/>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715935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F8CD37-D6CD-4F25-B941-5CDE0236D7C2}" type="datetime1">
              <a:rPr lang="en-US" smtClean="0"/>
              <a:t>8/15/2025</a:t>
            </a:fld>
            <a:endParaRPr lang="en-IN"/>
          </a:p>
        </p:txBody>
      </p:sp>
      <p:sp>
        <p:nvSpPr>
          <p:cNvPr id="6" name="Footer Placeholder 5"/>
          <p:cNvSpPr>
            <a:spLocks noGrp="1"/>
          </p:cNvSpPr>
          <p:nvPr>
            <p:ph type="ftr" sz="quarter" idx="11"/>
          </p:nvPr>
        </p:nvSpPr>
        <p:spPr/>
        <p:txBody>
          <a:bodyPr/>
          <a:lstStyle/>
          <a:p>
            <a:r>
              <a:rPr lang="en-US" dirty="0"/>
              <a:t>Jagadeesh_AP2312210002</a:t>
            </a:r>
            <a:endParaRPr lang="en-IN" dirty="0"/>
          </a:p>
        </p:txBody>
      </p:sp>
      <p:sp>
        <p:nvSpPr>
          <p:cNvPr id="7" name="Slide Number Placeholder 6"/>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257518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E079B75-EBAB-4ABC-81F0-E36206D12060}"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3626612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0A49227-6DC0-4EAA-81BA-D4C0E6A15063}" type="datetime1">
              <a:rPr lang="en-US" smtClean="0"/>
              <a:t>8/15/2025</a:t>
            </a:fld>
            <a:endParaRPr lang="en-IN"/>
          </a:p>
        </p:txBody>
      </p:sp>
      <p:sp>
        <p:nvSpPr>
          <p:cNvPr id="5" name="Footer Placeholder 4"/>
          <p:cNvSpPr>
            <a:spLocks noGrp="1"/>
          </p:cNvSpPr>
          <p:nvPr>
            <p:ph type="ftr" sz="quarter" idx="11"/>
          </p:nvPr>
        </p:nvSpPr>
        <p:spPr/>
        <p:txBody>
          <a:bodyPr/>
          <a:lstStyle/>
          <a:p>
            <a:r>
              <a:rPr lang="en-US" dirty="0"/>
              <a:t>Jagadeesh_AP2312210002</a:t>
            </a:r>
            <a:endParaRPr lang="en-IN" dirty="0"/>
          </a:p>
        </p:txBody>
      </p:sp>
      <p:sp>
        <p:nvSpPr>
          <p:cNvPr id="6" name="Slide Number Placeholder 5"/>
          <p:cNvSpPr>
            <a:spLocks noGrp="1"/>
          </p:cNvSpPr>
          <p:nvPr>
            <p:ph type="sldNum" sz="quarter" idx="12"/>
          </p:nvPr>
        </p:nvSpPr>
        <p:spPr/>
        <p:txBody>
          <a:bodyPr/>
          <a:lstStyle/>
          <a:p>
            <a:fld id="{15FCCAAF-6324-40D0-99C1-825B83CC9B2F}" type="slidenum">
              <a:rPr lang="en-IN" smtClean="0"/>
              <a:t>‹#›</a:t>
            </a:fld>
            <a:endParaRPr lang="en-IN"/>
          </a:p>
        </p:txBody>
      </p:sp>
    </p:spTree>
    <p:extLst>
      <p:ext uri="{BB962C8B-B14F-4D97-AF65-F5344CB8AC3E}">
        <p14:creationId xmlns:p14="http://schemas.microsoft.com/office/powerpoint/2010/main" val="132008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EF508-18F7-4B4E-977E-A553DA988B11}" type="datetime1">
              <a:rPr lang="en-US" smtClean="0"/>
              <a:t>8/15/2025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Jagadeesh_AP2312210002</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CCAAF-6324-40D0-99C1-825B83CC9B2F}" type="slidenum">
              <a:rPr lang="en-IN" smtClean="0"/>
              <a:t>‹#›</a:t>
            </a:fld>
            <a:endParaRPr lang="en-IN"/>
          </a:p>
        </p:txBody>
      </p:sp>
    </p:spTree>
    <p:extLst>
      <p:ext uri="{BB962C8B-B14F-4D97-AF65-F5344CB8AC3E}">
        <p14:creationId xmlns:p14="http://schemas.microsoft.com/office/powerpoint/2010/main" val="320079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56357" y="711243"/>
            <a:ext cx="6493448" cy="1352712"/>
          </a:xfrm>
        </p:spPr>
        <p:txBody>
          <a:bodyPr vert="horz" lIns="91440" tIns="45720" rIns="91440" bIns="45720" rtlCol="0" anchor="t">
            <a:noAutofit/>
          </a:bodyPr>
          <a:lstStyle/>
          <a:p>
            <a:pPr algn="l">
              <a:lnSpc>
                <a:spcPct val="150000"/>
              </a:lnSpc>
            </a:pPr>
            <a:r>
              <a:rPr lang="en-US" sz="1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Title – </a:t>
            </a:r>
            <a:br>
              <a:rPr lang="en-US" sz="2800" kern="1200" spc="3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br>
            <a: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Design of IOT Architecture for</a:t>
            </a:r>
            <a:b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br>
            <a: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Battery Charging Management Technology</a:t>
            </a:r>
          </a:p>
        </p:txBody>
      </p:sp>
      <p:grpSp>
        <p:nvGrpSpPr>
          <p:cNvPr id="16" name="Group 15">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7" name="Freeform: Shape 16">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Date Placeholder 3"/>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D350E611-2993-456E-8445-FEE8351BB19B}" type="datetime1">
              <a:rPr lang="en-US" smtClean="0"/>
              <a:pPr>
                <a:spcAft>
                  <a:spcPts val="600"/>
                </a:spcAft>
              </a:pPr>
              <a:t>8/15/2025</a:t>
            </a:fld>
            <a:endParaRPr lang="en-US"/>
          </a:p>
        </p:txBody>
      </p:sp>
      <p:sp>
        <p:nvSpPr>
          <p:cNvPr id="6" name="Footer Placeholder 5"/>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Jagadeesh_AP2312210002</a:t>
            </a:r>
          </a:p>
        </p:txBody>
      </p:sp>
      <p:sp>
        <p:nvSpPr>
          <p:cNvPr id="7" name="Slide Number Placeholder 6"/>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5FCCAAF-6324-40D0-99C1-825B83CC9B2F}" type="slidenum">
              <a:rPr lang="en-US" smtClean="0"/>
              <a:pPr>
                <a:spcAft>
                  <a:spcPts val="600"/>
                </a:spcAft>
              </a:pPr>
              <a:t>1</a:t>
            </a:fld>
            <a:endParaRPr lang="en-US"/>
          </a:p>
        </p:txBody>
      </p:sp>
      <p:sp>
        <p:nvSpPr>
          <p:cNvPr id="8" name="TextBox 7">
            <a:extLst>
              <a:ext uri="{FF2B5EF4-FFF2-40B4-BE49-F238E27FC236}">
                <a16:creationId xmlns:a16="http://schemas.microsoft.com/office/drawing/2014/main" id="{AE14C790-7258-76B7-ED0C-3952226A849A}"/>
              </a:ext>
            </a:extLst>
          </p:cNvPr>
          <p:cNvSpPr txBox="1"/>
          <p:nvPr/>
        </p:nvSpPr>
        <p:spPr>
          <a:xfrm>
            <a:off x="2507" y="5575995"/>
            <a:ext cx="5003867" cy="830997"/>
          </a:xfrm>
          <a:prstGeom prst="rect">
            <a:avLst/>
          </a:prstGeom>
          <a:noFill/>
        </p:spPr>
        <p:txBody>
          <a:bodyPr wrap="square" rtlCol="0">
            <a:spAutoFit/>
          </a:bodyPr>
          <a:lstStyle/>
          <a:p>
            <a:pPr algn="ctr"/>
            <a:r>
              <a:rPr lang="en-US" sz="1600" b="1" kern="1200" dirty="0">
                <a:solidFill>
                  <a:schemeClr val="tx2"/>
                </a:solidFill>
                <a:latin typeface="+mj-lt"/>
                <a:ea typeface="+mj-ea"/>
                <a:cs typeface="+mj-cs"/>
              </a:rPr>
              <a:t>School of Engineering and Sciences (SEAS)</a:t>
            </a:r>
            <a:br>
              <a:rPr lang="en-US" sz="1600" b="1" kern="1200" dirty="0">
                <a:solidFill>
                  <a:schemeClr val="tx2"/>
                </a:solidFill>
                <a:latin typeface="+mj-lt"/>
                <a:ea typeface="+mj-ea"/>
                <a:cs typeface="+mj-cs"/>
              </a:rPr>
            </a:br>
            <a:r>
              <a:rPr lang="en-US" sz="1600" b="1" kern="1200" dirty="0">
                <a:solidFill>
                  <a:schemeClr val="tx2"/>
                </a:solidFill>
                <a:latin typeface="+mj-lt"/>
                <a:ea typeface="+mj-ea"/>
                <a:cs typeface="+mj-cs"/>
              </a:rPr>
              <a:t>Department of Electronics and Communication Engineering</a:t>
            </a:r>
            <a:br>
              <a:rPr lang="en-US" sz="1600" b="1" kern="1200" dirty="0">
                <a:solidFill>
                  <a:schemeClr val="tx2"/>
                </a:solidFill>
                <a:latin typeface="+mj-lt"/>
                <a:ea typeface="+mj-ea"/>
                <a:cs typeface="+mj-cs"/>
              </a:rPr>
            </a:br>
            <a:r>
              <a:rPr lang="en-US" sz="1600" kern="1200" dirty="0">
                <a:solidFill>
                  <a:schemeClr val="tx2"/>
                </a:solidFill>
                <a:latin typeface="+mj-lt"/>
                <a:ea typeface="+mj-ea"/>
                <a:cs typeface="+mj-cs"/>
              </a:rPr>
              <a:t> SRM University, Andhra Pradesh (SRM AP) </a:t>
            </a:r>
            <a:endParaRPr lang="en-US" sz="1600" dirty="0"/>
          </a:p>
        </p:txBody>
      </p:sp>
      <p:sp>
        <p:nvSpPr>
          <p:cNvPr id="11" name="TextBox 10">
            <a:extLst>
              <a:ext uri="{FF2B5EF4-FFF2-40B4-BE49-F238E27FC236}">
                <a16:creationId xmlns:a16="http://schemas.microsoft.com/office/drawing/2014/main" id="{A5F8596C-750C-6011-6B31-33F7DF8A40B1}"/>
              </a:ext>
            </a:extLst>
          </p:cNvPr>
          <p:cNvSpPr txBox="1"/>
          <p:nvPr/>
        </p:nvSpPr>
        <p:spPr>
          <a:xfrm>
            <a:off x="8086225" y="32914"/>
            <a:ext cx="4105470" cy="400110"/>
          </a:xfrm>
          <a:prstGeom prst="rect">
            <a:avLst/>
          </a:prstGeom>
          <a:noFill/>
        </p:spPr>
        <p:txBody>
          <a:bodyPr wrap="square" rtlCol="0">
            <a:spAutoFit/>
          </a:bodyPr>
          <a:lstStyle/>
          <a:p>
            <a:pPr algn="ctr"/>
            <a:r>
              <a:rPr lang="en-US" sz="2000" b="1" dirty="0">
                <a:solidFill>
                  <a:schemeClr val="tx2"/>
                </a:solidFill>
                <a:latin typeface="+mj-lt"/>
                <a:ea typeface="+mj-ea"/>
                <a:cs typeface="+mj-cs"/>
              </a:rPr>
              <a:t>Major project 1</a:t>
            </a:r>
            <a:r>
              <a:rPr lang="en-US" sz="2000" b="1" baseline="30000" dirty="0">
                <a:solidFill>
                  <a:schemeClr val="tx2"/>
                </a:solidFill>
                <a:latin typeface="+mj-lt"/>
                <a:ea typeface="+mj-ea"/>
                <a:cs typeface="+mj-cs"/>
              </a:rPr>
              <a:t>st</a:t>
            </a:r>
            <a:r>
              <a:rPr lang="en-US" sz="2000" b="1" dirty="0">
                <a:solidFill>
                  <a:schemeClr val="tx2"/>
                </a:solidFill>
                <a:latin typeface="+mj-lt"/>
                <a:ea typeface="+mj-ea"/>
                <a:cs typeface="+mj-cs"/>
              </a:rPr>
              <a:t> Review</a:t>
            </a:r>
            <a:r>
              <a:rPr lang="en-US" sz="2000" b="1" kern="1200" dirty="0">
                <a:solidFill>
                  <a:schemeClr val="tx2"/>
                </a:solidFill>
                <a:latin typeface="+mj-lt"/>
                <a:ea typeface="+mj-ea"/>
                <a:cs typeface="+mj-cs"/>
              </a:rPr>
              <a:t> Presentation</a:t>
            </a:r>
            <a:endParaRPr lang="en-US" sz="2000" b="1" dirty="0"/>
          </a:p>
        </p:txBody>
      </p:sp>
      <p:pic>
        <p:nvPicPr>
          <p:cNvPr id="10" name="Picture 9" descr="A black and green logo&#10;&#10;Description automatically generated">
            <a:extLst>
              <a:ext uri="{FF2B5EF4-FFF2-40B4-BE49-F238E27FC236}">
                <a16:creationId xmlns:a16="http://schemas.microsoft.com/office/drawing/2014/main" id="{00387109-12A4-BD5A-150C-D499C1EE4A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1835" y="4321403"/>
            <a:ext cx="3832911" cy="1251603"/>
          </a:xfrm>
          <a:prstGeom prst="rect">
            <a:avLst/>
          </a:prstGeom>
        </p:spPr>
      </p:pic>
      <p:cxnSp>
        <p:nvCxnSpPr>
          <p:cNvPr id="5" name="Straight Connector 4">
            <a:extLst>
              <a:ext uri="{FF2B5EF4-FFF2-40B4-BE49-F238E27FC236}">
                <a16:creationId xmlns:a16="http://schemas.microsoft.com/office/drawing/2014/main" id="{69F68C0E-BDE4-8591-032A-D863A5568E60}"/>
              </a:ext>
            </a:extLst>
          </p:cNvPr>
          <p:cNvCxnSpPr/>
          <p:nvPr/>
        </p:nvCxnSpPr>
        <p:spPr>
          <a:xfrm flipH="1">
            <a:off x="2507" y="4128093"/>
            <a:ext cx="49265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4A9853-8C9C-9FB2-2020-54A6CCFE56E7}"/>
              </a:ext>
            </a:extLst>
          </p:cNvPr>
          <p:cNvSpPr txBox="1"/>
          <p:nvPr/>
        </p:nvSpPr>
        <p:spPr>
          <a:xfrm>
            <a:off x="440555" y="1398472"/>
            <a:ext cx="4287416" cy="2031325"/>
          </a:xfrm>
          <a:prstGeom prst="rect">
            <a:avLst/>
          </a:prstGeom>
          <a:noFill/>
        </p:spPr>
        <p:txBody>
          <a:bodyPr wrap="square" rtlCol="0">
            <a:spAutoFit/>
          </a:bodyPr>
          <a:lstStyle/>
          <a:p>
            <a:pPr algn="ctr"/>
            <a:r>
              <a:rPr lang="en-US" sz="1800" kern="1200" dirty="0">
                <a:solidFill>
                  <a:schemeClr val="tx2"/>
                </a:solidFill>
                <a:latin typeface="+mj-lt"/>
                <a:ea typeface="+mj-ea"/>
                <a:cs typeface="+mj-cs"/>
              </a:rPr>
              <a:t>Presented by</a:t>
            </a:r>
            <a:br>
              <a:rPr lang="en-US" sz="1800" kern="1200" dirty="0">
                <a:solidFill>
                  <a:schemeClr val="tx2"/>
                </a:solidFill>
                <a:latin typeface="+mj-lt"/>
                <a:ea typeface="+mj-ea"/>
                <a:cs typeface="+mj-cs"/>
              </a:rPr>
            </a:br>
            <a:r>
              <a:rPr lang="en-US" sz="1800" b="1" kern="1200" dirty="0">
                <a:solidFill>
                  <a:schemeClr val="tx2"/>
                </a:solidFill>
                <a:latin typeface="+mj-lt"/>
                <a:ea typeface="+mj-ea"/>
                <a:cs typeface="+mj-cs"/>
              </a:rPr>
              <a:t>Jagadeesh_(AP2312210002)</a:t>
            </a:r>
            <a:endParaRPr lang="en-US" sz="1800" kern="1200" dirty="0">
              <a:solidFill>
                <a:schemeClr val="tx2"/>
              </a:solidFill>
              <a:latin typeface="+mj-lt"/>
              <a:ea typeface="+mj-ea"/>
              <a:cs typeface="+mj-cs"/>
            </a:endParaRPr>
          </a:p>
          <a:p>
            <a:pPr algn="ctr"/>
            <a:endParaRPr lang="en-US" dirty="0">
              <a:solidFill>
                <a:schemeClr val="tx2"/>
              </a:solidFill>
              <a:latin typeface="+mj-lt"/>
              <a:ea typeface="+mj-ea"/>
              <a:cs typeface="+mj-cs"/>
            </a:endParaRPr>
          </a:p>
          <a:p>
            <a:pPr algn="ctr"/>
            <a:r>
              <a:rPr lang="en-US" sz="1800" dirty="0">
                <a:latin typeface="Times New Roman" panose="02020603050405020304" pitchFamily="18" charset="0"/>
                <a:cs typeface="Times New Roman" panose="02020603050405020304" pitchFamily="18" charset="0"/>
              </a:rPr>
              <a:t>under the Esteemed guidance of</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solidFill>
                  <a:srgbClr val="008E40"/>
                </a:solidFill>
                <a:latin typeface="Times New Roman" panose="02020603050405020304" pitchFamily="18" charset="0"/>
                <a:cs typeface="Times New Roman" panose="02020603050405020304" pitchFamily="18" charset="0"/>
              </a:rPr>
              <a:t>Dr. Sujith </a:t>
            </a:r>
            <a:r>
              <a:rPr lang="en-US" sz="1800" b="1" dirty="0" err="1">
                <a:solidFill>
                  <a:srgbClr val="008E40"/>
                </a:solidFill>
                <a:latin typeface="Times New Roman" panose="02020603050405020304" pitchFamily="18" charset="0"/>
                <a:cs typeface="Times New Roman" panose="02020603050405020304" pitchFamily="18" charset="0"/>
              </a:rPr>
              <a:t>Kalluri</a:t>
            </a:r>
            <a:r>
              <a:rPr lang="en-US" sz="1800" b="1" dirty="0">
                <a:solidFill>
                  <a:srgbClr val="008E40"/>
                </a:solidFill>
                <a:latin typeface="Times New Roman" panose="02020603050405020304" pitchFamily="18" charset="0"/>
                <a:cs typeface="Times New Roman" panose="02020603050405020304" pitchFamily="18" charset="0"/>
              </a:rPr>
              <a:t> </a:t>
            </a:r>
            <a:r>
              <a:rPr lang="en-US" sz="1800" b="1" dirty="0" err="1">
                <a:solidFill>
                  <a:srgbClr val="008E40"/>
                </a:solidFill>
                <a:latin typeface="Times New Roman" panose="02020603050405020304" pitchFamily="18" charset="0"/>
                <a:cs typeface="Times New Roman" panose="02020603050405020304" pitchFamily="18" charset="0"/>
              </a:rPr>
              <a:t>Ph.D</a:t>
            </a:r>
            <a:br>
              <a:rPr lang="en-US" sz="1800" b="1" dirty="0">
                <a:solidFill>
                  <a:srgbClr val="008E40"/>
                </a:solidFill>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Associate Professor</a:t>
            </a:r>
            <a:endParaRPr lang="en-US" dirty="0"/>
          </a:p>
        </p:txBody>
      </p:sp>
      <p:pic>
        <p:nvPicPr>
          <p:cNvPr id="2050" name="Picture 2" descr="intuions.com">
            <a:extLst>
              <a:ext uri="{FF2B5EF4-FFF2-40B4-BE49-F238E27FC236}">
                <a16:creationId xmlns:a16="http://schemas.microsoft.com/office/drawing/2014/main" id="{0FCAFF62-4320-AD69-DB79-6DCD656F32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896" t="24409" r="25999"/>
          <a:stretch/>
        </p:blipFill>
        <p:spPr bwMode="auto">
          <a:xfrm>
            <a:off x="9537430" y="2698985"/>
            <a:ext cx="2326076" cy="1759004"/>
          </a:xfrm>
          <a:prstGeom prst="decagon">
            <a:avLst/>
          </a:prstGeom>
          <a:noFill/>
          <a:extLst>
            <a:ext uri="{909E8E84-426E-40DD-AFC4-6F175D3DCCD1}">
              <a14:hiddenFill xmlns:a14="http://schemas.microsoft.com/office/drawing/2010/main">
                <a:solidFill>
                  <a:srgbClr val="FFFFFF"/>
                </a:solidFill>
              </a14:hiddenFill>
            </a:ext>
          </a:extLst>
        </p:spPr>
      </p:pic>
      <p:pic>
        <p:nvPicPr>
          <p:cNvPr id="2052" name="Picture 4" descr="The Role Of IoT In Smart Grid Tech - Intuz">
            <a:extLst>
              <a:ext uri="{FF2B5EF4-FFF2-40B4-BE49-F238E27FC236}">
                <a16:creationId xmlns:a16="http://schemas.microsoft.com/office/drawing/2014/main" id="{CDF7FA1B-5A62-DE3D-001C-A0EDF44D5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131" y="4321403"/>
            <a:ext cx="3828249" cy="201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1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title"/>
          </p:nvPr>
        </p:nvSpPr>
        <p:spPr>
          <a:xfrm>
            <a:off x="371062" y="277215"/>
            <a:ext cx="3888526" cy="807646"/>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Outline</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6C19B6FD-226A-4CFB-95DA-A1309CA70088}"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2</a:t>
            </a:fld>
            <a:endParaRPr lang="en-IN"/>
          </a:p>
        </p:txBody>
      </p:sp>
      <p:pic>
        <p:nvPicPr>
          <p:cNvPr id="9" name="Picture 8" descr="A black and green logo&#10;&#10;Description automatically generated">
            <a:extLst>
              <a:ext uri="{FF2B5EF4-FFF2-40B4-BE49-F238E27FC236}">
                <a16:creationId xmlns:a16="http://schemas.microsoft.com/office/drawing/2014/main" id="{A4E8363D-BD78-CB08-68C5-EF4C2730BC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85131" y="909006"/>
            <a:ext cx="2910455" cy="1043708"/>
          </a:xfrm>
          <a:prstGeom prst="rect">
            <a:avLst/>
          </a:prstGeom>
        </p:spPr>
      </p:pic>
      <p:sp>
        <p:nvSpPr>
          <p:cNvPr id="11" name="TextBox 10">
            <a:extLst>
              <a:ext uri="{FF2B5EF4-FFF2-40B4-BE49-F238E27FC236}">
                <a16:creationId xmlns:a16="http://schemas.microsoft.com/office/drawing/2014/main" id="{64245924-1534-2B33-F883-AB95C8907383}"/>
              </a:ext>
            </a:extLst>
          </p:cNvPr>
          <p:cNvSpPr txBox="1"/>
          <p:nvPr/>
        </p:nvSpPr>
        <p:spPr>
          <a:xfrm>
            <a:off x="558093" y="1362076"/>
            <a:ext cx="6097554" cy="2563138"/>
          </a:xfrm>
          <a:prstGeom prst="rect">
            <a:avLst/>
          </a:prstGeom>
          <a:noFill/>
        </p:spPr>
        <p:txBody>
          <a:bodyPr wrap="square">
            <a:spAutoFit/>
          </a:bodyPr>
          <a:lstStyle/>
          <a:p>
            <a:endParaRPr lang="en-US" sz="4800" b="1" dirty="0">
              <a:solidFill>
                <a:srgbClr val="002060"/>
              </a:solidFill>
              <a:cs typeface="Times New Roman" panose="02020603050405020304" pitchFamily="18" charset="0"/>
            </a:endParaRPr>
          </a:p>
          <a:p>
            <a:r>
              <a:rPr lang="en-US" sz="4800" b="1" dirty="0">
                <a:solidFill>
                  <a:srgbClr val="002060"/>
                </a:solidFill>
                <a:cs typeface="Times New Roman" panose="02020603050405020304" pitchFamily="18" charset="0"/>
              </a:rPr>
              <a:t>Abstract</a:t>
            </a:r>
          </a:p>
          <a:p>
            <a:pPr>
              <a:lnSpc>
                <a:spcPct val="150000"/>
              </a:lnSpc>
            </a:pPr>
            <a:endParaRPr lang="en-IN" sz="4800" dirty="0">
              <a:cs typeface="Times New Roman" panose="02020603050405020304" pitchFamily="18" charset="0"/>
            </a:endParaRPr>
          </a:p>
        </p:txBody>
      </p:sp>
    </p:spTree>
    <p:extLst>
      <p:ext uri="{BB962C8B-B14F-4D97-AF65-F5344CB8AC3E}">
        <p14:creationId xmlns:p14="http://schemas.microsoft.com/office/powerpoint/2010/main" val="356997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12" y="69634"/>
            <a:ext cx="10515600" cy="572602"/>
          </a:xfrm>
        </p:spPr>
        <p:txBody>
          <a:bodyPr>
            <a:normAutofit fontScale="90000"/>
          </a:bodyPr>
          <a:lstStyle/>
          <a:p>
            <a:r>
              <a:rPr lang="en-US" b="1" dirty="0">
                <a:solidFill>
                  <a:srgbClr val="002060"/>
                </a:solidFill>
                <a:latin typeface="Times New Roman" panose="02020603050405020304" pitchFamily="18" charset="0"/>
                <a:cs typeface="Times New Roman" panose="02020603050405020304" pitchFamily="18" charset="0"/>
              </a:rPr>
              <a:t>Abstract</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E4F1191F-5C3D-423D-ABD6-BD3A147E22C1}"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3</a:t>
            </a:fld>
            <a:endParaRPr lang="en-IN"/>
          </a:p>
        </p:txBody>
      </p:sp>
      <p:sp>
        <p:nvSpPr>
          <p:cNvPr id="8" name="Rectangle 2">
            <a:extLst>
              <a:ext uri="{FF2B5EF4-FFF2-40B4-BE49-F238E27FC236}">
                <a16:creationId xmlns:a16="http://schemas.microsoft.com/office/drawing/2014/main" id="{A34404C8-E894-A196-EACB-B369F0290F0A}"/>
              </a:ext>
            </a:extLst>
          </p:cNvPr>
          <p:cNvSpPr>
            <a:spLocks noChangeArrowheads="1"/>
          </p:cNvSpPr>
          <p:nvPr/>
        </p:nvSpPr>
        <p:spPr bwMode="auto">
          <a:xfrm>
            <a:off x="75267" y="1198984"/>
            <a:ext cx="11780519" cy="39760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400" b="0" i="0" u="none" strike="noStrike" cap="none" normalizeH="0" baseline="0" dirty="0">
              <a:ln>
                <a:noFill/>
              </a:ln>
              <a:effectLst/>
            </a:endParaRPr>
          </a:p>
        </p:txBody>
      </p:sp>
      <p:pic>
        <p:nvPicPr>
          <p:cNvPr id="3" name="Picture 2" descr="A black and green logo&#10;&#10;Description automatically generated">
            <a:extLst>
              <a:ext uri="{FF2B5EF4-FFF2-40B4-BE49-F238E27FC236}">
                <a16:creationId xmlns:a16="http://schemas.microsoft.com/office/drawing/2014/main" id="{4FBA0B4A-D14C-DA47-559C-B49808150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77373" y="55806"/>
            <a:ext cx="1928015" cy="691398"/>
          </a:xfrm>
          <a:prstGeom prst="rect">
            <a:avLst/>
          </a:prstGeom>
        </p:spPr>
      </p:pic>
      <p:sp>
        <p:nvSpPr>
          <p:cNvPr id="11" name="TextBox 10">
            <a:extLst>
              <a:ext uri="{FF2B5EF4-FFF2-40B4-BE49-F238E27FC236}">
                <a16:creationId xmlns:a16="http://schemas.microsoft.com/office/drawing/2014/main" id="{4BB79985-7FA5-227B-16C1-362DD738E7B0}"/>
              </a:ext>
            </a:extLst>
          </p:cNvPr>
          <p:cNvSpPr txBox="1"/>
          <p:nvPr/>
        </p:nvSpPr>
        <p:spPr>
          <a:xfrm>
            <a:off x="186612" y="910639"/>
            <a:ext cx="12005388" cy="3892732"/>
          </a:xfrm>
          <a:prstGeom prst="rect">
            <a:avLst/>
          </a:prstGeom>
          <a:noFill/>
        </p:spPr>
        <p:txBody>
          <a:bodyPr wrap="square" rtlCol="0">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Problem:</a:t>
            </a:r>
            <a:r>
              <a:rPr kumimoji="0" lang="en-US" altLang="en-US" b="0" i="0" u="none" strike="noStrike" cap="none" normalizeH="0" baseline="0" dirty="0">
                <a:ln>
                  <a:noFill/>
                </a:ln>
                <a:solidFill>
                  <a:schemeClr val="tx1"/>
                </a:solidFill>
                <a:effectLst/>
              </a:rPr>
              <a:t> Rapid EV adoption faces challenges like range anxiety, inconsistent charging, and limited infrastructure.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Solution:</a:t>
            </a:r>
            <a:r>
              <a:rPr kumimoji="0" lang="en-US" altLang="en-US" b="0" i="0" u="none" strike="noStrike" cap="none" normalizeH="0" baseline="0" dirty="0">
                <a:ln>
                  <a:noFill/>
                </a:ln>
                <a:solidFill>
                  <a:schemeClr val="tx1"/>
                </a:solidFill>
                <a:effectLst/>
              </a:rPr>
              <a:t> IoT-based architecture for efficient battery charging.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Features:</a:t>
            </a:r>
            <a:r>
              <a:rPr kumimoji="0" lang="en-US" altLang="en-US" b="0" i="0" u="none" strike="noStrike" cap="none" normalizeH="0" baseline="0" dirty="0">
                <a:ln>
                  <a:noFill/>
                </a:ln>
                <a:solidFill>
                  <a:schemeClr val="tx1"/>
                </a:solidFill>
                <a:effectLst/>
              </a:rPr>
              <a:t> Real-time monitoring, predictive analytics, mobile charging units, centralized cloud platform, and user-friendly mobile app.</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Benefits:</a:t>
            </a:r>
            <a:r>
              <a:rPr kumimoji="0" lang="en-US" altLang="en-US" b="0" i="0" u="none" strike="noStrike" cap="none" normalizeH="0" baseline="0" dirty="0">
                <a:ln>
                  <a:noFill/>
                </a:ln>
                <a:solidFill>
                  <a:schemeClr val="tx1"/>
                </a:solidFill>
                <a:effectLst/>
              </a:rPr>
              <a:t> Enhanced user experience, optimized energy management, improved accessibility, and promotion of EVs and sustainable energy.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Significance:</a:t>
            </a:r>
            <a:r>
              <a:rPr kumimoji="0" lang="en-US" altLang="en-US" b="0" i="0" u="none" strike="noStrike" cap="none" normalizeH="0" baseline="0" dirty="0">
                <a:ln>
                  <a:noFill/>
                </a:ln>
                <a:solidFill>
                  <a:schemeClr val="tx1"/>
                </a:solidFill>
                <a:effectLst/>
              </a:rPr>
              <a:t> Addresses critical issues in EV charging, contributes to a cleaner future, and drives technological advancement. </a:t>
            </a:r>
          </a:p>
        </p:txBody>
      </p:sp>
    </p:spTree>
    <p:extLst>
      <p:ext uri="{BB962C8B-B14F-4D97-AF65-F5344CB8AC3E}">
        <p14:creationId xmlns:p14="http://schemas.microsoft.com/office/powerpoint/2010/main" val="174835603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12" y="69634"/>
            <a:ext cx="10515600" cy="572602"/>
          </a:xfrm>
        </p:spPr>
        <p:txBody>
          <a:bodyPr>
            <a:normAutofit fontScale="90000"/>
          </a:bodyPr>
          <a:lstStyle/>
          <a:p>
            <a:r>
              <a:rPr lang="en-US" b="1" dirty="0">
                <a:solidFill>
                  <a:srgbClr val="002060"/>
                </a:solidFill>
                <a:latin typeface="Times New Roman" panose="02020603050405020304" pitchFamily="18" charset="0"/>
                <a:cs typeface="Times New Roman" panose="02020603050405020304" pitchFamily="18" charset="0"/>
              </a:rPr>
              <a:t>Abstract</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E4F1191F-5C3D-423D-ABD6-BD3A147E22C1}" type="datetime1">
              <a:rPr lang="en-US" smtClean="0"/>
              <a:pPr>
                <a:spcAft>
                  <a:spcPts val="600"/>
                </a:spcAft>
              </a:pPr>
              <a:t>8/15/2025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4</a:t>
            </a:fld>
            <a:endParaRPr lang="en-IN"/>
          </a:p>
        </p:txBody>
      </p:sp>
      <p:sp>
        <p:nvSpPr>
          <p:cNvPr id="8" name="Rectangle 2">
            <a:extLst>
              <a:ext uri="{FF2B5EF4-FFF2-40B4-BE49-F238E27FC236}">
                <a16:creationId xmlns:a16="http://schemas.microsoft.com/office/drawing/2014/main" id="{A34404C8-E894-A196-EACB-B369F0290F0A}"/>
              </a:ext>
            </a:extLst>
          </p:cNvPr>
          <p:cNvSpPr>
            <a:spLocks noChangeArrowheads="1"/>
          </p:cNvSpPr>
          <p:nvPr/>
        </p:nvSpPr>
        <p:spPr bwMode="auto">
          <a:xfrm>
            <a:off x="75267" y="1198984"/>
            <a:ext cx="11780519" cy="39760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400" b="0" i="0" u="none" strike="noStrike" cap="none" normalizeH="0" baseline="0" dirty="0">
              <a:ln>
                <a:noFill/>
              </a:ln>
              <a:effectLst/>
            </a:endParaRPr>
          </a:p>
        </p:txBody>
      </p:sp>
      <p:pic>
        <p:nvPicPr>
          <p:cNvPr id="3" name="Picture 2" descr="A black and green logo&#10;&#10;Description automatically generated">
            <a:extLst>
              <a:ext uri="{FF2B5EF4-FFF2-40B4-BE49-F238E27FC236}">
                <a16:creationId xmlns:a16="http://schemas.microsoft.com/office/drawing/2014/main" id="{4FBA0B4A-D14C-DA47-559C-B49808150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77373" y="55806"/>
            <a:ext cx="1928015" cy="691398"/>
          </a:xfrm>
          <a:prstGeom prst="rect">
            <a:avLst/>
          </a:prstGeom>
        </p:spPr>
      </p:pic>
      <p:sp>
        <p:nvSpPr>
          <p:cNvPr id="12" name="TextBox 11">
            <a:extLst>
              <a:ext uri="{FF2B5EF4-FFF2-40B4-BE49-F238E27FC236}">
                <a16:creationId xmlns:a16="http://schemas.microsoft.com/office/drawing/2014/main" id="{F22C0FA7-432C-DA5E-D397-247BD28295B4}"/>
              </a:ext>
            </a:extLst>
          </p:cNvPr>
          <p:cNvSpPr txBox="1"/>
          <p:nvPr/>
        </p:nvSpPr>
        <p:spPr>
          <a:xfrm>
            <a:off x="186612" y="1198984"/>
            <a:ext cx="11780519" cy="4947765"/>
          </a:xfrm>
          <a:prstGeom prst="rect">
            <a:avLst/>
          </a:prstGeom>
          <a:noFill/>
          <a:ln>
            <a:solidFill>
              <a:schemeClr val="tx1"/>
            </a:solidFill>
          </a:ln>
        </p:spPr>
        <p:txBody>
          <a:bodyPr wrap="square" rtlCol="0">
            <a:spAutoFit/>
          </a:bodyPr>
          <a:lstStyle/>
          <a:p>
            <a:pPr algn="just">
              <a:lnSpc>
                <a:spcPct val="200000"/>
              </a:lnSpc>
            </a:pPr>
            <a:r>
              <a:rPr lang="en-US" sz="1600" kern="100" dirty="0">
                <a:effectLst/>
                <a:ea typeface="Aptos" panose="020B0004020202020204" pitchFamily="34" charset="0"/>
                <a:cs typeface="Times New Roman" panose="02020603050405020304" pitchFamily="18" charset="0"/>
              </a:rPr>
              <a:t>The rapid adoption of electric vehicles (EVs) and renewable energy sources has underscored the need for efficient battery charging solutions. This project proposes comprehensive IoT architecture designed to address common challenges faced in battery charging, including range anxiety, inconsistent charging performance, and limited infrastructure in remote areas. By integrating advanced IoT technologies, including real-time monitoring, predictive analytics, and mobile charging units, the proposed architecture aims to enhance user experience and optimize energy management. The architecture incorporates a centralized cloud platform for data aggregation and analysis, enabling dynamic routing of mobile charging units and predictive maintenance of charging stations. Furthermore, the architecture emphasizes user engagement through mobile applications that provide real-time updates and notifications. The proposed solution not only improves the accessibility and reliability of battery charging but also promotes the adoption of electric vehicles and sustainable energy practices. This paper discusses the methodology, limitations, contributions, and potential future scope of the proposed IoT architecture, highlighting its significance in the evolving landscape of battery management technologies.</a:t>
            </a:r>
          </a:p>
        </p:txBody>
      </p:sp>
    </p:spTree>
    <p:extLst>
      <p:ext uri="{BB962C8B-B14F-4D97-AF65-F5344CB8AC3E}">
        <p14:creationId xmlns:p14="http://schemas.microsoft.com/office/powerpoint/2010/main" val="142614458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6" name="Freeform: Shape 15">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2" name="Freeform: Shape 21">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7685208" y="3694894"/>
            <a:ext cx="4336495" cy="798521"/>
          </a:xfrm>
        </p:spPr>
        <p:txBody>
          <a:bodyPr vert="horz" lIns="91440" tIns="45720" rIns="91440" bIns="45720" rtlCol="0" anchor="ctr">
            <a:normAutofit fontScale="90000"/>
          </a:bodyPr>
          <a:lstStyle/>
          <a:p>
            <a:r>
              <a:rPr lang="en-US" sz="7200" b="1" kern="1200" dirty="0">
                <a:solidFill>
                  <a:schemeClr val="tx2"/>
                </a:solidFill>
                <a:latin typeface="+mj-lt"/>
                <a:ea typeface="+mj-ea"/>
                <a:cs typeface="+mj-cs"/>
              </a:rPr>
              <a:t>Thankyou</a:t>
            </a:r>
            <a:br>
              <a:rPr lang="en-US" sz="4800" b="1" kern="1200" dirty="0">
                <a:solidFill>
                  <a:schemeClr val="tx2"/>
                </a:solidFill>
                <a:latin typeface="+mj-lt"/>
                <a:ea typeface="+mj-ea"/>
                <a:cs typeface="+mj-cs"/>
              </a:rPr>
            </a:br>
            <a:endParaRPr lang="en-US" sz="4800" b="1" kern="1200" dirty="0">
              <a:solidFill>
                <a:schemeClr val="tx2"/>
              </a:solidFill>
              <a:latin typeface="+mj-lt"/>
              <a:ea typeface="+mj-ea"/>
              <a:cs typeface="+mj-cs"/>
            </a:endParaRPr>
          </a:p>
        </p:txBody>
      </p:sp>
      <p:sp>
        <p:nvSpPr>
          <p:cNvPr id="4" name="Date Placeholder 3"/>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6703C8B8-7D1F-4A4F-BDFB-57D2D1403270}" type="datetime1">
              <a:rPr lang="en-US" smtClean="0"/>
              <a:pPr>
                <a:spcAft>
                  <a:spcPts val="600"/>
                </a:spcAft>
              </a:pPr>
              <a:t>8/15/2025</a:t>
            </a:fld>
            <a:endParaRPr lang="en-US"/>
          </a:p>
        </p:txBody>
      </p:sp>
      <p:sp>
        <p:nvSpPr>
          <p:cNvPr id="5" name="Footer Placeholder 4"/>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Jagadeesh_AP2312210002</a:t>
            </a:r>
          </a:p>
        </p:txBody>
      </p:sp>
      <p:sp>
        <p:nvSpPr>
          <p:cNvPr id="6" name="Slide Number Placeholder 5"/>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5FCCAAF-6324-40D0-99C1-825B83CC9B2F}" type="slidenum">
              <a:rPr lang="en-US" smtClean="0"/>
              <a:pPr>
                <a:spcAft>
                  <a:spcPts val="600"/>
                </a:spcAft>
              </a:pPr>
              <a:t>5</a:t>
            </a:fld>
            <a:endParaRPr lang="en-US"/>
          </a:p>
        </p:txBody>
      </p:sp>
      <p:pic>
        <p:nvPicPr>
          <p:cNvPr id="9" name="Picture 8" descr="A black and green logo&#10;&#10;Description automatically generated">
            <a:extLst>
              <a:ext uri="{FF2B5EF4-FFF2-40B4-BE49-F238E27FC236}">
                <a16:creationId xmlns:a16="http://schemas.microsoft.com/office/drawing/2014/main" id="{14E8D04E-7884-D2D4-7CED-5A6DF1209A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297" y="229831"/>
            <a:ext cx="2637504" cy="945825"/>
          </a:xfrm>
          <a:prstGeom prst="rect">
            <a:avLst/>
          </a:prstGeom>
        </p:spPr>
      </p:pic>
    </p:spTree>
    <p:extLst>
      <p:ext uri="{BB962C8B-B14F-4D97-AF65-F5344CB8AC3E}">
        <p14:creationId xmlns:p14="http://schemas.microsoft.com/office/powerpoint/2010/main" val="84156273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99A0BF-B165-43EC-B5EC-4BD64C6CE5AA}">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019B757F763C144918590A58A3C2100" ma:contentTypeVersion="5" ma:contentTypeDescription="Create a new document." ma:contentTypeScope="" ma:versionID="5d9cf66606784fe127c83b82746892c7">
  <xsd:schema xmlns:xsd="http://www.w3.org/2001/XMLSchema" xmlns:xs="http://www.w3.org/2001/XMLSchema" xmlns:p="http://schemas.microsoft.com/office/2006/metadata/properties" xmlns:ns3="f619aea2-d5ad-4208-a18c-92f8e9acac18" targetNamespace="http://schemas.microsoft.com/office/2006/metadata/properties" ma:root="true" ma:fieldsID="fbda49ceb3f46024ee92e61f4938b5da" ns3:_="">
    <xsd:import namespace="f619aea2-d5ad-4208-a18c-92f8e9acac1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19aea2-d5ad-4208-a18c-92f8e9acac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2030F4-1722-4186-8C90-446ABDF889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19aea2-d5ad-4208-a18c-92f8e9acac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49EF365-2DC5-4C2C-A11A-46598278C326}">
  <ds:schemaRefs>
    <ds:schemaRef ds:uri="http://schemas.microsoft.com/sharepoint/v3/contenttype/forms"/>
  </ds:schemaRefs>
</ds:datastoreItem>
</file>

<file path=customXml/itemProps3.xml><?xml version="1.0" encoding="utf-8"?>
<ds:datastoreItem xmlns:ds="http://schemas.openxmlformats.org/officeDocument/2006/customXml" ds:itemID="{B249DF27-365C-4A29-8D2C-AB2B060F964F}">
  <ds:schemaRefs>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f619aea2-d5ad-4208-a18c-92f8e9acac18"/>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8202</TotalTime>
  <Words>375</Words>
  <Application>Microsoft Office PowerPoint</Application>
  <PresentationFormat>Widescreen</PresentationFormat>
  <Paragraphs>33</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ADLaM Display</vt:lpstr>
      <vt:lpstr>Aptos</vt:lpstr>
      <vt:lpstr>Arial</vt:lpstr>
      <vt:lpstr>Calibri</vt:lpstr>
      <vt:lpstr>Calibri Light</vt:lpstr>
      <vt:lpstr>Times New Roman</vt:lpstr>
      <vt:lpstr>Office Theme</vt:lpstr>
      <vt:lpstr>Title –  Design of IOT Architecture for Battery Charging Management Technology</vt:lpstr>
      <vt:lpstr>Outline</vt:lpstr>
      <vt:lpstr>Abstract</vt:lpstr>
      <vt:lpstr>Abstract</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KADIYAM ANUSHA</dc:creator>
  <cp:lastModifiedBy>jagadeeswara kamarajugadda | AP23122100002</cp:lastModifiedBy>
  <cp:revision>505</cp:revision>
  <dcterms:created xsi:type="dcterms:W3CDTF">2021-08-02T06:45:34Z</dcterms:created>
  <dcterms:modified xsi:type="dcterms:W3CDTF">2025-08-15T14:20:10Z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0x010100D019B757F763C144918590A58A3C2100</vt:lpwstr>
  </property>
</Properties>
</file>