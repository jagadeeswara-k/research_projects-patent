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4" r:id="rId2"/>
    <p:sldId id="296" r:id="rId3"/>
    <p:sldId id="400" r:id="rId4"/>
    <p:sldId id="265" r:id="rId5"/>
    <p:sldId id="260" r:id="rId6"/>
    <p:sldId id="436" r:id="rId7"/>
    <p:sldId id="432" r:id="rId8"/>
    <p:sldId id="261" r:id="rId9"/>
    <p:sldId id="40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njit Thapa" initials="RT" lastIdx="1" clrIdx="0">
    <p:extLst>
      <p:ext uri="{19B8F6BF-5375-455C-9EA6-DF929625EA0E}">
        <p15:presenceInfo xmlns:p15="http://schemas.microsoft.com/office/powerpoint/2012/main" userId="6c46541886c5b53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2"/>
  </p:normalViewPr>
  <p:slideViewPr>
    <p:cSldViewPr snapToGrid="0">
      <p:cViewPr varScale="1">
        <p:scale>
          <a:sx n="75" d="100"/>
          <a:sy n="75" d="100"/>
        </p:scale>
        <p:origin x="8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tay\Desktop\Calcula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tay\Desktop\Calculati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Sheet1!$O$11:$O$12</c:f>
              <c:strCache>
                <c:ptCount val="2"/>
                <c:pt idx="0">
                  <c:v>Total Energy  claculation</c:v>
                </c:pt>
                <c:pt idx="1">
                  <c:v>Power sources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Sheet1!$N$13:$N$22</c:f>
              <c:strCache>
                <c:ptCount val="10"/>
                <c:pt idx="0">
                  <c:v>Required full Power From Grid</c:v>
                </c:pt>
                <c:pt idx="1">
                  <c:v>Solar</c:v>
                </c:pt>
                <c:pt idx="2">
                  <c:v>ESS</c:v>
                </c:pt>
                <c:pt idx="3">
                  <c:v>Grid</c:v>
                </c:pt>
                <c:pt idx="4">
                  <c:v>Total Power saving / Day</c:v>
                </c:pt>
                <c:pt idx="6">
                  <c:v>Total Cost  / Day            12rs / unit</c:v>
                </c:pt>
                <c:pt idx="8">
                  <c:v>Total Cost Saving / Day  12rs / unit</c:v>
                </c:pt>
                <c:pt idx="9">
                  <c:v>Spending Amount</c:v>
                </c:pt>
              </c:strCache>
            </c:strRef>
          </c:cat>
          <c:val>
            <c:numRef>
              <c:f>Sheet1!$O$13:$O$22</c:f>
              <c:numCache>
                <c:formatCode>General</c:formatCode>
                <c:ptCount val="10"/>
              </c:numCache>
            </c:numRef>
          </c:val>
          <c:extLst>
            <c:ext xmlns:c16="http://schemas.microsoft.com/office/drawing/2014/chart" uri="{C3380CC4-5D6E-409C-BE32-E72D297353CC}">
              <c16:uniqueId val="{00000000-0927-4525-83BF-4A1308216AE4}"/>
            </c:ext>
          </c:extLst>
        </c:ser>
        <c:ser>
          <c:idx val="1"/>
          <c:order val="1"/>
          <c:tx>
            <c:strRef>
              <c:f>Sheet1!$P$11:$P$12</c:f>
              <c:strCache>
                <c:ptCount val="2"/>
                <c:pt idx="0">
                  <c:v>Total Energy  claculation</c:v>
                </c:pt>
                <c:pt idx="1">
                  <c:v>KW / day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Sheet1!$N$13:$N$22</c:f>
              <c:strCache>
                <c:ptCount val="10"/>
                <c:pt idx="0">
                  <c:v>Required full Power From Grid</c:v>
                </c:pt>
                <c:pt idx="1">
                  <c:v>Solar</c:v>
                </c:pt>
                <c:pt idx="2">
                  <c:v>ESS</c:v>
                </c:pt>
                <c:pt idx="3">
                  <c:v>Grid</c:v>
                </c:pt>
                <c:pt idx="4">
                  <c:v>Total Power saving / Day</c:v>
                </c:pt>
                <c:pt idx="6">
                  <c:v>Total Cost  / Day            12rs / unit</c:v>
                </c:pt>
                <c:pt idx="8">
                  <c:v>Total Cost Saving / Day  12rs / unit</c:v>
                </c:pt>
                <c:pt idx="9">
                  <c:v>Spending Amount</c:v>
                </c:pt>
              </c:strCache>
            </c:strRef>
          </c:cat>
          <c:val>
            <c:numRef>
              <c:f>Sheet1!$P$13:$P$22</c:f>
              <c:numCache>
                <c:formatCode>#,##0</c:formatCode>
                <c:ptCount val="10"/>
                <c:pt idx="0">
                  <c:v>1816.8</c:v>
                </c:pt>
                <c:pt idx="1">
                  <c:v>1032</c:v>
                </c:pt>
                <c:pt idx="2">
                  <c:v>576</c:v>
                </c:pt>
                <c:pt idx="3">
                  <c:v>208.79999999999998</c:v>
                </c:pt>
                <c:pt idx="4">
                  <c:v>1608</c:v>
                </c:pt>
                <c:pt idx="6">
                  <c:v>21801.599999999999</c:v>
                </c:pt>
                <c:pt idx="8">
                  <c:v>19296</c:v>
                </c:pt>
                <c:pt idx="9">
                  <c:v>2505.5999999999985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27-4525-83BF-4A1308216AE4}"/>
            </c:ext>
          </c:extLst>
        </c:ser>
        <c:ser>
          <c:idx val="2"/>
          <c:order val="2"/>
          <c:tx>
            <c:strRef>
              <c:f>Sheet1!$Q$11:$Q$12</c:f>
              <c:strCache>
                <c:ptCount val="2"/>
                <c:pt idx="0">
                  <c:v>Total Energy  claculation</c:v>
                </c:pt>
                <c:pt idx="1">
                  <c:v>KW / Month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Sheet1!$N$13:$N$22</c:f>
              <c:strCache>
                <c:ptCount val="10"/>
                <c:pt idx="0">
                  <c:v>Required full Power From Grid</c:v>
                </c:pt>
                <c:pt idx="1">
                  <c:v>Solar</c:v>
                </c:pt>
                <c:pt idx="2">
                  <c:v>ESS</c:v>
                </c:pt>
                <c:pt idx="3">
                  <c:v>Grid</c:v>
                </c:pt>
                <c:pt idx="4">
                  <c:v>Total Power saving / Day</c:v>
                </c:pt>
                <c:pt idx="6">
                  <c:v>Total Cost  / Day            12rs / unit</c:v>
                </c:pt>
                <c:pt idx="8">
                  <c:v>Total Cost Saving / Day  12rs / unit</c:v>
                </c:pt>
                <c:pt idx="9">
                  <c:v>Spending Amount</c:v>
                </c:pt>
              </c:strCache>
            </c:strRef>
          </c:cat>
          <c:val>
            <c:numRef>
              <c:f>Sheet1!$Q$13:$Q$22</c:f>
              <c:numCache>
                <c:formatCode>#,##0</c:formatCode>
                <c:ptCount val="10"/>
                <c:pt idx="0">
                  <c:v>54504</c:v>
                </c:pt>
                <c:pt idx="1">
                  <c:v>30960</c:v>
                </c:pt>
                <c:pt idx="2">
                  <c:v>17280</c:v>
                </c:pt>
                <c:pt idx="3">
                  <c:v>6263.9999999999991</c:v>
                </c:pt>
                <c:pt idx="4">
                  <c:v>48240</c:v>
                </c:pt>
                <c:pt idx="6">
                  <c:v>654048</c:v>
                </c:pt>
                <c:pt idx="8">
                  <c:v>578880</c:v>
                </c:pt>
                <c:pt idx="9">
                  <c:v>75168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927-4525-83BF-4A1308216AE4}"/>
            </c:ext>
          </c:extLst>
        </c:ser>
        <c:ser>
          <c:idx val="3"/>
          <c:order val="3"/>
          <c:tx>
            <c:strRef>
              <c:f>Sheet1!$R$11:$R$12</c:f>
              <c:strCache>
                <c:ptCount val="2"/>
                <c:pt idx="0">
                  <c:v>Total Energy  claculation</c:v>
                </c:pt>
                <c:pt idx="1">
                  <c:v>KW / year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Sheet1!$N$13:$N$22</c:f>
              <c:strCache>
                <c:ptCount val="10"/>
                <c:pt idx="0">
                  <c:v>Required full Power From Grid</c:v>
                </c:pt>
                <c:pt idx="1">
                  <c:v>Solar</c:v>
                </c:pt>
                <c:pt idx="2">
                  <c:v>ESS</c:v>
                </c:pt>
                <c:pt idx="3">
                  <c:v>Grid</c:v>
                </c:pt>
                <c:pt idx="4">
                  <c:v>Total Power saving / Day</c:v>
                </c:pt>
                <c:pt idx="6">
                  <c:v>Total Cost  / Day            12rs / unit</c:v>
                </c:pt>
                <c:pt idx="8">
                  <c:v>Total Cost Saving / Day  12rs / unit</c:v>
                </c:pt>
                <c:pt idx="9">
                  <c:v>Spending Amount</c:v>
                </c:pt>
              </c:strCache>
            </c:strRef>
          </c:cat>
          <c:val>
            <c:numRef>
              <c:f>Sheet1!$R$13:$R$22</c:f>
              <c:numCache>
                <c:formatCode>#,##0</c:formatCode>
                <c:ptCount val="10"/>
                <c:pt idx="0">
                  <c:v>663132</c:v>
                </c:pt>
                <c:pt idx="1">
                  <c:v>376680</c:v>
                </c:pt>
                <c:pt idx="2">
                  <c:v>210240</c:v>
                </c:pt>
                <c:pt idx="3">
                  <c:v>76212</c:v>
                </c:pt>
                <c:pt idx="4">
                  <c:v>586920</c:v>
                </c:pt>
                <c:pt idx="6">
                  <c:v>7957584</c:v>
                </c:pt>
                <c:pt idx="8">
                  <c:v>7043040</c:v>
                </c:pt>
                <c:pt idx="9">
                  <c:v>914544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927-4525-83BF-4A1308216AE4}"/>
            </c:ext>
          </c:extLst>
        </c:ser>
        <c:ser>
          <c:idx val="4"/>
          <c:order val="4"/>
          <c:tx>
            <c:strRef>
              <c:f>Sheet1!$S$11:$S$12</c:f>
              <c:strCache>
                <c:ptCount val="2"/>
                <c:pt idx="0">
                  <c:v>Total Energy  claculation</c:v>
                </c:pt>
                <c:pt idx="1">
                  <c:v>KW / 5 years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Sheet1!$N$13:$N$22</c:f>
              <c:strCache>
                <c:ptCount val="10"/>
                <c:pt idx="0">
                  <c:v>Required full Power From Grid</c:v>
                </c:pt>
                <c:pt idx="1">
                  <c:v>Solar</c:v>
                </c:pt>
                <c:pt idx="2">
                  <c:v>ESS</c:v>
                </c:pt>
                <c:pt idx="3">
                  <c:v>Grid</c:v>
                </c:pt>
                <c:pt idx="4">
                  <c:v>Total Power saving / Day</c:v>
                </c:pt>
                <c:pt idx="6">
                  <c:v>Total Cost  / Day            12rs / unit</c:v>
                </c:pt>
                <c:pt idx="8">
                  <c:v>Total Cost Saving / Day  12rs / unit</c:v>
                </c:pt>
                <c:pt idx="9">
                  <c:v>Spending Amount</c:v>
                </c:pt>
              </c:strCache>
            </c:strRef>
          </c:cat>
          <c:val>
            <c:numRef>
              <c:f>Sheet1!$S$13:$S$22</c:f>
              <c:numCache>
                <c:formatCode>#,##0</c:formatCode>
                <c:ptCount val="10"/>
                <c:pt idx="0">
                  <c:v>3315660</c:v>
                </c:pt>
                <c:pt idx="1">
                  <c:v>1883400</c:v>
                </c:pt>
                <c:pt idx="2">
                  <c:v>1051200</c:v>
                </c:pt>
                <c:pt idx="3">
                  <c:v>381060</c:v>
                </c:pt>
                <c:pt idx="4">
                  <c:v>2934600</c:v>
                </c:pt>
                <c:pt idx="6">
                  <c:v>39787920</c:v>
                </c:pt>
                <c:pt idx="8">
                  <c:v>35215200</c:v>
                </c:pt>
                <c:pt idx="9">
                  <c:v>4572720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927-4525-83BF-4A1308216A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478262496"/>
        <c:axId val="478254336"/>
      </c:barChart>
      <c:catAx>
        <c:axId val="478262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8254336"/>
        <c:crosses val="autoZero"/>
        <c:auto val="1"/>
        <c:lblAlgn val="ctr"/>
        <c:lblOffset val="100"/>
        <c:noMultiLvlLbl val="0"/>
      </c:catAx>
      <c:valAx>
        <c:axId val="478254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8262496"/>
        <c:crosses val="autoZero"/>
        <c:crossBetween val="between"/>
        <c:majorUnit val="20000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76839396699253759"/>
          <c:w val="0.98553028652809682"/>
          <c:h val="0.139174287433616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Sheet1!$N$27</c:f>
              <c:strCache>
                <c:ptCount val="1"/>
                <c:pt idx="0">
                  <c:v>Fast charging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Sheet1!$O$25:$S$26</c:f>
              <c:strCache>
                <c:ptCount val="5"/>
                <c:pt idx="1">
                  <c:v>Per day</c:v>
                </c:pt>
                <c:pt idx="2">
                  <c:v>Per Month</c:v>
                </c:pt>
                <c:pt idx="3">
                  <c:v>Per Year</c:v>
                </c:pt>
                <c:pt idx="4">
                  <c:v>Per 5 Years</c:v>
                </c:pt>
              </c:strCache>
            </c:strRef>
          </c:cat>
          <c:val>
            <c:numRef>
              <c:f>Sheet1!$O$27:$S$27</c:f>
              <c:numCache>
                <c:formatCode>#,##0</c:formatCode>
                <c:ptCount val="5"/>
                <c:pt idx="1">
                  <c:v>26793.75</c:v>
                </c:pt>
                <c:pt idx="2">
                  <c:v>803812.5</c:v>
                </c:pt>
                <c:pt idx="3">
                  <c:v>9779718.75</c:v>
                </c:pt>
                <c:pt idx="4">
                  <c:v>48898593.75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6D-4FEE-9FC1-6A98E33678CE}"/>
            </c:ext>
          </c:extLst>
        </c:ser>
        <c:ser>
          <c:idx val="1"/>
          <c:order val="1"/>
          <c:tx>
            <c:strRef>
              <c:f>Sheet1!$N$28</c:f>
              <c:strCache>
                <c:ptCount val="1"/>
                <c:pt idx="0">
                  <c:v>Battery Swapping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Sheet1!$O$25:$S$26</c:f>
              <c:strCache>
                <c:ptCount val="5"/>
                <c:pt idx="1">
                  <c:v>Per day</c:v>
                </c:pt>
                <c:pt idx="2">
                  <c:v>Per Month</c:v>
                </c:pt>
                <c:pt idx="3">
                  <c:v>Per Year</c:v>
                </c:pt>
                <c:pt idx="4">
                  <c:v>Per 5 Years</c:v>
                </c:pt>
              </c:strCache>
            </c:strRef>
          </c:cat>
          <c:val>
            <c:numRef>
              <c:f>Sheet1!$O$28:$S$28</c:f>
              <c:numCache>
                <c:formatCode>#,##0</c:formatCode>
                <c:ptCount val="5"/>
                <c:pt idx="1">
                  <c:v>2700</c:v>
                </c:pt>
                <c:pt idx="2">
                  <c:v>81000</c:v>
                </c:pt>
                <c:pt idx="3">
                  <c:v>985500</c:v>
                </c:pt>
                <c:pt idx="4">
                  <c:v>4927500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6D-4FEE-9FC1-6A98E33678CE}"/>
            </c:ext>
          </c:extLst>
        </c:ser>
        <c:ser>
          <c:idx val="2"/>
          <c:order val="2"/>
          <c:tx>
            <c:strRef>
              <c:f>Sheet1!$N$29</c:f>
              <c:strCache>
                <c:ptCount val="1"/>
                <c:pt idx="0">
                  <c:v>Total Revenue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Sheet1!$O$25:$S$26</c:f>
              <c:strCache>
                <c:ptCount val="5"/>
                <c:pt idx="1">
                  <c:v>Per day</c:v>
                </c:pt>
                <c:pt idx="2">
                  <c:v>Per Month</c:v>
                </c:pt>
                <c:pt idx="3">
                  <c:v>Per Year</c:v>
                </c:pt>
                <c:pt idx="4">
                  <c:v>Per 5 Years</c:v>
                </c:pt>
              </c:strCache>
            </c:strRef>
          </c:cat>
          <c:val>
            <c:numRef>
              <c:f>Sheet1!$O$29:$S$29</c:f>
              <c:numCache>
                <c:formatCode>#,##0</c:formatCode>
                <c:ptCount val="5"/>
                <c:pt idx="1">
                  <c:v>29493.75</c:v>
                </c:pt>
                <c:pt idx="2">
                  <c:v>884812.5</c:v>
                </c:pt>
                <c:pt idx="3">
                  <c:v>10765218.75</c:v>
                </c:pt>
                <c:pt idx="4">
                  <c:v>53826093.75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26D-4FEE-9FC1-6A98E33678CE}"/>
            </c:ext>
          </c:extLst>
        </c:ser>
        <c:ser>
          <c:idx val="3"/>
          <c:order val="3"/>
          <c:tx>
            <c:strRef>
              <c:f>Sheet1!$N$30</c:f>
              <c:strCache>
                <c:ptCount val="1"/>
                <c:pt idx="0">
                  <c:v>Spending Amount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Sheet1!$O$25:$S$26</c:f>
              <c:strCache>
                <c:ptCount val="5"/>
                <c:pt idx="1">
                  <c:v>Per day</c:v>
                </c:pt>
                <c:pt idx="2">
                  <c:v>Per Month</c:v>
                </c:pt>
                <c:pt idx="3">
                  <c:v>Per Year</c:v>
                </c:pt>
                <c:pt idx="4">
                  <c:v>Per 5 Years</c:v>
                </c:pt>
              </c:strCache>
            </c:strRef>
          </c:cat>
          <c:val>
            <c:numRef>
              <c:f>Sheet1!$O$30:$S$30</c:f>
              <c:numCache>
                <c:formatCode>#,##0</c:formatCode>
                <c:ptCount val="5"/>
                <c:pt idx="1">
                  <c:v>2505.5999999999985</c:v>
                </c:pt>
                <c:pt idx="2">
                  <c:v>75168</c:v>
                </c:pt>
                <c:pt idx="3">
                  <c:v>914544</c:v>
                </c:pt>
                <c:pt idx="4">
                  <c:v>4572720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26D-4FEE-9FC1-6A98E33678CE}"/>
            </c:ext>
          </c:extLst>
        </c:ser>
        <c:ser>
          <c:idx val="4"/>
          <c:order val="4"/>
          <c:tx>
            <c:strRef>
              <c:f>Sheet1!$N$31</c:f>
              <c:strCache>
                <c:ptCount val="1"/>
                <c:pt idx="0">
                  <c:v>Total Profit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Sheet1!$O$25:$S$26</c:f>
              <c:strCache>
                <c:ptCount val="5"/>
                <c:pt idx="1">
                  <c:v>Per day</c:v>
                </c:pt>
                <c:pt idx="2">
                  <c:v>Per Month</c:v>
                </c:pt>
                <c:pt idx="3">
                  <c:v>Per Year</c:v>
                </c:pt>
                <c:pt idx="4">
                  <c:v>Per 5 Years</c:v>
                </c:pt>
              </c:strCache>
            </c:strRef>
          </c:cat>
          <c:val>
            <c:numRef>
              <c:f>Sheet1!$O$31:$S$31</c:f>
              <c:numCache>
                <c:formatCode>#,##0</c:formatCode>
                <c:ptCount val="5"/>
                <c:pt idx="1">
                  <c:v>26988.15</c:v>
                </c:pt>
                <c:pt idx="2">
                  <c:v>809644.5</c:v>
                </c:pt>
                <c:pt idx="3">
                  <c:v>9850674.75</c:v>
                </c:pt>
                <c:pt idx="4">
                  <c:v>49253373.75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26D-4FEE-9FC1-6A98E33678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557145615"/>
        <c:axId val="1557138895"/>
      </c:barChart>
      <c:catAx>
        <c:axId val="15571456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7138895"/>
        <c:crosses val="autoZero"/>
        <c:auto val="1"/>
        <c:lblAlgn val="ctr"/>
        <c:lblOffset val="100"/>
        <c:noMultiLvlLbl val="0"/>
      </c:catAx>
      <c:valAx>
        <c:axId val="15571388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7145615"/>
        <c:crosses val="autoZero"/>
        <c:crossBetween val="between"/>
        <c:majorUnit val="30000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52D959-BC5A-4E51-A76E-4123E0F7746C}" type="doc">
      <dgm:prSet loTypeId="urn:microsoft.com/office/officeart/2005/8/layout/chevron2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F219F6C-599A-4B5F-A0E6-4E1189775BE0}">
      <dgm:prSet phldrT="[Text]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rgbClr val="002060"/>
              </a:solidFill>
            </a:rPr>
            <a:t>1</a:t>
          </a:r>
        </a:p>
      </dgm:t>
    </dgm:pt>
    <dgm:pt modelId="{04E76FBF-8D74-4E2E-828B-904940BB0BC9}" type="parTrans" cxnId="{75CFBC01-D90C-40DE-8BB3-A45401BDCFA9}">
      <dgm:prSet/>
      <dgm:spPr/>
      <dgm:t>
        <a:bodyPr/>
        <a:lstStyle/>
        <a:p>
          <a:endParaRPr lang="en-US"/>
        </a:p>
      </dgm:t>
    </dgm:pt>
    <dgm:pt modelId="{C5D4DEFE-A79A-496E-BABC-00EF61F3126E}" type="sibTrans" cxnId="{75CFBC01-D90C-40DE-8BB3-A45401BDCFA9}">
      <dgm:prSet/>
      <dgm:spPr/>
      <dgm:t>
        <a:bodyPr/>
        <a:lstStyle/>
        <a:p>
          <a:endParaRPr lang="en-US"/>
        </a:p>
      </dgm:t>
    </dgm:pt>
    <dgm:pt modelId="{F810B482-9324-4098-995D-C7B7044BF2B9}">
      <dgm:prSet phldrT="[Text]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rgbClr val="002060"/>
              </a:solidFill>
            </a:rPr>
            <a:t>2</a:t>
          </a:r>
        </a:p>
      </dgm:t>
    </dgm:pt>
    <dgm:pt modelId="{928665A2-0AB3-421B-82C1-822EF9EA7C4A}" type="parTrans" cxnId="{1B8D07BA-1981-49CB-A6FE-79DBBFF0EE29}">
      <dgm:prSet/>
      <dgm:spPr/>
      <dgm:t>
        <a:bodyPr/>
        <a:lstStyle/>
        <a:p>
          <a:endParaRPr lang="en-US"/>
        </a:p>
      </dgm:t>
    </dgm:pt>
    <dgm:pt modelId="{B0E76584-8490-49ED-8D5A-D07B19AB70C0}" type="sibTrans" cxnId="{1B8D07BA-1981-49CB-A6FE-79DBBFF0EE29}">
      <dgm:prSet/>
      <dgm:spPr/>
      <dgm:t>
        <a:bodyPr/>
        <a:lstStyle/>
        <a:p>
          <a:endParaRPr lang="en-US"/>
        </a:p>
      </dgm:t>
    </dgm:pt>
    <dgm:pt modelId="{F0B4F7A2-D820-49FB-BE78-95AAC2E0E788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sz="2000" b="1" dirty="0"/>
            <a:t>Research Documentation</a:t>
          </a:r>
        </a:p>
      </dgm:t>
    </dgm:pt>
    <dgm:pt modelId="{DE04080B-4166-4F66-A3D7-2E32121C733C}" type="parTrans" cxnId="{C0D8A92C-3B36-4540-812D-B8C993201DFD}">
      <dgm:prSet/>
      <dgm:spPr/>
      <dgm:t>
        <a:bodyPr/>
        <a:lstStyle/>
        <a:p>
          <a:endParaRPr lang="en-US"/>
        </a:p>
      </dgm:t>
    </dgm:pt>
    <dgm:pt modelId="{89B17B23-BD9E-4A03-8520-AF4FEDC426F4}" type="sibTrans" cxnId="{C0D8A92C-3B36-4540-812D-B8C993201DFD}">
      <dgm:prSet/>
      <dgm:spPr/>
      <dgm:t>
        <a:bodyPr/>
        <a:lstStyle/>
        <a:p>
          <a:endParaRPr lang="en-US"/>
        </a:p>
      </dgm:t>
    </dgm:pt>
    <dgm:pt modelId="{DFC1FF5C-BA39-4EFA-B760-7700D07110E1}">
      <dgm:prSet phldrT="[Text]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rgbClr val="002060"/>
              </a:solidFill>
            </a:rPr>
            <a:t>3</a:t>
          </a:r>
        </a:p>
      </dgm:t>
    </dgm:pt>
    <dgm:pt modelId="{3681D131-82DF-4BDC-AFA6-806E1B8EBF4A}" type="parTrans" cxnId="{A8009501-FEBB-4BF8-90A9-ABAEDBE2870E}">
      <dgm:prSet/>
      <dgm:spPr/>
      <dgm:t>
        <a:bodyPr/>
        <a:lstStyle/>
        <a:p>
          <a:endParaRPr lang="en-US"/>
        </a:p>
      </dgm:t>
    </dgm:pt>
    <dgm:pt modelId="{AAD8D7DD-A066-4FA8-9595-002D083543E5}" type="sibTrans" cxnId="{A8009501-FEBB-4BF8-90A9-ABAEDBE2870E}">
      <dgm:prSet/>
      <dgm:spPr/>
      <dgm:t>
        <a:bodyPr/>
        <a:lstStyle/>
        <a:p>
          <a:endParaRPr lang="en-US"/>
        </a:p>
      </dgm:t>
    </dgm:pt>
    <dgm:pt modelId="{4912D53C-787A-47FB-A220-21B353808F24}">
      <dgm:prSet phldrT="[Text]"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2000" b="1" kern="1200">
              <a:latin typeface="Calibri" panose="020F0502020204030204"/>
              <a:ea typeface="+mn-ea"/>
              <a:cs typeface="+mn-cs"/>
            </a:rPr>
            <a:t>Design Patent</a:t>
          </a:r>
          <a:endParaRPr lang="en-US" sz="2000" b="1" kern="1200" dirty="0">
            <a:latin typeface="Calibri" panose="020F0502020204030204"/>
            <a:ea typeface="+mn-ea"/>
            <a:cs typeface="+mn-cs"/>
          </a:endParaRPr>
        </a:p>
      </dgm:t>
    </dgm:pt>
    <dgm:pt modelId="{48DBA872-5210-4E81-9B88-0EB6FA238931}" type="parTrans" cxnId="{246D3AF0-62F9-45E8-B4AB-0635AE183DA2}">
      <dgm:prSet/>
      <dgm:spPr/>
      <dgm:t>
        <a:bodyPr/>
        <a:lstStyle/>
        <a:p>
          <a:endParaRPr lang="en-US"/>
        </a:p>
      </dgm:t>
    </dgm:pt>
    <dgm:pt modelId="{AA8D9649-3299-4CA0-9B9B-E0ABC7893C97}" type="sibTrans" cxnId="{246D3AF0-62F9-45E8-B4AB-0635AE183DA2}">
      <dgm:prSet/>
      <dgm:spPr/>
      <dgm:t>
        <a:bodyPr/>
        <a:lstStyle/>
        <a:p>
          <a:endParaRPr lang="en-US"/>
        </a:p>
      </dgm:t>
    </dgm:pt>
    <dgm:pt modelId="{AC0476D4-BDF0-4DE6-B338-0C4C8AFC334B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sz="2000" b="1" dirty="0"/>
            <a:t>IoT-Enabled EV Charging Prototype</a:t>
          </a:r>
        </a:p>
      </dgm:t>
    </dgm:pt>
    <dgm:pt modelId="{1AFD38A6-D355-4DE7-990F-CE65E01880DF}" type="sibTrans" cxnId="{2D9F0E66-B024-4633-926C-CD3E348685A9}">
      <dgm:prSet/>
      <dgm:spPr/>
      <dgm:t>
        <a:bodyPr/>
        <a:lstStyle/>
        <a:p>
          <a:endParaRPr lang="en-US"/>
        </a:p>
      </dgm:t>
    </dgm:pt>
    <dgm:pt modelId="{9911C9EE-DBB6-4CD7-A2B9-2368A790D5F0}" type="parTrans" cxnId="{2D9F0E66-B024-4633-926C-CD3E348685A9}">
      <dgm:prSet/>
      <dgm:spPr/>
      <dgm:t>
        <a:bodyPr/>
        <a:lstStyle/>
        <a:p>
          <a:endParaRPr lang="en-US"/>
        </a:p>
      </dgm:t>
    </dgm:pt>
    <dgm:pt modelId="{FF0F9836-B049-4B13-8F02-9FBEBD95F56E}">
      <dgm:prSet/>
      <dgm:spPr/>
      <dgm:t>
        <a:bodyPr/>
        <a:lstStyle/>
        <a:p>
          <a:r>
            <a:rPr lang="en-US" sz="1700" dirty="0"/>
            <a:t>Functional Battery Charging Management System</a:t>
          </a:r>
        </a:p>
      </dgm:t>
    </dgm:pt>
    <dgm:pt modelId="{CEFCE008-BCFF-4991-98DA-B1AC3D7E1A21}" type="parTrans" cxnId="{7617F21F-A01E-428D-8519-195639D2C7E1}">
      <dgm:prSet/>
      <dgm:spPr/>
      <dgm:t>
        <a:bodyPr/>
        <a:lstStyle/>
        <a:p>
          <a:endParaRPr lang="en-US"/>
        </a:p>
      </dgm:t>
    </dgm:pt>
    <dgm:pt modelId="{E5DDEC22-71E0-49FF-A6F7-F4F96ACE6815}" type="sibTrans" cxnId="{7617F21F-A01E-428D-8519-195639D2C7E1}">
      <dgm:prSet/>
      <dgm:spPr/>
      <dgm:t>
        <a:bodyPr/>
        <a:lstStyle/>
        <a:p>
          <a:endParaRPr lang="en-US"/>
        </a:p>
      </dgm:t>
    </dgm:pt>
    <dgm:pt modelId="{8C4CB25C-67F7-43DA-8BBA-E8AAECBA1737}">
      <dgm:prSet/>
      <dgm:spPr/>
      <dgm:t>
        <a:bodyPr/>
        <a:lstStyle/>
        <a:p>
          <a:r>
            <a:rPr lang="en-US" sz="1700"/>
            <a:t>Integration with Cloud Infrastructure</a:t>
          </a:r>
          <a:endParaRPr lang="en-US" sz="1700" dirty="0"/>
        </a:p>
      </dgm:t>
    </dgm:pt>
    <dgm:pt modelId="{0F2B7704-D949-4EDD-AB0E-37837D602814}" type="parTrans" cxnId="{9553FDBA-95A3-46AD-85C0-1D22FEB65FE5}">
      <dgm:prSet/>
      <dgm:spPr/>
      <dgm:t>
        <a:bodyPr/>
        <a:lstStyle/>
        <a:p>
          <a:endParaRPr lang="en-US"/>
        </a:p>
      </dgm:t>
    </dgm:pt>
    <dgm:pt modelId="{7FE31740-018A-4842-AC03-0E19819DDBEB}" type="sibTrans" cxnId="{9553FDBA-95A3-46AD-85C0-1D22FEB65FE5}">
      <dgm:prSet/>
      <dgm:spPr/>
      <dgm:t>
        <a:bodyPr/>
        <a:lstStyle/>
        <a:p>
          <a:endParaRPr lang="en-US"/>
        </a:p>
      </dgm:t>
    </dgm:pt>
    <dgm:pt modelId="{05E0A5E5-56D8-468B-8C34-26AC0909E926}">
      <dgm:prSet/>
      <dgm:spPr/>
      <dgm:t>
        <a:bodyPr/>
        <a:lstStyle/>
        <a:p>
          <a:r>
            <a:rPr lang="en-US" sz="1700" dirty="0"/>
            <a:t>Real-Time Monitoring Capabilities</a:t>
          </a:r>
        </a:p>
      </dgm:t>
    </dgm:pt>
    <dgm:pt modelId="{4AA314DA-3E56-4136-A9DF-CA2028533F57}" type="parTrans" cxnId="{0A9B97D2-9C8F-48D7-895C-2B49850E68DD}">
      <dgm:prSet/>
      <dgm:spPr/>
      <dgm:t>
        <a:bodyPr/>
        <a:lstStyle/>
        <a:p>
          <a:endParaRPr lang="en-US"/>
        </a:p>
      </dgm:t>
    </dgm:pt>
    <dgm:pt modelId="{2A7D9610-1E7F-4C9F-ACE7-18D61042E33B}" type="sibTrans" cxnId="{0A9B97D2-9C8F-48D7-895C-2B49850E68DD}">
      <dgm:prSet/>
      <dgm:spPr/>
      <dgm:t>
        <a:bodyPr/>
        <a:lstStyle/>
        <a:p>
          <a:endParaRPr lang="en-US"/>
        </a:p>
      </dgm:t>
    </dgm:pt>
    <dgm:pt modelId="{0BEABC19-7911-4752-8175-8C3F07D046BB}">
      <dgm:prSet/>
      <dgm:spPr/>
      <dgm:t>
        <a:bodyPr/>
        <a:lstStyle/>
        <a:p>
          <a:r>
            <a:rPr lang="en-US" sz="1700" dirty="0"/>
            <a:t>Complete System Architecture Documentation</a:t>
          </a:r>
        </a:p>
      </dgm:t>
    </dgm:pt>
    <dgm:pt modelId="{5308942A-216A-4EB7-946B-1E71D51D913E}" type="parTrans" cxnId="{2ECBD1CC-868B-4056-BE8A-80C48AAD9C09}">
      <dgm:prSet/>
      <dgm:spPr/>
      <dgm:t>
        <a:bodyPr/>
        <a:lstStyle/>
        <a:p>
          <a:endParaRPr lang="en-US"/>
        </a:p>
      </dgm:t>
    </dgm:pt>
    <dgm:pt modelId="{ECE78EF6-EF75-4C13-B9D7-D3D92725E2A5}" type="sibTrans" cxnId="{2ECBD1CC-868B-4056-BE8A-80C48AAD9C09}">
      <dgm:prSet/>
      <dgm:spPr/>
      <dgm:t>
        <a:bodyPr/>
        <a:lstStyle/>
        <a:p>
          <a:endParaRPr lang="en-US"/>
        </a:p>
      </dgm:t>
    </dgm:pt>
    <dgm:pt modelId="{10E6B38C-E5CE-4361-86DB-8252FDF853F2}">
      <dgm:prSet/>
      <dgm:spPr/>
      <dgm:t>
        <a:bodyPr/>
        <a:lstStyle/>
        <a:p>
          <a:r>
            <a:rPr lang="en-US" sz="1700"/>
            <a:t>Performance Analysis Reports</a:t>
          </a:r>
          <a:endParaRPr lang="en-US" sz="1700" dirty="0"/>
        </a:p>
      </dgm:t>
    </dgm:pt>
    <dgm:pt modelId="{9272D5C9-0485-4225-95DE-BE653F33B200}" type="parTrans" cxnId="{734F2376-63B7-4B17-8A9B-6215E3A1D8F2}">
      <dgm:prSet/>
      <dgm:spPr/>
      <dgm:t>
        <a:bodyPr/>
        <a:lstStyle/>
        <a:p>
          <a:endParaRPr lang="en-US"/>
        </a:p>
      </dgm:t>
    </dgm:pt>
    <dgm:pt modelId="{F526877A-4909-4DFA-B5FA-45DFDEB22354}" type="sibTrans" cxnId="{734F2376-63B7-4B17-8A9B-6215E3A1D8F2}">
      <dgm:prSet/>
      <dgm:spPr/>
      <dgm:t>
        <a:bodyPr/>
        <a:lstStyle/>
        <a:p>
          <a:endParaRPr lang="en-US"/>
        </a:p>
      </dgm:t>
    </dgm:pt>
    <dgm:pt modelId="{B13BDAA0-356F-4D83-AE4A-F7AB10862A04}">
      <dgm:prSet/>
      <dgm:spPr/>
      <dgm:t>
        <a:bodyPr/>
        <a:lstStyle/>
        <a:p>
          <a:r>
            <a:rPr lang="en-US" sz="1700" dirty="0"/>
            <a:t>Implementation Guidelines</a:t>
          </a:r>
        </a:p>
      </dgm:t>
    </dgm:pt>
    <dgm:pt modelId="{153029A3-5ECC-4ED7-B47E-54CDD31DA1D7}" type="parTrans" cxnId="{32892DAE-3934-4C37-B77D-55FC87E349FC}">
      <dgm:prSet/>
      <dgm:spPr/>
      <dgm:t>
        <a:bodyPr/>
        <a:lstStyle/>
        <a:p>
          <a:endParaRPr lang="en-US"/>
        </a:p>
      </dgm:t>
    </dgm:pt>
    <dgm:pt modelId="{19AD3028-69C8-4249-AF4A-0406D0DFC9AB}" type="sibTrans" cxnId="{32892DAE-3934-4C37-B77D-55FC87E349FC}">
      <dgm:prSet/>
      <dgm:spPr/>
      <dgm:t>
        <a:bodyPr/>
        <a:lstStyle/>
        <a:p>
          <a:endParaRPr lang="en-US"/>
        </a:p>
      </dgm:t>
    </dgm:pt>
    <dgm:pt modelId="{B0EAFBB2-7883-4CFC-91F3-1BB0C5C699F3}">
      <dgm:prSet/>
      <dgm:spPr/>
      <dgm:t>
        <a:bodyPr/>
        <a:lstStyle/>
        <a:p>
          <a:pPr marL="342900" lvl="2" indent="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en-US" sz="1700" kern="1200"/>
            <a:t>Novel IoT Architecture for Battery Charging</a:t>
          </a:r>
          <a:endParaRPr lang="en-US" sz="1700" kern="1200" dirty="0"/>
        </a:p>
      </dgm:t>
    </dgm:pt>
    <dgm:pt modelId="{DA4CF203-6079-4850-A65B-2AFDACCDBA92}" type="parTrans" cxnId="{FDE9DD64-E622-4AE7-B4EC-353BD4AF4B28}">
      <dgm:prSet/>
      <dgm:spPr/>
      <dgm:t>
        <a:bodyPr/>
        <a:lstStyle/>
        <a:p>
          <a:endParaRPr lang="en-US"/>
        </a:p>
      </dgm:t>
    </dgm:pt>
    <dgm:pt modelId="{ED80170A-88C6-4A71-96A8-B90D4E861A0C}" type="sibTrans" cxnId="{FDE9DD64-E622-4AE7-B4EC-353BD4AF4B28}">
      <dgm:prSet/>
      <dgm:spPr/>
      <dgm:t>
        <a:bodyPr/>
        <a:lstStyle/>
        <a:p>
          <a:endParaRPr lang="en-US"/>
        </a:p>
      </dgm:t>
    </dgm:pt>
    <dgm:pt modelId="{6A30A5D4-E038-469E-8585-EC787A2EC675}">
      <dgm:prSet/>
      <dgm:spPr/>
      <dgm:t>
        <a:bodyPr/>
        <a:lstStyle/>
        <a:p>
          <a:pPr marL="342900" lvl="2" indent="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en-US" sz="1700" kern="1200"/>
            <a:t>Integration Method of Renewable/Non-Renewable Sources</a:t>
          </a:r>
          <a:endParaRPr lang="en-US" sz="1700" kern="1200" dirty="0"/>
        </a:p>
      </dgm:t>
    </dgm:pt>
    <dgm:pt modelId="{583A08A6-CAAE-4B95-AEFA-6F26925C1C80}" type="parTrans" cxnId="{9A3FF108-DF06-48B6-94F4-D1B1D1063C3C}">
      <dgm:prSet/>
      <dgm:spPr/>
      <dgm:t>
        <a:bodyPr/>
        <a:lstStyle/>
        <a:p>
          <a:endParaRPr lang="en-US"/>
        </a:p>
      </dgm:t>
    </dgm:pt>
    <dgm:pt modelId="{E38B71A3-1E88-45E1-80B8-5FCABE5A9F2C}" type="sibTrans" cxnId="{9A3FF108-DF06-48B6-94F4-D1B1D1063C3C}">
      <dgm:prSet/>
      <dgm:spPr/>
      <dgm:t>
        <a:bodyPr/>
        <a:lstStyle/>
        <a:p>
          <a:endParaRPr lang="en-US"/>
        </a:p>
      </dgm:t>
    </dgm:pt>
    <dgm:pt modelId="{F8E31C29-B519-422E-ADCD-621AA3914BDB}">
      <dgm:prSet/>
      <dgm:spPr/>
      <dgm:t>
        <a:bodyPr/>
        <a:lstStyle/>
        <a:p>
          <a:pPr marL="342900" lvl="2" indent="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en-US" sz="1700" kern="1200" dirty="0"/>
            <a:t>Smart Load Management System</a:t>
          </a:r>
        </a:p>
      </dgm:t>
    </dgm:pt>
    <dgm:pt modelId="{E3C4E6B9-497B-498D-B604-5AECBC9F9C84}" type="parTrans" cxnId="{4864C0CF-10A7-43E1-80F3-C94E6173C0E5}">
      <dgm:prSet/>
      <dgm:spPr/>
      <dgm:t>
        <a:bodyPr/>
        <a:lstStyle/>
        <a:p>
          <a:endParaRPr lang="en-US"/>
        </a:p>
      </dgm:t>
    </dgm:pt>
    <dgm:pt modelId="{AC3A2699-28F5-4946-B4F8-A1B0603175E5}" type="sibTrans" cxnId="{4864C0CF-10A7-43E1-80F3-C94E6173C0E5}">
      <dgm:prSet/>
      <dgm:spPr/>
      <dgm:t>
        <a:bodyPr/>
        <a:lstStyle/>
        <a:p>
          <a:endParaRPr lang="en-US"/>
        </a:p>
      </dgm:t>
    </dgm:pt>
    <dgm:pt modelId="{8E752875-FCDB-4BB9-AA8A-2CC7A50713D1}" type="pres">
      <dgm:prSet presAssocID="{3652D959-BC5A-4E51-A76E-4123E0F7746C}" presName="linearFlow" presStyleCnt="0">
        <dgm:presLayoutVars>
          <dgm:dir/>
          <dgm:animLvl val="lvl"/>
          <dgm:resizeHandles val="exact"/>
        </dgm:presLayoutVars>
      </dgm:prSet>
      <dgm:spPr/>
    </dgm:pt>
    <dgm:pt modelId="{0DDF648F-E835-4C7D-A7E7-6EE08A249C3F}" type="pres">
      <dgm:prSet presAssocID="{FF219F6C-599A-4B5F-A0E6-4E1189775BE0}" presName="composite" presStyleCnt="0"/>
      <dgm:spPr/>
    </dgm:pt>
    <dgm:pt modelId="{45FCF3A6-67ED-449A-8F04-9614DBA699AB}" type="pres">
      <dgm:prSet presAssocID="{FF219F6C-599A-4B5F-A0E6-4E1189775BE0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22351A09-08F1-46EA-BFD9-E4982360BD63}" type="pres">
      <dgm:prSet presAssocID="{FF219F6C-599A-4B5F-A0E6-4E1189775BE0}" presName="descendantText" presStyleLbl="alignAcc1" presStyleIdx="0" presStyleCnt="3">
        <dgm:presLayoutVars>
          <dgm:bulletEnabled val="1"/>
        </dgm:presLayoutVars>
      </dgm:prSet>
      <dgm:spPr/>
    </dgm:pt>
    <dgm:pt modelId="{2BFB2DBE-CBC9-4B33-8D9F-0D89AC748917}" type="pres">
      <dgm:prSet presAssocID="{C5D4DEFE-A79A-496E-BABC-00EF61F3126E}" presName="sp" presStyleCnt="0"/>
      <dgm:spPr/>
    </dgm:pt>
    <dgm:pt modelId="{D1B113F9-CE4C-41E5-A751-419857664CC3}" type="pres">
      <dgm:prSet presAssocID="{F810B482-9324-4098-995D-C7B7044BF2B9}" presName="composite" presStyleCnt="0"/>
      <dgm:spPr/>
    </dgm:pt>
    <dgm:pt modelId="{2F8A5EC5-BF4A-427A-9D07-3CA0AC30C6B7}" type="pres">
      <dgm:prSet presAssocID="{F810B482-9324-4098-995D-C7B7044BF2B9}" presName="parentText" presStyleLbl="alignNode1" presStyleIdx="1" presStyleCnt="3" custLinFactNeighborX="-36332" custLinFactNeighborY="-2804">
        <dgm:presLayoutVars>
          <dgm:chMax val="1"/>
          <dgm:bulletEnabled val="1"/>
        </dgm:presLayoutVars>
      </dgm:prSet>
      <dgm:spPr/>
    </dgm:pt>
    <dgm:pt modelId="{7F3852D9-183C-4560-8B94-39F00C66E841}" type="pres">
      <dgm:prSet presAssocID="{F810B482-9324-4098-995D-C7B7044BF2B9}" presName="descendantText" presStyleLbl="alignAcc1" presStyleIdx="1" presStyleCnt="3">
        <dgm:presLayoutVars>
          <dgm:bulletEnabled val="1"/>
        </dgm:presLayoutVars>
      </dgm:prSet>
      <dgm:spPr/>
    </dgm:pt>
    <dgm:pt modelId="{03265336-889D-49CD-B00D-2452055A81F5}" type="pres">
      <dgm:prSet presAssocID="{B0E76584-8490-49ED-8D5A-D07B19AB70C0}" presName="sp" presStyleCnt="0"/>
      <dgm:spPr/>
    </dgm:pt>
    <dgm:pt modelId="{1C207BD9-3E30-4241-8F8C-6F4350DB2CD9}" type="pres">
      <dgm:prSet presAssocID="{DFC1FF5C-BA39-4EFA-B760-7700D07110E1}" presName="composite" presStyleCnt="0"/>
      <dgm:spPr/>
    </dgm:pt>
    <dgm:pt modelId="{232FB156-E9D7-461E-8A8B-3A1FC08DAAE1}" type="pres">
      <dgm:prSet presAssocID="{DFC1FF5C-BA39-4EFA-B760-7700D07110E1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36C428E4-F94F-4547-81DE-932DFBDC91BE}" type="pres">
      <dgm:prSet presAssocID="{DFC1FF5C-BA39-4EFA-B760-7700D07110E1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A8009501-FEBB-4BF8-90A9-ABAEDBE2870E}" srcId="{3652D959-BC5A-4E51-A76E-4123E0F7746C}" destId="{DFC1FF5C-BA39-4EFA-B760-7700D07110E1}" srcOrd="2" destOrd="0" parTransId="{3681D131-82DF-4BDC-AFA6-806E1B8EBF4A}" sibTransId="{AAD8D7DD-A066-4FA8-9595-002D083543E5}"/>
    <dgm:cxn modelId="{75CFBC01-D90C-40DE-8BB3-A45401BDCFA9}" srcId="{3652D959-BC5A-4E51-A76E-4123E0F7746C}" destId="{FF219F6C-599A-4B5F-A0E6-4E1189775BE0}" srcOrd="0" destOrd="0" parTransId="{04E76FBF-8D74-4E2E-828B-904940BB0BC9}" sibTransId="{C5D4DEFE-A79A-496E-BABC-00EF61F3126E}"/>
    <dgm:cxn modelId="{38BD8208-4B4E-4741-9526-0D7EB4739D13}" type="presOf" srcId="{F810B482-9324-4098-995D-C7B7044BF2B9}" destId="{2F8A5EC5-BF4A-427A-9D07-3CA0AC30C6B7}" srcOrd="0" destOrd="0" presId="urn:microsoft.com/office/officeart/2005/8/layout/chevron2"/>
    <dgm:cxn modelId="{9A3FF108-DF06-48B6-94F4-D1B1D1063C3C}" srcId="{4912D53C-787A-47FB-A220-21B353808F24}" destId="{6A30A5D4-E038-469E-8585-EC787A2EC675}" srcOrd="1" destOrd="0" parTransId="{583A08A6-CAAE-4B95-AEFA-6F26925C1C80}" sibTransId="{E38B71A3-1E88-45E1-80B8-5FCABE5A9F2C}"/>
    <dgm:cxn modelId="{7617F21F-A01E-428D-8519-195639D2C7E1}" srcId="{AC0476D4-BDF0-4DE6-B338-0C4C8AFC334B}" destId="{FF0F9836-B049-4B13-8F02-9FBEBD95F56E}" srcOrd="0" destOrd="0" parTransId="{CEFCE008-BCFF-4991-98DA-B1AC3D7E1A21}" sibTransId="{E5DDEC22-71E0-49FF-A6F7-F4F96ACE6815}"/>
    <dgm:cxn modelId="{C0D8A92C-3B36-4540-812D-B8C993201DFD}" srcId="{F810B482-9324-4098-995D-C7B7044BF2B9}" destId="{F0B4F7A2-D820-49FB-BE78-95AAC2E0E788}" srcOrd="0" destOrd="0" parTransId="{DE04080B-4166-4F66-A3D7-2E32121C733C}" sibTransId="{89B17B23-BD9E-4A03-8520-AF4FEDC426F4}"/>
    <dgm:cxn modelId="{1CA0CB3D-0549-435E-B72F-6CB02309FEAA}" type="presOf" srcId="{4912D53C-787A-47FB-A220-21B353808F24}" destId="{36C428E4-F94F-4547-81DE-932DFBDC91BE}" srcOrd="0" destOrd="0" presId="urn:microsoft.com/office/officeart/2005/8/layout/chevron2"/>
    <dgm:cxn modelId="{ECEBFB5B-10C7-4829-9BF1-E43D73AB803D}" type="presOf" srcId="{AC0476D4-BDF0-4DE6-B338-0C4C8AFC334B}" destId="{22351A09-08F1-46EA-BFD9-E4982360BD63}" srcOrd="0" destOrd="0" presId="urn:microsoft.com/office/officeart/2005/8/layout/chevron2"/>
    <dgm:cxn modelId="{FDE9DD64-E622-4AE7-B4EC-353BD4AF4B28}" srcId="{4912D53C-787A-47FB-A220-21B353808F24}" destId="{B0EAFBB2-7883-4CFC-91F3-1BB0C5C699F3}" srcOrd="0" destOrd="0" parTransId="{DA4CF203-6079-4850-A65B-2AFDACCDBA92}" sibTransId="{ED80170A-88C6-4A71-96A8-B90D4E861A0C}"/>
    <dgm:cxn modelId="{A007D145-8099-4C55-888A-79F4BD416F82}" type="presOf" srcId="{FF219F6C-599A-4B5F-A0E6-4E1189775BE0}" destId="{45FCF3A6-67ED-449A-8F04-9614DBA699AB}" srcOrd="0" destOrd="0" presId="urn:microsoft.com/office/officeart/2005/8/layout/chevron2"/>
    <dgm:cxn modelId="{2D9F0E66-B024-4633-926C-CD3E348685A9}" srcId="{FF219F6C-599A-4B5F-A0E6-4E1189775BE0}" destId="{AC0476D4-BDF0-4DE6-B338-0C4C8AFC334B}" srcOrd="0" destOrd="0" parTransId="{9911C9EE-DBB6-4CD7-A2B9-2368A790D5F0}" sibTransId="{1AFD38A6-D355-4DE7-990F-CE65E01880DF}"/>
    <dgm:cxn modelId="{8086CD46-9617-4254-96E8-196AD3E4C58A}" type="presOf" srcId="{05E0A5E5-56D8-468B-8C34-26AC0909E926}" destId="{22351A09-08F1-46EA-BFD9-E4982360BD63}" srcOrd="0" destOrd="3" presId="urn:microsoft.com/office/officeart/2005/8/layout/chevron2"/>
    <dgm:cxn modelId="{E3C5AB52-CCBA-4B63-BCAA-11A2583FD53B}" type="presOf" srcId="{10E6B38C-E5CE-4361-86DB-8252FDF853F2}" destId="{7F3852D9-183C-4560-8B94-39F00C66E841}" srcOrd="0" destOrd="2" presId="urn:microsoft.com/office/officeart/2005/8/layout/chevron2"/>
    <dgm:cxn modelId="{734F2376-63B7-4B17-8A9B-6215E3A1D8F2}" srcId="{F0B4F7A2-D820-49FB-BE78-95AAC2E0E788}" destId="{10E6B38C-E5CE-4361-86DB-8252FDF853F2}" srcOrd="1" destOrd="0" parTransId="{9272D5C9-0485-4225-95DE-BE653F33B200}" sibTransId="{F526877A-4909-4DFA-B5FA-45DFDEB22354}"/>
    <dgm:cxn modelId="{9976C977-CA56-4EF9-82DD-EDC7A4AA8E89}" type="presOf" srcId="{F8E31C29-B519-422E-ADCD-621AA3914BDB}" destId="{36C428E4-F94F-4547-81DE-932DFBDC91BE}" srcOrd="0" destOrd="3" presId="urn:microsoft.com/office/officeart/2005/8/layout/chevron2"/>
    <dgm:cxn modelId="{85FE1480-AF13-4A54-8220-B31B2776D37E}" type="presOf" srcId="{F0B4F7A2-D820-49FB-BE78-95AAC2E0E788}" destId="{7F3852D9-183C-4560-8B94-39F00C66E841}" srcOrd="0" destOrd="0" presId="urn:microsoft.com/office/officeart/2005/8/layout/chevron2"/>
    <dgm:cxn modelId="{EA189797-D77D-474E-BD36-315D0090223A}" type="presOf" srcId="{B0EAFBB2-7883-4CFC-91F3-1BB0C5C699F3}" destId="{36C428E4-F94F-4547-81DE-932DFBDC91BE}" srcOrd="0" destOrd="1" presId="urn:microsoft.com/office/officeart/2005/8/layout/chevron2"/>
    <dgm:cxn modelId="{B676099D-A7E6-4807-A577-5AC363E26692}" type="presOf" srcId="{0BEABC19-7911-4752-8175-8C3F07D046BB}" destId="{7F3852D9-183C-4560-8B94-39F00C66E841}" srcOrd="0" destOrd="1" presId="urn:microsoft.com/office/officeart/2005/8/layout/chevron2"/>
    <dgm:cxn modelId="{5B6299A4-2ADF-4264-8AAB-163E3AD66AD6}" type="presOf" srcId="{FF0F9836-B049-4B13-8F02-9FBEBD95F56E}" destId="{22351A09-08F1-46EA-BFD9-E4982360BD63}" srcOrd="0" destOrd="1" presId="urn:microsoft.com/office/officeart/2005/8/layout/chevron2"/>
    <dgm:cxn modelId="{0021F1A9-185F-4577-A17A-BC09963D3FD0}" type="presOf" srcId="{3652D959-BC5A-4E51-A76E-4123E0F7746C}" destId="{8E752875-FCDB-4BB9-AA8A-2CC7A50713D1}" srcOrd="0" destOrd="0" presId="urn:microsoft.com/office/officeart/2005/8/layout/chevron2"/>
    <dgm:cxn modelId="{32892DAE-3934-4C37-B77D-55FC87E349FC}" srcId="{F0B4F7A2-D820-49FB-BE78-95AAC2E0E788}" destId="{B13BDAA0-356F-4D83-AE4A-F7AB10862A04}" srcOrd="2" destOrd="0" parTransId="{153029A3-5ECC-4ED7-B47E-54CDD31DA1D7}" sibTransId="{19AD3028-69C8-4249-AF4A-0406D0DFC9AB}"/>
    <dgm:cxn modelId="{1B8D07BA-1981-49CB-A6FE-79DBBFF0EE29}" srcId="{3652D959-BC5A-4E51-A76E-4123E0F7746C}" destId="{F810B482-9324-4098-995D-C7B7044BF2B9}" srcOrd="1" destOrd="0" parTransId="{928665A2-0AB3-421B-82C1-822EF9EA7C4A}" sibTransId="{B0E76584-8490-49ED-8D5A-D07B19AB70C0}"/>
    <dgm:cxn modelId="{9553FDBA-95A3-46AD-85C0-1D22FEB65FE5}" srcId="{AC0476D4-BDF0-4DE6-B338-0C4C8AFC334B}" destId="{8C4CB25C-67F7-43DA-8BBA-E8AAECBA1737}" srcOrd="1" destOrd="0" parTransId="{0F2B7704-D949-4EDD-AB0E-37837D602814}" sibTransId="{7FE31740-018A-4842-AC03-0E19819DDBEB}"/>
    <dgm:cxn modelId="{C42190C6-D479-4B03-ACE2-3DE3A0FCAD1A}" type="presOf" srcId="{6A30A5D4-E038-469E-8585-EC787A2EC675}" destId="{36C428E4-F94F-4547-81DE-932DFBDC91BE}" srcOrd="0" destOrd="2" presId="urn:microsoft.com/office/officeart/2005/8/layout/chevron2"/>
    <dgm:cxn modelId="{2ECBD1CC-868B-4056-BE8A-80C48AAD9C09}" srcId="{F0B4F7A2-D820-49FB-BE78-95AAC2E0E788}" destId="{0BEABC19-7911-4752-8175-8C3F07D046BB}" srcOrd="0" destOrd="0" parTransId="{5308942A-216A-4EB7-946B-1E71D51D913E}" sibTransId="{ECE78EF6-EF75-4C13-B9D7-D3D92725E2A5}"/>
    <dgm:cxn modelId="{4864C0CF-10A7-43E1-80F3-C94E6173C0E5}" srcId="{4912D53C-787A-47FB-A220-21B353808F24}" destId="{F8E31C29-B519-422E-ADCD-621AA3914BDB}" srcOrd="2" destOrd="0" parTransId="{E3C4E6B9-497B-498D-B604-5AECBC9F9C84}" sibTransId="{AC3A2699-28F5-4946-B4F8-A1B0603175E5}"/>
    <dgm:cxn modelId="{0A9B97D2-9C8F-48D7-895C-2B49850E68DD}" srcId="{AC0476D4-BDF0-4DE6-B338-0C4C8AFC334B}" destId="{05E0A5E5-56D8-468B-8C34-26AC0909E926}" srcOrd="2" destOrd="0" parTransId="{4AA314DA-3E56-4136-A9DF-CA2028533F57}" sibTransId="{2A7D9610-1E7F-4C9F-ACE7-18D61042E33B}"/>
    <dgm:cxn modelId="{A51156D5-9F77-4C00-A39E-F95C20A9C997}" type="presOf" srcId="{DFC1FF5C-BA39-4EFA-B760-7700D07110E1}" destId="{232FB156-E9D7-461E-8A8B-3A1FC08DAAE1}" srcOrd="0" destOrd="0" presId="urn:microsoft.com/office/officeart/2005/8/layout/chevron2"/>
    <dgm:cxn modelId="{9E4E53EC-9401-4B61-83F7-ED172FD4BDCF}" type="presOf" srcId="{B13BDAA0-356F-4D83-AE4A-F7AB10862A04}" destId="{7F3852D9-183C-4560-8B94-39F00C66E841}" srcOrd="0" destOrd="3" presId="urn:microsoft.com/office/officeart/2005/8/layout/chevron2"/>
    <dgm:cxn modelId="{246D3AF0-62F9-45E8-B4AB-0635AE183DA2}" srcId="{DFC1FF5C-BA39-4EFA-B760-7700D07110E1}" destId="{4912D53C-787A-47FB-A220-21B353808F24}" srcOrd="0" destOrd="0" parTransId="{48DBA872-5210-4E81-9B88-0EB6FA238931}" sibTransId="{AA8D9649-3299-4CA0-9B9B-E0ABC7893C97}"/>
    <dgm:cxn modelId="{00F8A8F2-63C3-4CDC-90C9-A01F361203CA}" type="presOf" srcId="{8C4CB25C-67F7-43DA-8BBA-E8AAECBA1737}" destId="{22351A09-08F1-46EA-BFD9-E4982360BD63}" srcOrd="0" destOrd="2" presId="urn:microsoft.com/office/officeart/2005/8/layout/chevron2"/>
    <dgm:cxn modelId="{B5570B92-C18C-4A18-852F-F21257E7FD63}" type="presParOf" srcId="{8E752875-FCDB-4BB9-AA8A-2CC7A50713D1}" destId="{0DDF648F-E835-4C7D-A7E7-6EE08A249C3F}" srcOrd="0" destOrd="0" presId="urn:microsoft.com/office/officeart/2005/8/layout/chevron2"/>
    <dgm:cxn modelId="{6D6E4B69-0475-410E-9C2E-1E5ED331F143}" type="presParOf" srcId="{0DDF648F-E835-4C7D-A7E7-6EE08A249C3F}" destId="{45FCF3A6-67ED-449A-8F04-9614DBA699AB}" srcOrd="0" destOrd="0" presId="urn:microsoft.com/office/officeart/2005/8/layout/chevron2"/>
    <dgm:cxn modelId="{20EA1CA5-1C55-4537-A09A-2F5F97E85C08}" type="presParOf" srcId="{0DDF648F-E835-4C7D-A7E7-6EE08A249C3F}" destId="{22351A09-08F1-46EA-BFD9-E4982360BD63}" srcOrd="1" destOrd="0" presId="urn:microsoft.com/office/officeart/2005/8/layout/chevron2"/>
    <dgm:cxn modelId="{F1326927-BCEA-458C-B172-23B2A5D3A951}" type="presParOf" srcId="{8E752875-FCDB-4BB9-AA8A-2CC7A50713D1}" destId="{2BFB2DBE-CBC9-4B33-8D9F-0D89AC748917}" srcOrd="1" destOrd="0" presId="urn:microsoft.com/office/officeart/2005/8/layout/chevron2"/>
    <dgm:cxn modelId="{EC7D6A99-645B-481C-8B53-A3237BE34648}" type="presParOf" srcId="{8E752875-FCDB-4BB9-AA8A-2CC7A50713D1}" destId="{D1B113F9-CE4C-41E5-A751-419857664CC3}" srcOrd="2" destOrd="0" presId="urn:microsoft.com/office/officeart/2005/8/layout/chevron2"/>
    <dgm:cxn modelId="{A9C64E64-6B03-4F24-B84E-6777703330C1}" type="presParOf" srcId="{D1B113F9-CE4C-41E5-A751-419857664CC3}" destId="{2F8A5EC5-BF4A-427A-9D07-3CA0AC30C6B7}" srcOrd="0" destOrd="0" presId="urn:microsoft.com/office/officeart/2005/8/layout/chevron2"/>
    <dgm:cxn modelId="{55F3B970-4E38-435E-8615-97BD4CCC2A42}" type="presParOf" srcId="{D1B113F9-CE4C-41E5-A751-419857664CC3}" destId="{7F3852D9-183C-4560-8B94-39F00C66E841}" srcOrd="1" destOrd="0" presId="urn:microsoft.com/office/officeart/2005/8/layout/chevron2"/>
    <dgm:cxn modelId="{A92D2D78-4DA3-4A36-A1CA-286AE2B76A4D}" type="presParOf" srcId="{8E752875-FCDB-4BB9-AA8A-2CC7A50713D1}" destId="{03265336-889D-49CD-B00D-2452055A81F5}" srcOrd="3" destOrd="0" presId="urn:microsoft.com/office/officeart/2005/8/layout/chevron2"/>
    <dgm:cxn modelId="{7A9A6C5E-52E0-44D3-A59D-1851D37E1D0A}" type="presParOf" srcId="{8E752875-FCDB-4BB9-AA8A-2CC7A50713D1}" destId="{1C207BD9-3E30-4241-8F8C-6F4350DB2CD9}" srcOrd="4" destOrd="0" presId="urn:microsoft.com/office/officeart/2005/8/layout/chevron2"/>
    <dgm:cxn modelId="{2C733CE5-6156-4BD7-920D-B2810EB13572}" type="presParOf" srcId="{1C207BD9-3E30-4241-8F8C-6F4350DB2CD9}" destId="{232FB156-E9D7-461E-8A8B-3A1FC08DAAE1}" srcOrd="0" destOrd="0" presId="urn:microsoft.com/office/officeart/2005/8/layout/chevron2"/>
    <dgm:cxn modelId="{B085AC45-5D72-4B41-840F-88D304C8F115}" type="presParOf" srcId="{1C207BD9-3E30-4241-8F8C-6F4350DB2CD9}" destId="{36C428E4-F94F-4547-81DE-932DFBDC91B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FCF3A6-67ED-449A-8F04-9614DBA699AB}">
      <dsp:nvSpPr>
        <dsp:cNvPr id="0" name=""/>
        <dsp:cNvSpPr/>
      </dsp:nvSpPr>
      <dsp:spPr>
        <a:xfrm rot="5400000">
          <a:off x="-284149" y="289880"/>
          <a:ext cx="1894330" cy="1326031"/>
        </a:xfrm>
        <a:prstGeom prst="chevron">
          <a:avLst/>
        </a:prstGeom>
        <a:solidFill>
          <a:schemeClr val="accent4">
            <a:lumMod val="60000"/>
            <a:lumOff val="4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>
              <a:solidFill>
                <a:srgbClr val="002060"/>
              </a:solidFill>
            </a:rPr>
            <a:t>1</a:t>
          </a:r>
        </a:p>
      </dsp:txBody>
      <dsp:txXfrm rot="-5400000">
        <a:off x="1" y="668747"/>
        <a:ext cx="1326031" cy="568299"/>
      </dsp:txXfrm>
    </dsp:sp>
    <dsp:sp modelId="{22351A09-08F1-46EA-BFD9-E4982360BD63}">
      <dsp:nvSpPr>
        <dsp:cNvPr id="0" name=""/>
        <dsp:cNvSpPr/>
      </dsp:nvSpPr>
      <dsp:spPr>
        <a:xfrm rot="5400000">
          <a:off x="5666493" y="-4334731"/>
          <a:ext cx="1231314" cy="991223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2000" b="1" kern="1200" dirty="0"/>
            <a:t>IoT-Enabled EV Charging Prototype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Functional Battery Charging Management System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Integration with Cloud Infrastructure</a:t>
          </a:r>
          <a:endParaRPr lang="en-US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Real-Time Monitoring Capabilities</a:t>
          </a:r>
        </a:p>
      </dsp:txBody>
      <dsp:txXfrm rot="-5400000">
        <a:off x="1326031" y="65839"/>
        <a:ext cx="9852131" cy="1111098"/>
      </dsp:txXfrm>
    </dsp:sp>
    <dsp:sp modelId="{2F8A5EC5-BF4A-427A-9D07-3CA0AC30C6B7}">
      <dsp:nvSpPr>
        <dsp:cNvPr id="0" name=""/>
        <dsp:cNvSpPr/>
      </dsp:nvSpPr>
      <dsp:spPr>
        <a:xfrm rot="5400000">
          <a:off x="-284149" y="1940078"/>
          <a:ext cx="1894330" cy="1326031"/>
        </a:xfrm>
        <a:prstGeom prst="chevron">
          <a:avLst/>
        </a:prstGeom>
        <a:solidFill>
          <a:schemeClr val="accent6">
            <a:lumMod val="60000"/>
            <a:lumOff val="4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>
              <a:solidFill>
                <a:srgbClr val="002060"/>
              </a:solidFill>
            </a:rPr>
            <a:t>2</a:t>
          </a:r>
        </a:p>
      </dsp:txBody>
      <dsp:txXfrm rot="-5400000">
        <a:off x="1" y="2318945"/>
        <a:ext cx="1326031" cy="568299"/>
      </dsp:txXfrm>
    </dsp:sp>
    <dsp:sp modelId="{7F3852D9-183C-4560-8B94-39F00C66E841}">
      <dsp:nvSpPr>
        <dsp:cNvPr id="0" name=""/>
        <dsp:cNvSpPr/>
      </dsp:nvSpPr>
      <dsp:spPr>
        <a:xfrm rot="5400000">
          <a:off x="5666493" y="-2631416"/>
          <a:ext cx="1231314" cy="991223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2000" b="1" kern="1200" dirty="0"/>
            <a:t>Research Documentation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Complete System Architecture Documentation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Performance Analysis Reports</a:t>
          </a:r>
          <a:endParaRPr lang="en-US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Implementation Guidelines</a:t>
          </a:r>
        </a:p>
      </dsp:txBody>
      <dsp:txXfrm rot="-5400000">
        <a:off x="1326031" y="1769154"/>
        <a:ext cx="9852131" cy="1111098"/>
      </dsp:txXfrm>
    </dsp:sp>
    <dsp:sp modelId="{232FB156-E9D7-461E-8A8B-3A1FC08DAAE1}">
      <dsp:nvSpPr>
        <dsp:cNvPr id="0" name=""/>
        <dsp:cNvSpPr/>
      </dsp:nvSpPr>
      <dsp:spPr>
        <a:xfrm rot="5400000">
          <a:off x="-284149" y="3696510"/>
          <a:ext cx="1894330" cy="1326031"/>
        </a:xfrm>
        <a:prstGeom prst="chevron">
          <a:avLst/>
        </a:prstGeom>
        <a:solidFill>
          <a:schemeClr val="accent5">
            <a:lumMod val="60000"/>
            <a:lumOff val="4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>
              <a:solidFill>
                <a:srgbClr val="002060"/>
              </a:solidFill>
            </a:rPr>
            <a:t>3</a:t>
          </a:r>
        </a:p>
      </dsp:txBody>
      <dsp:txXfrm rot="-5400000">
        <a:off x="1" y="4075377"/>
        <a:ext cx="1326031" cy="568299"/>
      </dsp:txXfrm>
    </dsp:sp>
    <dsp:sp modelId="{36C428E4-F94F-4547-81DE-932DFBDC91BE}">
      <dsp:nvSpPr>
        <dsp:cNvPr id="0" name=""/>
        <dsp:cNvSpPr/>
      </dsp:nvSpPr>
      <dsp:spPr>
        <a:xfrm rot="5400000">
          <a:off x="5666493" y="-928101"/>
          <a:ext cx="1231314" cy="991223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2000" b="1" kern="1200">
              <a:latin typeface="Calibri" panose="020F0502020204030204"/>
              <a:ea typeface="+mn-ea"/>
              <a:cs typeface="+mn-cs"/>
            </a:rPr>
            <a:t>Design Patent</a:t>
          </a:r>
          <a:endParaRPr lang="en-US" sz="2000" b="1" kern="1200" dirty="0">
            <a:latin typeface="Calibri" panose="020F0502020204030204"/>
            <a:ea typeface="+mn-ea"/>
            <a:cs typeface="+mn-cs"/>
          </a:endParaRPr>
        </a:p>
        <a:p>
          <a:pPr marL="342900" lvl="2" indent="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Novel IoT Architecture for Battery Charging</a:t>
          </a:r>
          <a:endParaRPr lang="en-US" sz="1700" kern="1200" dirty="0"/>
        </a:p>
        <a:p>
          <a:pPr marL="342900" lvl="2" indent="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Integration Method of Renewable/Non-Renewable Sources</a:t>
          </a:r>
          <a:endParaRPr lang="en-US" sz="1700" kern="1200" dirty="0"/>
        </a:p>
        <a:p>
          <a:pPr marL="342900" lvl="2" indent="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Smart Load Management System</a:t>
          </a:r>
        </a:p>
      </dsp:txBody>
      <dsp:txXfrm rot="-5400000">
        <a:off x="1326031" y="3472469"/>
        <a:ext cx="9852131" cy="11110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95EE58-3DA1-42D5-890E-2A97F4988E28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BE1223-4AAA-4A9C-A937-01CEC365A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428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A80FB-1B5F-4A2A-A914-AA76F457F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5F1AEF-E234-4E6C-82BE-5A96C2BAE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43B6-2D47-4C0F-B707-B03ECCA59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D2E91-92E7-5148-B5B6-FECE58A2E5CA}" type="datetime1">
              <a:rPr lang="en-IN" smtClean="0"/>
              <a:t>02-04-2025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1DF52-6E0A-4F9C-A631-9B0E2E41E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E345C-BD1C-4C79-944B-D5BB87BF8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4F501-C381-4634-B158-CC0BAAA1A0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906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3B23-FA9A-49D4-92E0-1614DAEA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A15B3-DD73-4D4F-AC1C-A73D15FBC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41046-21CF-4C6B-A3D5-8E36DF4F8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CBE63-BE26-5244-8B5F-F80AD5317C5A}" type="datetime1">
              <a:rPr lang="en-IN" smtClean="0"/>
              <a:t>02-04-2025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EEC2A-01B8-4076-9039-B27CBAAB9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1E2E6-4792-4CFE-B439-9426404E4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4F501-C381-4634-B158-CC0BAAA1A0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945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4EFF0-C3FF-4486-BC23-5937A5DA1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19FFD-249E-48C8-8EE2-AA81BE241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F7570-8390-4E4C-9852-9FBE9C6A1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5D374-3C92-6742-B289-10D48A59B5BE}" type="datetime1">
              <a:rPr lang="en-IN" smtClean="0"/>
              <a:t>02-04-2025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5BFCA-0D3A-40A6-8EDA-E8C7BE8BD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41E44-D3F1-4A05-8E75-CFDAF14DD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4F501-C381-4634-B158-CC0BAAA1A0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159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1D94E-07E6-427A-9374-88DCAC932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394EF-B9C4-439B-9381-C47E7A7F9A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BE07CD-01F1-4F69-936E-318477D8B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4BAD78-5F51-4C4D-9F4D-5E0F2DD8D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4CBD1-F306-9C4D-8635-03F1750E42EC}" type="datetime1">
              <a:rPr lang="en-IN" smtClean="0"/>
              <a:t>02-04-2025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2393D8-47AE-4B4F-85BB-9953F5710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ED852-0161-4F98-8D6E-64F7C15D1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4F501-C381-4634-B158-CC0BAAA1A0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319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57D2D-3D68-48C0-AC9A-C562CFB93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724F8-C77E-48FF-8198-2A847AFB7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2D57E-C8D3-4A9E-83C7-A494D3D3C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5600B-9C0D-45C8-9D9E-7A47595CC2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483893-44DB-46DB-ADAE-EC7353AFBD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BD7EFB-BBDB-4981-83F7-8532C4CC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19B6-4C9F-A449-9865-EF0457F325E4}" type="datetime1">
              <a:rPr lang="en-IN" smtClean="0"/>
              <a:t>02-04-2025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6F1E61-30B7-41C0-B521-8E1CAC42F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08FBA6-18E7-42BD-A3DD-81BF9217C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4F501-C381-4634-B158-CC0BAAA1A0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728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2D7A2-319D-4339-A92D-3F596CC43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6798A2-4347-405E-B4DA-BB86EF825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5883E-C284-E544-8A8E-211CA2A43FD2}" type="datetime1">
              <a:rPr lang="en-IN" smtClean="0"/>
              <a:t>02-04-2025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32D05-9D2E-4827-B7E6-F33EA3DC8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DDDFE6-CF88-42BA-B9F7-340EB8EE3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4F501-C381-4634-B158-CC0BAAA1A0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252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35CC9B-3AD3-45F7-AF00-0C5142E82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3DD52-A85D-8F46-BBE8-862E78010B76}" type="datetime1">
              <a:rPr lang="en-IN" smtClean="0"/>
              <a:t>02-04-2025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8E00A2-5A35-42E7-B880-C704F09B9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0F315-2035-40D5-90FA-F4500EED0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4F501-C381-4634-B158-CC0BAAA1A0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911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14030-BB90-4D61-A4D1-244664A0A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11545-36B0-40AA-85A6-77E992B2B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BB036B-ED9C-421C-A27F-B70EE134DE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41B5F3-27BE-4AE5-A2B6-5C476B54D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B8061-BA84-DE4D-BC76-00E220C37B71}" type="datetime1">
              <a:rPr lang="en-IN" smtClean="0"/>
              <a:t>02-04-2025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D8FEA-F6F7-4D08-9AAD-CD774A5C7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F8A41-F168-467E-9DDF-55CA8E864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4F501-C381-4634-B158-CC0BAAA1A0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446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EF159-3CB2-4EA2-BC82-FD9CF409D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8ED002-38E5-4A06-BEAD-C3C154ABF9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B9D2FE-F4EE-4AD3-8896-AFDB6408C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47E2A-426C-4DA2-B61A-F0B4E8D6A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4B9C7-91AA-6744-9CA6-778FA7D2E3A3}" type="datetime1">
              <a:rPr lang="en-IN" smtClean="0"/>
              <a:t>02-04-2025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80BE3D-4EBB-44C2-AFCD-34F161BE8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519A4-AF86-4BA5-A179-DE9B1DCB8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4F501-C381-4634-B158-CC0BAAA1A0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552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22444-991A-413B-98B2-C1145CF9C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887994-6AB8-4D5B-8C88-AE49187C0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8A74C-87A4-4A47-B5C7-FB09832FC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168C1-77CE-A143-850C-8F6C22351E13}" type="datetime1">
              <a:rPr lang="en-IN" smtClean="0"/>
              <a:t>02-04-2025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7320D-5C29-41A5-9F99-40094D316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99377-D014-4579-90CF-EE63DF126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4F501-C381-4634-B158-CC0BAAA1A0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67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80D036-B742-4410-AF72-D45B26CFE0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4A7482-A9C6-4920-BFDF-3FC132B1B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1C8CD-86D0-480A-8DEF-361C44629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8A9C2-B202-7840-BDD7-A74BF2FA646C}" type="datetime1">
              <a:rPr lang="en-IN" smtClean="0"/>
              <a:t>02-04-2025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8F280-60EE-472E-9EC7-AFC687328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5373B-0DCF-488F-857F-567A021A0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4F501-C381-4634-B158-CC0BAAA1A0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672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226B7F-0241-43AA-A2F7-00B1DE0DB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6A995-6023-4179-A950-F42A04897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F4CBF-9563-460C-9EBC-ABC152E2D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C489D1-2253-1A42-A241-8B70B0F4E371}" type="datetime1">
              <a:rPr lang="en-IN" smtClean="0"/>
              <a:t>02-04-2025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59FD6-E298-44A0-8FBA-EB2FC10D05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37D3C-27B2-4428-9849-4A80FBB4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4F501-C381-4634-B158-CC0BAAA1A0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458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13" Type="http://schemas.openxmlformats.org/officeDocument/2006/relationships/image" Target="../media/image14.png"/><Relationship Id="rId3" Type="http://schemas.openxmlformats.org/officeDocument/2006/relationships/image" Target="../media/image6.jpg"/><Relationship Id="rId7" Type="http://schemas.openxmlformats.org/officeDocument/2006/relationships/image" Target="../media/image10.png"/><Relationship Id="rId12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jpeg"/><Relationship Id="rId9" Type="http://schemas.openxmlformats.org/officeDocument/2006/relationships/image" Target="../media/image11.jpeg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9EA80E-E6A9-1CEF-30D7-9CF5A1769A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4337" y="40988"/>
            <a:ext cx="1957663" cy="70203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39AA17-0982-8BD4-0D4A-DB6C691A7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4F501-C381-4634-B158-CC0BAAA1A02E}" type="slidenum">
              <a:rPr lang="en-IN" smtClean="0"/>
              <a:t>1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8DE75E-170F-748B-2EEC-E9001CD7947F}"/>
              </a:ext>
            </a:extLst>
          </p:cNvPr>
          <p:cNvSpPr txBox="1"/>
          <p:nvPr/>
        </p:nvSpPr>
        <p:spPr>
          <a:xfrm>
            <a:off x="111994" y="866062"/>
            <a:ext cx="120800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Project Title: </a:t>
            </a:r>
            <a:r>
              <a:rPr lang="en-US" sz="24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Design of IOT Architecture for Battery Charging Management System</a:t>
            </a:r>
            <a:endParaRPr lang="en-US" sz="1800" kern="100" dirty="0">
              <a:solidFill>
                <a:srgbClr val="00206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C27495-3FBD-D895-86FE-FF1B53070AA5}"/>
              </a:ext>
            </a:extLst>
          </p:cNvPr>
          <p:cNvSpPr txBox="1"/>
          <p:nvPr/>
        </p:nvSpPr>
        <p:spPr>
          <a:xfrm>
            <a:off x="0" y="2095891"/>
            <a:ext cx="118350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Name of the Students: </a:t>
            </a:r>
            <a:r>
              <a:rPr lang="en-US" sz="2400" b="1" kern="1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Jagadeeswara</a:t>
            </a:r>
            <a:r>
              <a:rPr lang="en-US" sz="2400" b="1" kern="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Chandra </a:t>
            </a:r>
            <a:r>
              <a:rPr lang="en-US" sz="2400" b="1" kern="1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bose.K</a:t>
            </a:r>
            <a:r>
              <a:rPr lang="en-US" sz="2400" b="1" kern="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kern="1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endParaRPr lang="en-US" b="1" kern="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/>
              <a:t>Name of the Mentor: </a:t>
            </a:r>
            <a:r>
              <a:rPr lang="en-US" sz="2400" b="1" kern="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Sujith </a:t>
            </a:r>
            <a:r>
              <a:rPr lang="en-US" sz="2400" b="1" kern="1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Kalluri</a:t>
            </a:r>
            <a:r>
              <a:rPr lang="en-US" sz="2400" b="1" kern="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kern="1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Ph.D</a:t>
            </a:r>
            <a:r>
              <a:rPr lang="en-US" sz="2400" b="1" kern="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kern="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 [Dept – ECE]</a:t>
            </a:r>
            <a:endParaRPr lang="en-US" sz="2400" b="1" kern="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0D1D25-9BEF-4F54-3A09-F06F57CE967A}"/>
              </a:ext>
            </a:extLst>
          </p:cNvPr>
          <p:cNvSpPr txBox="1"/>
          <p:nvPr/>
        </p:nvSpPr>
        <p:spPr>
          <a:xfrm>
            <a:off x="111994" y="3833204"/>
            <a:ext cx="7993626" cy="113877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3600" dirty="0"/>
              <a:t>Project Fund Requested: </a:t>
            </a:r>
            <a:r>
              <a:rPr lang="en-US" sz="3600" dirty="0">
                <a:solidFill>
                  <a:srgbClr val="002060"/>
                </a:solidFill>
              </a:rPr>
              <a:t>30,000 Rs</a:t>
            </a:r>
            <a:endParaRPr lang="en-US" sz="2400" b="1" kern="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/>
              <a:t>Duration of the Project : </a:t>
            </a:r>
            <a:r>
              <a:rPr lang="en-US" sz="2400" b="1" kern="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Months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5748065-8FF6-0D8A-C071-92B93EBBC107}"/>
              </a:ext>
            </a:extLst>
          </p:cNvPr>
          <p:cNvCxnSpPr/>
          <p:nvPr/>
        </p:nvCxnSpPr>
        <p:spPr>
          <a:xfrm>
            <a:off x="111994" y="1759974"/>
            <a:ext cx="84986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PV &amp; Energy Storage System in EV Charging Station - Rockwill Electric Group  - ROCKWILL Electric Group">
            <a:extLst>
              <a:ext uri="{FF2B5EF4-FFF2-40B4-BE49-F238E27FC236}">
                <a16:creationId xmlns:a16="http://schemas.microsoft.com/office/drawing/2014/main" id="{4B6DB54C-027F-F26F-6594-A3DA74FF3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694295"/>
            <a:ext cx="2873831" cy="1768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2" descr="Battery Swapping &amp; Charging Stations ...">
            <a:extLst>
              <a:ext uri="{FF2B5EF4-FFF2-40B4-BE49-F238E27FC236}">
                <a16:creationId xmlns:a16="http://schemas.microsoft.com/office/drawing/2014/main" id="{ACE6588A-EF28-2B3D-C2A2-B5955DC1A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4738" y="5066745"/>
            <a:ext cx="2079169" cy="1654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0" descr="Node-Red Dashboard 2.0 - Default start ...">
            <a:extLst>
              <a:ext uri="{FF2B5EF4-FFF2-40B4-BE49-F238E27FC236}">
                <a16:creationId xmlns:a16="http://schemas.microsoft.com/office/drawing/2014/main" id="{C423BFAA-19D6-9DA8-F4DF-CEC52459F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4738" y="3636095"/>
            <a:ext cx="2532263" cy="1266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0897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F1A068-4F70-BD2A-0CC6-983767FF36C2}"/>
              </a:ext>
            </a:extLst>
          </p:cNvPr>
          <p:cNvSpPr txBox="1"/>
          <p:nvPr/>
        </p:nvSpPr>
        <p:spPr>
          <a:xfrm>
            <a:off x="4921013" y="114487"/>
            <a:ext cx="1855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D13DF0-FF48-6344-0F61-A9E76B23795E}"/>
              </a:ext>
            </a:extLst>
          </p:cNvPr>
          <p:cNvSpPr txBox="1"/>
          <p:nvPr/>
        </p:nvSpPr>
        <p:spPr>
          <a:xfrm>
            <a:off x="148159" y="576152"/>
            <a:ext cx="11560630" cy="628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__fkGroteskNeue_598ab8"/>
              </a:rPr>
              <a:t>Rapid growth of electric vehicles (EVs) increasing demand for efficient charging infrastructure.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__fkGroteskNeue_598ab8"/>
              </a:rPr>
              <a:t>Need for sustainable solutions integrating renewable energy sources like solar power and energy storage systems (ESS).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2060"/>
                </a:solidFill>
                <a:effectLst/>
                <a:latin typeface="__fkGroteskNeue_598ab8"/>
              </a:rPr>
              <a:t>Objective: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__fkGroteskNeue_598ab8"/>
              </a:rPr>
              <a:t>Develop an IoT-based architecture to optimize battery charging management.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__fkGroteskNeue_598ab8"/>
              </a:rPr>
              <a:t>Utilize real-time data monitoring and predictive analytics to enhance efficiency.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2060"/>
                </a:solidFill>
                <a:effectLst/>
                <a:latin typeface="__fkGroteskNeue_598ab8"/>
              </a:rPr>
              <a:t>Key Benefits: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__fkGroteskNeue_598ab8"/>
              </a:rPr>
              <a:t>Significant reduction in operational costs, achieving up to </a:t>
            </a:r>
            <a:r>
              <a:rPr lang="en-US" dirty="0">
                <a:latin typeface="__fkGroteskNeue_598ab8"/>
              </a:rPr>
              <a:t>88.5</a:t>
            </a:r>
            <a:r>
              <a:rPr lang="en-US" b="0" i="0" dirty="0">
                <a:effectLst/>
                <a:latin typeface="__fkGroteskNeue_598ab8"/>
              </a:rPr>
              <a:t>% cost efficiency.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__fkGroteskNeue_598ab8"/>
              </a:rPr>
              <a:t>Enhanced battery management through real-time monitoring of critical parameters (voltage, temperature, SOC).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2060"/>
                </a:solidFill>
                <a:effectLst/>
                <a:latin typeface="__fkGroteskNeue_598ab8"/>
              </a:rPr>
              <a:t>Market Demand: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__fkGroteskNeue_598ab8"/>
              </a:rPr>
              <a:t>Increasing EV sales necessitating more charging stations.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__fkGroteskNeue_598ab8"/>
              </a:rPr>
              <a:t>Consumer preference shifting towards renewable energy-powered solutions.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2060"/>
                </a:solidFill>
                <a:effectLst/>
                <a:latin typeface="__fkGroteskNeue_598ab8"/>
              </a:rPr>
              <a:t>Future Scope: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__fkGroteskNeue_598ab8"/>
              </a:rPr>
              <a:t>Optimize operations and automate maintenance.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__fkGroteskNeue_598ab8"/>
              </a:rPr>
              <a:t>Expand charging infrastructure to meet growing demand.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2050" name="Picture 2" descr="Charged EVs | IoTecha wins $27-million grant for grid-friendly EV charging  in California - Charged EVs">
            <a:extLst>
              <a:ext uri="{FF2B5EF4-FFF2-40B4-BE49-F238E27FC236}">
                <a16:creationId xmlns:a16="http://schemas.microsoft.com/office/drawing/2014/main" id="{D8C0C657-3D9B-1352-DBDC-A8934BFDF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4315" y="4236097"/>
            <a:ext cx="4247685" cy="2481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95700CC-73C5-28A7-D84A-E8AD8012FA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4337" y="40988"/>
            <a:ext cx="1957663" cy="70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842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15E69-1DD2-2871-229E-4396241AE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0D970C-D7B4-5763-B079-93D198182793}"/>
              </a:ext>
            </a:extLst>
          </p:cNvPr>
          <p:cNvSpPr txBox="1"/>
          <p:nvPr/>
        </p:nvSpPr>
        <p:spPr>
          <a:xfrm>
            <a:off x="2500835" y="-51285"/>
            <a:ext cx="6333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Motivation, Research Gap &amp; Problem, Novelty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5C69F4-18E3-B4D8-83BB-334DA91266D9}"/>
              </a:ext>
            </a:extLst>
          </p:cNvPr>
          <p:cNvSpPr txBox="1"/>
          <p:nvPr/>
        </p:nvSpPr>
        <p:spPr>
          <a:xfrm>
            <a:off x="5965723" y="175668"/>
            <a:ext cx="12595123" cy="786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BB00EC-C596-3CC5-B6B1-49D6F8C89C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4337" y="40988"/>
            <a:ext cx="1957663" cy="7020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086144-0953-E2BE-35F5-FE2F2BE85CB9}"/>
              </a:ext>
            </a:extLst>
          </p:cNvPr>
          <p:cNvSpPr txBox="1"/>
          <p:nvPr/>
        </p:nvSpPr>
        <p:spPr>
          <a:xfrm>
            <a:off x="974622" y="2909589"/>
            <a:ext cx="10242755" cy="1477328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>
              <a:buFont typeface="Arial" panose="020B0604020202020204" pitchFamily="34" charset="0"/>
              <a:buChar char="•"/>
            </a:pPr>
            <a:endParaRPr lang="en-US" sz="1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Need of robust and efficient charging infrastructure.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Integrating renewable energy sources and Automation.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reduce operational costs in charging management.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Innovation with IOT Architecture in battery management technologies.</a:t>
            </a:r>
            <a:endParaRPr lang="en-US" sz="1800" dirty="0"/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2A479F85-FB36-DF71-C6F8-B8D00EE97AFC}"/>
              </a:ext>
            </a:extLst>
          </p:cNvPr>
          <p:cNvSpPr/>
          <p:nvPr/>
        </p:nvSpPr>
        <p:spPr>
          <a:xfrm>
            <a:off x="216310" y="2734437"/>
            <a:ext cx="1740310" cy="385043"/>
          </a:xfrm>
          <a:prstGeom prst="chevr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DA91E8-08B0-DCC8-1689-BE053ACDE38E}"/>
              </a:ext>
            </a:extLst>
          </p:cNvPr>
          <p:cNvSpPr txBox="1"/>
          <p:nvPr/>
        </p:nvSpPr>
        <p:spPr>
          <a:xfrm>
            <a:off x="974622" y="829955"/>
            <a:ext cx="10242755" cy="1754326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>
              <a:buFont typeface="Arial" panose="020B0604020202020204" pitchFamily="34" charset="0"/>
              <a:buChar char="•"/>
            </a:pPr>
            <a:endParaRPr lang="en-US" sz="1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Lack of uniform standards for EV charging stations.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Limited Integration of Renewable Energy Sources.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Absence of Comprehensive IoT-Based Charging Management.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Holistic Approach to Grid Stability.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Minimal Real-Time Monitoring and Control Capabilities.</a:t>
            </a:r>
            <a:endParaRPr lang="en-US" sz="1800" dirty="0"/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11A2AF5D-DDC8-2378-136E-2DF26E9A3283}"/>
              </a:ext>
            </a:extLst>
          </p:cNvPr>
          <p:cNvSpPr/>
          <p:nvPr/>
        </p:nvSpPr>
        <p:spPr>
          <a:xfrm>
            <a:off x="108155" y="637433"/>
            <a:ext cx="3156155" cy="385043"/>
          </a:xfrm>
          <a:prstGeom prst="chevr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&amp;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93D9F2-057F-9CE7-EC08-285ACA1A8E3C}"/>
              </a:ext>
            </a:extLst>
          </p:cNvPr>
          <p:cNvSpPr txBox="1"/>
          <p:nvPr/>
        </p:nvSpPr>
        <p:spPr>
          <a:xfrm>
            <a:off x="1086465" y="4711671"/>
            <a:ext cx="10250129" cy="1477328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>
              <a:buFont typeface="Arial" panose="020B0604020202020204" pitchFamily="34" charset="0"/>
              <a:buChar char="•"/>
            </a:pPr>
            <a:endParaRPr lang="en-US" sz="1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five-layered architecture uniquely combines IoT technology.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in battery charging management.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PCC with source integration and automation  is to optimize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efficiency.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simulations indicate a potential reduction of up to 88% in operational costs.</a:t>
            </a:r>
            <a:endParaRPr lang="en-US" sz="1800" dirty="0"/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4D8F9A17-534C-D112-8E10-7732D57D4BD6}"/>
              </a:ext>
            </a:extLst>
          </p:cNvPr>
          <p:cNvSpPr/>
          <p:nvPr/>
        </p:nvSpPr>
        <p:spPr>
          <a:xfrm>
            <a:off x="108155" y="4519149"/>
            <a:ext cx="1956620" cy="385043"/>
          </a:xfrm>
          <a:prstGeom prst="chevr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</a:p>
        </p:txBody>
      </p:sp>
    </p:spTree>
    <p:extLst>
      <p:ext uri="{BB962C8B-B14F-4D97-AF65-F5344CB8AC3E}">
        <p14:creationId xmlns:p14="http://schemas.microsoft.com/office/powerpoint/2010/main" val="2488024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588C3-25F5-81FE-5F31-446EC715B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2A9169-E2E1-16BD-A966-AC1CB3902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4337" y="40988"/>
            <a:ext cx="1957663" cy="70203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EDAD2A-0DAB-80B1-83B6-FFCA019C1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4F501-C381-4634-B158-CC0BAAA1A02E}" type="slidenum">
              <a:rPr lang="en-IN" smtClean="0"/>
              <a:t>4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8B9694-F507-4EC1-2430-9D037F8634A1}"/>
              </a:ext>
            </a:extLst>
          </p:cNvPr>
          <p:cNvSpPr txBox="1"/>
          <p:nvPr/>
        </p:nvSpPr>
        <p:spPr>
          <a:xfrm>
            <a:off x="5117168" y="40988"/>
            <a:ext cx="19576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C21050-8E1B-4966-CFA2-F79B749B785E}"/>
              </a:ext>
            </a:extLst>
          </p:cNvPr>
          <p:cNvSpPr txBox="1"/>
          <p:nvPr/>
        </p:nvSpPr>
        <p:spPr>
          <a:xfrm>
            <a:off x="223162" y="1027094"/>
            <a:ext cx="10990006" cy="923330"/>
          </a:xfrm>
          <a:prstGeom prst="rect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Design IoT Architecture for Battery Charging Management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Remote Monitoring and Control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Hybrid Energy Source Integration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E45B0F-F289-9733-BBEC-048BD093236F}"/>
              </a:ext>
            </a:extLst>
          </p:cNvPr>
          <p:cNvSpPr txBox="1"/>
          <p:nvPr/>
        </p:nvSpPr>
        <p:spPr>
          <a:xfrm>
            <a:off x="223162" y="2372999"/>
            <a:ext cx="10990006" cy="1200329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2.Enhance Grid Stability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Real-Time Data Processing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Automated Charging Control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Minimize Power Grid Disturbances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49E67F-13A8-7FD6-F253-6CCBEAD18C52}"/>
              </a:ext>
            </a:extLst>
          </p:cNvPr>
          <p:cNvSpPr txBox="1"/>
          <p:nvPr/>
        </p:nvSpPr>
        <p:spPr>
          <a:xfrm>
            <a:off x="269311" y="3994383"/>
            <a:ext cx="10990006" cy="1477328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3. Achieve High Energy Efficiency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Target: 88% Energy Efficiency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Optimize Energy Savings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Seamless Renewable and Non-Renewable Energy Integration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256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656008-8474-4BB7-BFE1-5899D2BFB7DE}"/>
              </a:ext>
            </a:extLst>
          </p:cNvPr>
          <p:cNvSpPr txBox="1"/>
          <p:nvPr/>
        </p:nvSpPr>
        <p:spPr>
          <a:xfrm>
            <a:off x="4477648" y="12853"/>
            <a:ext cx="2189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450EF5-56DA-488A-8C3B-6CBCDA7729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65" y="12854"/>
            <a:ext cx="1809135" cy="64876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B8D1D3-C789-6477-A77C-737AC1C6A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4F501-C381-4634-B158-CC0BAAA1A02E}" type="slidenum">
              <a:rPr lang="en-IN" smtClean="0"/>
              <a:t>5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2CAD42-076A-FB49-0284-30BA234F79CA}"/>
              </a:ext>
            </a:extLst>
          </p:cNvPr>
          <p:cNvSpPr txBox="1"/>
          <p:nvPr/>
        </p:nvSpPr>
        <p:spPr>
          <a:xfrm>
            <a:off x="146663" y="776348"/>
            <a:ext cx="4867788" cy="175432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1. Design Phase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Integrate Renewable/Non-Renewable Sources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IOT 5 Layered Architecture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 Stable Charging Infrastructure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Establish Point of Common Coupling (PCC)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 Battery Swapping &amp; Fast Charging Stations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0D6469-083F-C22E-2F2F-B84A95E4DC11}"/>
              </a:ext>
            </a:extLst>
          </p:cNvPr>
          <p:cNvSpPr txBox="1"/>
          <p:nvPr/>
        </p:nvSpPr>
        <p:spPr>
          <a:xfrm>
            <a:off x="8175288" y="2839686"/>
            <a:ext cx="3613824" cy="175432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2. Simulation Phase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MATLAB Simulation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Energy Efficiency Target: 88.5%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Node-RED Data Monitoring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AWS S3 Cloud Storage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QuickSight</a:t>
            </a:r>
            <a:r>
              <a:rPr lang="en-US" dirty="0"/>
              <a:t> Data Visualization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1CA883-3D15-F6A8-28EE-B41B8B67CA6E}"/>
              </a:ext>
            </a:extLst>
          </p:cNvPr>
          <p:cNvSpPr txBox="1"/>
          <p:nvPr/>
        </p:nvSpPr>
        <p:spPr>
          <a:xfrm>
            <a:off x="146664" y="5244147"/>
            <a:ext cx="4553281" cy="147732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3. Hardware Prototype Phase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Real-Time Fault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IoT Architecture Implementation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Practical Validation of Simulation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Advanced Charging Infrastructure Prototype</a:t>
            </a:r>
          </a:p>
        </p:txBody>
      </p:sp>
      <p:pic>
        <p:nvPicPr>
          <p:cNvPr id="8" name="Picture 7" descr="A group of solar panels&#10;&#10;AI-generated content may be incorrect.">
            <a:extLst>
              <a:ext uri="{FF2B5EF4-FFF2-40B4-BE49-F238E27FC236}">
                <a16:creationId xmlns:a16="http://schemas.microsoft.com/office/drawing/2014/main" id="{2B203843-E744-746C-68A2-E572A73F41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9658" y="805402"/>
            <a:ext cx="947292" cy="630211"/>
          </a:xfrm>
          <a:prstGeom prst="rect">
            <a:avLst/>
          </a:prstGeom>
        </p:spPr>
      </p:pic>
      <p:pic>
        <p:nvPicPr>
          <p:cNvPr id="9" name="Picture 8" descr="A white door with a clock&#10;&#10;AI-generated content may be incorrect.">
            <a:extLst>
              <a:ext uri="{FF2B5EF4-FFF2-40B4-BE49-F238E27FC236}">
                <a16:creationId xmlns:a16="http://schemas.microsoft.com/office/drawing/2014/main" id="{7721D02A-9051-9777-6167-F6CC6AF1A5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0939" y="1375320"/>
            <a:ext cx="1045060" cy="532241"/>
          </a:xfrm>
          <a:prstGeom prst="rect">
            <a:avLst/>
          </a:prstGeom>
        </p:spPr>
      </p:pic>
      <p:pic>
        <p:nvPicPr>
          <p:cNvPr id="10" name="Picture 9" descr="A line of power lines&#10;&#10;AI-generated content may be incorrect.">
            <a:extLst>
              <a:ext uri="{FF2B5EF4-FFF2-40B4-BE49-F238E27FC236}">
                <a16:creationId xmlns:a16="http://schemas.microsoft.com/office/drawing/2014/main" id="{21D82145-148B-240F-8412-FF80AAA7AC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0939" y="1765022"/>
            <a:ext cx="1045060" cy="7124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D16027-26EF-5B4D-7FF8-45CBBD5241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2487" y="836547"/>
            <a:ext cx="2687047" cy="14973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C997A1-B939-9704-2DB0-3A14C5D91B0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296" b="3161"/>
          <a:stretch/>
        </p:blipFill>
        <p:spPr>
          <a:xfrm>
            <a:off x="8819534" y="923051"/>
            <a:ext cx="2340078" cy="1324363"/>
          </a:xfrm>
          <a:prstGeom prst="rect">
            <a:avLst/>
          </a:prstGeom>
        </p:spPr>
      </p:pic>
      <p:pic>
        <p:nvPicPr>
          <p:cNvPr id="13" name="Picture 32" descr="Battery Swapping &amp; Charging Stations ...">
            <a:extLst>
              <a:ext uri="{FF2B5EF4-FFF2-40B4-BE49-F238E27FC236}">
                <a16:creationId xmlns:a16="http://schemas.microsoft.com/office/drawing/2014/main" id="{BAA2752B-DE32-FC71-2C57-496F86CBD3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7135" y="921318"/>
            <a:ext cx="838200" cy="667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4" descr="DC Fast Chargers For (EV) Electric ...">
            <a:extLst>
              <a:ext uri="{FF2B5EF4-FFF2-40B4-BE49-F238E27FC236}">
                <a16:creationId xmlns:a16="http://schemas.microsoft.com/office/drawing/2014/main" id="{8CE40C1E-CD4F-DF5F-2C99-29C1C6209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904" y="1532082"/>
            <a:ext cx="809954" cy="465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604FEB1-1F04-4F50-8812-B7F602C25F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6664" y="2728087"/>
            <a:ext cx="3570172" cy="20137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CDDC79C-4D3A-FD76-5B2B-0C9985FF48D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66766" y="2803364"/>
            <a:ext cx="1838102" cy="856657"/>
          </a:xfrm>
          <a:prstGeom prst="rect">
            <a:avLst/>
          </a:prstGeom>
        </p:spPr>
      </p:pic>
      <p:pic>
        <p:nvPicPr>
          <p:cNvPr id="17" name="Picture 20" descr="Node-Red Dashboard 2.0 - Default start ...">
            <a:extLst>
              <a:ext uri="{FF2B5EF4-FFF2-40B4-BE49-F238E27FC236}">
                <a16:creationId xmlns:a16="http://schemas.microsoft.com/office/drawing/2014/main" id="{6A7F3454-EF3C-3072-2376-12E00D69D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815" y="3637938"/>
            <a:ext cx="1804053" cy="954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9178A53-C3D8-4BEA-D291-82F6DDD367F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0" y="2818343"/>
            <a:ext cx="1829358" cy="53224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4A3D308-FAC8-65BB-B106-484ACA34E36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47703" y="3429000"/>
            <a:ext cx="2102620" cy="104999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9B08F3E-212D-5337-C0D1-C7A23063CC5F}"/>
              </a:ext>
            </a:extLst>
          </p:cNvPr>
          <p:cNvSpPr txBox="1"/>
          <p:nvPr/>
        </p:nvSpPr>
        <p:spPr>
          <a:xfrm>
            <a:off x="746047" y="4478990"/>
            <a:ext cx="2371405" cy="383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90" b="1" dirty="0">
                <a:highlight>
                  <a:srgbClr val="FFFF00"/>
                </a:highlight>
              </a:rPr>
              <a:t>Model Simulation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DE941E-B8A7-70DC-C747-13BB61333B21}"/>
              </a:ext>
            </a:extLst>
          </p:cNvPr>
          <p:cNvSpPr/>
          <p:nvPr/>
        </p:nvSpPr>
        <p:spPr>
          <a:xfrm>
            <a:off x="99141" y="692028"/>
            <a:ext cx="11993718" cy="19353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7A80B0-DBB0-AC77-F20F-CBA7DCE63070}"/>
              </a:ext>
            </a:extLst>
          </p:cNvPr>
          <p:cNvSpPr/>
          <p:nvPr/>
        </p:nvSpPr>
        <p:spPr>
          <a:xfrm>
            <a:off x="99141" y="2681510"/>
            <a:ext cx="11993718" cy="21806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241A6E-8027-06B9-32AC-3012F24A6FF5}"/>
              </a:ext>
            </a:extLst>
          </p:cNvPr>
          <p:cNvSpPr/>
          <p:nvPr/>
        </p:nvSpPr>
        <p:spPr>
          <a:xfrm>
            <a:off x="99140" y="5101487"/>
            <a:ext cx="11993718" cy="16855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80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91283-2D51-2DD3-13BF-DE704A66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535641-3D2B-AA83-CF31-D4FAE5180A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456004"/>
              </p:ext>
            </p:extLst>
          </p:nvPr>
        </p:nvGraphicFramePr>
        <p:xfrm>
          <a:off x="319087" y="864113"/>
          <a:ext cx="11553826" cy="2120901"/>
        </p:xfrm>
        <a:graphic>
          <a:graphicData uri="http://schemas.openxmlformats.org/drawingml/2006/table">
            <a:tbl>
              <a:tblPr/>
              <a:tblGrid>
                <a:gridCol w="885311">
                  <a:extLst>
                    <a:ext uri="{9D8B030D-6E8A-4147-A177-3AD203B41FA5}">
                      <a16:colId xmlns:a16="http://schemas.microsoft.com/office/drawing/2014/main" val="4209489189"/>
                    </a:ext>
                  </a:extLst>
                </a:gridCol>
                <a:gridCol w="656079">
                  <a:extLst>
                    <a:ext uri="{9D8B030D-6E8A-4147-A177-3AD203B41FA5}">
                      <a16:colId xmlns:a16="http://schemas.microsoft.com/office/drawing/2014/main" val="34668946"/>
                    </a:ext>
                  </a:extLst>
                </a:gridCol>
                <a:gridCol w="616554">
                  <a:extLst>
                    <a:ext uri="{9D8B030D-6E8A-4147-A177-3AD203B41FA5}">
                      <a16:colId xmlns:a16="http://schemas.microsoft.com/office/drawing/2014/main" val="895211206"/>
                    </a:ext>
                  </a:extLst>
                </a:gridCol>
                <a:gridCol w="1146160">
                  <a:extLst>
                    <a:ext uri="{9D8B030D-6E8A-4147-A177-3AD203B41FA5}">
                      <a16:colId xmlns:a16="http://schemas.microsoft.com/office/drawing/2014/main" val="1197518995"/>
                    </a:ext>
                  </a:extLst>
                </a:gridCol>
                <a:gridCol w="648174">
                  <a:extLst>
                    <a:ext uri="{9D8B030D-6E8A-4147-A177-3AD203B41FA5}">
                      <a16:colId xmlns:a16="http://schemas.microsoft.com/office/drawing/2014/main" val="3469946241"/>
                    </a:ext>
                  </a:extLst>
                </a:gridCol>
                <a:gridCol w="648174">
                  <a:extLst>
                    <a:ext uri="{9D8B030D-6E8A-4147-A177-3AD203B41FA5}">
                      <a16:colId xmlns:a16="http://schemas.microsoft.com/office/drawing/2014/main" val="3626885485"/>
                    </a:ext>
                  </a:extLst>
                </a:gridCol>
                <a:gridCol w="223962">
                  <a:extLst>
                    <a:ext uri="{9D8B030D-6E8A-4147-A177-3AD203B41FA5}">
                      <a16:colId xmlns:a16="http://schemas.microsoft.com/office/drawing/2014/main" val="1923535993"/>
                    </a:ext>
                  </a:extLst>
                </a:gridCol>
                <a:gridCol w="1580912">
                  <a:extLst>
                    <a:ext uri="{9D8B030D-6E8A-4147-A177-3AD203B41FA5}">
                      <a16:colId xmlns:a16="http://schemas.microsoft.com/office/drawing/2014/main" val="2896980921"/>
                    </a:ext>
                  </a:extLst>
                </a:gridCol>
                <a:gridCol w="782551">
                  <a:extLst>
                    <a:ext uri="{9D8B030D-6E8A-4147-A177-3AD203B41FA5}">
                      <a16:colId xmlns:a16="http://schemas.microsoft.com/office/drawing/2014/main" val="796534009"/>
                    </a:ext>
                  </a:extLst>
                </a:gridCol>
                <a:gridCol w="505891">
                  <a:extLst>
                    <a:ext uri="{9D8B030D-6E8A-4147-A177-3AD203B41FA5}">
                      <a16:colId xmlns:a16="http://schemas.microsoft.com/office/drawing/2014/main" val="1314866839"/>
                    </a:ext>
                  </a:extLst>
                </a:gridCol>
                <a:gridCol w="1051306">
                  <a:extLst>
                    <a:ext uri="{9D8B030D-6E8A-4147-A177-3AD203B41FA5}">
                      <a16:colId xmlns:a16="http://schemas.microsoft.com/office/drawing/2014/main" val="149460085"/>
                    </a:ext>
                  </a:extLst>
                </a:gridCol>
                <a:gridCol w="184440">
                  <a:extLst>
                    <a:ext uri="{9D8B030D-6E8A-4147-A177-3AD203B41FA5}">
                      <a16:colId xmlns:a16="http://schemas.microsoft.com/office/drawing/2014/main" val="3893193770"/>
                    </a:ext>
                  </a:extLst>
                </a:gridCol>
                <a:gridCol w="1786429">
                  <a:extLst>
                    <a:ext uri="{9D8B030D-6E8A-4147-A177-3AD203B41FA5}">
                      <a16:colId xmlns:a16="http://schemas.microsoft.com/office/drawing/2014/main" val="3618429772"/>
                    </a:ext>
                  </a:extLst>
                </a:gridCol>
                <a:gridCol w="837883">
                  <a:extLst>
                    <a:ext uri="{9D8B030D-6E8A-4147-A177-3AD203B41FA5}">
                      <a16:colId xmlns:a16="http://schemas.microsoft.com/office/drawing/2014/main" val="2562856153"/>
                    </a:ext>
                  </a:extLst>
                </a:gridCol>
              </a:tblGrid>
              <a:tr h="450074"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Power Generation</a:t>
                      </a: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PCC - </a:t>
                      </a:r>
                      <a:r>
                        <a:rPr lang="en-US" sz="14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Point of common coupling</a:t>
                      </a:r>
                      <a:endParaRPr lang="en-US" sz="1900" b="1" i="0" u="none" strike="noStrike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ESS - Charging </a:t>
                      </a: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280773"/>
                  </a:ext>
                </a:extLst>
              </a:tr>
              <a:tr h="4241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Power Source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Voltage [V]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Current [I]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% of Generation/day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Power [P]- KWh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Power/day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PCC will Logically be controlled on availability of source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No.of batteries 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782615"/>
                  </a:ext>
                </a:extLst>
              </a:tr>
              <a:tr h="2346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Solar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1032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Voltage - [V]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Output Power/day in KW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Voltage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418077"/>
                  </a:ext>
                </a:extLst>
              </a:tr>
              <a:tr h="2346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ESS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576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Current - [I]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Amper hour - capacity 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309095"/>
                  </a:ext>
                </a:extLst>
              </a:tr>
              <a:tr h="3970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Grid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435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209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Power - [W] - KW/h 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1800</a:t>
                      </a:r>
                    </a:p>
                  </a:txBody>
                  <a:tcPr marL="5924" marR="5924" marT="59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Gen /day</a:t>
                      </a:r>
                    </a:p>
                  </a:txBody>
                  <a:tcPr marL="5924" marR="5924" marT="592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Power / charge - Watt / hr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48000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673191"/>
                  </a:ext>
                </a:extLst>
              </a:tr>
              <a:tr h="380435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Power Generation per day in KW/24 </a:t>
                      </a: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1817</a:t>
                      </a:r>
                    </a:p>
                  </a:txBody>
                  <a:tcPr marL="5924" marR="5924" marT="59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Power Avaliability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1.17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1772</a:t>
                      </a:r>
                    </a:p>
                  </a:txBody>
                  <a:tcPr marL="5924" marR="5924" marT="59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use / day</a:t>
                      </a:r>
                    </a:p>
                  </a:txBody>
                  <a:tcPr marL="5924" marR="5924" marT="592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Power / one cycle charge - KW 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1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1663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E524995-73E9-653E-8391-4C07FB160B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423100"/>
              </p:ext>
            </p:extLst>
          </p:nvPr>
        </p:nvGraphicFramePr>
        <p:xfrm>
          <a:off x="246063" y="3233456"/>
          <a:ext cx="6273802" cy="3151014"/>
        </p:xfrm>
        <a:graphic>
          <a:graphicData uri="http://schemas.openxmlformats.org/drawingml/2006/table">
            <a:tbl>
              <a:tblPr/>
              <a:tblGrid>
                <a:gridCol w="953672">
                  <a:extLst>
                    <a:ext uri="{9D8B030D-6E8A-4147-A177-3AD203B41FA5}">
                      <a16:colId xmlns:a16="http://schemas.microsoft.com/office/drawing/2014/main" val="1798620186"/>
                    </a:ext>
                  </a:extLst>
                </a:gridCol>
                <a:gridCol w="565392">
                  <a:extLst>
                    <a:ext uri="{9D8B030D-6E8A-4147-A177-3AD203B41FA5}">
                      <a16:colId xmlns:a16="http://schemas.microsoft.com/office/drawing/2014/main" val="3913095961"/>
                    </a:ext>
                  </a:extLst>
                </a:gridCol>
                <a:gridCol w="531331">
                  <a:extLst>
                    <a:ext uri="{9D8B030D-6E8A-4147-A177-3AD203B41FA5}">
                      <a16:colId xmlns:a16="http://schemas.microsoft.com/office/drawing/2014/main" val="2871789687"/>
                    </a:ext>
                  </a:extLst>
                </a:gridCol>
                <a:gridCol w="790186">
                  <a:extLst>
                    <a:ext uri="{9D8B030D-6E8A-4147-A177-3AD203B41FA5}">
                      <a16:colId xmlns:a16="http://schemas.microsoft.com/office/drawing/2014/main" val="1953625170"/>
                    </a:ext>
                  </a:extLst>
                </a:gridCol>
                <a:gridCol w="558579">
                  <a:extLst>
                    <a:ext uri="{9D8B030D-6E8A-4147-A177-3AD203B41FA5}">
                      <a16:colId xmlns:a16="http://schemas.microsoft.com/office/drawing/2014/main" val="3373208181"/>
                    </a:ext>
                  </a:extLst>
                </a:gridCol>
                <a:gridCol w="558579">
                  <a:extLst>
                    <a:ext uri="{9D8B030D-6E8A-4147-A177-3AD203B41FA5}">
                      <a16:colId xmlns:a16="http://schemas.microsoft.com/office/drawing/2014/main" val="969684601"/>
                    </a:ext>
                  </a:extLst>
                </a:gridCol>
                <a:gridCol w="156675">
                  <a:extLst>
                    <a:ext uri="{9D8B030D-6E8A-4147-A177-3AD203B41FA5}">
                      <a16:colId xmlns:a16="http://schemas.microsoft.com/office/drawing/2014/main" val="63752399"/>
                    </a:ext>
                  </a:extLst>
                </a:gridCol>
                <a:gridCol w="435965">
                  <a:extLst>
                    <a:ext uri="{9D8B030D-6E8A-4147-A177-3AD203B41FA5}">
                      <a16:colId xmlns:a16="http://schemas.microsoft.com/office/drawing/2014/main" val="3230714472"/>
                    </a:ext>
                  </a:extLst>
                </a:gridCol>
                <a:gridCol w="435965">
                  <a:extLst>
                    <a:ext uri="{9D8B030D-6E8A-4147-A177-3AD203B41FA5}">
                      <a16:colId xmlns:a16="http://schemas.microsoft.com/office/drawing/2014/main" val="3638591449"/>
                    </a:ext>
                  </a:extLst>
                </a:gridCol>
                <a:gridCol w="613075">
                  <a:extLst>
                    <a:ext uri="{9D8B030D-6E8A-4147-A177-3AD203B41FA5}">
                      <a16:colId xmlns:a16="http://schemas.microsoft.com/office/drawing/2014/main" val="1932536717"/>
                    </a:ext>
                  </a:extLst>
                </a:gridCol>
                <a:gridCol w="674383">
                  <a:extLst>
                    <a:ext uri="{9D8B030D-6E8A-4147-A177-3AD203B41FA5}">
                      <a16:colId xmlns:a16="http://schemas.microsoft.com/office/drawing/2014/main" val="3529453680"/>
                    </a:ext>
                  </a:extLst>
                </a:gridCol>
              </a:tblGrid>
              <a:tr h="438610">
                <a:tc gridSpan="11"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Fast Charging Station Load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3725375"/>
                  </a:ext>
                </a:extLst>
              </a:tr>
              <a:tr h="367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Cars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Voltage (V)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Power (kW)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Battery Capacity (kWh)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Avaliable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Required Current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Charging Time in hr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Unit charge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Cost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521943"/>
                  </a:ext>
                </a:extLst>
              </a:tr>
              <a:tr h="4117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1 - Tata Nexon - EV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75.5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745.83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888640"/>
                  </a:ext>
                </a:extLst>
              </a:tr>
              <a:tr h="2685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2- MG ZS EV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743.75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151023"/>
                  </a:ext>
                </a:extLst>
              </a:tr>
              <a:tr h="2685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3-Tata Trigo EV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739.58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927739"/>
                  </a:ext>
                </a:extLst>
              </a:tr>
              <a:tr h="2685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4- Mahindra eVerito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747.92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41430"/>
                  </a:ext>
                </a:extLst>
              </a:tr>
              <a:tr h="47441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Power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167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Time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Revenue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2977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139195"/>
                  </a:ext>
                </a:extLst>
              </a:tr>
              <a:tr h="20587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856043"/>
                  </a:ext>
                </a:extLst>
              </a:tr>
              <a:tr h="429659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Power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1670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KW power can charge / day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Time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/ 96 hr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Revenue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26794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82769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C80B168-4223-A4A4-46E5-B8581C11C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625437"/>
              </p:ext>
            </p:extLst>
          </p:nvPr>
        </p:nvGraphicFramePr>
        <p:xfrm>
          <a:off x="6710365" y="3233456"/>
          <a:ext cx="5340346" cy="3177540"/>
        </p:xfrm>
        <a:graphic>
          <a:graphicData uri="http://schemas.openxmlformats.org/drawingml/2006/table">
            <a:tbl>
              <a:tblPr/>
              <a:tblGrid>
                <a:gridCol w="2874633">
                  <a:extLst>
                    <a:ext uri="{9D8B030D-6E8A-4147-A177-3AD203B41FA5}">
                      <a16:colId xmlns:a16="http://schemas.microsoft.com/office/drawing/2014/main" val="782479973"/>
                    </a:ext>
                  </a:extLst>
                </a:gridCol>
                <a:gridCol w="500466">
                  <a:extLst>
                    <a:ext uri="{9D8B030D-6E8A-4147-A177-3AD203B41FA5}">
                      <a16:colId xmlns:a16="http://schemas.microsoft.com/office/drawing/2014/main" val="194678521"/>
                    </a:ext>
                  </a:extLst>
                </a:gridCol>
                <a:gridCol w="140375">
                  <a:extLst>
                    <a:ext uri="{9D8B030D-6E8A-4147-A177-3AD203B41FA5}">
                      <a16:colId xmlns:a16="http://schemas.microsoft.com/office/drawing/2014/main" val="1520005749"/>
                    </a:ext>
                  </a:extLst>
                </a:gridCol>
                <a:gridCol w="390608">
                  <a:extLst>
                    <a:ext uri="{9D8B030D-6E8A-4147-A177-3AD203B41FA5}">
                      <a16:colId xmlns:a16="http://schemas.microsoft.com/office/drawing/2014/main" val="4209074804"/>
                    </a:ext>
                  </a:extLst>
                </a:gridCol>
                <a:gridCol w="390608">
                  <a:extLst>
                    <a:ext uri="{9D8B030D-6E8A-4147-A177-3AD203B41FA5}">
                      <a16:colId xmlns:a16="http://schemas.microsoft.com/office/drawing/2014/main" val="2029921102"/>
                    </a:ext>
                  </a:extLst>
                </a:gridCol>
                <a:gridCol w="439434">
                  <a:extLst>
                    <a:ext uri="{9D8B030D-6E8A-4147-A177-3AD203B41FA5}">
                      <a16:colId xmlns:a16="http://schemas.microsoft.com/office/drawing/2014/main" val="3094895876"/>
                    </a:ext>
                  </a:extLst>
                </a:gridCol>
                <a:gridCol w="604222">
                  <a:extLst>
                    <a:ext uri="{9D8B030D-6E8A-4147-A177-3AD203B41FA5}">
                      <a16:colId xmlns:a16="http://schemas.microsoft.com/office/drawing/2014/main" val="2601552489"/>
                    </a:ext>
                  </a:extLst>
                </a:gridCol>
              </a:tblGrid>
              <a:tr h="396240">
                <a:tc gridSpan="7"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Battery Swapping Station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065031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Total Batteries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069017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Under maintance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288659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Avaliable batteries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20259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Voltage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Total Batteries charging / day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910069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Current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Cost of charge per battery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96199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Time / Battery in hr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Total Amout Per day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434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No of Cycle per day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02475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Power/Battery - KW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944305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Total Station KW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12629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Total Energy Required for Full Swapping Station per Day - KW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2396083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ADD0885A-DCF1-3941-8F5C-296E4B7E82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4337" y="12853"/>
            <a:ext cx="1957663" cy="7020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9FD696-FB53-B3E7-5B19-2FE12CD3B7A8}"/>
              </a:ext>
            </a:extLst>
          </p:cNvPr>
          <p:cNvSpPr txBox="1"/>
          <p:nvPr/>
        </p:nvSpPr>
        <p:spPr>
          <a:xfrm>
            <a:off x="3195590" y="47138"/>
            <a:ext cx="7816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Estimated – Energy generation required</a:t>
            </a:r>
          </a:p>
        </p:txBody>
      </p:sp>
    </p:spTree>
    <p:extLst>
      <p:ext uri="{BB962C8B-B14F-4D97-AF65-F5344CB8AC3E}">
        <p14:creationId xmlns:p14="http://schemas.microsoft.com/office/powerpoint/2010/main" val="4000592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24727-9AED-7EA4-1461-9778DFC72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9E4BE-0041-AB16-80D9-CB67CAB90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7</a:t>
            </a:fld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038D2B9-CF14-5222-2C31-70CF3F22A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326794"/>
              </p:ext>
            </p:extLst>
          </p:nvPr>
        </p:nvGraphicFramePr>
        <p:xfrm>
          <a:off x="147382" y="637971"/>
          <a:ext cx="6280151" cy="3203520"/>
        </p:xfrm>
        <a:graphic>
          <a:graphicData uri="http://schemas.openxmlformats.org/drawingml/2006/table">
            <a:tbl>
              <a:tblPr/>
              <a:tblGrid>
                <a:gridCol w="1963361">
                  <a:extLst>
                    <a:ext uri="{9D8B030D-6E8A-4147-A177-3AD203B41FA5}">
                      <a16:colId xmlns:a16="http://schemas.microsoft.com/office/drawing/2014/main" val="3924510819"/>
                    </a:ext>
                  </a:extLst>
                </a:gridCol>
                <a:gridCol w="832152">
                  <a:extLst>
                    <a:ext uri="{9D8B030D-6E8A-4147-A177-3AD203B41FA5}">
                      <a16:colId xmlns:a16="http://schemas.microsoft.com/office/drawing/2014/main" val="3737081838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508650473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1151167311"/>
                    </a:ext>
                  </a:extLst>
                </a:gridCol>
                <a:gridCol w="1378252">
                  <a:extLst>
                    <a:ext uri="{9D8B030D-6E8A-4147-A177-3AD203B41FA5}">
                      <a16:colId xmlns:a16="http://schemas.microsoft.com/office/drawing/2014/main" val="3548363626"/>
                    </a:ext>
                  </a:extLst>
                </a:gridCol>
              </a:tblGrid>
              <a:tr h="340986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Total Energy  calculation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986107"/>
                  </a:ext>
                </a:extLst>
              </a:tr>
              <a:tr h="1787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Power sources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KW / day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KW / Month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KW / year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KW / 5 years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760821"/>
                  </a:ext>
                </a:extLst>
              </a:tr>
              <a:tr h="3161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Required full Power From Grid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C0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1,817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C0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54,504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C0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663,132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C0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3,315,660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C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075095"/>
                  </a:ext>
                </a:extLst>
              </a:tr>
              <a:tr h="2062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Solar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1,032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30,960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376,680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1,883,400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565861"/>
                  </a:ext>
                </a:extLst>
              </a:tr>
              <a:tr h="2062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17,280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210,240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1,051,200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801533"/>
                  </a:ext>
                </a:extLst>
              </a:tr>
              <a:tr h="2062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Grid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6,264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76,212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381,060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9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204638"/>
                  </a:ext>
                </a:extLst>
              </a:tr>
              <a:tr h="3642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Power saving / Day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48,240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586,920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2,934,600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64361"/>
                  </a:ext>
                </a:extLst>
              </a:tr>
              <a:tr h="2018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128"/>
                  </a:ext>
                </a:extLst>
              </a:tr>
              <a:tr h="3299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Cost  / Day            12rs / unit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21,802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654,048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7,957,584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39,787,920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550410"/>
                  </a:ext>
                </a:extLst>
              </a:tr>
              <a:tr h="2018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9897099"/>
                  </a:ext>
                </a:extLst>
              </a:tr>
              <a:tr h="3574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Cost Saving / Day  12rs / unit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19,296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578,880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7,043,040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35,215,200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186786"/>
                  </a:ext>
                </a:extLst>
              </a:tr>
              <a:tr h="1787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Spending Amount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2,506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75,168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914,544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4,572,720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66233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D1C3483-744D-0422-D369-64E419A6A2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108224"/>
              </p:ext>
            </p:extLst>
          </p:nvPr>
        </p:nvGraphicFramePr>
        <p:xfrm>
          <a:off x="6722811" y="1044370"/>
          <a:ext cx="5203821" cy="2635114"/>
        </p:xfrm>
        <a:graphic>
          <a:graphicData uri="http://schemas.openxmlformats.org/drawingml/2006/table">
            <a:tbl>
              <a:tblPr/>
              <a:tblGrid>
                <a:gridCol w="1626868">
                  <a:extLst>
                    <a:ext uri="{9D8B030D-6E8A-4147-A177-3AD203B41FA5}">
                      <a16:colId xmlns:a16="http://schemas.microsoft.com/office/drawing/2014/main" val="2116811209"/>
                    </a:ext>
                  </a:extLst>
                </a:gridCol>
                <a:gridCol w="689533">
                  <a:extLst>
                    <a:ext uri="{9D8B030D-6E8A-4147-A177-3AD203B41FA5}">
                      <a16:colId xmlns:a16="http://schemas.microsoft.com/office/drawing/2014/main" val="3819634284"/>
                    </a:ext>
                  </a:extLst>
                </a:gridCol>
                <a:gridCol w="840368">
                  <a:extLst>
                    <a:ext uri="{9D8B030D-6E8A-4147-A177-3AD203B41FA5}">
                      <a16:colId xmlns:a16="http://schemas.microsoft.com/office/drawing/2014/main" val="931623807"/>
                    </a:ext>
                  </a:extLst>
                </a:gridCol>
                <a:gridCol w="905013">
                  <a:extLst>
                    <a:ext uri="{9D8B030D-6E8A-4147-A177-3AD203B41FA5}">
                      <a16:colId xmlns:a16="http://schemas.microsoft.com/office/drawing/2014/main" val="1566685999"/>
                    </a:ext>
                  </a:extLst>
                </a:gridCol>
                <a:gridCol w="1142039">
                  <a:extLst>
                    <a:ext uri="{9D8B030D-6E8A-4147-A177-3AD203B41FA5}">
                      <a16:colId xmlns:a16="http://schemas.microsoft.com/office/drawing/2014/main" val="1876004634"/>
                    </a:ext>
                  </a:extLst>
                </a:gridCol>
              </a:tblGrid>
              <a:tr h="35075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Revenue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737847"/>
                  </a:ext>
                </a:extLst>
              </a:tr>
              <a:tr h="3144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Source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 day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 Month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 Year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 5 Years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899184"/>
                  </a:ext>
                </a:extLst>
              </a:tr>
              <a:tr h="36284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Fast charging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26,794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803,813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9,779,719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48,898,594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1226"/>
                  </a:ext>
                </a:extLst>
              </a:tr>
              <a:tr h="36284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Battery Swapping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81,000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985,500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4,927,500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823889"/>
                  </a:ext>
                </a:extLst>
              </a:tr>
              <a:tr h="36284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Revenue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29,494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884,813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10,765,219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53,826,094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083054"/>
                  </a:ext>
                </a:extLst>
              </a:tr>
              <a:tr h="3749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Spending Amount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2,506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75,168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914,544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4,572,720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318633"/>
                  </a:ext>
                </a:extLst>
              </a:tr>
              <a:tr h="48379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Profit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26,988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809,645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9,850,675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49,253,374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391085"/>
                  </a:ext>
                </a:extLst>
              </a:tr>
            </a:tbl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A861B896-E294-8040-52F5-EE7F42A8D2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4469532"/>
              </p:ext>
            </p:extLst>
          </p:nvPr>
        </p:nvGraphicFramePr>
        <p:xfrm>
          <a:off x="229936" y="4111420"/>
          <a:ext cx="6280152" cy="30227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109A5BC7-EA64-08C3-358B-AE3639BB60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2299302"/>
              </p:ext>
            </p:extLst>
          </p:nvPr>
        </p:nvGraphicFramePr>
        <p:xfrm>
          <a:off x="7151432" y="4009819"/>
          <a:ext cx="4572000" cy="25052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B5722B4-3E36-1071-DF46-F0858F5820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4337" y="12853"/>
            <a:ext cx="1957663" cy="70203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A8393D-518A-677D-2CDF-5A7078EF814B}"/>
              </a:ext>
            </a:extLst>
          </p:cNvPr>
          <p:cNvSpPr txBox="1"/>
          <p:nvPr/>
        </p:nvSpPr>
        <p:spPr>
          <a:xfrm>
            <a:off x="2271251" y="12853"/>
            <a:ext cx="7816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Estimated – Cost and Energy efficiency  - Outcomes</a:t>
            </a:r>
          </a:p>
        </p:txBody>
      </p:sp>
    </p:spTree>
    <p:extLst>
      <p:ext uri="{BB962C8B-B14F-4D97-AF65-F5344CB8AC3E}">
        <p14:creationId xmlns:p14="http://schemas.microsoft.com/office/powerpoint/2010/main" val="2799612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7A4BF4-31C3-4BCE-8E98-7F9ADCAFD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4337" y="12853"/>
            <a:ext cx="1957663" cy="70203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F9CA01-E805-A094-531D-34BF621B5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4F501-C381-4634-B158-CC0BAAA1A02E}" type="slidenum">
              <a:rPr lang="en-IN" smtClean="0"/>
              <a:t>8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2A790E-0B64-2952-4FE8-D0FFCB7FDCD2}"/>
              </a:ext>
            </a:extLst>
          </p:cNvPr>
          <p:cNvSpPr txBox="1"/>
          <p:nvPr/>
        </p:nvSpPr>
        <p:spPr>
          <a:xfrm>
            <a:off x="3801783" y="39479"/>
            <a:ext cx="40541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Expected Research Outcome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D3AB433-1728-C6EF-70DB-9819B3D2E9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0756399"/>
              </p:ext>
            </p:extLst>
          </p:nvPr>
        </p:nvGraphicFramePr>
        <p:xfrm>
          <a:off x="294967" y="825910"/>
          <a:ext cx="11238271" cy="53124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5484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4D7A9-CFAC-8D9C-22BE-7C04FB0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4F501-C381-4634-B158-CC0BAAA1A02E}" type="slidenum">
              <a:rPr lang="en-IN" smtClean="0"/>
              <a:t>9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8C6675-6969-BDFB-4005-9D739DF1C6F5}"/>
              </a:ext>
            </a:extLst>
          </p:cNvPr>
          <p:cNvSpPr txBox="1"/>
          <p:nvPr/>
        </p:nvSpPr>
        <p:spPr>
          <a:xfrm>
            <a:off x="2359743" y="39024"/>
            <a:ext cx="9517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Budget Details Requested – with Justification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84B1A-B950-86BC-5EC7-3E72153DD37A}"/>
              </a:ext>
            </a:extLst>
          </p:cNvPr>
          <p:cNvSpPr txBox="1"/>
          <p:nvPr/>
        </p:nvSpPr>
        <p:spPr>
          <a:xfrm>
            <a:off x="206478" y="5140708"/>
            <a:ext cx="9517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Patents with SRM AP Affiliations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11C946F-F5FB-1C54-872D-539A5A180D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906259"/>
              </p:ext>
            </p:extLst>
          </p:nvPr>
        </p:nvGraphicFramePr>
        <p:xfrm>
          <a:off x="206478" y="592834"/>
          <a:ext cx="9161044" cy="45478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2676">
                  <a:extLst>
                    <a:ext uri="{9D8B030D-6E8A-4147-A177-3AD203B41FA5}">
                      <a16:colId xmlns:a16="http://schemas.microsoft.com/office/drawing/2014/main" val="1633699829"/>
                    </a:ext>
                  </a:extLst>
                </a:gridCol>
                <a:gridCol w="6451669">
                  <a:extLst>
                    <a:ext uri="{9D8B030D-6E8A-4147-A177-3AD203B41FA5}">
                      <a16:colId xmlns:a16="http://schemas.microsoft.com/office/drawing/2014/main" val="3921406677"/>
                    </a:ext>
                  </a:extLst>
                </a:gridCol>
                <a:gridCol w="1686699">
                  <a:extLst>
                    <a:ext uri="{9D8B030D-6E8A-4147-A177-3AD203B41FA5}">
                      <a16:colId xmlns:a16="http://schemas.microsoft.com/office/drawing/2014/main" val="2759151625"/>
                    </a:ext>
                  </a:extLst>
                </a:gridCol>
              </a:tblGrid>
              <a:tr h="542284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</a:rPr>
                        <a:t> Project bill of materials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995" marR="16995" marT="1699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699827"/>
                  </a:ext>
                </a:extLst>
              </a:tr>
              <a:tr h="4107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S.no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995" marR="16995" marT="169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Components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995" marR="16995" marT="169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Items cost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995" marR="16995" marT="16995" marB="0" anchor="ctr"/>
                </a:tc>
                <a:extLst>
                  <a:ext uri="{0D108BD9-81ED-4DB2-BD59-A6C34878D82A}">
                    <a16:rowId xmlns:a16="http://schemas.microsoft.com/office/drawing/2014/main" val="1506925227"/>
                  </a:ext>
                </a:extLst>
              </a:tr>
              <a:tr h="38156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995" marR="16995" marT="169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Solar Pannel + Solar charger converter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995" marR="16995" marT="169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4500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995" marR="16995" marT="16995" marB="0" anchor="ctr"/>
                </a:tc>
                <a:extLst>
                  <a:ext uri="{0D108BD9-81ED-4DB2-BD59-A6C34878D82A}">
                    <a16:rowId xmlns:a16="http://schemas.microsoft.com/office/drawing/2014/main" val="3072740726"/>
                  </a:ext>
                </a:extLst>
              </a:tr>
              <a:tr h="38156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6995" marR="16995" marT="169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Lead Acid Rechargble Batteries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995" marR="16995" marT="169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2600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995" marR="16995" marT="16995" marB="0" anchor="ctr"/>
                </a:tc>
                <a:extLst>
                  <a:ext uri="{0D108BD9-81ED-4DB2-BD59-A6C34878D82A}">
                    <a16:rowId xmlns:a16="http://schemas.microsoft.com/office/drawing/2014/main" val="1950334041"/>
                  </a:ext>
                </a:extLst>
              </a:tr>
              <a:tr h="38156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16995" marR="16995" marT="169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Power Converters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995" marR="16995" marT="169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3500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995" marR="16995" marT="16995" marB="0" anchor="ctr"/>
                </a:tc>
                <a:extLst>
                  <a:ext uri="{0D108BD9-81ED-4DB2-BD59-A6C34878D82A}">
                    <a16:rowId xmlns:a16="http://schemas.microsoft.com/office/drawing/2014/main" val="3237185884"/>
                  </a:ext>
                </a:extLst>
              </a:tr>
              <a:tr h="38156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16995" marR="16995" marT="169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Lithium-Ion Batteries + Measurement kit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995" marR="16995" marT="169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5400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995" marR="16995" marT="16995" marB="0" anchor="ctr"/>
                </a:tc>
                <a:extLst>
                  <a:ext uri="{0D108BD9-81ED-4DB2-BD59-A6C34878D82A}">
                    <a16:rowId xmlns:a16="http://schemas.microsoft.com/office/drawing/2014/main" val="3735237331"/>
                  </a:ext>
                </a:extLst>
              </a:tr>
              <a:tr h="38156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16995" marR="16995" marT="169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sensors + Switches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995" marR="16995" marT="169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5600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995" marR="16995" marT="16995" marB="0" anchor="ctr"/>
                </a:tc>
                <a:extLst>
                  <a:ext uri="{0D108BD9-81ED-4DB2-BD59-A6C34878D82A}">
                    <a16:rowId xmlns:a16="http://schemas.microsoft.com/office/drawing/2014/main" val="3038113369"/>
                  </a:ext>
                </a:extLst>
              </a:tr>
              <a:tr h="38156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16995" marR="16995" marT="169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IOT Microcontrollers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995" marR="16995" marT="169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3840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995" marR="16995" marT="16995" marB="0" anchor="ctr"/>
                </a:tc>
                <a:extLst>
                  <a:ext uri="{0D108BD9-81ED-4DB2-BD59-A6C34878D82A}">
                    <a16:rowId xmlns:a16="http://schemas.microsoft.com/office/drawing/2014/main" val="1252580856"/>
                  </a:ext>
                </a:extLst>
              </a:tr>
              <a:tr h="38156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16995" marR="16995" marT="169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Raspberry Pi Kit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995" marR="16995" marT="169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4000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995" marR="16995" marT="16995" marB="0" anchor="ctr"/>
                </a:tc>
                <a:extLst>
                  <a:ext uri="{0D108BD9-81ED-4DB2-BD59-A6C34878D82A}">
                    <a16:rowId xmlns:a16="http://schemas.microsoft.com/office/drawing/2014/main" val="405096615"/>
                  </a:ext>
                </a:extLst>
              </a:tr>
              <a:tr h="38156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6995" marR="16995" marT="169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Tool Kit + Statinonary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995" marR="16995" marT="169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1000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995" marR="16995" marT="16995" marB="0" anchor="ctr"/>
                </a:tc>
                <a:extLst>
                  <a:ext uri="{0D108BD9-81ED-4DB2-BD59-A6C34878D82A}">
                    <a16:rowId xmlns:a16="http://schemas.microsoft.com/office/drawing/2014/main" val="1800936160"/>
                  </a:ext>
                </a:extLst>
              </a:tr>
              <a:tr h="54228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Total 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995" marR="16995" marT="1699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</a:rPr>
                        <a:t>30440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995" marR="16995" marT="16995" marB="0" anchor="ctr"/>
                </a:tc>
                <a:extLst>
                  <a:ext uri="{0D108BD9-81ED-4DB2-BD59-A6C34878D82A}">
                    <a16:rowId xmlns:a16="http://schemas.microsoft.com/office/drawing/2014/main" val="177794960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83D8BEC-D0A4-8035-A01A-59FC013645D9}"/>
              </a:ext>
            </a:extLst>
          </p:cNvPr>
          <p:cNvSpPr txBox="1"/>
          <p:nvPr/>
        </p:nvSpPr>
        <p:spPr>
          <a:xfrm>
            <a:off x="206478" y="5525729"/>
            <a:ext cx="9606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Patent Filled at Indian Patent office [</a:t>
            </a:r>
            <a:r>
              <a:rPr lang="en-US" b="0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05.02.2025] – Application no – </a:t>
            </a:r>
            <a:r>
              <a:rPr lang="en-US" b="1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202541009491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000000"/>
                </a:solidFill>
                <a:latin typeface="trebuchet ms" panose="020B0603020202020204" pitchFamily="34" charset="0"/>
              </a:rPr>
              <a:t>Hardware Prototype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3CD0E8-6BF0-6BCC-29BF-538012A896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4337" y="12853"/>
            <a:ext cx="1957663" cy="70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601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5044</TotalTime>
  <Words>1052</Words>
  <Application>Microsoft Office PowerPoint</Application>
  <PresentationFormat>Widescreen</PresentationFormat>
  <Paragraphs>357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__fkGroteskNeue_598ab8</vt:lpstr>
      <vt:lpstr>Aptos</vt:lpstr>
      <vt:lpstr>Arial</vt:lpstr>
      <vt:lpstr>Calibri</vt:lpstr>
      <vt:lpstr>Calibri Light</vt:lpstr>
      <vt:lpstr>Times New Roman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Ranjit Thapa</dc:creator>
  <cp:lastModifiedBy>jagadeeswara kamarajugadda | AP23122100002</cp:lastModifiedBy>
  <cp:revision>169</cp:revision>
  <dcterms:created xsi:type="dcterms:W3CDTF">2021-02-16T10:59:38Z</dcterms:created>
  <dcterms:modified xsi:type="dcterms:W3CDTF">2025-04-02T07:13:53Z</dcterms:modified>
</cp:coreProperties>
</file>