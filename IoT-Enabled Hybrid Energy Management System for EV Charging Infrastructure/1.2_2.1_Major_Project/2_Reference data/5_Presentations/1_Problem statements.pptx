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7" r:id="rId5"/>
    <p:sldId id="258" r:id="rId6"/>
    <p:sldId id="346" r:id="rId7"/>
    <p:sldId id="405" r:id="rId8"/>
    <p:sldId id="406" r:id="rId9"/>
    <p:sldId id="330" r:id="rId10"/>
    <p:sldId id="407" r:id="rId11"/>
    <p:sldId id="408" r:id="rId12"/>
    <p:sldId id="409" r:id="rId13"/>
    <p:sldId id="410" r:id="rId14"/>
    <p:sldId id="411" r:id="rId15"/>
    <p:sldId id="412" r:id="rId16"/>
    <p:sldId id="413" r:id="rId17"/>
    <p:sldId id="414"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AF7CB-7ACF-42E1-9769-CB1172CEA200}" v="518" dt="2024-07-23T07:58:50.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64" autoAdjust="0"/>
    <p:restoredTop sz="91984" autoAdjust="0"/>
  </p:normalViewPr>
  <p:slideViewPr>
    <p:cSldViewPr snapToGrid="0">
      <p:cViewPr varScale="1">
        <p:scale>
          <a:sx n="79" d="100"/>
          <a:sy n="79" d="100"/>
        </p:scale>
        <p:origin x="912" y="72"/>
      </p:cViewPr>
      <p:guideLst/>
    </p:cSldViewPr>
  </p:slideViewPr>
  <p:outlineViewPr>
    <p:cViewPr>
      <p:scale>
        <a:sx n="33" d="100"/>
        <a:sy n="33" d="100"/>
      </p:scale>
      <p:origin x="0" y="-11650"/>
    </p:cViewPr>
  </p:outlineViewPr>
  <p:notesTextViewPr>
    <p:cViewPr>
      <p:scale>
        <a:sx n="1" d="1"/>
        <a:sy n="1" d="1"/>
      </p:scale>
      <p:origin x="0" y="0"/>
    </p:cViewPr>
  </p:notesTextViewPr>
  <p:sorterViewPr>
    <p:cViewPr>
      <p:scale>
        <a:sx n="100" d="100"/>
        <a:sy n="100" d="100"/>
      </p:scale>
      <p:origin x="0" y="-2880"/>
    </p:cViewPr>
  </p:sorterViewPr>
  <p:notesViewPr>
    <p:cSldViewPr snapToGrid="0">
      <p:cViewPr varScale="1">
        <p:scale>
          <a:sx n="72" d="100"/>
          <a:sy n="72" d="100"/>
        </p:scale>
        <p:origin x="301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0E9D3-35D6-41A2-8721-35E54E97FBB5}" type="datetimeFigureOut">
              <a:rPr lang="en-IN" smtClean="0"/>
              <a:t>15-08-2025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06C1D-2A15-49D1-94AC-58C619396119}" type="slidenum">
              <a:rPr lang="en-IN" smtClean="0"/>
              <a:t>‹#›</a:t>
            </a:fld>
            <a:endParaRPr lang="en-IN"/>
          </a:p>
        </p:txBody>
      </p:sp>
    </p:spTree>
    <p:extLst>
      <p:ext uri="{BB962C8B-B14F-4D97-AF65-F5344CB8AC3E}">
        <p14:creationId xmlns:p14="http://schemas.microsoft.com/office/powerpoint/2010/main" val="702779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DB01CDD-2765-4E0B-8E1E-74E5DF634D54}"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713976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956CEB-6CDE-4930-8E1A-D8F60CF96CEF}"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626813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841D3-185F-47D8-BDE4-D8016A7347DF}"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338911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26FF884-9D0E-4B7A-AF59-2FB766C47657}"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705026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1AF0DF7-C5E0-43EE-B2C3-C8F633061D7B}" type="datetime1">
              <a:rPr lang="en-US" smtClean="0"/>
              <a:t>8/15/2025</a:t>
            </a:fld>
            <a:endParaRPr lang="en-IN"/>
          </a:p>
        </p:txBody>
      </p:sp>
      <p:sp>
        <p:nvSpPr>
          <p:cNvPr id="8" name="Footer Placeholder 7"/>
          <p:cNvSpPr>
            <a:spLocks noGrp="1"/>
          </p:cNvSpPr>
          <p:nvPr>
            <p:ph type="ftr" sz="quarter" idx="11"/>
          </p:nvPr>
        </p:nvSpPr>
        <p:spPr/>
        <p:txBody>
          <a:bodyPr/>
          <a:lstStyle/>
          <a:p>
            <a:r>
              <a:rPr lang="en-US" dirty="0"/>
              <a:t>Jagadeesh_AP2312210002</a:t>
            </a:r>
            <a:endParaRPr lang="en-IN" dirty="0"/>
          </a:p>
        </p:txBody>
      </p:sp>
      <p:sp>
        <p:nvSpPr>
          <p:cNvPr id="9" name="Slide Number Placeholder 8"/>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879506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4616347-16FC-498A-8B0A-492B3F8815B1}" type="datetime1">
              <a:rPr lang="en-US" smtClean="0"/>
              <a:t>8/15/2025</a:t>
            </a:fld>
            <a:endParaRPr lang="en-IN"/>
          </a:p>
        </p:txBody>
      </p:sp>
      <p:sp>
        <p:nvSpPr>
          <p:cNvPr id="4" name="Footer Placeholder 3"/>
          <p:cNvSpPr>
            <a:spLocks noGrp="1"/>
          </p:cNvSpPr>
          <p:nvPr>
            <p:ph type="ftr" sz="quarter" idx="11"/>
          </p:nvPr>
        </p:nvSpPr>
        <p:spPr/>
        <p:txBody>
          <a:bodyPr/>
          <a:lstStyle/>
          <a:p>
            <a:r>
              <a:rPr lang="en-US" dirty="0"/>
              <a:t>Jagadeesh_AP2312210002</a:t>
            </a:r>
            <a:endParaRPr lang="en-IN" dirty="0"/>
          </a:p>
        </p:txBody>
      </p:sp>
      <p:sp>
        <p:nvSpPr>
          <p:cNvPr id="5" name="Slide Number Placeholder 4"/>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908073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4F80B-C6ED-4090-B072-93657F87519D}" type="datetime1">
              <a:rPr lang="en-US" smtClean="0"/>
              <a:t>8/15/2025</a:t>
            </a:fld>
            <a:endParaRPr lang="en-IN"/>
          </a:p>
        </p:txBody>
      </p:sp>
      <p:sp>
        <p:nvSpPr>
          <p:cNvPr id="3" name="Footer Placeholder 2"/>
          <p:cNvSpPr>
            <a:spLocks noGrp="1"/>
          </p:cNvSpPr>
          <p:nvPr>
            <p:ph type="ftr" sz="quarter" idx="11"/>
          </p:nvPr>
        </p:nvSpPr>
        <p:spPr/>
        <p:txBody>
          <a:bodyPr/>
          <a:lstStyle/>
          <a:p>
            <a:r>
              <a:rPr lang="en-US" dirty="0"/>
              <a:t>Jagadeesh_AP2312210002</a:t>
            </a:r>
            <a:endParaRPr lang="en-IN" dirty="0"/>
          </a:p>
        </p:txBody>
      </p:sp>
      <p:sp>
        <p:nvSpPr>
          <p:cNvPr id="4" name="Slide Number Placeholder 3"/>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026406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E4B027-1FEE-41E9-8565-0460820AFA68}"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715935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F8CD37-D6CD-4F25-B941-5CDE0236D7C2}"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257518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E079B75-EBAB-4ABC-81F0-E36206D12060}"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626612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0A49227-6DC0-4EAA-81BA-D4C0E6A15063}"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32008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EF508-18F7-4B4E-977E-A553DA988B11}" type="datetime1">
              <a:rPr lang="en-US" smtClean="0"/>
              <a:t>8/15/2025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Jagadeesh_AP2312210002</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CCAAF-6324-40D0-99C1-825B83CC9B2F}" type="slidenum">
              <a:rPr lang="en-IN" smtClean="0"/>
              <a:t>‹#›</a:t>
            </a:fld>
            <a:endParaRPr lang="en-IN"/>
          </a:p>
        </p:txBody>
      </p:sp>
    </p:spTree>
    <p:extLst>
      <p:ext uri="{BB962C8B-B14F-4D97-AF65-F5344CB8AC3E}">
        <p14:creationId xmlns:p14="http://schemas.microsoft.com/office/powerpoint/2010/main" val="320079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56357" y="711243"/>
            <a:ext cx="6493448" cy="1352712"/>
          </a:xfrm>
        </p:spPr>
        <p:txBody>
          <a:bodyPr vert="horz" lIns="91440" tIns="45720" rIns="91440" bIns="45720" rtlCol="0" anchor="t">
            <a:noAutofit/>
          </a:bodyPr>
          <a:lstStyle/>
          <a:p>
            <a:pPr algn="l">
              <a:lnSpc>
                <a:spcPct val="150000"/>
              </a:lnSpc>
            </a:pPr>
            <a:r>
              <a:rPr lang="en-US" sz="1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Title – </a:t>
            </a:r>
            <a:br>
              <a:rPr lang="en-US" sz="2800" kern="1200" spc="3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Design of IOT Architecture for</a:t>
            </a:r>
            <a:b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Battery Charging Management Technology</a:t>
            </a:r>
          </a:p>
        </p:txBody>
      </p:sp>
      <p:grpSp>
        <p:nvGrpSpPr>
          <p:cNvPr id="16" name="Group 15">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7" name="Freeform: Shape 16">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D350E611-2993-456E-8445-FEE8351BB19B}" type="datetime1">
              <a:rPr lang="en-US" smtClean="0"/>
              <a:pPr>
                <a:spcAft>
                  <a:spcPts val="600"/>
                </a:spcAft>
              </a:pPr>
              <a:t>8/15/2025</a:t>
            </a:fld>
            <a:endParaRPr lang="en-US"/>
          </a:p>
        </p:txBody>
      </p:sp>
      <p:sp>
        <p:nvSpPr>
          <p:cNvPr id="6" name="Footer Placeholder 5"/>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7" name="Slide Number Placeholder 6"/>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pPr>
                <a:spcAft>
                  <a:spcPts val="600"/>
                </a:spcAft>
              </a:pPr>
              <a:t>1</a:t>
            </a:fld>
            <a:endParaRPr lang="en-US"/>
          </a:p>
        </p:txBody>
      </p:sp>
      <p:sp>
        <p:nvSpPr>
          <p:cNvPr id="8" name="TextBox 7">
            <a:extLst>
              <a:ext uri="{FF2B5EF4-FFF2-40B4-BE49-F238E27FC236}">
                <a16:creationId xmlns:a16="http://schemas.microsoft.com/office/drawing/2014/main" id="{AE14C790-7258-76B7-ED0C-3952226A849A}"/>
              </a:ext>
            </a:extLst>
          </p:cNvPr>
          <p:cNvSpPr txBox="1"/>
          <p:nvPr/>
        </p:nvSpPr>
        <p:spPr>
          <a:xfrm>
            <a:off x="2507" y="5575995"/>
            <a:ext cx="5003867" cy="830997"/>
          </a:xfrm>
          <a:prstGeom prst="rect">
            <a:avLst/>
          </a:prstGeom>
          <a:noFill/>
        </p:spPr>
        <p:txBody>
          <a:bodyPr wrap="square" rtlCol="0">
            <a:spAutoFit/>
          </a:bodyPr>
          <a:lstStyle/>
          <a:p>
            <a:pPr algn="ctr"/>
            <a:r>
              <a:rPr lang="en-US" sz="1600" b="1" kern="1200" dirty="0">
                <a:solidFill>
                  <a:schemeClr val="tx2"/>
                </a:solidFill>
                <a:latin typeface="+mj-lt"/>
                <a:ea typeface="+mj-ea"/>
                <a:cs typeface="+mj-cs"/>
              </a:rPr>
              <a:t>School of Engineering and Sciences (SEAS)</a:t>
            </a:r>
            <a:br>
              <a:rPr lang="en-US" sz="1600" b="1" kern="1200" dirty="0">
                <a:solidFill>
                  <a:schemeClr val="tx2"/>
                </a:solidFill>
                <a:latin typeface="+mj-lt"/>
                <a:ea typeface="+mj-ea"/>
                <a:cs typeface="+mj-cs"/>
              </a:rPr>
            </a:br>
            <a:r>
              <a:rPr lang="en-US" sz="1600" b="1" kern="1200" dirty="0">
                <a:solidFill>
                  <a:schemeClr val="tx2"/>
                </a:solidFill>
                <a:latin typeface="+mj-lt"/>
                <a:ea typeface="+mj-ea"/>
                <a:cs typeface="+mj-cs"/>
              </a:rPr>
              <a:t>Department of Electronics and Communication Engineering</a:t>
            </a:r>
            <a:br>
              <a:rPr lang="en-US" sz="1600" b="1" kern="1200" dirty="0">
                <a:solidFill>
                  <a:schemeClr val="tx2"/>
                </a:solidFill>
                <a:latin typeface="+mj-lt"/>
                <a:ea typeface="+mj-ea"/>
                <a:cs typeface="+mj-cs"/>
              </a:rPr>
            </a:br>
            <a:r>
              <a:rPr lang="en-US" sz="1600" kern="1200" dirty="0">
                <a:solidFill>
                  <a:schemeClr val="tx2"/>
                </a:solidFill>
                <a:latin typeface="+mj-lt"/>
                <a:ea typeface="+mj-ea"/>
                <a:cs typeface="+mj-cs"/>
              </a:rPr>
              <a:t> SRM University, Andhra Pradesh (SRM AP) </a:t>
            </a:r>
            <a:endParaRPr lang="en-US" sz="1600" dirty="0"/>
          </a:p>
        </p:txBody>
      </p:sp>
      <p:sp>
        <p:nvSpPr>
          <p:cNvPr id="11" name="TextBox 10">
            <a:extLst>
              <a:ext uri="{FF2B5EF4-FFF2-40B4-BE49-F238E27FC236}">
                <a16:creationId xmlns:a16="http://schemas.microsoft.com/office/drawing/2014/main" id="{A5F8596C-750C-6011-6B31-33F7DF8A40B1}"/>
              </a:ext>
            </a:extLst>
          </p:cNvPr>
          <p:cNvSpPr txBox="1"/>
          <p:nvPr/>
        </p:nvSpPr>
        <p:spPr>
          <a:xfrm>
            <a:off x="8086225" y="32914"/>
            <a:ext cx="4105470" cy="400110"/>
          </a:xfrm>
          <a:prstGeom prst="rect">
            <a:avLst/>
          </a:prstGeom>
          <a:noFill/>
        </p:spPr>
        <p:txBody>
          <a:bodyPr wrap="square" rtlCol="0">
            <a:spAutoFit/>
          </a:bodyPr>
          <a:lstStyle/>
          <a:p>
            <a:pPr algn="ctr"/>
            <a:r>
              <a:rPr lang="en-US" sz="2000" b="1" dirty="0">
                <a:solidFill>
                  <a:schemeClr val="tx2"/>
                </a:solidFill>
                <a:latin typeface="+mj-lt"/>
                <a:ea typeface="+mj-ea"/>
                <a:cs typeface="+mj-cs"/>
              </a:rPr>
              <a:t>Major project 1</a:t>
            </a:r>
            <a:r>
              <a:rPr lang="en-US" sz="2000" b="1" baseline="30000" dirty="0">
                <a:solidFill>
                  <a:schemeClr val="tx2"/>
                </a:solidFill>
                <a:latin typeface="+mj-lt"/>
                <a:ea typeface="+mj-ea"/>
                <a:cs typeface="+mj-cs"/>
              </a:rPr>
              <a:t>st</a:t>
            </a:r>
            <a:r>
              <a:rPr lang="en-US" sz="2000" b="1" dirty="0">
                <a:solidFill>
                  <a:schemeClr val="tx2"/>
                </a:solidFill>
                <a:latin typeface="+mj-lt"/>
                <a:ea typeface="+mj-ea"/>
                <a:cs typeface="+mj-cs"/>
              </a:rPr>
              <a:t> Review</a:t>
            </a:r>
            <a:r>
              <a:rPr lang="en-US" sz="2000" b="1" kern="1200" dirty="0">
                <a:solidFill>
                  <a:schemeClr val="tx2"/>
                </a:solidFill>
                <a:latin typeface="+mj-lt"/>
                <a:ea typeface="+mj-ea"/>
                <a:cs typeface="+mj-cs"/>
              </a:rPr>
              <a:t> Presentation</a:t>
            </a:r>
            <a:endParaRPr lang="en-US" sz="2000" b="1" dirty="0"/>
          </a:p>
        </p:txBody>
      </p:sp>
      <p:pic>
        <p:nvPicPr>
          <p:cNvPr id="10" name="Picture 9" descr="A black and green logo&#10;&#10;Description automatically generated">
            <a:extLst>
              <a:ext uri="{FF2B5EF4-FFF2-40B4-BE49-F238E27FC236}">
                <a16:creationId xmlns:a16="http://schemas.microsoft.com/office/drawing/2014/main" id="{00387109-12A4-BD5A-150C-D499C1EE4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1835" y="4321403"/>
            <a:ext cx="3832911" cy="1251603"/>
          </a:xfrm>
          <a:prstGeom prst="rect">
            <a:avLst/>
          </a:prstGeom>
        </p:spPr>
      </p:pic>
      <p:cxnSp>
        <p:nvCxnSpPr>
          <p:cNvPr id="5" name="Straight Connector 4">
            <a:extLst>
              <a:ext uri="{FF2B5EF4-FFF2-40B4-BE49-F238E27FC236}">
                <a16:creationId xmlns:a16="http://schemas.microsoft.com/office/drawing/2014/main" id="{69F68C0E-BDE4-8591-032A-D863A5568E60}"/>
              </a:ext>
            </a:extLst>
          </p:cNvPr>
          <p:cNvCxnSpPr/>
          <p:nvPr/>
        </p:nvCxnSpPr>
        <p:spPr>
          <a:xfrm flipH="1">
            <a:off x="2507" y="4128093"/>
            <a:ext cx="49265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4A9853-8C9C-9FB2-2020-54A6CCFE56E7}"/>
              </a:ext>
            </a:extLst>
          </p:cNvPr>
          <p:cNvSpPr txBox="1"/>
          <p:nvPr/>
        </p:nvSpPr>
        <p:spPr>
          <a:xfrm>
            <a:off x="440555" y="1398472"/>
            <a:ext cx="4287416" cy="2031325"/>
          </a:xfrm>
          <a:prstGeom prst="rect">
            <a:avLst/>
          </a:prstGeom>
          <a:noFill/>
        </p:spPr>
        <p:txBody>
          <a:bodyPr wrap="square" rtlCol="0">
            <a:spAutoFit/>
          </a:bodyPr>
          <a:lstStyle/>
          <a:p>
            <a:pPr algn="ctr"/>
            <a:r>
              <a:rPr lang="en-US" sz="1800" kern="1200" dirty="0">
                <a:solidFill>
                  <a:schemeClr val="tx2"/>
                </a:solidFill>
                <a:latin typeface="+mj-lt"/>
                <a:ea typeface="+mj-ea"/>
                <a:cs typeface="+mj-cs"/>
              </a:rPr>
              <a:t>Presented by</a:t>
            </a:r>
            <a:br>
              <a:rPr lang="en-US" sz="1800" kern="1200" dirty="0">
                <a:solidFill>
                  <a:schemeClr val="tx2"/>
                </a:solidFill>
                <a:latin typeface="+mj-lt"/>
                <a:ea typeface="+mj-ea"/>
                <a:cs typeface="+mj-cs"/>
              </a:rPr>
            </a:br>
            <a:r>
              <a:rPr lang="en-US" sz="1800" b="1" kern="1200" dirty="0">
                <a:solidFill>
                  <a:schemeClr val="tx2"/>
                </a:solidFill>
                <a:latin typeface="+mj-lt"/>
                <a:ea typeface="+mj-ea"/>
                <a:cs typeface="+mj-cs"/>
              </a:rPr>
              <a:t>Jagadeesh_(AP2312210002)</a:t>
            </a:r>
            <a:endParaRPr lang="en-US" sz="1800" kern="1200" dirty="0">
              <a:solidFill>
                <a:schemeClr val="tx2"/>
              </a:solidFill>
              <a:latin typeface="+mj-lt"/>
              <a:ea typeface="+mj-ea"/>
              <a:cs typeface="+mj-cs"/>
            </a:endParaRPr>
          </a:p>
          <a:p>
            <a:pPr algn="ctr"/>
            <a:endParaRPr lang="en-US" dirty="0">
              <a:solidFill>
                <a:schemeClr val="tx2"/>
              </a:solidFill>
              <a:latin typeface="+mj-lt"/>
              <a:ea typeface="+mj-ea"/>
              <a:cs typeface="+mj-cs"/>
            </a:endParaRPr>
          </a:p>
          <a:p>
            <a:pPr algn="ctr"/>
            <a:r>
              <a:rPr lang="en-US" sz="1800" dirty="0">
                <a:latin typeface="Times New Roman" panose="02020603050405020304" pitchFamily="18" charset="0"/>
                <a:cs typeface="Times New Roman" panose="02020603050405020304" pitchFamily="18" charset="0"/>
              </a:rPr>
              <a:t>under the Esteemed guidance of</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solidFill>
                  <a:srgbClr val="008E40"/>
                </a:solidFill>
                <a:latin typeface="Times New Roman" panose="02020603050405020304" pitchFamily="18" charset="0"/>
                <a:cs typeface="Times New Roman" panose="02020603050405020304" pitchFamily="18" charset="0"/>
              </a:rPr>
              <a:t>Dr. Sujith </a:t>
            </a:r>
            <a:r>
              <a:rPr lang="en-US" sz="1800" b="1" dirty="0" err="1">
                <a:solidFill>
                  <a:srgbClr val="008E40"/>
                </a:solidFill>
                <a:latin typeface="Times New Roman" panose="02020603050405020304" pitchFamily="18" charset="0"/>
                <a:cs typeface="Times New Roman" panose="02020603050405020304" pitchFamily="18" charset="0"/>
              </a:rPr>
              <a:t>Kalluri</a:t>
            </a:r>
            <a:r>
              <a:rPr lang="en-US" sz="1800" b="1" dirty="0">
                <a:solidFill>
                  <a:srgbClr val="008E40"/>
                </a:solidFill>
                <a:latin typeface="Times New Roman" panose="02020603050405020304" pitchFamily="18" charset="0"/>
                <a:cs typeface="Times New Roman" panose="02020603050405020304" pitchFamily="18" charset="0"/>
              </a:rPr>
              <a:t> </a:t>
            </a:r>
            <a:r>
              <a:rPr lang="en-US" sz="1800" b="1" dirty="0" err="1">
                <a:solidFill>
                  <a:srgbClr val="008E40"/>
                </a:solidFill>
                <a:latin typeface="Times New Roman" panose="02020603050405020304" pitchFamily="18" charset="0"/>
                <a:cs typeface="Times New Roman" panose="02020603050405020304" pitchFamily="18" charset="0"/>
              </a:rPr>
              <a:t>Ph.D</a:t>
            </a:r>
            <a:br>
              <a:rPr lang="en-US" sz="1800" b="1" dirty="0">
                <a:solidFill>
                  <a:srgbClr val="008E4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Associate Professor</a:t>
            </a:r>
            <a:endParaRPr lang="en-US" dirty="0"/>
          </a:p>
        </p:txBody>
      </p:sp>
      <p:pic>
        <p:nvPicPr>
          <p:cNvPr id="2050" name="Picture 2" descr="intuions.com">
            <a:extLst>
              <a:ext uri="{FF2B5EF4-FFF2-40B4-BE49-F238E27FC236}">
                <a16:creationId xmlns:a16="http://schemas.microsoft.com/office/drawing/2014/main" id="{0FCAFF62-4320-AD69-DB79-6DCD656F32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896" t="24409" r="25999"/>
          <a:stretch/>
        </p:blipFill>
        <p:spPr bwMode="auto">
          <a:xfrm>
            <a:off x="9537430" y="2698985"/>
            <a:ext cx="2326076" cy="1759004"/>
          </a:xfrm>
          <a:prstGeom prst="decagon">
            <a:avLst/>
          </a:prstGeom>
          <a:noFill/>
          <a:extLst>
            <a:ext uri="{909E8E84-426E-40DD-AFC4-6F175D3DCCD1}">
              <a14:hiddenFill xmlns:a14="http://schemas.microsoft.com/office/drawing/2010/main">
                <a:solidFill>
                  <a:srgbClr val="FFFFFF"/>
                </a:solidFill>
              </a14:hiddenFill>
            </a:ext>
          </a:extLst>
        </p:spPr>
      </p:pic>
      <p:pic>
        <p:nvPicPr>
          <p:cNvPr id="2052" name="Picture 4" descr="The Role Of IoT In Smart Grid Tech - Intuz">
            <a:extLst>
              <a:ext uri="{FF2B5EF4-FFF2-40B4-BE49-F238E27FC236}">
                <a16:creationId xmlns:a16="http://schemas.microsoft.com/office/drawing/2014/main" id="{CDF7FA1B-5A62-DE3D-001C-A0EDF44D5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131" y="4321403"/>
            <a:ext cx="3828249" cy="201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1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371062" y="277215"/>
            <a:ext cx="3888526" cy="807646"/>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Outline</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6C19B6FD-226A-4CFB-95DA-A1309CA70088}"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2</a:t>
            </a:fld>
            <a:endParaRPr lang="en-IN"/>
          </a:p>
        </p:txBody>
      </p:sp>
      <p:pic>
        <p:nvPicPr>
          <p:cNvPr id="9" name="Picture 8" descr="A black and green logo&#10;&#10;Description automatically generated">
            <a:extLst>
              <a:ext uri="{FF2B5EF4-FFF2-40B4-BE49-F238E27FC236}">
                <a16:creationId xmlns:a16="http://schemas.microsoft.com/office/drawing/2014/main" id="{A4E8363D-BD78-CB08-68C5-EF4C2730B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85131" y="909006"/>
            <a:ext cx="2910455" cy="1043708"/>
          </a:xfrm>
          <a:prstGeom prst="rect">
            <a:avLst/>
          </a:prstGeom>
        </p:spPr>
      </p:pic>
      <p:sp>
        <p:nvSpPr>
          <p:cNvPr id="11" name="TextBox 10">
            <a:extLst>
              <a:ext uri="{FF2B5EF4-FFF2-40B4-BE49-F238E27FC236}">
                <a16:creationId xmlns:a16="http://schemas.microsoft.com/office/drawing/2014/main" id="{64245924-1534-2B33-F883-AB95C8907383}"/>
              </a:ext>
            </a:extLst>
          </p:cNvPr>
          <p:cNvSpPr txBox="1"/>
          <p:nvPr/>
        </p:nvSpPr>
        <p:spPr>
          <a:xfrm>
            <a:off x="558093" y="1952714"/>
            <a:ext cx="3888526" cy="3139321"/>
          </a:xfrm>
          <a:prstGeom prst="rect">
            <a:avLst/>
          </a:prstGeom>
          <a:noFill/>
          <a:ln w="28575">
            <a:solidFill>
              <a:srgbClr val="002060"/>
            </a:solidFill>
          </a:ln>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Project study case and ideas</a:t>
            </a:r>
          </a:p>
          <a:p>
            <a:pPr>
              <a:lnSpc>
                <a:spcPct val="150000"/>
              </a:lnSpc>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t>Smart charging Industry Study case</a:t>
            </a:r>
          </a:p>
          <a:p>
            <a:pPr>
              <a:lnSpc>
                <a:spcPct val="100000"/>
              </a:lnSpc>
            </a:pPr>
            <a:r>
              <a:rPr lang="en-US" b="1" dirty="0">
                <a:solidFill>
                  <a:srgbClr val="002060"/>
                </a:solidFill>
                <a:latin typeface="Times New Roman" panose="02020603050405020304" pitchFamily="18" charset="0"/>
                <a:ea typeface="+mj-ea"/>
                <a:cs typeface="Times New Roman" panose="02020603050405020304" pitchFamily="18" charset="0"/>
              </a:rPr>
              <a:t>	</a:t>
            </a:r>
            <a:r>
              <a:rPr lang="en-US" b="1" dirty="0" err="1">
                <a:solidFill>
                  <a:srgbClr val="C00000"/>
                </a:solidFill>
                <a:latin typeface="var(--font-fk-grotesk)"/>
              </a:rPr>
              <a:t>Akkodis</a:t>
            </a:r>
            <a:r>
              <a:rPr lang="en-US" b="1" dirty="0">
                <a:solidFill>
                  <a:srgbClr val="C00000"/>
                </a:solidFill>
                <a:latin typeface="var(--font-fk-grotesk)"/>
              </a:rPr>
              <a:t>		</a:t>
            </a:r>
            <a:r>
              <a:rPr lang="en-US" b="1" dirty="0" err="1">
                <a:solidFill>
                  <a:srgbClr val="C00000"/>
                </a:solidFill>
                <a:latin typeface="var(--font-fk-grotesk)"/>
              </a:rPr>
              <a:t>Elmelin</a:t>
            </a:r>
            <a:r>
              <a:rPr lang="en-US" b="1" dirty="0">
                <a:solidFill>
                  <a:srgbClr val="C00000"/>
                </a:solidFill>
                <a:latin typeface="var(--font-fk-grotesk)"/>
              </a:rPr>
              <a:t> </a:t>
            </a:r>
          </a:p>
          <a:p>
            <a:r>
              <a:rPr lang="en-US" b="1" dirty="0">
                <a:solidFill>
                  <a:srgbClr val="C00000"/>
                </a:solidFill>
                <a:latin typeface="var(--font-fk-grotesk)"/>
              </a:rPr>
              <a:t>	</a:t>
            </a:r>
            <a:r>
              <a:rPr lang="en-US" b="1" i="0" dirty="0" err="1">
                <a:solidFill>
                  <a:srgbClr val="C00000"/>
                </a:solidFill>
                <a:effectLst/>
                <a:latin typeface="var(--font-fk-grotesk)"/>
              </a:rPr>
              <a:t>Zypp</a:t>
            </a:r>
            <a:r>
              <a:rPr lang="en-US" b="1" i="0" dirty="0">
                <a:solidFill>
                  <a:srgbClr val="C00000"/>
                </a:solidFill>
                <a:effectLst/>
                <a:latin typeface="var(--font-fk-grotesk)"/>
              </a:rPr>
              <a:t> Electric	</a:t>
            </a:r>
            <a:r>
              <a:rPr lang="en-US" b="1" dirty="0">
                <a:solidFill>
                  <a:srgbClr val="C00000"/>
                </a:solidFill>
                <a:latin typeface="var(--font-fk-grotesk)"/>
              </a:rPr>
              <a:t>E Drift</a:t>
            </a:r>
          </a:p>
          <a:p>
            <a:endParaRPr lang="en-US" b="1" dirty="0">
              <a:solidFill>
                <a:srgbClr val="C00000"/>
              </a:solidFill>
              <a:latin typeface="var(--font-fk-grotesk)"/>
            </a:endParaRPr>
          </a:p>
          <a:p>
            <a:endParaRPr lang="en-US" b="1" dirty="0">
              <a:solidFill>
                <a:srgbClr val="C00000"/>
              </a:solidFill>
              <a:latin typeface="var(--font-fk-grotesk)"/>
            </a:endParaRPr>
          </a:p>
          <a:p>
            <a:r>
              <a:rPr lang="en-US" sz="1800" b="1" dirty="0">
                <a:solidFill>
                  <a:srgbClr val="002060"/>
                </a:solidFill>
                <a:latin typeface="Times New Roman" panose="02020603050405020304" pitchFamily="18" charset="0"/>
                <a:cs typeface="Times New Roman" panose="02020603050405020304" pitchFamily="18" charset="0"/>
              </a:rPr>
              <a:t>Types of Charging Technology</a:t>
            </a:r>
          </a:p>
          <a:p>
            <a:r>
              <a:rPr lang="en-US" b="1" dirty="0">
                <a:solidFill>
                  <a:srgbClr val="002060"/>
                </a:solidFill>
                <a:latin typeface="Times New Roman" panose="02020603050405020304" pitchFamily="18" charset="0"/>
                <a:cs typeface="Times New Roman" panose="02020603050405020304" pitchFamily="18" charset="0"/>
              </a:rPr>
              <a:t>      - Real time Problems</a:t>
            </a:r>
          </a:p>
          <a:p>
            <a:r>
              <a:rPr lang="en-US" sz="1800" b="1" dirty="0">
                <a:solidFill>
                  <a:srgbClr val="002060"/>
                </a:solidFill>
                <a:latin typeface="Times New Roman" panose="02020603050405020304" pitchFamily="18" charset="0"/>
                <a:cs typeface="Times New Roman" panose="02020603050405020304" pitchFamily="18" charset="0"/>
              </a:rPr>
              <a:t>      - Solution with IOT </a:t>
            </a:r>
          </a:p>
          <a:p>
            <a:endParaRPr lang="en-US" sz="1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9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2554" y="318309"/>
            <a:ext cx="10515600" cy="685396"/>
          </a:xfrm>
        </p:spPr>
        <p:txBody>
          <a:bodyPr>
            <a:normAutofit fontScale="90000"/>
          </a:bodyPr>
          <a:lstStyle/>
          <a:p>
            <a:r>
              <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t>Smart charging Industry Study case</a:t>
            </a:r>
            <a:br>
              <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b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E4F1191F-5C3D-423D-ABD6-BD3A147E22C1}"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3</a:t>
            </a:fld>
            <a:endParaRPr lang="en-IN"/>
          </a:p>
        </p:txBody>
      </p:sp>
      <p:pic>
        <p:nvPicPr>
          <p:cNvPr id="3" name="Picture 2" descr="A black and green logo&#10;&#10;Description automatically generated">
            <a:extLst>
              <a:ext uri="{FF2B5EF4-FFF2-40B4-BE49-F238E27FC236}">
                <a16:creationId xmlns:a16="http://schemas.microsoft.com/office/drawing/2014/main" id="{5429C50A-2BEA-DD86-EDB4-131FC4A5BB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36526"/>
            <a:ext cx="1928015" cy="691398"/>
          </a:xfrm>
          <a:prstGeom prst="rect">
            <a:avLst/>
          </a:prstGeom>
        </p:spPr>
      </p:pic>
      <p:sp>
        <p:nvSpPr>
          <p:cNvPr id="8" name="Content Placeholder 7">
            <a:extLst>
              <a:ext uri="{FF2B5EF4-FFF2-40B4-BE49-F238E27FC236}">
                <a16:creationId xmlns:a16="http://schemas.microsoft.com/office/drawing/2014/main" id="{BC10EF4C-C190-7039-C687-071E3DF76A49}"/>
              </a:ext>
            </a:extLst>
          </p:cNvPr>
          <p:cNvSpPr>
            <a:spLocks noGrp="1"/>
          </p:cNvSpPr>
          <p:nvPr>
            <p:ph idx="1"/>
          </p:nvPr>
        </p:nvSpPr>
        <p:spPr>
          <a:xfrm>
            <a:off x="376177" y="1176157"/>
            <a:ext cx="10515600" cy="4351338"/>
          </a:xfrm>
        </p:spPr>
        <p:txBody>
          <a:bodyPr>
            <a:normAutofit/>
          </a:bodyPr>
          <a:lstStyle/>
          <a:p>
            <a:pPr>
              <a:lnSpc>
                <a:spcPct val="100000"/>
              </a:lnSpc>
            </a:pPr>
            <a:r>
              <a:rPr lang="en-US" b="1" dirty="0" err="1">
                <a:solidFill>
                  <a:srgbClr val="C00000"/>
                </a:solidFill>
                <a:latin typeface="var(--font-fk-grotesk)"/>
              </a:rPr>
              <a:t>Akkodis</a:t>
            </a:r>
            <a:endParaRPr lang="en-US" b="1" dirty="0">
              <a:solidFill>
                <a:srgbClr val="C00000"/>
              </a:solidFill>
              <a:latin typeface="var(--font-fk-grotesk)"/>
            </a:endParaRPr>
          </a:p>
          <a:p>
            <a:pPr algn="l">
              <a:buFont typeface="+mj-lt"/>
              <a:buAutoNum type="arabicPeriod"/>
            </a:pPr>
            <a:r>
              <a:rPr lang="en-US" b="0" i="0" dirty="0">
                <a:effectLst/>
                <a:latin typeface="__fkGroteskNeue_598ab8"/>
              </a:rPr>
              <a:t>AI-based battery diagnosis</a:t>
            </a:r>
          </a:p>
          <a:p>
            <a:pPr algn="l">
              <a:buFont typeface="+mj-lt"/>
              <a:buAutoNum type="arabicPeriod"/>
            </a:pPr>
            <a:r>
              <a:rPr lang="en-US" b="0" i="0" dirty="0">
                <a:effectLst/>
                <a:latin typeface="__fkGroteskNeue_598ab8"/>
              </a:rPr>
              <a:t>Modular, interchangeable batteries with cloud-based BMS</a:t>
            </a:r>
          </a:p>
          <a:p>
            <a:pPr algn="l">
              <a:buFont typeface="+mj-lt"/>
              <a:buAutoNum type="arabicPeriod"/>
            </a:pPr>
            <a:r>
              <a:rPr lang="en-US" b="0" i="0" dirty="0">
                <a:effectLst/>
                <a:latin typeface="__fkGroteskNeue_598ab8"/>
              </a:rPr>
              <a:t>Predictive analytics for optimal charging and utilization</a:t>
            </a:r>
          </a:p>
          <a:p>
            <a:pPr>
              <a:lnSpc>
                <a:spcPct val="100000"/>
              </a:lnSpc>
            </a:pPr>
            <a:r>
              <a:rPr lang="en-US" b="1" dirty="0" err="1">
                <a:solidFill>
                  <a:srgbClr val="C00000"/>
                </a:solidFill>
                <a:latin typeface="var(--font-fk-grotesk)"/>
              </a:rPr>
              <a:t>Elmelin</a:t>
            </a:r>
            <a:endParaRPr lang="en-US" b="1" dirty="0">
              <a:solidFill>
                <a:srgbClr val="C00000"/>
              </a:solidFill>
              <a:latin typeface="var(--font-fk-grotesk)"/>
            </a:endParaRPr>
          </a:p>
          <a:p>
            <a:pPr algn="l">
              <a:buFont typeface="+mj-lt"/>
              <a:buAutoNum type="arabicPeriod"/>
            </a:pPr>
            <a:r>
              <a:rPr lang="en-US" b="0" i="0" dirty="0">
                <a:effectLst/>
                <a:latin typeface="__fkGroteskNeue_598ab8"/>
              </a:rPr>
              <a:t>IoT-enabled thermal management</a:t>
            </a:r>
          </a:p>
          <a:p>
            <a:pPr algn="l">
              <a:buFont typeface="+mj-lt"/>
              <a:buAutoNum type="arabicPeriod"/>
            </a:pPr>
            <a:r>
              <a:rPr lang="en-US" b="0" i="0" dirty="0">
                <a:effectLst/>
                <a:latin typeface="__fkGroteskNeue_598ab8"/>
              </a:rPr>
              <a:t>Real-time data analysis for proactive maintenance</a:t>
            </a:r>
          </a:p>
          <a:p>
            <a:pPr algn="l">
              <a:buFont typeface="+mj-lt"/>
              <a:buAutoNum type="arabicPeriod"/>
            </a:pPr>
            <a:r>
              <a:rPr lang="en-US" b="0" i="0" dirty="0">
                <a:effectLst/>
                <a:latin typeface="__fkGroteskNeue_598ab8"/>
              </a:rPr>
              <a:t>Integration with smart grids for bidirectional energy flow</a:t>
            </a:r>
          </a:p>
          <a:p>
            <a:endParaRPr lang="en-US" dirty="0"/>
          </a:p>
        </p:txBody>
      </p:sp>
    </p:spTree>
    <p:extLst>
      <p:ext uri="{BB962C8B-B14F-4D97-AF65-F5344CB8AC3E}">
        <p14:creationId xmlns:p14="http://schemas.microsoft.com/office/powerpoint/2010/main" val="122358021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4" y="318309"/>
            <a:ext cx="10515600" cy="685396"/>
          </a:xfrm>
        </p:spPr>
        <p:txBody>
          <a:bodyPr>
            <a:normAutofit fontScale="90000"/>
          </a:bodyPr>
          <a:lstStyle/>
          <a:p>
            <a:r>
              <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t>Smart charging Industry Study case</a:t>
            </a:r>
            <a:br>
              <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b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E4F1191F-5C3D-423D-ABD6-BD3A147E22C1}"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4</a:t>
            </a:fld>
            <a:endParaRPr lang="en-IN"/>
          </a:p>
        </p:txBody>
      </p:sp>
      <p:pic>
        <p:nvPicPr>
          <p:cNvPr id="3" name="Picture 2" descr="A black and green logo&#10;&#10;Description automatically generated">
            <a:extLst>
              <a:ext uri="{FF2B5EF4-FFF2-40B4-BE49-F238E27FC236}">
                <a16:creationId xmlns:a16="http://schemas.microsoft.com/office/drawing/2014/main" id="{5429C50A-2BEA-DD86-EDB4-131FC4A5BB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36526"/>
            <a:ext cx="1928015" cy="691398"/>
          </a:xfrm>
          <a:prstGeom prst="rect">
            <a:avLst/>
          </a:prstGeom>
        </p:spPr>
      </p:pic>
      <p:sp>
        <p:nvSpPr>
          <p:cNvPr id="8" name="Content Placeholder 7">
            <a:extLst>
              <a:ext uri="{FF2B5EF4-FFF2-40B4-BE49-F238E27FC236}">
                <a16:creationId xmlns:a16="http://schemas.microsoft.com/office/drawing/2014/main" id="{BC10EF4C-C190-7039-C687-071E3DF76A49}"/>
              </a:ext>
            </a:extLst>
          </p:cNvPr>
          <p:cNvSpPr>
            <a:spLocks noGrp="1"/>
          </p:cNvSpPr>
          <p:nvPr>
            <p:ph idx="1"/>
          </p:nvPr>
        </p:nvSpPr>
        <p:spPr>
          <a:xfrm>
            <a:off x="376177" y="1176157"/>
            <a:ext cx="10515600" cy="4351338"/>
          </a:xfrm>
        </p:spPr>
        <p:txBody>
          <a:bodyPr>
            <a:normAutofit lnSpcReduction="10000"/>
          </a:bodyPr>
          <a:lstStyle/>
          <a:p>
            <a:pPr algn="l"/>
            <a:r>
              <a:rPr lang="en-US" b="1" i="0" dirty="0" err="1">
                <a:solidFill>
                  <a:srgbClr val="C00000"/>
                </a:solidFill>
                <a:effectLst/>
                <a:latin typeface="var(--font-fk-grotesk)"/>
              </a:rPr>
              <a:t>Zypp</a:t>
            </a:r>
            <a:r>
              <a:rPr lang="en-US" b="1" i="0" dirty="0">
                <a:solidFill>
                  <a:srgbClr val="C00000"/>
                </a:solidFill>
                <a:effectLst/>
                <a:latin typeface="var(--font-fk-grotesk)"/>
              </a:rPr>
              <a:t> Electric</a:t>
            </a:r>
          </a:p>
          <a:p>
            <a:pPr algn="l">
              <a:buFont typeface="+mj-lt"/>
              <a:buAutoNum type="arabicPeriod"/>
            </a:pPr>
            <a:r>
              <a:rPr lang="en-US" b="0" i="0" dirty="0">
                <a:effectLst/>
                <a:latin typeface="__fkGroteskNeue_598ab8"/>
              </a:rPr>
              <a:t>Fleet management and charging infrastructure</a:t>
            </a:r>
          </a:p>
          <a:p>
            <a:pPr algn="l">
              <a:buFont typeface="+mj-lt"/>
              <a:buAutoNum type="arabicPeriod"/>
            </a:pPr>
            <a:r>
              <a:rPr lang="en-US" b="0" i="0" dirty="0">
                <a:effectLst/>
                <a:latin typeface="__fkGroteskNeue_598ab8"/>
              </a:rPr>
              <a:t>Sustainable charging with renewable energy integration</a:t>
            </a:r>
          </a:p>
          <a:p>
            <a:pPr algn="l">
              <a:buFont typeface="+mj-lt"/>
              <a:buAutoNum type="arabicPeriod"/>
            </a:pPr>
            <a:r>
              <a:rPr lang="en-US" b="0" i="0" dirty="0">
                <a:effectLst/>
                <a:latin typeface="__fkGroteskNeue_598ab8"/>
              </a:rPr>
              <a:t>User-friendly mobile apps for charging access and battery health</a:t>
            </a:r>
          </a:p>
          <a:p>
            <a:pPr>
              <a:lnSpc>
                <a:spcPct val="100000"/>
              </a:lnSpc>
            </a:pPr>
            <a:r>
              <a:rPr lang="en-US" b="1" dirty="0">
                <a:solidFill>
                  <a:srgbClr val="C00000"/>
                </a:solidFill>
                <a:latin typeface="var(--font-fk-grotesk)"/>
              </a:rPr>
              <a:t>E Drift</a:t>
            </a:r>
          </a:p>
          <a:p>
            <a:pPr algn="l">
              <a:buFont typeface="+mj-lt"/>
              <a:buAutoNum type="arabicPeriod"/>
            </a:pPr>
            <a:r>
              <a:rPr lang="en-US" b="0" i="0" dirty="0">
                <a:effectLst/>
                <a:latin typeface="__fkGroteskNeue_598ab8"/>
              </a:rPr>
              <a:t>Smart charging stations with IoT-based monitoring</a:t>
            </a:r>
          </a:p>
          <a:p>
            <a:pPr algn="l">
              <a:buFont typeface="+mj-lt"/>
              <a:buAutoNum type="arabicPeriod"/>
            </a:pPr>
            <a:r>
              <a:rPr lang="en-US" b="0" i="0" dirty="0">
                <a:effectLst/>
                <a:latin typeface="__fkGroteskNeue_598ab8"/>
              </a:rPr>
              <a:t>Data analytics for battery performance assessment and maintenance prediction</a:t>
            </a:r>
          </a:p>
          <a:p>
            <a:pPr algn="l">
              <a:buFont typeface="+mj-lt"/>
              <a:buAutoNum type="arabicPeriod"/>
            </a:pPr>
            <a:r>
              <a:rPr lang="en-US" b="0" i="0" dirty="0">
                <a:effectLst/>
                <a:latin typeface="__fkGroteskNeue_598ab8"/>
              </a:rPr>
              <a:t>Integration with mobility services for seamless user experiences</a:t>
            </a:r>
          </a:p>
          <a:p>
            <a:endParaRPr lang="en-US" dirty="0"/>
          </a:p>
        </p:txBody>
      </p:sp>
    </p:spTree>
    <p:extLst>
      <p:ext uri="{BB962C8B-B14F-4D97-AF65-F5344CB8AC3E}">
        <p14:creationId xmlns:p14="http://schemas.microsoft.com/office/powerpoint/2010/main" val="198999273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Types of Charging Technology</a:t>
            </a:r>
            <a:endParaRPr lang="en-IN" sz="3600" b="1" dirty="0"/>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5</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4412077" y="5070429"/>
            <a:ext cx="3180530" cy="890208"/>
          </a:xfrm>
        </p:spPr>
        <p:txBody>
          <a:bodyPr>
            <a:normAutofit/>
          </a:bodyPr>
          <a:lstStyle/>
          <a:p>
            <a:pPr marL="0" indent="0" algn="l">
              <a:buNone/>
            </a:pPr>
            <a:r>
              <a:rPr lang="en-US" b="0" i="0" dirty="0">
                <a:effectLst/>
                <a:latin typeface="var(--font-fk-grotesk)"/>
              </a:rPr>
              <a:t>Vehicle-to-Grid (V2G) Technology</a:t>
            </a:r>
          </a:p>
        </p:txBody>
      </p:sp>
      <p:pic>
        <p:nvPicPr>
          <p:cNvPr id="1026" name="Picture 2" descr="5 Differences Between AC and DC Charging">
            <a:extLst>
              <a:ext uri="{FF2B5EF4-FFF2-40B4-BE49-F238E27FC236}">
                <a16:creationId xmlns:a16="http://schemas.microsoft.com/office/drawing/2014/main" id="{9C7E5A01-7B5C-D84F-A569-F150FD192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837255"/>
            <a:ext cx="2776538"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ttery standardisation on the horizon ...">
            <a:extLst>
              <a:ext uri="{FF2B5EF4-FFF2-40B4-BE49-F238E27FC236}">
                <a16:creationId xmlns:a16="http://schemas.microsoft.com/office/drawing/2014/main" id="{12898CCF-5046-04A2-A588-B4334E7C4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6744" y="856815"/>
            <a:ext cx="263842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ireless Electric Vehicle Charging ...">
            <a:extLst>
              <a:ext uri="{FF2B5EF4-FFF2-40B4-BE49-F238E27FC236}">
                <a16:creationId xmlns:a16="http://schemas.microsoft.com/office/drawing/2014/main" id="{6A502FB7-7735-C327-FB41-E55F6347F9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6848"/>
          <a:stretch/>
        </p:blipFill>
        <p:spPr bwMode="auto">
          <a:xfrm>
            <a:off x="7877175" y="747713"/>
            <a:ext cx="2609850"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C Fast Chargers For (EV) Electric ...">
            <a:extLst>
              <a:ext uri="{FF2B5EF4-FFF2-40B4-BE49-F238E27FC236}">
                <a16:creationId xmlns:a16="http://schemas.microsoft.com/office/drawing/2014/main" id="{80EB0B01-E99E-AED7-EF84-14B346481E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50" y="3655453"/>
            <a:ext cx="2943225" cy="155257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p 5 V2G Startups: Will You Join the ...">
            <a:extLst>
              <a:ext uri="{FF2B5EF4-FFF2-40B4-BE49-F238E27FC236}">
                <a16:creationId xmlns:a16="http://schemas.microsoft.com/office/drawing/2014/main" id="{7B8EB809-7FE0-2818-B8AA-5ABA7F4FC4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2077" y="3584529"/>
            <a:ext cx="3067050" cy="14859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lectric car charging from a power ...">
            <a:extLst>
              <a:ext uri="{FF2B5EF4-FFF2-40B4-BE49-F238E27FC236}">
                <a16:creationId xmlns:a16="http://schemas.microsoft.com/office/drawing/2014/main" id="{6E5BEE42-0F41-FB7F-7E65-E05842A45D1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1972"/>
          <a:stretch/>
        </p:blipFill>
        <p:spPr bwMode="auto">
          <a:xfrm>
            <a:off x="8502557" y="3584529"/>
            <a:ext cx="2419350" cy="166855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7">
            <a:extLst>
              <a:ext uri="{FF2B5EF4-FFF2-40B4-BE49-F238E27FC236}">
                <a16:creationId xmlns:a16="http://schemas.microsoft.com/office/drawing/2014/main" id="{87B57311-EA03-B25E-2F75-1146CD9E182D}"/>
              </a:ext>
            </a:extLst>
          </p:cNvPr>
          <p:cNvSpPr txBox="1">
            <a:spLocks/>
          </p:cNvSpPr>
          <p:nvPr/>
        </p:nvSpPr>
        <p:spPr>
          <a:xfrm>
            <a:off x="301824" y="5274535"/>
            <a:ext cx="3520675" cy="365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Fast Charging Technologies</a:t>
            </a:r>
          </a:p>
        </p:txBody>
      </p:sp>
      <p:sp>
        <p:nvSpPr>
          <p:cNvPr id="9" name="Content Placeholder 7">
            <a:extLst>
              <a:ext uri="{FF2B5EF4-FFF2-40B4-BE49-F238E27FC236}">
                <a16:creationId xmlns:a16="http://schemas.microsoft.com/office/drawing/2014/main" id="{843B9EDC-0024-91F5-7220-ADF248AEA66E}"/>
              </a:ext>
            </a:extLst>
          </p:cNvPr>
          <p:cNvSpPr txBox="1">
            <a:spLocks/>
          </p:cNvSpPr>
          <p:nvPr/>
        </p:nvSpPr>
        <p:spPr>
          <a:xfrm>
            <a:off x="8052750" y="2544624"/>
            <a:ext cx="2839027" cy="365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Wireless Charging</a:t>
            </a:r>
          </a:p>
        </p:txBody>
      </p:sp>
      <p:sp>
        <p:nvSpPr>
          <p:cNvPr id="10" name="Content Placeholder 7">
            <a:extLst>
              <a:ext uri="{FF2B5EF4-FFF2-40B4-BE49-F238E27FC236}">
                <a16:creationId xmlns:a16="http://schemas.microsoft.com/office/drawing/2014/main" id="{5B72FE38-1AA6-10DD-2703-F32ACDEE7550}"/>
              </a:ext>
            </a:extLst>
          </p:cNvPr>
          <p:cNvSpPr txBox="1">
            <a:spLocks/>
          </p:cNvSpPr>
          <p:nvPr/>
        </p:nvSpPr>
        <p:spPr>
          <a:xfrm>
            <a:off x="4426744" y="2631774"/>
            <a:ext cx="2743200" cy="4939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Battery Swapping</a:t>
            </a:r>
          </a:p>
        </p:txBody>
      </p:sp>
      <p:sp>
        <p:nvSpPr>
          <p:cNvPr id="11" name="Content Placeholder 7">
            <a:extLst>
              <a:ext uri="{FF2B5EF4-FFF2-40B4-BE49-F238E27FC236}">
                <a16:creationId xmlns:a16="http://schemas.microsoft.com/office/drawing/2014/main" id="{B9A53AE1-F2AF-47EF-5331-A4210E58FAAF}"/>
              </a:ext>
            </a:extLst>
          </p:cNvPr>
          <p:cNvSpPr txBox="1">
            <a:spLocks/>
          </p:cNvSpPr>
          <p:nvPr/>
        </p:nvSpPr>
        <p:spPr>
          <a:xfrm>
            <a:off x="863473" y="2597425"/>
            <a:ext cx="1977230" cy="10635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dirty="0">
                <a:latin typeface="var(--font-fk-grotesk)"/>
              </a:rPr>
              <a:t>AC Charging</a:t>
            </a:r>
          </a:p>
          <a:p>
            <a:pPr marL="0" indent="0">
              <a:lnSpc>
                <a:spcPct val="100000"/>
              </a:lnSpc>
              <a:buFont typeface="Arial" panose="020B0604020202020204" pitchFamily="34" charset="0"/>
              <a:buNone/>
            </a:pPr>
            <a:r>
              <a:rPr lang="en-US" dirty="0">
                <a:latin typeface="var(--font-fk-grotesk)"/>
              </a:rPr>
              <a:t>DC Charging</a:t>
            </a:r>
          </a:p>
        </p:txBody>
      </p:sp>
      <p:sp>
        <p:nvSpPr>
          <p:cNvPr id="12" name="Content Placeholder 7">
            <a:extLst>
              <a:ext uri="{FF2B5EF4-FFF2-40B4-BE49-F238E27FC236}">
                <a16:creationId xmlns:a16="http://schemas.microsoft.com/office/drawing/2014/main" id="{2AE7E9BE-B158-9D06-E9CD-39DC2A210A21}"/>
              </a:ext>
            </a:extLst>
          </p:cNvPr>
          <p:cNvSpPr txBox="1">
            <a:spLocks/>
          </p:cNvSpPr>
          <p:nvPr/>
        </p:nvSpPr>
        <p:spPr>
          <a:xfrm>
            <a:off x="8610600" y="5208028"/>
            <a:ext cx="2666918" cy="52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Mobile charging</a:t>
            </a:r>
          </a:p>
        </p:txBody>
      </p:sp>
    </p:spTree>
    <p:extLst>
      <p:ext uri="{BB962C8B-B14F-4D97-AF65-F5344CB8AC3E}">
        <p14:creationId xmlns:p14="http://schemas.microsoft.com/office/powerpoint/2010/main" val="34097631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1. AC Charging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6</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175727" y="947719"/>
            <a:ext cx="11632321" cy="2747203"/>
          </a:xfrm>
        </p:spPr>
        <p:txBody>
          <a:bodyPr>
            <a:normAutofit fontScale="85000" lnSpcReduction="20000"/>
          </a:bodyPr>
          <a:lstStyle/>
          <a:p>
            <a:r>
              <a:rPr lang="en-US" b="0" i="0" dirty="0">
                <a:effectLst/>
                <a:latin typeface="__fkGroteskNeue_598ab8"/>
              </a:rPr>
              <a:t>Problem: </a:t>
            </a:r>
          </a:p>
          <a:p>
            <a:pPr marL="0" indent="0">
              <a:buNone/>
            </a:pPr>
            <a:r>
              <a:rPr lang="en-US" b="0" i="0" dirty="0">
                <a:effectLst/>
                <a:latin typeface="__fkGroteskNeue_598ab8"/>
              </a:rPr>
              <a:t>Slow charging times can lead to user dissatisfaction and range anxiety for electric vehicle (EV) owners.</a:t>
            </a:r>
          </a:p>
          <a:p>
            <a:endParaRPr lang="en-US" b="0" i="0" dirty="0">
              <a:effectLst/>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Implement a smart charging network that uses IoT sensors to monitor grid demand and adjust charging rates dynamically. By analyzing real-time data, the system can optimize charging schedules to reduce wait times while balancing grid load.</a:t>
            </a:r>
            <a:endParaRPr lang="en-US" b="0" i="0" dirty="0">
              <a:effectLst/>
              <a:latin typeface="var(--font-fk-grotesk)"/>
            </a:endParaRPr>
          </a:p>
        </p:txBody>
      </p:sp>
    </p:spTree>
    <p:extLst>
      <p:ext uri="{BB962C8B-B14F-4D97-AF65-F5344CB8AC3E}">
        <p14:creationId xmlns:p14="http://schemas.microsoft.com/office/powerpoint/2010/main" val="9166076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2. DC Charging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7</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High demand for fast charging stations can lead to congestion and longer wait times at charging locations.</a:t>
            </a:r>
          </a:p>
          <a:p>
            <a:endParaRPr lang="en-US" dirty="0">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Develop an IoT-enabled reservation system for DC charging stations. Users can book charging slots in advance through a mobile app, which also provides real-time updates on station availability and estimated wait times, improving user experience.</a:t>
            </a:r>
            <a:endParaRPr lang="en-US" b="0" i="0" dirty="0">
              <a:effectLst/>
              <a:latin typeface="var(--font-fk-grotesk)"/>
            </a:endParaRPr>
          </a:p>
        </p:txBody>
      </p:sp>
    </p:spTree>
    <p:extLst>
      <p:ext uri="{BB962C8B-B14F-4D97-AF65-F5344CB8AC3E}">
        <p14:creationId xmlns:p14="http://schemas.microsoft.com/office/powerpoint/2010/main" val="35863061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3. Battery Swapping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8</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Difficulty in locating nearby battery swapping stations and ensuring battery availability can hinder the adoption of battery swapping technology.</a:t>
            </a:r>
          </a:p>
          <a:p>
            <a:r>
              <a:rPr lang="en-US" b="0" i="0" dirty="0">
                <a:effectLst/>
                <a:latin typeface="__fkGroteskNeue_598ab8"/>
              </a:rPr>
              <a:t>IoT Solution: </a:t>
            </a:r>
          </a:p>
          <a:p>
            <a:pPr marL="0" indent="0">
              <a:buNone/>
            </a:pPr>
            <a:r>
              <a:rPr lang="en-US" b="0" i="0" dirty="0">
                <a:effectLst/>
                <a:latin typeface="__fkGroteskNeue_598ab8"/>
              </a:rPr>
              <a:t>Create a comprehensive IoT platform that provides real-time data on battery swapping station locations, battery availability, and charging status. This platform can be integrated into navigation apps, allowing users to find the nearest station and check battery readiness before arrival.</a:t>
            </a:r>
            <a:endParaRPr lang="en-US" b="0" i="0" dirty="0">
              <a:effectLst/>
              <a:latin typeface="var(--font-fk-grotesk)"/>
            </a:endParaRPr>
          </a:p>
        </p:txBody>
      </p:sp>
    </p:spTree>
    <p:extLst>
      <p:ext uri="{BB962C8B-B14F-4D97-AF65-F5344CB8AC3E}">
        <p14:creationId xmlns:p14="http://schemas.microsoft.com/office/powerpoint/2010/main" val="28926330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4. Wireless Charging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9</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Inefficiencies in energy transfer during wireless charging can lead to energy losses and longer charging times.</a:t>
            </a:r>
          </a:p>
          <a:p>
            <a:endParaRPr lang="en-US" b="0" i="0" dirty="0">
              <a:effectLst/>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Use IoT sensors to monitor the alignment and distance between the charging pad and the device. The system can adjust the power output dynamically to optimize energy transfer efficiency, minimizing losses and reducing charging time.</a:t>
            </a:r>
            <a:endParaRPr lang="en-US" b="0" i="0" dirty="0">
              <a:effectLst/>
              <a:latin typeface="var(--font-fk-grotesk)"/>
            </a:endParaRPr>
          </a:p>
        </p:txBody>
      </p:sp>
    </p:spTree>
    <p:extLst>
      <p:ext uri="{BB962C8B-B14F-4D97-AF65-F5344CB8AC3E}">
        <p14:creationId xmlns:p14="http://schemas.microsoft.com/office/powerpoint/2010/main" val="1480299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5. Smart Charging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10</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Users may not be aware of optimal charging times to take advantage of lower electricity rates, leading to higher costs.</a:t>
            </a:r>
          </a:p>
          <a:p>
            <a:endParaRPr lang="en-US" b="0" i="0" dirty="0">
              <a:effectLst/>
              <a:latin typeface="__fkGroteskNeue_598ab8"/>
            </a:endParaRPr>
          </a:p>
          <a:p>
            <a:r>
              <a:rPr lang="en-US" b="0" i="0" dirty="0">
                <a:effectLst/>
                <a:latin typeface="__fkGroteskNeue_598ab8"/>
              </a:rPr>
              <a:t>IoT Solution:</a:t>
            </a:r>
          </a:p>
          <a:p>
            <a:pPr marL="0" indent="0">
              <a:buNone/>
            </a:pPr>
            <a:r>
              <a:rPr lang="en-US" b="0" i="0" dirty="0">
                <a:effectLst/>
                <a:latin typeface="__fkGroteskNeue_598ab8"/>
              </a:rPr>
              <a:t>Implement a smart charging app that analyzes electricity pricing data and notifies users when to charge their vehicles for maximum cost savings. The app can also automate charging during off-peak hours based on user preferences.</a:t>
            </a:r>
            <a:endParaRPr lang="en-US" b="0" i="0" dirty="0">
              <a:effectLst/>
              <a:latin typeface="var(--font-fk-grotesk)"/>
            </a:endParaRPr>
          </a:p>
        </p:txBody>
      </p:sp>
    </p:spTree>
    <p:extLst>
      <p:ext uri="{BB962C8B-B14F-4D97-AF65-F5344CB8AC3E}">
        <p14:creationId xmlns:p14="http://schemas.microsoft.com/office/powerpoint/2010/main" val="26832965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6. Induction Charging</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11</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Limited range and efficiency of induction charging systems can restrict their application in public transport.</a:t>
            </a:r>
          </a:p>
          <a:p>
            <a:pPr marL="0" indent="0">
              <a:buNone/>
            </a:pPr>
            <a:endParaRPr lang="en-US" b="0" i="0" dirty="0">
              <a:effectLst/>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Integrate IoT technology to monitor vehicle positioning and charging efficiency in real-time. The system can adjust the charging frequency and duration based on the vehicle's speed and distance from the charging pad, enhancing overall efficiency.</a:t>
            </a:r>
            <a:endParaRPr lang="en-US" b="0" i="0" dirty="0">
              <a:effectLst/>
              <a:latin typeface="var(--font-fk-grotesk)"/>
            </a:endParaRPr>
          </a:p>
        </p:txBody>
      </p:sp>
    </p:spTree>
    <p:extLst>
      <p:ext uri="{BB962C8B-B14F-4D97-AF65-F5344CB8AC3E}">
        <p14:creationId xmlns:p14="http://schemas.microsoft.com/office/powerpoint/2010/main" val="13755725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8. Fast Charging Technologies</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12</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High charging speeds can lead to battery degradation and safety concerns if not managed properly.</a:t>
            </a:r>
          </a:p>
          <a:p>
            <a:endParaRPr lang="en-US" dirty="0">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Develop an IoT-based Battery Management System (BMS) that continuously monitors battery health and adjusts charging rates accordingly. This system can prevent overheating and extend battery life by optimizing charge cycles based on real-time data.</a:t>
            </a:r>
            <a:endParaRPr lang="en-US" b="0" i="0" dirty="0">
              <a:effectLst/>
              <a:latin typeface="var(--font-fk-grotesk)"/>
            </a:endParaRPr>
          </a:p>
        </p:txBody>
      </p:sp>
    </p:spTree>
    <p:extLst>
      <p:ext uri="{BB962C8B-B14F-4D97-AF65-F5344CB8AC3E}">
        <p14:creationId xmlns:p14="http://schemas.microsoft.com/office/powerpoint/2010/main" val="10781371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9. Vehicle-to-Grid (V2G) Technology</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13</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a:bodyPr>
          <a:lstStyle/>
          <a:p>
            <a:r>
              <a:rPr lang="en-US" b="0" i="0" dirty="0">
                <a:effectLst/>
                <a:latin typeface="__fkGroteskNeue_598ab8"/>
              </a:rPr>
              <a:t>Problem: </a:t>
            </a:r>
          </a:p>
          <a:p>
            <a:pPr marL="0" indent="0">
              <a:buNone/>
            </a:pPr>
            <a:r>
              <a:rPr lang="en-US" b="0" i="0" dirty="0">
                <a:effectLst/>
                <a:latin typeface="__fkGroteskNeue_598ab8"/>
              </a:rPr>
              <a:t>Lack of coordination between EV charging and grid demand can lead to inefficiencies and grid instability.</a:t>
            </a:r>
          </a:p>
          <a:p>
            <a:endParaRPr lang="en-US" b="0" i="0" dirty="0">
              <a:effectLst/>
              <a:latin typeface="__fkGroteskNeue_598ab8"/>
            </a:endParaRPr>
          </a:p>
          <a:p>
            <a:r>
              <a:rPr lang="en-US" b="0" i="0" dirty="0">
                <a:effectLst/>
                <a:latin typeface="__fkGroteskNeue_598ab8"/>
              </a:rPr>
              <a:t>IoT Solution:</a:t>
            </a:r>
          </a:p>
          <a:p>
            <a:pPr marL="0" indent="0">
              <a:buNone/>
            </a:pPr>
            <a:r>
              <a:rPr lang="en-US" b="0" i="0" dirty="0">
                <a:effectLst/>
                <a:latin typeface="__fkGroteskNeue_598ab8"/>
              </a:rPr>
              <a:t>Implement a V2G management platform that uses IoT to communicate between EVs and the grid. This system can optimize energy flow based on real-time demand and supply, allowing EVs to discharge energy back to the grid during peak times and charge during off-peak hours.</a:t>
            </a:r>
            <a:endParaRPr lang="en-US" b="0" i="0" dirty="0">
              <a:effectLst/>
              <a:latin typeface="var(--font-fk-grotesk)"/>
            </a:endParaRPr>
          </a:p>
        </p:txBody>
      </p:sp>
    </p:spTree>
    <p:extLst>
      <p:ext uri="{BB962C8B-B14F-4D97-AF65-F5344CB8AC3E}">
        <p14:creationId xmlns:p14="http://schemas.microsoft.com/office/powerpoint/2010/main" val="9222703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9.  Mobile charging for Remote areas</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14</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376176" y="1253331"/>
            <a:ext cx="11632321" cy="4351338"/>
          </a:xfrm>
        </p:spPr>
        <p:txBody>
          <a:bodyPr>
            <a:normAutofit fontScale="92500" lnSpcReduction="10000"/>
          </a:bodyPr>
          <a:lstStyle/>
          <a:p>
            <a:r>
              <a:rPr lang="en-US" b="0" i="0" dirty="0">
                <a:effectLst/>
                <a:latin typeface="__fkGroteskNeue_598ab8"/>
              </a:rPr>
              <a:t>Problem: </a:t>
            </a:r>
          </a:p>
          <a:p>
            <a:pPr marL="0" indent="0">
              <a:buNone/>
            </a:pPr>
            <a:r>
              <a:rPr lang="en-US" b="0" i="0" dirty="0">
                <a:effectLst/>
                <a:latin typeface="__fkGroteskNeue_598ab8"/>
              </a:rPr>
              <a:t>Electric vehicles (EVs) encounter significant challenges in remote areas due to a lack of fixed charging stations, leading to "range anxiety" among drivers. This concern about running out of battery power before reaching a charging point discourages EV adoption in less accessible regions.</a:t>
            </a:r>
          </a:p>
          <a:p>
            <a:endParaRPr lang="en-US" dirty="0">
              <a:latin typeface="__fkGroteskNeue_598ab8"/>
            </a:endParaRPr>
          </a:p>
          <a:p>
            <a:r>
              <a:rPr lang="en-US" b="0" i="0" dirty="0">
                <a:effectLst/>
                <a:latin typeface="__fkGroteskNeue_598ab8"/>
              </a:rPr>
              <a:t>IoT Solution: </a:t>
            </a:r>
          </a:p>
          <a:p>
            <a:pPr marL="0" indent="0">
              <a:buNone/>
            </a:pPr>
            <a:r>
              <a:rPr lang="en-US" b="0" i="0" dirty="0">
                <a:effectLst/>
                <a:latin typeface="__fkGroteskNeue_598ab8"/>
              </a:rPr>
              <a:t>To develop a mobile charging network powered by IoT technology to provide reliable and accessible charging solutions for electric vehicles (EVs) in remote areas. This initiative aims to alleviate range anxiety among drivers and promote the adoption of electric vehicles in underserved regions.</a:t>
            </a:r>
            <a:endParaRPr lang="en-US" b="0" i="0" dirty="0">
              <a:effectLst/>
              <a:latin typeface="var(--font-fk-grotesk)"/>
            </a:endParaRPr>
          </a:p>
        </p:txBody>
      </p:sp>
    </p:spTree>
    <p:extLst>
      <p:ext uri="{BB962C8B-B14F-4D97-AF65-F5344CB8AC3E}">
        <p14:creationId xmlns:p14="http://schemas.microsoft.com/office/powerpoint/2010/main" val="2540712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6" name="Freeform: Shape 15">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2" name="Freeform: Shape 21">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7685208" y="3694894"/>
            <a:ext cx="4336495" cy="798521"/>
          </a:xfrm>
        </p:spPr>
        <p:txBody>
          <a:bodyPr vert="horz" lIns="91440" tIns="45720" rIns="91440" bIns="45720" rtlCol="0" anchor="ctr">
            <a:normAutofit fontScale="90000"/>
          </a:bodyPr>
          <a:lstStyle/>
          <a:p>
            <a:r>
              <a:rPr lang="en-US" sz="7200" b="1" kern="1200" dirty="0">
                <a:solidFill>
                  <a:schemeClr val="tx2"/>
                </a:solidFill>
                <a:latin typeface="+mj-lt"/>
                <a:ea typeface="+mj-ea"/>
                <a:cs typeface="+mj-cs"/>
              </a:rPr>
              <a:t>Thankyou</a:t>
            </a:r>
            <a:br>
              <a:rPr lang="en-US" sz="4800" b="1" kern="1200" dirty="0">
                <a:solidFill>
                  <a:schemeClr val="tx2"/>
                </a:solidFill>
                <a:latin typeface="+mj-lt"/>
                <a:ea typeface="+mj-ea"/>
                <a:cs typeface="+mj-cs"/>
              </a:rPr>
            </a:br>
            <a:endParaRPr lang="en-US" sz="4800" b="1" kern="1200" dirty="0">
              <a:solidFill>
                <a:schemeClr val="tx2"/>
              </a:solidFill>
              <a:latin typeface="+mj-lt"/>
              <a:ea typeface="+mj-ea"/>
              <a:cs typeface="+mj-cs"/>
            </a:endParaRPr>
          </a:p>
        </p:txBody>
      </p:sp>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6703C8B8-7D1F-4A4F-BDFB-57D2D1403270}" type="datetime1">
              <a:rPr lang="en-US" smtClean="0"/>
              <a:pPr>
                <a:spcAft>
                  <a:spcPts val="600"/>
                </a:spcAft>
              </a:pPr>
              <a:t>8/15/2025</a:t>
            </a:fld>
            <a:endParaRPr lang="en-US"/>
          </a:p>
        </p:txBody>
      </p:sp>
      <p:sp>
        <p:nvSpPr>
          <p:cNvPr id="5" name="Footer Placeholder 4"/>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pPr>
                <a:spcAft>
                  <a:spcPts val="600"/>
                </a:spcAft>
              </a:pPr>
              <a:t>15</a:t>
            </a:fld>
            <a:endParaRPr lang="en-US"/>
          </a:p>
        </p:txBody>
      </p:sp>
      <p:pic>
        <p:nvPicPr>
          <p:cNvPr id="9" name="Picture 8" descr="A black and green logo&#10;&#10;Description automatically generated">
            <a:extLst>
              <a:ext uri="{FF2B5EF4-FFF2-40B4-BE49-F238E27FC236}">
                <a16:creationId xmlns:a16="http://schemas.microsoft.com/office/drawing/2014/main" id="{14E8D04E-7884-D2D4-7CED-5A6DF1209A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297" y="229831"/>
            <a:ext cx="2637504" cy="945825"/>
          </a:xfrm>
          <a:prstGeom prst="rect">
            <a:avLst/>
          </a:prstGeom>
        </p:spPr>
      </p:pic>
    </p:spTree>
    <p:extLst>
      <p:ext uri="{BB962C8B-B14F-4D97-AF65-F5344CB8AC3E}">
        <p14:creationId xmlns:p14="http://schemas.microsoft.com/office/powerpoint/2010/main" val="84156273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99A0BF-B165-43EC-B5EC-4BD64C6CE5A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019B757F763C144918590A58A3C2100" ma:contentTypeVersion="5" ma:contentTypeDescription="Create a new document." ma:contentTypeScope="" ma:versionID="5d9cf66606784fe127c83b82746892c7">
  <xsd:schema xmlns:xsd="http://www.w3.org/2001/XMLSchema" xmlns:xs="http://www.w3.org/2001/XMLSchema" xmlns:p="http://schemas.microsoft.com/office/2006/metadata/properties" xmlns:ns3="f619aea2-d5ad-4208-a18c-92f8e9acac18" targetNamespace="http://schemas.microsoft.com/office/2006/metadata/properties" ma:root="true" ma:fieldsID="fbda49ceb3f46024ee92e61f4938b5da" ns3:_="">
    <xsd:import namespace="f619aea2-d5ad-4208-a18c-92f8e9acac1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19aea2-d5ad-4208-a18c-92f8e9acac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9EF365-2DC5-4C2C-A11A-46598278C326}">
  <ds:schemaRefs>
    <ds:schemaRef ds:uri="http://schemas.microsoft.com/sharepoint/v3/contenttype/forms"/>
  </ds:schemaRefs>
</ds:datastoreItem>
</file>

<file path=customXml/itemProps2.xml><?xml version="1.0" encoding="utf-8"?>
<ds:datastoreItem xmlns:ds="http://schemas.openxmlformats.org/officeDocument/2006/customXml" ds:itemID="{B249DF27-365C-4A29-8D2C-AB2B060F964F}">
  <ds:schemaRefs>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f619aea2-d5ad-4208-a18c-92f8e9acac18"/>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AF2030F4-1722-4186-8C90-446ABDF889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19aea2-d5ad-4208-a18c-92f8e9acac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8168</TotalTime>
  <Words>949</Words>
  <Application>Microsoft Office PowerPoint</Application>
  <PresentationFormat>Widescreen</PresentationFormat>
  <Paragraphs>141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__fkGroteskNeue_598ab8</vt:lpstr>
      <vt:lpstr>ADLaM Display</vt:lpstr>
      <vt:lpstr>Arial</vt:lpstr>
      <vt:lpstr>Calibri</vt:lpstr>
      <vt:lpstr>Calibri Light</vt:lpstr>
      <vt:lpstr>Times New Roman</vt:lpstr>
      <vt:lpstr>var(--font-fk-grotesk)</vt:lpstr>
      <vt:lpstr>Office Theme</vt:lpstr>
      <vt:lpstr>Title –  Design of IOT Architecture for Battery Charging Management Technology</vt:lpstr>
      <vt:lpstr>Outline</vt:lpstr>
      <vt:lpstr>Smart charging Industry Study case </vt:lpstr>
      <vt:lpstr>Smart charging Industry Study case </vt:lpstr>
      <vt:lpstr>Types of Charging Technology</vt:lpstr>
      <vt:lpstr>1. AC Charging</vt:lpstr>
      <vt:lpstr>2. DC Charging</vt:lpstr>
      <vt:lpstr>3. Battery Swapping</vt:lpstr>
      <vt:lpstr>4. Wireless Charging</vt:lpstr>
      <vt:lpstr>5. Smart Charging</vt:lpstr>
      <vt:lpstr>6. Induction Charging</vt:lpstr>
      <vt:lpstr>8. Fast Charging Technologies</vt:lpstr>
      <vt:lpstr>9. Vehicle-to-Grid (V2G) Technology</vt:lpstr>
      <vt:lpstr>9.  Mobile charging for Remote areas</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KADIYAM ANUSHA</dc:creator>
  <cp:lastModifiedBy>jagadeeswara kamarajugadda | AP23122100002</cp:lastModifiedBy>
  <cp:revision>504</cp:revision>
  <dcterms:created xsi:type="dcterms:W3CDTF">2021-08-02T06:45:34Z</dcterms:created>
  <dcterms:modified xsi:type="dcterms:W3CDTF">2025-08-15T14:18:21Z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0x010100D019B757F763C144918590A58A3C2100</vt:lpwstr>
  </property>
</Properties>
</file>