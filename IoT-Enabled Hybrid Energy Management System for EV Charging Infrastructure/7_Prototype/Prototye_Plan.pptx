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449" r:id="rId4"/>
    <p:sldId id="428" r:id="rId5"/>
    <p:sldId id="406" r:id="rId6"/>
    <p:sldId id="454" r:id="rId7"/>
    <p:sldId id="456" r:id="rId8"/>
    <p:sldId id="455" r:id="rId9"/>
    <p:sldId id="457" r:id="rId10"/>
    <p:sldId id="458" r:id="rId11"/>
    <p:sldId id="430" r:id="rId12"/>
    <p:sldId id="431" r:id="rId13"/>
    <p:sldId id="444" r:id="rId14"/>
    <p:sldId id="440" r:id="rId15"/>
    <p:sldId id="417" r:id="rId16"/>
    <p:sldId id="439" r:id="rId17"/>
    <p:sldId id="451" r:id="rId18"/>
    <p:sldId id="452" r:id="rId19"/>
    <p:sldId id="443" r:id="rId20"/>
    <p:sldId id="453" r:id="rId21"/>
    <p:sldId id="445" r:id="rId22"/>
    <p:sldId id="441" r:id="rId23"/>
    <p:sldId id="461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2" autoAdjust="0"/>
    <p:restoredTop sz="94660"/>
  </p:normalViewPr>
  <p:slideViewPr>
    <p:cSldViewPr snapToGrid="0">
      <p:cViewPr varScale="1">
        <p:scale>
          <a:sx n="75" d="100"/>
          <a:sy n="75" d="100"/>
        </p:scale>
        <p:origin x="6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A425A-B56A-403F-A77C-D38DE915EE0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EAB13A-5EA9-4351-9D8F-E3ABC59E082B}">
      <dgm:prSet phldrT="[Text]" custT="1"/>
      <dgm:spPr/>
      <dgm:t>
        <a:bodyPr/>
        <a:lstStyle/>
        <a:p>
          <a:r>
            <a:rPr lang="en-US" sz="1800" b="1" i="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endParaRPr lang="en-US" sz="18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FC076F-FF33-4DA6-87CB-52C8E3037BCF}" type="parTrans" cxnId="{90CE998C-0B4A-4480-8609-CB3C5D1C1A3C}">
      <dgm:prSet/>
      <dgm:spPr/>
      <dgm:t>
        <a:bodyPr/>
        <a:lstStyle/>
        <a:p>
          <a:endParaRPr lang="en-US"/>
        </a:p>
      </dgm:t>
    </dgm:pt>
    <dgm:pt modelId="{E3DAF6F1-54D2-49AE-8109-7CEA1D271C7C}" type="sibTrans" cxnId="{90CE998C-0B4A-4480-8609-CB3C5D1C1A3C}">
      <dgm:prSet/>
      <dgm:spPr/>
      <dgm:t>
        <a:bodyPr/>
        <a:lstStyle/>
        <a:p>
          <a:endParaRPr lang="en-US"/>
        </a:p>
      </dgm:t>
    </dgm:pt>
    <dgm:pt modelId="{3CA49CFE-8F3F-421F-9145-DA1811D0AC65}">
      <dgm:prSet phldrT="[Text]"/>
      <dgm:spPr/>
      <dgm:t>
        <a:bodyPr/>
        <a:lstStyle/>
        <a:p>
          <a:pPr>
            <a:buNone/>
          </a:pPr>
          <a:r>
            <a:rPr lang="en-US" b="1" i="0" dirty="0">
              <a:solidFill>
                <a:srgbClr val="404040"/>
              </a:solidFill>
              <a:effectLst/>
              <a:latin typeface="DeepSeek-CJK-patch"/>
            </a:rPr>
            <a:t>Generation Side</a:t>
          </a:r>
          <a:endParaRPr lang="en-US" dirty="0"/>
        </a:p>
      </dgm:t>
    </dgm:pt>
    <dgm:pt modelId="{F403AAD5-BF84-4BA9-B940-D9BB4AD7DE76}" type="parTrans" cxnId="{1ACD0F86-EA5D-4EE5-98D0-7C6F940E85F4}">
      <dgm:prSet/>
      <dgm:spPr/>
      <dgm:t>
        <a:bodyPr/>
        <a:lstStyle/>
        <a:p>
          <a:endParaRPr lang="en-US"/>
        </a:p>
      </dgm:t>
    </dgm:pt>
    <dgm:pt modelId="{5018B33E-33A5-4283-9F50-275B34622DF3}" type="sibTrans" cxnId="{1ACD0F86-EA5D-4EE5-98D0-7C6F940E85F4}">
      <dgm:prSet/>
      <dgm:spPr/>
      <dgm:t>
        <a:bodyPr/>
        <a:lstStyle/>
        <a:p>
          <a:endParaRPr lang="en-US"/>
        </a:p>
      </dgm:t>
    </dgm:pt>
    <dgm:pt modelId="{97924F96-982F-4A95-A560-703E63176AAC}">
      <dgm:prSet phldrT="[Text]" custT="1"/>
      <dgm:spPr/>
      <dgm:t>
        <a:bodyPr/>
        <a:lstStyle/>
        <a:p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2</a:t>
          </a:r>
        </a:p>
      </dgm:t>
    </dgm:pt>
    <dgm:pt modelId="{4F7AC8C4-54AE-42CA-A619-345A1E6F95E3}" type="parTrans" cxnId="{1E77874E-793E-47F5-923B-172D7F99A88A}">
      <dgm:prSet/>
      <dgm:spPr/>
      <dgm:t>
        <a:bodyPr/>
        <a:lstStyle/>
        <a:p>
          <a:endParaRPr lang="en-US"/>
        </a:p>
      </dgm:t>
    </dgm:pt>
    <dgm:pt modelId="{5E787A09-73EB-4D0E-B2B4-3607EF8F18B9}" type="sibTrans" cxnId="{1E77874E-793E-47F5-923B-172D7F99A88A}">
      <dgm:prSet/>
      <dgm:spPr/>
      <dgm:t>
        <a:bodyPr/>
        <a:lstStyle/>
        <a:p>
          <a:endParaRPr lang="en-US"/>
        </a:p>
      </dgm:t>
    </dgm:pt>
    <dgm:pt modelId="{46E2F32F-CE26-4C18-B386-6137C41AACA2}">
      <dgm:prSet phldrT="[Text]"/>
      <dgm:spPr/>
      <dgm:t>
        <a:bodyPr/>
        <a:lstStyle/>
        <a:p>
          <a:pPr>
            <a:buNone/>
          </a:pPr>
          <a:r>
            <a:rPr lang="en-US" b="1" i="0">
              <a:solidFill>
                <a:srgbClr val="404040"/>
              </a:solidFill>
              <a:effectLst/>
              <a:latin typeface="DeepSeek-CJK-patch"/>
            </a:rPr>
            <a:t>PCC Automation &amp; Loads</a:t>
          </a:r>
          <a:endParaRPr lang="en-US"/>
        </a:p>
      </dgm:t>
    </dgm:pt>
    <dgm:pt modelId="{2B44090D-B108-4D01-A39F-DA3F33BB54EE}" type="parTrans" cxnId="{5D926D54-5893-4E77-BFFA-ADAA39D55E11}">
      <dgm:prSet/>
      <dgm:spPr/>
      <dgm:t>
        <a:bodyPr/>
        <a:lstStyle/>
        <a:p>
          <a:endParaRPr lang="en-US"/>
        </a:p>
      </dgm:t>
    </dgm:pt>
    <dgm:pt modelId="{A9FCD75B-7FA4-4CB1-8E54-66F966BA5960}" type="sibTrans" cxnId="{5D926D54-5893-4E77-BFFA-ADAA39D55E11}">
      <dgm:prSet/>
      <dgm:spPr/>
      <dgm:t>
        <a:bodyPr/>
        <a:lstStyle/>
        <a:p>
          <a:endParaRPr lang="en-US"/>
        </a:p>
      </dgm:t>
    </dgm:pt>
    <dgm:pt modelId="{E75BB5F4-1777-4F70-A362-C7F727E5661D}">
      <dgm:prSet phldrT="[Text]" custT="1"/>
      <dgm:spPr/>
      <dgm:t>
        <a:bodyPr/>
        <a:lstStyle/>
        <a:p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3</a:t>
          </a:r>
          <a:r>
            <a:rPr lang="en-US" sz="1600" b="1" i="0" kern="1200" dirty="0">
              <a:solidFill>
                <a:srgbClr val="404040"/>
              </a:solidFill>
              <a:effectLst/>
              <a:latin typeface="DeepSeek-CJK-patch"/>
            </a:rPr>
            <a:t> </a:t>
          </a:r>
          <a:endParaRPr lang="en-US" sz="1600" kern="1200" dirty="0"/>
        </a:p>
      </dgm:t>
    </dgm:pt>
    <dgm:pt modelId="{73F9AE63-7C98-4422-A75B-5C268228AD85}" type="parTrans" cxnId="{76123B6A-DE86-4FF5-A69B-41189DE83D3F}">
      <dgm:prSet/>
      <dgm:spPr/>
      <dgm:t>
        <a:bodyPr/>
        <a:lstStyle/>
        <a:p>
          <a:endParaRPr lang="en-US"/>
        </a:p>
      </dgm:t>
    </dgm:pt>
    <dgm:pt modelId="{253588FC-FA9F-4DF2-92DB-BC624A11F280}" type="sibTrans" cxnId="{76123B6A-DE86-4FF5-A69B-41189DE83D3F}">
      <dgm:prSet/>
      <dgm:spPr/>
      <dgm:t>
        <a:bodyPr/>
        <a:lstStyle/>
        <a:p>
          <a:endParaRPr lang="en-US"/>
        </a:p>
      </dgm:t>
    </dgm:pt>
    <dgm:pt modelId="{60CD5880-6793-4B10-BD64-CB232BAD6052}">
      <dgm:prSet phldrT="[Text]"/>
      <dgm:spPr/>
      <dgm:t>
        <a:bodyPr/>
        <a:lstStyle/>
        <a:p>
          <a:pPr>
            <a:buNone/>
          </a:pPr>
          <a:r>
            <a:rPr lang="en-US" b="1" i="0">
              <a:solidFill>
                <a:srgbClr val="404040"/>
              </a:solidFill>
              <a:effectLst/>
              <a:latin typeface="DeepSeek-CJK-patch"/>
            </a:rPr>
            <a:t>GUI &amp; Cloud</a:t>
          </a:r>
          <a:endParaRPr lang="en-US" dirty="0"/>
        </a:p>
      </dgm:t>
    </dgm:pt>
    <dgm:pt modelId="{D367B230-98F8-45FD-BE1D-40D2D6079D26}" type="parTrans" cxnId="{530EF36B-F7CF-4E6E-92E4-48EE27597C79}">
      <dgm:prSet/>
      <dgm:spPr/>
      <dgm:t>
        <a:bodyPr/>
        <a:lstStyle/>
        <a:p>
          <a:endParaRPr lang="en-US"/>
        </a:p>
      </dgm:t>
    </dgm:pt>
    <dgm:pt modelId="{E91882A3-7847-4465-8481-28350D24248D}" type="sibTrans" cxnId="{530EF36B-F7CF-4E6E-92E4-48EE27597C79}">
      <dgm:prSet/>
      <dgm:spPr/>
      <dgm:t>
        <a:bodyPr/>
        <a:lstStyle/>
        <a:p>
          <a:endParaRPr lang="en-US"/>
        </a:p>
      </dgm:t>
    </dgm:pt>
    <dgm:pt modelId="{E520D248-AD4E-4CFF-AA63-8400CC2C5B92}">
      <dgm:prSet/>
      <dgm:spPr/>
      <dgm:t>
        <a:bodyPr/>
        <a:lstStyle/>
        <a:p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Procure solar panel, charge controller, ESS.</a:t>
          </a:r>
        </a:p>
      </dgm:t>
    </dgm:pt>
    <dgm:pt modelId="{741E9FB7-545B-4124-A19C-C7DC8215FD6D}" type="parTrans" cxnId="{54FE61D1-9FF3-465E-8153-9577F4CE2109}">
      <dgm:prSet/>
      <dgm:spPr/>
      <dgm:t>
        <a:bodyPr/>
        <a:lstStyle/>
        <a:p>
          <a:endParaRPr lang="en-US"/>
        </a:p>
      </dgm:t>
    </dgm:pt>
    <dgm:pt modelId="{BBEA94F6-E2F8-48DA-A7A7-80FCA8622B4A}" type="sibTrans" cxnId="{54FE61D1-9FF3-465E-8153-9577F4CE2109}">
      <dgm:prSet/>
      <dgm:spPr/>
      <dgm:t>
        <a:bodyPr/>
        <a:lstStyle/>
        <a:p>
          <a:endParaRPr lang="en-US"/>
        </a:p>
      </dgm:t>
    </dgm:pt>
    <dgm:pt modelId="{07B2C608-B6A1-4F4B-AAD2-F099BAB55FD7}">
      <dgm:prSet/>
      <dgm:spPr/>
      <dgm:t>
        <a:bodyPr/>
        <a:lstStyle/>
        <a:p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Test PCC integration (solar → ESS → grid).</a:t>
          </a:r>
        </a:p>
      </dgm:t>
    </dgm:pt>
    <dgm:pt modelId="{24EE9C63-C264-425B-B626-DCC5FD67A35C}" type="parTrans" cxnId="{300AB0D9-C1E3-4A56-96AE-ADA4C67DC2C0}">
      <dgm:prSet/>
      <dgm:spPr/>
      <dgm:t>
        <a:bodyPr/>
        <a:lstStyle/>
        <a:p>
          <a:endParaRPr lang="en-US"/>
        </a:p>
      </dgm:t>
    </dgm:pt>
    <dgm:pt modelId="{45C4679C-E3FF-4EB9-BDEC-9537C3510AAD}" type="sibTrans" cxnId="{300AB0D9-C1E3-4A56-96AE-ADA4C67DC2C0}">
      <dgm:prSet/>
      <dgm:spPr/>
      <dgm:t>
        <a:bodyPr/>
        <a:lstStyle/>
        <a:p>
          <a:endParaRPr lang="en-US"/>
        </a:p>
      </dgm:t>
    </dgm:pt>
    <dgm:pt modelId="{A902B308-A555-4EBB-A636-FC2BCCE83B4D}">
      <dgm:prSet/>
      <dgm:spPr/>
      <dgm:t>
        <a:bodyPr/>
        <a:lstStyle/>
        <a:p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Deploy 15 battery swapping units + 4 fast chargers.</a:t>
          </a:r>
        </a:p>
      </dgm:t>
    </dgm:pt>
    <dgm:pt modelId="{6E277777-718D-4A28-9FE4-A402A8E3D068}" type="parTrans" cxnId="{E3367832-64E7-41FE-8087-3A55072E69A8}">
      <dgm:prSet/>
      <dgm:spPr/>
      <dgm:t>
        <a:bodyPr/>
        <a:lstStyle/>
        <a:p>
          <a:endParaRPr lang="en-US"/>
        </a:p>
      </dgm:t>
    </dgm:pt>
    <dgm:pt modelId="{F2116307-E2E8-498B-8440-5AC490C07313}" type="sibTrans" cxnId="{E3367832-64E7-41FE-8087-3A55072E69A8}">
      <dgm:prSet/>
      <dgm:spPr/>
      <dgm:t>
        <a:bodyPr/>
        <a:lstStyle/>
        <a:p>
          <a:endParaRPr lang="en-US"/>
        </a:p>
      </dgm:t>
    </dgm:pt>
    <dgm:pt modelId="{B1151B24-967D-4B62-A25A-6BAF3332417B}">
      <dgm:prSet/>
      <dgm:spPr/>
      <dgm:t>
        <a:bodyPr/>
        <a:lstStyle/>
        <a:p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Implement threshold-based automation (80%/20% SOC)</a:t>
          </a:r>
          <a:endParaRPr lang="en-US" dirty="0"/>
        </a:p>
      </dgm:t>
    </dgm:pt>
    <dgm:pt modelId="{BB9BD23E-92A5-4AD3-AC06-3D0375AA2CBF}" type="parTrans" cxnId="{66D696CB-2977-4D34-882B-5E7498B85C0B}">
      <dgm:prSet/>
      <dgm:spPr/>
      <dgm:t>
        <a:bodyPr/>
        <a:lstStyle/>
        <a:p>
          <a:endParaRPr lang="en-US"/>
        </a:p>
      </dgm:t>
    </dgm:pt>
    <dgm:pt modelId="{FDFDFE09-3A42-437F-83E5-CA92B319C059}" type="sibTrans" cxnId="{66D696CB-2977-4D34-882B-5E7498B85C0B}">
      <dgm:prSet/>
      <dgm:spPr/>
      <dgm:t>
        <a:bodyPr/>
        <a:lstStyle/>
        <a:p>
          <a:endParaRPr lang="en-US"/>
        </a:p>
      </dgm:t>
    </dgm:pt>
    <dgm:pt modelId="{5FCC0DC3-CCC6-4A7A-8C10-F11947787B4C}">
      <dgm:prSet/>
      <dgm:spPr/>
      <dgm:t>
        <a:bodyPr/>
        <a:lstStyle/>
        <a:p>
          <a:r>
            <a:rPr lang="en-US" b="0" i="0">
              <a:solidFill>
                <a:srgbClr val="404040"/>
              </a:solidFill>
              <a:effectLst/>
              <a:latin typeface="DeepSeek-CJK-patch"/>
            </a:rPr>
            <a:t>Develop Node-RED dashboard.</a:t>
          </a:r>
          <a:endParaRPr lang="en-US" b="0" i="0" dirty="0">
            <a:solidFill>
              <a:srgbClr val="404040"/>
            </a:solidFill>
            <a:effectLst/>
            <a:latin typeface="DeepSeek-CJK-patch"/>
          </a:endParaRPr>
        </a:p>
      </dgm:t>
    </dgm:pt>
    <dgm:pt modelId="{571B2FCF-0C4B-48DD-B38E-CE36C595B041}" type="parTrans" cxnId="{25C53091-5032-4EAB-B126-9CAD98AED0D8}">
      <dgm:prSet/>
      <dgm:spPr/>
      <dgm:t>
        <a:bodyPr/>
        <a:lstStyle/>
        <a:p>
          <a:endParaRPr lang="en-US"/>
        </a:p>
      </dgm:t>
    </dgm:pt>
    <dgm:pt modelId="{6D3E5205-F0D5-4489-B35B-49C4F2E44943}" type="sibTrans" cxnId="{25C53091-5032-4EAB-B126-9CAD98AED0D8}">
      <dgm:prSet/>
      <dgm:spPr/>
      <dgm:t>
        <a:bodyPr/>
        <a:lstStyle/>
        <a:p>
          <a:endParaRPr lang="en-US"/>
        </a:p>
      </dgm:t>
    </dgm:pt>
    <dgm:pt modelId="{1246C9D1-D58E-4CD5-8F7C-92F62F7A9495}">
      <dgm:prSet/>
      <dgm:spPr/>
      <dgm:t>
        <a:bodyPr/>
        <a:lstStyle/>
        <a:p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Configure AWS for data logging/analytics.</a:t>
          </a:r>
        </a:p>
      </dgm:t>
    </dgm:pt>
    <dgm:pt modelId="{8CA98CF5-C366-4231-AB90-78D1D427E6A4}" type="parTrans" cxnId="{7332670A-052F-401E-B89E-0039FF89B98A}">
      <dgm:prSet/>
      <dgm:spPr/>
      <dgm:t>
        <a:bodyPr/>
        <a:lstStyle/>
        <a:p>
          <a:endParaRPr lang="en-US"/>
        </a:p>
      </dgm:t>
    </dgm:pt>
    <dgm:pt modelId="{A7DBC2E2-4AE2-47C9-816F-C3E93672CB8B}" type="sibTrans" cxnId="{7332670A-052F-401E-B89E-0039FF89B98A}">
      <dgm:prSet/>
      <dgm:spPr/>
      <dgm:t>
        <a:bodyPr/>
        <a:lstStyle/>
        <a:p>
          <a:endParaRPr lang="en-US"/>
        </a:p>
      </dgm:t>
    </dgm:pt>
    <dgm:pt modelId="{D9CE4773-37D8-44EB-9823-F7E52B053911}">
      <dgm:prSet phldrT="[Text]" custT="1"/>
      <dgm:spPr/>
      <dgm:t>
        <a:bodyPr/>
        <a:lstStyle/>
        <a:p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4 </a:t>
          </a:r>
        </a:p>
      </dgm:t>
    </dgm:pt>
    <dgm:pt modelId="{D63AAAB3-209D-4F36-A233-57FC6335D063}" type="parTrans" cxnId="{DED32DD2-946C-4EF5-AF4B-1E96893D81AB}">
      <dgm:prSet/>
      <dgm:spPr/>
      <dgm:t>
        <a:bodyPr/>
        <a:lstStyle/>
        <a:p>
          <a:endParaRPr lang="en-US"/>
        </a:p>
      </dgm:t>
    </dgm:pt>
    <dgm:pt modelId="{F8D5A24A-4BBB-4E39-8886-3774AD5B40FD}" type="sibTrans" cxnId="{DED32DD2-946C-4EF5-AF4B-1E96893D81AB}">
      <dgm:prSet/>
      <dgm:spPr/>
      <dgm:t>
        <a:bodyPr/>
        <a:lstStyle/>
        <a:p>
          <a:endParaRPr lang="en-US"/>
        </a:p>
      </dgm:t>
    </dgm:pt>
    <dgm:pt modelId="{006AACFC-9E70-4A40-A487-BA6C40779D13}">
      <dgm:prSet phldrT="[Text]"/>
      <dgm:spPr/>
      <dgm:t>
        <a:bodyPr/>
        <a:lstStyle/>
        <a:p>
          <a:pPr>
            <a:buNone/>
          </a:pPr>
          <a:r>
            <a:rPr lang="en-US" b="1" i="0">
              <a:solidFill>
                <a:srgbClr val="404040"/>
              </a:solidFill>
              <a:effectLst/>
              <a:latin typeface="DeepSeek-CJK-patch"/>
            </a:rPr>
            <a:t>Documentation</a:t>
          </a:r>
          <a:endParaRPr lang="en-US" dirty="0"/>
        </a:p>
      </dgm:t>
    </dgm:pt>
    <dgm:pt modelId="{CA6C5548-DC1E-4F98-934B-17849DE5D464}" type="parTrans" cxnId="{C10C2B73-6304-493A-915B-1E994AEB4CBE}">
      <dgm:prSet/>
      <dgm:spPr/>
      <dgm:t>
        <a:bodyPr/>
        <a:lstStyle/>
        <a:p>
          <a:endParaRPr lang="en-US"/>
        </a:p>
      </dgm:t>
    </dgm:pt>
    <dgm:pt modelId="{9670BB3B-3033-4878-A947-6D7D38DDA2D3}" type="sibTrans" cxnId="{C10C2B73-6304-493A-915B-1E994AEB4CBE}">
      <dgm:prSet/>
      <dgm:spPr/>
      <dgm:t>
        <a:bodyPr/>
        <a:lstStyle/>
        <a:p>
          <a:endParaRPr lang="en-US"/>
        </a:p>
      </dgm:t>
    </dgm:pt>
    <dgm:pt modelId="{3207381B-1D80-4236-966E-464082DA6833}">
      <dgm:prSet/>
      <dgm:spPr/>
      <dgm:t>
        <a:bodyPr/>
        <a:lstStyle/>
        <a:p>
          <a:pPr>
            <a:buNone/>
          </a:pPr>
          <a:r>
            <a:rPr lang="en-US" b="0" i="0">
              <a:solidFill>
                <a:srgbClr val="404040"/>
              </a:solidFill>
              <a:effectLst/>
              <a:latin typeface="DeepSeek-CJK-patch"/>
            </a:rPr>
            <a:t>Finalize circuit schematics, codebase, user manual.</a:t>
          </a:r>
          <a:endParaRPr lang="en-US" b="0" i="0" dirty="0">
            <a:solidFill>
              <a:srgbClr val="404040"/>
            </a:solidFill>
            <a:effectLst/>
            <a:latin typeface="DeepSeek-CJK-patch"/>
          </a:endParaRPr>
        </a:p>
      </dgm:t>
    </dgm:pt>
    <dgm:pt modelId="{983C31B1-931E-46EE-ABF7-638B9EAF725B}" type="parTrans" cxnId="{45918FBA-2D4E-44DD-99EE-767BFB896AF6}">
      <dgm:prSet/>
      <dgm:spPr/>
      <dgm:t>
        <a:bodyPr/>
        <a:lstStyle/>
        <a:p>
          <a:endParaRPr lang="en-US"/>
        </a:p>
      </dgm:t>
    </dgm:pt>
    <dgm:pt modelId="{CDC39553-9EAF-4C09-8794-0C2D64CA5A31}" type="sibTrans" cxnId="{45918FBA-2D4E-44DD-99EE-767BFB896AF6}">
      <dgm:prSet/>
      <dgm:spPr/>
      <dgm:t>
        <a:bodyPr/>
        <a:lstStyle/>
        <a:p>
          <a:endParaRPr lang="en-US"/>
        </a:p>
      </dgm:t>
    </dgm:pt>
    <dgm:pt modelId="{154BDFB7-7FAE-4A8E-BE86-B8DDFD78FC76}">
      <dgm:prSet/>
      <dgm:spPr/>
      <dgm:t>
        <a:bodyPr/>
        <a:lstStyle/>
        <a:p>
          <a:pPr>
            <a:buNone/>
          </a:pPr>
          <a:r>
            <a:rPr lang="en-US" b="0" i="0" dirty="0">
              <a:solidFill>
                <a:srgbClr val="404040"/>
              </a:solidFill>
              <a:effectLst/>
              <a:latin typeface="DeepSeek-CJK-patch"/>
            </a:rPr>
            <a:t>Prepare project report/presentation.</a:t>
          </a:r>
        </a:p>
      </dgm:t>
    </dgm:pt>
    <dgm:pt modelId="{C9A4D420-CE72-4D38-959C-EC1E80BBAC21}" type="parTrans" cxnId="{2340B464-5F78-4C48-B0B4-F3B9350DC4E4}">
      <dgm:prSet/>
      <dgm:spPr/>
      <dgm:t>
        <a:bodyPr/>
        <a:lstStyle/>
        <a:p>
          <a:endParaRPr lang="en-US"/>
        </a:p>
      </dgm:t>
    </dgm:pt>
    <dgm:pt modelId="{998A828D-7D10-4133-99F4-D306E8EF41A8}" type="sibTrans" cxnId="{2340B464-5F78-4C48-B0B4-F3B9350DC4E4}">
      <dgm:prSet/>
      <dgm:spPr/>
      <dgm:t>
        <a:bodyPr/>
        <a:lstStyle/>
        <a:p>
          <a:endParaRPr lang="en-US"/>
        </a:p>
      </dgm:t>
    </dgm:pt>
    <dgm:pt modelId="{9EDB3D32-86DB-4C86-BE1C-C047632FCD97}" type="pres">
      <dgm:prSet presAssocID="{063A425A-B56A-403F-A77C-D38DE915EE0E}" presName="linearFlow" presStyleCnt="0">
        <dgm:presLayoutVars>
          <dgm:dir/>
          <dgm:animLvl val="lvl"/>
          <dgm:resizeHandles val="exact"/>
        </dgm:presLayoutVars>
      </dgm:prSet>
      <dgm:spPr/>
    </dgm:pt>
    <dgm:pt modelId="{BE763BF1-C442-4F92-88B6-07D8C2E80682}" type="pres">
      <dgm:prSet presAssocID="{AEEAB13A-5EA9-4351-9D8F-E3ABC59E082B}" presName="composite" presStyleCnt="0"/>
      <dgm:spPr/>
    </dgm:pt>
    <dgm:pt modelId="{489FD98D-7DD2-4FFC-B1FB-6127C8234371}" type="pres">
      <dgm:prSet presAssocID="{AEEAB13A-5EA9-4351-9D8F-E3ABC59E082B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3B9AEB3-AB46-466C-B6C6-E22AC657CA3F}" type="pres">
      <dgm:prSet presAssocID="{AEEAB13A-5EA9-4351-9D8F-E3ABC59E082B}" presName="descendantText" presStyleLbl="alignAcc1" presStyleIdx="0" presStyleCnt="4">
        <dgm:presLayoutVars>
          <dgm:bulletEnabled val="1"/>
        </dgm:presLayoutVars>
      </dgm:prSet>
      <dgm:spPr/>
    </dgm:pt>
    <dgm:pt modelId="{C72ABEF0-06D5-4541-98D7-7E63B07C6138}" type="pres">
      <dgm:prSet presAssocID="{E3DAF6F1-54D2-49AE-8109-7CEA1D271C7C}" presName="sp" presStyleCnt="0"/>
      <dgm:spPr/>
    </dgm:pt>
    <dgm:pt modelId="{CDBAC883-F643-414B-908E-409420DE9CB9}" type="pres">
      <dgm:prSet presAssocID="{97924F96-982F-4A95-A560-703E63176AAC}" presName="composite" presStyleCnt="0"/>
      <dgm:spPr/>
    </dgm:pt>
    <dgm:pt modelId="{42ADF8AE-D9F6-4428-A598-EB073D9804E0}" type="pres">
      <dgm:prSet presAssocID="{97924F96-982F-4A95-A560-703E63176AAC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F255DC0-18AA-4584-ABAE-31D78005B8BE}" type="pres">
      <dgm:prSet presAssocID="{97924F96-982F-4A95-A560-703E63176AAC}" presName="descendantText" presStyleLbl="alignAcc1" presStyleIdx="1" presStyleCnt="4">
        <dgm:presLayoutVars>
          <dgm:bulletEnabled val="1"/>
        </dgm:presLayoutVars>
      </dgm:prSet>
      <dgm:spPr/>
    </dgm:pt>
    <dgm:pt modelId="{EA98878C-6293-4F76-86C2-7BBBC0ECAEF4}" type="pres">
      <dgm:prSet presAssocID="{5E787A09-73EB-4D0E-B2B4-3607EF8F18B9}" presName="sp" presStyleCnt="0"/>
      <dgm:spPr/>
    </dgm:pt>
    <dgm:pt modelId="{E9984A64-F1FE-45D7-BA60-1AF160567BA0}" type="pres">
      <dgm:prSet presAssocID="{E75BB5F4-1777-4F70-A362-C7F727E5661D}" presName="composite" presStyleCnt="0"/>
      <dgm:spPr/>
    </dgm:pt>
    <dgm:pt modelId="{B0EAC7DE-680A-406B-8B6F-E86F520B34FF}" type="pres">
      <dgm:prSet presAssocID="{E75BB5F4-1777-4F70-A362-C7F727E5661D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5EA3C60-E7DC-4924-9B80-5F5DA3987C2E}" type="pres">
      <dgm:prSet presAssocID="{E75BB5F4-1777-4F70-A362-C7F727E5661D}" presName="descendantText" presStyleLbl="alignAcc1" presStyleIdx="2" presStyleCnt="4">
        <dgm:presLayoutVars>
          <dgm:bulletEnabled val="1"/>
        </dgm:presLayoutVars>
      </dgm:prSet>
      <dgm:spPr/>
    </dgm:pt>
    <dgm:pt modelId="{91760807-D034-419B-AD37-EAD16637E783}" type="pres">
      <dgm:prSet presAssocID="{253588FC-FA9F-4DF2-92DB-BC624A11F280}" presName="sp" presStyleCnt="0"/>
      <dgm:spPr/>
    </dgm:pt>
    <dgm:pt modelId="{B4270CC7-9EED-4146-97DB-1B4EF8746D91}" type="pres">
      <dgm:prSet presAssocID="{D9CE4773-37D8-44EB-9823-F7E52B053911}" presName="composite" presStyleCnt="0"/>
      <dgm:spPr/>
    </dgm:pt>
    <dgm:pt modelId="{BC6E91A3-21DF-411A-BB51-77741134CBAC}" type="pres">
      <dgm:prSet presAssocID="{D9CE4773-37D8-44EB-9823-F7E52B053911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396B248F-0B02-4C85-A34D-6D49B51F5F6B}" type="pres">
      <dgm:prSet presAssocID="{D9CE4773-37D8-44EB-9823-F7E52B053911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727C2907-AF4C-43D3-A6E6-458C03D3A64D}" type="presOf" srcId="{07B2C608-B6A1-4F4B-AAD2-F099BAB55FD7}" destId="{23B9AEB3-AB46-466C-B6C6-E22AC657CA3F}" srcOrd="0" destOrd="2" presId="urn:microsoft.com/office/officeart/2005/8/layout/chevron2"/>
    <dgm:cxn modelId="{7332670A-052F-401E-B89E-0039FF89B98A}" srcId="{E75BB5F4-1777-4F70-A362-C7F727E5661D}" destId="{1246C9D1-D58E-4CD5-8F7C-92F62F7A9495}" srcOrd="2" destOrd="0" parTransId="{8CA98CF5-C366-4231-AB90-78D1D427E6A4}" sibTransId="{A7DBC2E2-4AE2-47C9-816F-C3E93672CB8B}"/>
    <dgm:cxn modelId="{CF5C961C-B9CA-4C35-B8C1-7734960DAD20}" type="presOf" srcId="{E520D248-AD4E-4CFF-AA63-8400CC2C5B92}" destId="{23B9AEB3-AB46-466C-B6C6-E22AC657CA3F}" srcOrd="0" destOrd="1" presId="urn:microsoft.com/office/officeart/2005/8/layout/chevron2"/>
    <dgm:cxn modelId="{EEA7CD24-96F0-44EB-9FD2-EEA05CA67D9A}" type="presOf" srcId="{D9CE4773-37D8-44EB-9823-F7E52B053911}" destId="{BC6E91A3-21DF-411A-BB51-77741134CBAC}" srcOrd="0" destOrd="0" presId="urn:microsoft.com/office/officeart/2005/8/layout/chevron2"/>
    <dgm:cxn modelId="{6BE14A28-47D0-4D2A-810B-1FB56A11F3BF}" type="presOf" srcId="{063A425A-B56A-403F-A77C-D38DE915EE0E}" destId="{9EDB3D32-86DB-4C86-BE1C-C047632FCD97}" srcOrd="0" destOrd="0" presId="urn:microsoft.com/office/officeart/2005/8/layout/chevron2"/>
    <dgm:cxn modelId="{E3367832-64E7-41FE-8087-3A55072E69A8}" srcId="{97924F96-982F-4A95-A560-703E63176AAC}" destId="{A902B308-A555-4EBB-A636-FC2BCCE83B4D}" srcOrd="1" destOrd="0" parTransId="{6E277777-718D-4A28-9FE4-A402A8E3D068}" sibTransId="{F2116307-E2E8-498B-8440-5AC490C07313}"/>
    <dgm:cxn modelId="{DCA00737-AAA1-4DEE-91B9-762FA42D3594}" type="presOf" srcId="{006AACFC-9E70-4A40-A487-BA6C40779D13}" destId="{396B248F-0B02-4C85-A34D-6D49B51F5F6B}" srcOrd="0" destOrd="0" presId="urn:microsoft.com/office/officeart/2005/8/layout/chevron2"/>
    <dgm:cxn modelId="{28B6643C-ED6B-454A-9FFF-A3C4679AADF1}" type="presOf" srcId="{97924F96-982F-4A95-A560-703E63176AAC}" destId="{42ADF8AE-D9F6-4428-A598-EB073D9804E0}" srcOrd="0" destOrd="0" presId="urn:microsoft.com/office/officeart/2005/8/layout/chevron2"/>
    <dgm:cxn modelId="{2340B464-5F78-4C48-B0B4-F3B9350DC4E4}" srcId="{D9CE4773-37D8-44EB-9823-F7E52B053911}" destId="{154BDFB7-7FAE-4A8E-BE86-B8DDFD78FC76}" srcOrd="2" destOrd="0" parTransId="{C9A4D420-CE72-4D38-959C-EC1E80BBAC21}" sibTransId="{998A828D-7D10-4133-99F4-D306E8EF41A8}"/>
    <dgm:cxn modelId="{53B71F67-4644-4D2A-A842-B8F0A9288473}" type="presOf" srcId="{AEEAB13A-5EA9-4351-9D8F-E3ABC59E082B}" destId="{489FD98D-7DD2-4FFC-B1FB-6127C8234371}" srcOrd="0" destOrd="0" presId="urn:microsoft.com/office/officeart/2005/8/layout/chevron2"/>
    <dgm:cxn modelId="{76123B6A-DE86-4FF5-A69B-41189DE83D3F}" srcId="{063A425A-B56A-403F-A77C-D38DE915EE0E}" destId="{E75BB5F4-1777-4F70-A362-C7F727E5661D}" srcOrd="2" destOrd="0" parTransId="{73F9AE63-7C98-4422-A75B-5C268228AD85}" sibTransId="{253588FC-FA9F-4DF2-92DB-BC624A11F280}"/>
    <dgm:cxn modelId="{530EF36B-F7CF-4E6E-92E4-48EE27597C79}" srcId="{E75BB5F4-1777-4F70-A362-C7F727E5661D}" destId="{60CD5880-6793-4B10-BD64-CB232BAD6052}" srcOrd="0" destOrd="0" parTransId="{D367B230-98F8-45FD-BE1D-40D2D6079D26}" sibTransId="{E91882A3-7847-4465-8481-28350D24248D}"/>
    <dgm:cxn modelId="{1E77874E-793E-47F5-923B-172D7F99A88A}" srcId="{063A425A-B56A-403F-A77C-D38DE915EE0E}" destId="{97924F96-982F-4A95-A560-703E63176AAC}" srcOrd="1" destOrd="0" parTransId="{4F7AC8C4-54AE-42CA-A619-345A1E6F95E3}" sibTransId="{5E787A09-73EB-4D0E-B2B4-3607EF8F18B9}"/>
    <dgm:cxn modelId="{C10C2B73-6304-493A-915B-1E994AEB4CBE}" srcId="{D9CE4773-37D8-44EB-9823-F7E52B053911}" destId="{006AACFC-9E70-4A40-A487-BA6C40779D13}" srcOrd="0" destOrd="0" parTransId="{CA6C5548-DC1E-4F98-934B-17849DE5D464}" sibTransId="{9670BB3B-3033-4878-A947-6D7D38DDA2D3}"/>
    <dgm:cxn modelId="{5D926D54-5893-4E77-BFFA-ADAA39D55E11}" srcId="{97924F96-982F-4A95-A560-703E63176AAC}" destId="{46E2F32F-CE26-4C18-B386-6137C41AACA2}" srcOrd="0" destOrd="0" parTransId="{2B44090D-B108-4D01-A39F-DA3F33BB54EE}" sibTransId="{A9FCD75B-7FA4-4CB1-8E54-66F966BA5960}"/>
    <dgm:cxn modelId="{1ACD0F86-EA5D-4EE5-98D0-7C6F940E85F4}" srcId="{AEEAB13A-5EA9-4351-9D8F-E3ABC59E082B}" destId="{3CA49CFE-8F3F-421F-9145-DA1811D0AC65}" srcOrd="0" destOrd="0" parTransId="{F403AAD5-BF84-4BA9-B940-D9BB4AD7DE76}" sibTransId="{5018B33E-33A5-4283-9F50-275B34622DF3}"/>
    <dgm:cxn modelId="{08B22988-3003-415D-A2A9-E6144CBE38CE}" type="presOf" srcId="{B1151B24-967D-4B62-A25A-6BAF3332417B}" destId="{7F255DC0-18AA-4584-ABAE-31D78005B8BE}" srcOrd="0" destOrd="2" presId="urn:microsoft.com/office/officeart/2005/8/layout/chevron2"/>
    <dgm:cxn modelId="{90CE998C-0B4A-4480-8609-CB3C5D1C1A3C}" srcId="{063A425A-B56A-403F-A77C-D38DE915EE0E}" destId="{AEEAB13A-5EA9-4351-9D8F-E3ABC59E082B}" srcOrd="0" destOrd="0" parTransId="{B2FC076F-FF33-4DA6-87CB-52C8E3037BCF}" sibTransId="{E3DAF6F1-54D2-49AE-8109-7CEA1D271C7C}"/>
    <dgm:cxn modelId="{25C53091-5032-4EAB-B126-9CAD98AED0D8}" srcId="{E75BB5F4-1777-4F70-A362-C7F727E5661D}" destId="{5FCC0DC3-CCC6-4A7A-8C10-F11947787B4C}" srcOrd="1" destOrd="0" parTransId="{571B2FCF-0C4B-48DD-B38E-CE36C595B041}" sibTransId="{6D3E5205-F0D5-4489-B35B-49C4F2E44943}"/>
    <dgm:cxn modelId="{7A36F5A8-D0CA-4C12-B6A8-ABBFF5ABD569}" type="presOf" srcId="{A902B308-A555-4EBB-A636-FC2BCCE83B4D}" destId="{7F255DC0-18AA-4584-ABAE-31D78005B8BE}" srcOrd="0" destOrd="1" presId="urn:microsoft.com/office/officeart/2005/8/layout/chevron2"/>
    <dgm:cxn modelId="{623B79AF-4DBE-431E-BC0E-6E4626DB25EA}" type="presOf" srcId="{5FCC0DC3-CCC6-4A7A-8C10-F11947787B4C}" destId="{05EA3C60-E7DC-4924-9B80-5F5DA3987C2E}" srcOrd="0" destOrd="1" presId="urn:microsoft.com/office/officeart/2005/8/layout/chevron2"/>
    <dgm:cxn modelId="{6F6CA4B3-A386-40D0-ACE9-57647CAC3E67}" type="presOf" srcId="{1246C9D1-D58E-4CD5-8F7C-92F62F7A9495}" destId="{05EA3C60-E7DC-4924-9B80-5F5DA3987C2E}" srcOrd="0" destOrd="2" presId="urn:microsoft.com/office/officeart/2005/8/layout/chevron2"/>
    <dgm:cxn modelId="{45918FBA-2D4E-44DD-99EE-767BFB896AF6}" srcId="{D9CE4773-37D8-44EB-9823-F7E52B053911}" destId="{3207381B-1D80-4236-966E-464082DA6833}" srcOrd="1" destOrd="0" parTransId="{983C31B1-931E-46EE-ABF7-638B9EAF725B}" sibTransId="{CDC39553-9EAF-4C09-8794-0C2D64CA5A31}"/>
    <dgm:cxn modelId="{C366FBBD-CFC8-44EA-B93F-290ABF92F581}" type="presOf" srcId="{E75BB5F4-1777-4F70-A362-C7F727E5661D}" destId="{B0EAC7DE-680A-406B-8B6F-E86F520B34FF}" srcOrd="0" destOrd="0" presId="urn:microsoft.com/office/officeart/2005/8/layout/chevron2"/>
    <dgm:cxn modelId="{527EEBC3-931B-409B-8EC5-812AC3965653}" type="presOf" srcId="{60CD5880-6793-4B10-BD64-CB232BAD6052}" destId="{05EA3C60-E7DC-4924-9B80-5F5DA3987C2E}" srcOrd="0" destOrd="0" presId="urn:microsoft.com/office/officeart/2005/8/layout/chevron2"/>
    <dgm:cxn modelId="{66D696CB-2977-4D34-882B-5E7498B85C0B}" srcId="{97924F96-982F-4A95-A560-703E63176AAC}" destId="{B1151B24-967D-4B62-A25A-6BAF3332417B}" srcOrd="2" destOrd="0" parTransId="{BB9BD23E-92A5-4AD3-AC06-3D0375AA2CBF}" sibTransId="{FDFDFE09-3A42-437F-83E5-CA92B319C059}"/>
    <dgm:cxn modelId="{1C272FD1-F1F8-4D16-B37D-0C6E3CCE1FAC}" type="presOf" srcId="{3207381B-1D80-4236-966E-464082DA6833}" destId="{396B248F-0B02-4C85-A34D-6D49B51F5F6B}" srcOrd="0" destOrd="1" presId="urn:microsoft.com/office/officeart/2005/8/layout/chevron2"/>
    <dgm:cxn modelId="{54FE61D1-9FF3-465E-8153-9577F4CE2109}" srcId="{AEEAB13A-5EA9-4351-9D8F-E3ABC59E082B}" destId="{E520D248-AD4E-4CFF-AA63-8400CC2C5B92}" srcOrd="1" destOrd="0" parTransId="{741E9FB7-545B-4124-A19C-C7DC8215FD6D}" sibTransId="{BBEA94F6-E2F8-48DA-A7A7-80FCA8622B4A}"/>
    <dgm:cxn modelId="{3D7F98D1-C90B-4279-9E66-B43C2BC2DCEC}" type="presOf" srcId="{3CA49CFE-8F3F-421F-9145-DA1811D0AC65}" destId="{23B9AEB3-AB46-466C-B6C6-E22AC657CA3F}" srcOrd="0" destOrd="0" presId="urn:microsoft.com/office/officeart/2005/8/layout/chevron2"/>
    <dgm:cxn modelId="{DED32DD2-946C-4EF5-AF4B-1E96893D81AB}" srcId="{063A425A-B56A-403F-A77C-D38DE915EE0E}" destId="{D9CE4773-37D8-44EB-9823-F7E52B053911}" srcOrd="3" destOrd="0" parTransId="{D63AAAB3-209D-4F36-A233-57FC6335D063}" sibTransId="{F8D5A24A-4BBB-4E39-8886-3774AD5B40FD}"/>
    <dgm:cxn modelId="{300AB0D9-C1E3-4A56-96AE-ADA4C67DC2C0}" srcId="{AEEAB13A-5EA9-4351-9D8F-E3ABC59E082B}" destId="{07B2C608-B6A1-4F4B-AAD2-F099BAB55FD7}" srcOrd="2" destOrd="0" parTransId="{24EE9C63-C264-425B-B626-DCC5FD67A35C}" sibTransId="{45C4679C-E3FF-4EB9-BDEC-9537C3510AAD}"/>
    <dgm:cxn modelId="{61343EDC-047F-4CF0-BA04-8CD668005828}" type="presOf" srcId="{46E2F32F-CE26-4C18-B386-6137C41AACA2}" destId="{7F255DC0-18AA-4584-ABAE-31D78005B8BE}" srcOrd="0" destOrd="0" presId="urn:microsoft.com/office/officeart/2005/8/layout/chevron2"/>
    <dgm:cxn modelId="{506060DD-B994-48C0-B847-900EFA8F5D7F}" type="presOf" srcId="{154BDFB7-7FAE-4A8E-BE86-B8DDFD78FC76}" destId="{396B248F-0B02-4C85-A34D-6D49B51F5F6B}" srcOrd="0" destOrd="2" presId="urn:microsoft.com/office/officeart/2005/8/layout/chevron2"/>
    <dgm:cxn modelId="{1906BBA3-9962-46CF-BD24-2DE8C727F2E9}" type="presParOf" srcId="{9EDB3D32-86DB-4C86-BE1C-C047632FCD97}" destId="{BE763BF1-C442-4F92-88B6-07D8C2E80682}" srcOrd="0" destOrd="0" presId="urn:microsoft.com/office/officeart/2005/8/layout/chevron2"/>
    <dgm:cxn modelId="{F2D99686-E3C5-428A-A26F-B667D38BB51C}" type="presParOf" srcId="{BE763BF1-C442-4F92-88B6-07D8C2E80682}" destId="{489FD98D-7DD2-4FFC-B1FB-6127C8234371}" srcOrd="0" destOrd="0" presId="urn:microsoft.com/office/officeart/2005/8/layout/chevron2"/>
    <dgm:cxn modelId="{9485C8C8-1F87-40AB-8CF0-885F2A87465A}" type="presParOf" srcId="{BE763BF1-C442-4F92-88B6-07D8C2E80682}" destId="{23B9AEB3-AB46-466C-B6C6-E22AC657CA3F}" srcOrd="1" destOrd="0" presId="urn:microsoft.com/office/officeart/2005/8/layout/chevron2"/>
    <dgm:cxn modelId="{84460DCB-A0D9-4C53-8B57-82CC3EE8EBF0}" type="presParOf" srcId="{9EDB3D32-86DB-4C86-BE1C-C047632FCD97}" destId="{C72ABEF0-06D5-4541-98D7-7E63B07C6138}" srcOrd="1" destOrd="0" presId="urn:microsoft.com/office/officeart/2005/8/layout/chevron2"/>
    <dgm:cxn modelId="{05F0BCDE-AC75-4426-B157-01A9674B1023}" type="presParOf" srcId="{9EDB3D32-86DB-4C86-BE1C-C047632FCD97}" destId="{CDBAC883-F643-414B-908E-409420DE9CB9}" srcOrd="2" destOrd="0" presId="urn:microsoft.com/office/officeart/2005/8/layout/chevron2"/>
    <dgm:cxn modelId="{F9910147-4192-4669-8821-20254D536AE4}" type="presParOf" srcId="{CDBAC883-F643-414B-908E-409420DE9CB9}" destId="{42ADF8AE-D9F6-4428-A598-EB073D9804E0}" srcOrd="0" destOrd="0" presId="urn:microsoft.com/office/officeart/2005/8/layout/chevron2"/>
    <dgm:cxn modelId="{5C980C86-A688-4353-A4DA-7237C4BFB148}" type="presParOf" srcId="{CDBAC883-F643-414B-908E-409420DE9CB9}" destId="{7F255DC0-18AA-4584-ABAE-31D78005B8BE}" srcOrd="1" destOrd="0" presId="urn:microsoft.com/office/officeart/2005/8/layout/chevron2"/>
    <dgm:cxn modelId="{F78C2B51-B8CC-4FEF-BDF0-9289F45B780C}" type="presParOf" srcId="{9EDB3D32-86DB-4C86-BE1C-C047632FCD97}" destId="{EA98878C-6293-4F76-86C2-7BBBC0ECAEF4}" srcOrd="3" destOrd="0" presId="urn:microsoft.com/office/officeart/2005/8/layout/chevron2"/>
    <dgm:cxn modelId="{202153C7-DC80-4378-BEA1-5CEBA049A4BA}" type="presParOf" srcId="{9EDB3D32-86DB-4C86-BE1C-C047632FCD97}" destId="{E9984A64-F1FE-45D7-BA60-1AF160567BA0}" srcOrd="4" destOrd="0" presId="urn:microsoft.com/office/officeart/2005/8/layout/chevron2"/>
    <dgm:cxn modelId="{34C04202-6FB1-405E-A870-89F051DABB12}" type="presParOf" srcId="{E9984A64-F1FE-45D7-BA60-1AF160567BA0}" destId="{B0EAC7DE-680A-406B-8B6F-E86F520B34FF}" srcOrd="0" destOrd="0" presId="urn:microsoft.com/office/officeart/2005/8/layout/chevron2"/>
    <dgm:cxn modelId="{CB8E4474-DD6F-45E8-B4B4-E96B7EAD9889}" type="presParOf" srcId="{E9984A64-F1FE-45D7-BA60-1AF160567BA0}" destId="{05EA3C60-E7DC-4924-9B80-5F5DA3987C2E}" srcOrd="1" destOrd="0" presId="urn:microsoft.com/office/officeart/2005/8/layout/chevron2"/>
    <dgm:cxn modelId="{5489B6CC-BA13-4491-884B-8DF022BCA2BE}" type="presParOf" srcId="{9EDB3D32-86DB-4C86-BE1C-C047632FCD97}" destId="{91760807-D034-419B-AD37-EAD16637E783}" srcOrd="5" destOrd="0" presId="urn:microsoft.com/office/officeart/2005/8/layout/chevron2"/>
    <dgm:cxn modelId="{D1798C7F-9FBD-4069-9E55-FD1FBF08BAF8}" type="presParOf" srcId="{9EDB3D32-86DB-4C86-BE1C-C047632FCD97}" destId="{B4270CC7-9EED-4146-97DB-1B4EF8746D91}" srcOrd="6" destOrd="0" presId="urn:microsoft.com/office/officeart/2005/8/layout/chevron2"/>
    <dgm:cxn modelId="{DCF44F40-645E-44CA-A942-C8F36FC5C1CD}" type="presParOf" srcId="{B4270CC7-9EED-4146-97DB-1B4EF8746D91}" destId="{BC6E91A3-21DF-411A-BB51-77741134CBAC}" srcOrd="0" destOrd="0" presId="urn:microsoft.com/office/officeart/2005/8/layout/chevron2"/>
    <dgm:cxn modelId="{CB4966BD-952A-45BC-834C-AA2948DE094A}" type="presParOf" srcId="{B4270CC7-9EED-4146-97DB-1B4EF8746D91}" destId="{396B248F-0B02-4C85-A34D-6D49B51F5F6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FD98D-7DD2-4FFC-B1FB-6127C8234371}">
      <dsp:nvSpPr>
        <dsp:cNvPr id="0" name=""/>
        <dsp:cNvSpPr/>
      </dsp:nvSpPr>
      <dsp:spPr>
        <a:xfrm rot="5400000">
          <a:off x="-219257" y="221911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endParaRPr lang="en-US" sz="1800" kern="1200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" y="514254"/>
        <a:ext cx="1023201" cy="438516"/>
      </dsp:txXfrm>
    </dsp:sp>
    <dsp:sp modelId="{23B9AEB3-AB46-466C-B6C6-E22AC657CA3F}">
      <dsp:nvSpPr>
        <dsp:cNvPr id="0" name=""/>
        <dsp:cNvSpPr/>
      </dsp:nvSpPr>
      <dsp:spPr>
        <a:xfrm rot="5400000">
          <a:off x="5611593" y="-4585737"/>
          <a:ext cx="950615" cy="101273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0" kern="1200" dirty="0">
              <a:solidFill>
                <a:srgbClr val="404040"/>
              </a:solidFill>
              <a:effectLst/>
              <a:latin typeface="DeepSeek-CJK-patch"/>
            </a:rPr>
            <a:t>Generation Side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Procure solar panel, charge controller, ESS.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Test PCC integration (solar → ESS → grid).</a:t>
          </a:r>
        </a:p>
      </dsp:txBody>
      <dsp:txXfrm rot="-5400000">
        <a:off x="1023202" y="49059"/>
        <a:ext cx="10080993" cy="857805"/>
      </dsp:txXfrm>
    </dsp:sp>
    <dsp:sp modelId="{42ADF8AE-D9F6-4428-A598-EB073D9804E0}">
      <dsp:nvSpPr>
        <dsp:cNvPr id="0" name=""/>
        <dsp:cNvSpPr/>
      </dsp:nvSpPr>
      <dsp:spPr>
        <a:xfrm rot="5400000">
          <a:off x="-219257" y="1539125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2</a:t>
          </a:r>
        </a:p>
      </dsp:txBody>
      <dsp:txXfrm rot="-5400000">
        <a:off x="2" y="1831468"/>
        <a:ext cx="1023201" cy="438516"/>
      </dsp:txXfrm>
    </dsp:sp>
    <dsp:sp modelId="{7F255DC0-18AA-4584-ABAE-31D78005B8BE}">
      <dsp:nvSpPr>
        <dsp:cNvPr id="0" name=""/>
        <dsp:cNvSpPr/>
      </dsp:nvSpPr>
      <dsp:spPr>
        <a:xfrm rot="5400000">
          <a:off x="5611842" y="-3268773"/>
          <a:ext cx="950116" cy="101273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0" kern="1200">
              <a:solidFill>
                <a:srgbClr val="404040"/>
              </a:solidFill>
              <a:effectLst/>
              <a:latin typeface="DeepSeek-CJK-patch"/>
            </a:rPr>
            <a:t>PCC Automation &amp; Loads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Deploy 15 battery swapping units + 4 fast chargers.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Implement threshold-based automation (80%/20% SOC)</a:t>
          </a:r>
          <a:endParaRPr lang="en-US" sz="1700" kern="1200" dirty="0"/>
        </a:p>
      </dsp:txBody>
      <dsp:txXfrm rot="-5400000">
        <a:off x="1023202" y="1366248"/>
        <a:ext cx="10081017" cy="857354"/>
      </dsp:txXfrm>
    </dsp:sp>
    <dsp:sp modelId="{B0EAC7DE-680A-406B-8B6F-E86F520B34FF}">
      <dsp:nvSpPr>
        <dsp:cNvPr id="0" name=""/>
        <dsp:cNvSpPr/>
      </dsp:nvSpPr>
      <dsp:spPr>
        <a:xfrm rot="5400000">
          <a:off x="-219257" y="2856339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3</a:t>
          </a:r>
          <a:r>
            <a:rPr lang="en-US" sz="1600" b="1" i="0" kern="1200" dirty="0">
              <a:solidFill>
                <a:srgbClr val="404040"/>
              </a:solidFill>
              <a:effectLst/>
              <a:latin typeface="DeepSeek-CJK-patch"/>
            </a:rPr>
            <a:t> </a:t>
          </a:r>
          <a:endParaRPr lang="en-US" sz="1600" kern="1200" dirty="0"/>
        </a:p>
      </dsp:txBody>
      <dsp:txXfrm rot="-5400000">
        <a:off x="2" y="3148682"/>
        <a:ext cx="1023201" cy="438516"/>
      </dsp:txXfrm>
    </dsp:sp>
    <dsp:sp modelId="{05EA3C60-E7DC-4924-9B80-5F5DA3987C2E}">
      <dsp:nvSpPr>
        <dsp:cNvPr id="0" name=""/>
        <dsp:cNvSpPr/>
      </dsp:nvSpPr>
      <dsp:spPr>
        <a:xfrm rot="5400000">
          <a:off x="5611842" y="-1951558"/>
          <a:ext cx="950116" cy="101273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0" kern="1200">
              <a:solidFill>
                <a:srgbClr val="404040"/>
              </a:solidFill>
              <a:effectLst/>
              <a:latin typeface="DeepSeek-CJK-patch"/>
            </a:rPr>
            <a:t>GUI &amp; Cloud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>
              <a:solidFill>
                <a:srgbClr val="404040"/>
              </a:solidFill>
              <a:effectLst/>
              <a:latin typeface="DeepSeek-CJK-patch"/>
            </a:rPr>
            <a:t>Develop Node-RED dashboard.</a:t>
          </a:r>
          <a:endParaRPr lang="en-US" sz="1700" b="0" i="0" kern="1200" dirty="0">
            <a:solidFill>
              <a:srgbClr val="404040"/>
            </a:solidFill>
            <a:effectLst/>
            <a:latin typeface="DeepSeek-CJK-patch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Configure AWS for data logging/analytics.</a:t>
          </a:r>
        </a:p>
      </dsp:txBody>
      <dsp:txXfrm rot="-5400000">
        <a:off x="1023202" y="2683463"/>
        <a:ext cx="10081017" cy="857354"/>
      </dsp:txXfrm>
    </dsp:sp>
    <dsp:sp modelId="{BC6E91A3-21DF-411A-BB51-77741134CBAC}">
      <dsp:nvSpPr>
        <dsp:cNvPr id="0" name=""/>
        <dsp:cNvSpPr/>
      </dsp:nvSpPr>
      <dsp:spPr>
        <a:xfrm rot="5400000">
          <a:off x="-219257" y="4173553"/>
          <a:ext cx="1461717" cy="10232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Milestone 4 </a:t>
          </a:r>
        </a:p>
      </dsp:txBody>
      <dsp:txXfrm rot="-5400000">
        <a:off x="2" y="4465896"/>
        <a:ext cx="1023201" cy="438516"/>
      </dsp:txXfrm>
    </dsp:sp>
    <dsp:sp modelId="{396B248F-0B02-4C85-A34D-6D49B51F5F6B}">
      <dsp:nvSpPr>
        <dsp:cNvPr id="0" name=""/>
        <dsp:cNvSpPr/>
      </dsp:nvSpPr>
      <dsp:spPr>
        <a:xfrm rot="5400000">
          <a:off x="5611842" y="-634344"/>
          <a:ext cx="950116" cy="101273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0" kern="1200">
              <a:solidFill>
                <a:srgbClr val="404040"/>
              </a:solidFill>
              <a:effectLst/>
              <a:latin typeface="DeepSeek-CJK-patch"/>
            </a:rPr>
            <a:t>Documentation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0" i="0" kern="1200">
              <a:solidFill>
                <a:srgbClr val="404040"/>
              </a:solidFill>
              <a:effectLst/>
              <a:latin typeface="DeepSeek-CJK-patch"/>
            </a:rPr>
            <a:t>Finalize circuit schematics, codebase, user manual.</a:t>
          </a:r>
          <a:endParaRPr lang="en-US" sz="1700" b="0" i="0" kern="1200" dirty="0">
            <a:solidFill>
              <a:srgbClr val="404040"/>
            </a:solidFill>
            <a:effectLst/>
            <a:latin typeface="DeepSeek-CJK-patch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0" i="0" kern="1200" dirty="0">
              <a:solidFill>
                <a:srgbClr val="404040"/>
              </a:solidFill>
              <a:effectLst/>
              <a:latin typeface="DeepSeek-CJK-patch"/>
            </a:rPr>
            <a:t>Prepare project report/presentation.</a:t>
          </a:r>
        </a:p>
      </dsp:txBody>
      <dsp:txXfrm rot="-5400000">
        <a:off x="1023202" y="4000677"/>
        <a:ext cx="10081017" cy="857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0B98-875F-725B-4BDD-D7F5FB108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B5E79-A344-D063-C313-65996D06F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07519-5617-5BA2-BFDC-309CAF2C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11FD4-5B08-1C58-174F-8F76C554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9CCB4-1BEF-58ED-1DC9-C2EE8565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E8D2-F76E-D35B-55BF-187968AE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B903-0373-28F6-053F-A02924F95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6C68-27B5-3CC5-4863-E7E771EE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74CB9-AE83-2822-D1F5-20BD0127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A2C67-5EA1-3082-E6DA-ECB12197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1414-AACE-1D89-AC8A-0BE1A288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14EC1-9F4A-C099-CA9D-6AC052627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D828A-0938-8724-07C9-02F91E9B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C9442-648A-025B-9F3B-0F4F2199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CB13D-11E4-0AD2-3921-C2991B7F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6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B613-33AB-1666-71D0-AC28386E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49638-4538-0E49-3E59-F8CB096E9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6210A-CDBC-A359-8EBA-65F2EC62C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1B19-8070-2E82-CF83-911025AF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2AA50-7299-2421-D347-FB697CEC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8CF7D-DA9E-160D-2249-67CF83CA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9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64B3-1CC9-854A-B338-3479BF92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4AAE-7A40-9B44-4383-4A202D86A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92A65-FA3D-9E59-9BA8-9F5CC3BE0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636E3-5F01-FBDD-2D03-AB21EF102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C6391-20A3-2A6E-816B-964000657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D1D28-C6A4-54C6-F28D-153C6591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CB6F7-2374-1D5A-D163-A83461C5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E7983-1059-F540-8DF0-3F9963F4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8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5618-B4C0-DE40-29A1-46B08E1C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D2AD1-8618-08C2-3041-41E35E22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61758-BF6F-8F9B-6459-A3297CB0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B0742-276B-85CF-720A-3F32EE61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76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8DADA-E766-76AF-F548-E720E16E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6BCD-0539-8A36-0D40-EB6FF77B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E0ECD-8C65-15B5-198E-545F9A03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D545-6342-1112-16D6-A64C484C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C1DCE-E53A-847E-990C-54D019B0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0A743-D555-2A1D-5FAF-77FBE45C8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A43E5-3CEA-1261-D5AD-A3FC3C56E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E14E8-865D-C17C-A03B-1C82C181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F3E6C-FFC4-B452-F911-4C9FC1F7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0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715A-6666-AA3E-A070-6AD4F2AC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11CED-7229-04C2-57BD-3453D8A1A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C7FD1-FAC9-A279-F1F2-5E666328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72478-897E-E648-8973-AA853290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16DA2-99E3-BEA7-F04A-61F6136D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EF967-E547-8BDE-5CE7-903C862C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2024-E50C-7997-9273-45313A52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98BC0-434E-B171-2502-536FAF49A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F0A6B-5B8F-421B-F5B9-5BDEC89A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34A8E-B7DB-0F57-A13D-FE514424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B6EA4-BC4D-D3EC-B26A-1FB23137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3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030033-1314-9892-ECEF-39EA666E6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1CDA5-5F99-9429-998E-3F445612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7B646-F7E3-C9A2-332F-988B3D32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7E3EE-ED10-C64A-4B19-0F155307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89016-D11D-D936-DA2E-863D4A03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0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4559F-58C5-16FE-CBCE-EC1F3F07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2D25A-52C9-CE45-DF01-D02F75A95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718A0-2FD7-37D8-F68A-86A93EB08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31873-2B03-489C-8358-BE215BA0DBA1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06AC2-AD6A-A088-6AE1-26CFAD900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96A8B-D7C7-A31C-0DDD-1ABA593FF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54631-D2A8-4C4E-8B91-AA218F10F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3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17.jpeg"/><Relationship Id="rId7" Type="http://schemas.openxmlformats.org/officeDocument/2006/relationships/image" Target="../media/image3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6357" y="711243"/>
            <a:ext cx="649344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Title – </a:t>
            </a:r>
            <a:br>
              <a:rPr lang="en-US" sz="2800" kern="1200" spc="3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of IOT Architecture for</a:t>
            </a:r>
            <a:b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Battery Charging Management Technology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82329" y="5152400"/>
            <a:ext cx="5003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8086225" y="32914"/>
            <a:ext cx="4105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Presentation on 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Prototype – Plan of Action </a:t>
            </a:r>
            <a:endParaRPr lang="en-US" sz="2000" b="1" dirty="0"/>
          </a:p>
        </p:txBody>
      </p:sp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55" y="3934215"/>
            <a:ext cx="3832911" cy="119615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F68C0E-BDE4-8591-032A-D863A5568E60}"/>
              </a:ext>
            </a:extLst>
          </p:cNvPr>
          <p:cNvCxnSpPr/>
          <p:nvPr/>
        </p:nvCxnSpPr>
        <p:spPr>
          <a:xfrm flipH="1">
            <a:off x="0" y="3783964"/>
            <a:ext cx="49265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4A9853-8C9C-9FB2-2020-54A6CCFE56E7}"/>
              </a:ext>
            </a:extLst>
          </p:cNvPr>
          <p:cNvSpPr txBox="1"/>
          <p:nvPr/>
        </p:nvSpPr>
        <p:spPr>
          <a:xfrm>
            <a:off x="440555" y="1398472"/>
            <a:ext cx="4287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</a:t>
            </a:r>
            <a:r>
              <a:rPr lang="en-US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– Jaswanth - Uttam</a:t>
            </a:r>
            <a:endParaRPr lang="en-US" sz="1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Kalluri</a:t>
            </a: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b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dirty="0"/>
          </a:p>
        </p:txBody>
      </p:sp>
      <p:pic>
        <p:nvPicPr>
          <p:cNvPr id="2050" name="Picture 2" descr="intuions.com">
            <a:extLst>
              <a:ext uri="{FF2B5EF4-FFF2-40B4-BE49-F238E27FC236}">
                <a16:creationId xmlns:a16="http://schemas.microsoft.com/office/drawing/2014/main" id="{0FCAFF62-4320-AD69-DB79-6DCD656F3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6" t="24409" r="25999"/>
          <a:stretch/>
        </p:blipFill>
        <p:spPr bwMode="auto">
          <a:xfrm>
            <a:off x="9537430" y="2698985"/>
            <a:ext cx="2326076" cy="1759004"/>
          </a:xfrm>
          <a:prstGeom prst="dec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Role Of IoT In Smart Grid Tech - Intuz">
            <a:extLst>
              <a:ext uri="{FF2B5EF4-FFF2-40B4-BE49-F238E27FC236}">
                <a16:creationId xmlns:a16="http://schemas.microsoft.com/office/drawing/2014/main" id="{CDF7FA1B-5A62-DE3D-001C-A0EDF44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31" y="4321403"/>
            <a:ext cx="3828249" cy="201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67383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10/2/2025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977" y="698090"/>
            <a:ext cx="3498609" cy="12546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245924-1534-2B33-F883-AB95C8907383}"/>
              </a:ext>
            </a:extLst>
          </p:cNvPr>
          <p:cNvSpPr txBox="1"/>
          <p:nvPr/>
        </p:nvSpPr>
        <p:spPr>
          <a:xfrm>
            <a:off x="218662" y="998428"/>
            <a:ext cx="6029738" cy="378206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Research Gap with IOT Tech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Charging Technology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Deliverables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of Action (4 Milestones)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Breakdown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B0982-45F5-D2CB-C74C-2C48BC3BA840}"/>
              </a:ext>
            </a:extLst>
          </p:cNvPr>
          <p:cNvSpPr txBox="1"/>
          <p:nvPr/>
        </p:nvSpPr>
        <p:spPr>
          <a:xfrm>
            <a:off x="6888480" y="3040113"/>
            <a:ext cx="4805680" cy="295106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PCC integration and Automation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Sensor monitoring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Energy source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source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unit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of Material’s </a:t>
            </a:r>
          </a:p>
        </p:txBody>
      </p:sp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1C23-4085-44A2-AF40-B4D5E2ED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0"/>
            <a:ext cx="10515600" cy="10572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</a:br>
            <a:r>
              <a:rPr lang="en-US" sz="2800" b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Current EV Charging Infrastructure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3C04-DD2C-E20B-625D-3A75699BA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240155"/>
            <a:ext cx="11521440" cy="5241926"/>
          </a:xfrm>
        </p:spPr>
        <p:txBody>
          <a:bodyPr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Grid Instability: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High-power EV charging causes voltage fluctuations, harmonics, and transformer overloads.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 Operational Costs:</a:t>
            </a:r>
          </a:p>
          <a:p>
            <a:pPr marL="742950" lvl="1" indent="-285750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 higher OPEX due to grid dependency and manual monitoring.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Renewable Integration Gaps:</a:t>
            </a:r>
          </a:p>
          <a:p>
            <a:pPr marL="742950" lvl="1" indent="-285750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standardized system to prioritize solar/ESS over grid power.</a:t>
            </a:r>
          </a:p>
          <a:p>
            <a:pPr marL="742950" lvl="1" indent="-285750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solar energy is wasted without storage (ESS).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Battery Management:</a:t>
            </a:r>
          </a:p>
          <a:p>
            <a:pPr marL="742950" lvl="1" indent="-285750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SOC/temperature monitoring reduces battery lifespan.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User Convenience:</a:t>
            </a:r>
          </a:p>
          <a:p>
            <a:pPr marL="742950" lvl="1" indent="-285750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charging times (4–6 hours for Level-II) and range anxiety deter EV adoption.</a:t>
            </a:r>
          </a:p>
        </p:txBody>
      </p:sp>
    </p:spTree>
    <p:extLst>
      <p:ext uri="{BB962C8B-B14F-4D97-AF65-F5344CB8AC3E}">
        <p14:creationId xmlns:p14="http://schemas.microsoft.com/office/powerpoint/2010/main" val="64885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5C4C-8A5F-1BE6-FDA1-84E25E02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7FDD5-97B2-1112-B5CC-B64F6E38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F3A4-3E3B-625E-0905-DCFE0830E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4</a:t>
            </a:fld>
            <a:endParaRPr lang="en-IN"/>
          </a:p>
        </p:txBody>
      </p:sp>
      <p:pic>
        <p:nvPicPr>
          <p:cNvPr id="1026" name="Picture 2" descr="A EV Charging Station  66KV with grid and Load with 30nos EV Swapping Station and 4 Fast charging Station with vehicles. Image 3 of 4">
            <a:extLst>
              <a:ext uri="{FF2B5EF4-FFF2-40B4-BE49-F238E27FC236}">
                <a16:creationId xmlns:a16="http://schemas.microsoft.com/office/drawing/2014/main" id="{C4190998-36CE-B16F-F702-8706976E1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450" y="612291"/>
            <a:ext cx="3046348" cy="209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generation plat Non renable energy. Image 3 of 4">
            <a:extLst>
              <a:ext uri="{FF2B5EF4-FFF2-40B4-BE49-F238E27FC236}">
                <a16:creationId xmlns:a16="http://schemas.microsoft.com/office/drawing/2014/main" id="{C71A6AFB-78A3-3F38-C36B-D5BBC095E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5" y="545387"/>
            <a:ext cx="2897620" cy="209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3A2F3B-93BF-24E1-3E80-0F24820A3971}"/>
              </a:ext>
            </a:extLst>
          </p:cNvPr>
          <p:cNvCxnSpPr>
            <a:cxnSpLocks/>
            <a:stCxn id="1028" idx="3"/>
          </p:cNvCxnSpPr>
          <p:nvPr/>
        </p:nvCxnSpPr>
        <p:spPr>
          <a:xfrm flipV="1">
            <a:off x="3954625" y="1577392"/>
            <a:ext cx="3048825" cy="155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8326FE-ECE3-FFAE-7DCF-9795936B7F83}"/>
              </a:ext>
            </a:extLst>
          </p:cNvPr>
          <p:cNvSpPr txBox="1"/>
          <p:nvPr/>
        </p:nvSpPr>
        <p:spPr>
          <a:xfrm>
            <a:off x="223934" y="2731414"/>
            <a:ext cx="11843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Lack of Pollution – need More Transportation – Need coal mines – More Generation cost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FF802-91D5-D240-CE18-D27913D3478A}"/>
              </a:ext>
            </a:extLst>
          </p:cNvPr>
          <p:cNvSpPr txBox="1"/>
          <p:nvPr/>
        </p:nvSpPr>
        <p:spPr>
          <a:xfrm>
            <a:off x="553566" y="3193081"/>
            <a:ext cx="11513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Why IOT needed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Real Time Data Monitoring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Pre estimation Power Demand</a:t>
            </a:r>
          </a:p>
          <a:p>
            <a:r>
              <a:rPr lang="en-US" sz="2400" dirty="0">
                <a:solidFill>
                  <a:srgbClr val="002060"/>
                </a:solidFill>
              </a:rPr>
              <a:t>To Reuse Harmonic's Imbalance</a:t>
            </a:r>
          </a:p>
          <a:p>
            <a:r>
              <a:rPr lang="en-US" sz="2400" dirty="0">
                <a:solidFill>
                  <a:srgbClr val="002060"/>
                </a:solidFill>
              </a:rPr>
              <a:t>Central Monitoring System</a:t>
            </a:r>
          </a:p>
          <a:p>
            <a:r>
              <a:rPr lang="en-US" sz="2400" dirty="0">
                <a:solidFill>
                  <a:srgbClr val="002060"/>
                </a:solidFill>
              </a:rPr>
              <a:t>End User Integration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8CEBE6-B980-448B-6F98-72EE278685C8}"/>
              </a:ext>
            </a:extLst>
          </p:cNvPr>
          <p:cNvSpPr txBox="1"/>
          <p:nvPr/>
        </p:nvSpPr>
        <p:spPr>
          <a:xfrm>
            <a:off x="5120248" y="4313050"/>
            <a:ext cx="7071752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EV are Rapidly Increasing in the world Automotive Market</a:t>
            </a:r>
          </a:p>
          <a:p>
            <a:r>
              <a:rPr lang="en-US" sz="2400" dirty="0">
                <a:solidFill>
                  <a:srgbClr val="002060"/>
                </a:solidFill>
              </a:rPr>
              <a:t>So, There is a Demand of Charging Infra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3C5A8-2068-3B71-FF1C-D3C455AB9C48}"/>
              </a:ext>
            </a:extLst>
          </p:cNvPr>
          <p:cNvSpPr txBox="1"/>
          <p:nvPr/>
        </p:nvSpPr>
        <p:spPr>
          <a:xfrm>
            <a:off x="223934" y="40970"/>
            <a:ext cx="9405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Problem Statement and Research Gap with IOT Tech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7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27" y="35393"/>
            <a:ext cx="10515600" cy="91633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Charging Technology</a:t>
            </a:r>
            <a:endParaRPr lang="en-IN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10/2/2025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F205177-D1E2-BD30-F1CF-624DACEEF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45857"/>
            <a:ext cx="1928015" cy="69139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10A82E-6924-1535-7B46-36437EFE4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42" y="5070429"/>
            <a:ext cx="3180530" cy="89020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effectLst/>
                <a:latin typeface="var(--font-fk-grotesk)"/>
              </a:rPr>
              <a:t>Vehicle-to-Grid (V2G) Technology</a:t>
            </a:r>
          </a:p>
        </p:txBody>
      </p:sp>
      <p:pic>
        <p:nvPicPr>
          <p:cNvPr id="1026" name="Picture 2" descr="5 Differences Between AC and DC Charging">
            <a:extLst>
              <a:ext uri="{FF2B5EF4-FFF2-40B4-BE49-F238E27FC236}">
                <a16:creationId xmlns:a16="http://schemas.microsoft.com/office/drawing/2014/main" id="{9C7E5A01-7B5C-D84F-A569-F150FD192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7255"/>
            <a:ext cx="2776538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ttery standardisation on the horizon ...">
            <a:extLst>
              <a:ext uri="{FF2B5EF4-FFF2-40B4-BE49-F238E27FC236}">
                <a16:creationId xmlns:a16="http://schemas.microsoft.com/office/drawing/2014/main" id="{12898CCF-5046-04A2-A588-B4334E7C4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744" y="856815"/>
            <a:ext cx="26384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reless Electric Vehicle Charging ...">
            <a:extLst>
              <a:ext uri="{FF2B5EF4-FFF2-40B4-BE49-F238E27FC236}">
                <a16:creationId xmlns:a16="http://schemas.microsoft.com/office/drawing/2014/main" id="{6A502FB7-7735-C327-FB41-E55F6347F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48"/>
          <a:stretch/>
        </p:blipFill>
        <p:spPr bwMode="auto">
          <a:xfrm>
            <a:off x="7778853" y="768941"/>
            <a:ext cx="26098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C Fast Chargers For (EV) Electric ...">
            <a:extLst>
              <a:ext uri="{FF2B5EF4-FFF2-40B4-BE49-F238E27FC236}">
                <a16:creationId xmlns:a16="http://schemas.microsoft.com/office/drawing/2014/main" id="{80EB0B01-E99E-AED7-EF84-14B346481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3655453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p 5 V2G Startups: Will You Join the ...">
            <a:extLst>
              <a:ext uri="{FF2B5EF4-FFF2-40B4-BE49-F238E27FC236}">
                <a16:creationId xmlns:a16="http://schemas.microsoft.com/office/drawing/2014/main" id="{7B8EB809-7FE0-2818-B8AA-5ABA7F4FC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077" y="3584529"/>
            <a:ext cx="306705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lectric car charging from a power ...">
            <a:extLst>
              <a:ext uri="{FF2B5EF4-FFF2-40B4-BE49-F238E27FC236}">
                <a16:creationId xmlns:a16="http://schemas.microsoft.com/office/drawing/2014/main" id="{6E5BEE42-0F41-FB7F-7E65-E05842A45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72"/>
          <a:stretch/>
        </p:blipFill>
        <p:spPr bwMode="auto">
          <a:xfrm>
            <a:off x="8502557" y="3584529"/>
            <a:ext cx="2419350" cy="166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7B57311-EA03-B25E-2F75-1146CD9E182D}"/>
              </a:ext>
            </a:extLst>
          </p:cNvPr>
          <p:cNvSpPr txBox="1">
            <a:spLocks/>
          </p:cNvSpPr>
          <p:nvPr/>
        </p:nvSpPr>
        <p:spPr>
          <a:xfrm>
            <a:off x="301824" y="5274535"/>
            <a:ext cx="3520675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Fast Charging Technologies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3B9EDC-0024-91F5-7220-ADF248AEA66E}"/>
              </a:ext>
            </a:extLst>
          </p:cNvPr>
          <p:cNvSpPr txBox="1">
            <a:spLocks/>
          </p:cNvSpPr>
          <p:nvPr/>
        </p:nvSpPr>
        <p:spPr>
          <a:xfrm>
            <a:off x="8052750" y="2544624"/>
            <a:ext cx="2839027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Wireless Charging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B72FE38-1AA6-10DD-2703-F32ACDEE7550}"/>
              </a:ext>
            </a:extLst>
          </p:cNvPr>
          <p:cNvSpPr txBox="1">
            <a:spLocks/>
          </p:cNvSpPr>
          <p:nvPr/>
        </p:nvSpPr>
        <p:spPr>
          <a:xfrm>
            <a:off x="4426744" y="2631774"/>
            <a:ext cx="2743200" cy="49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Battery Swapping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9A53AE1-F2AF-47EF-5331-A4210E58FAAF}"/>
              </a:ext>
            </a:extLst>
          </p:cNvPr>
          <p:cNvSpPr txBox="1">
            <a:spLocks/>
          </p:cNvSpPr>
          <p:nvPr/>
        </p:nvSpPr>
        <p:spPr>
          <a:xfrm>
            <a:off x="863473" y="2597425"/>
            <a:ext cx="1977230" cy="10635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AC Charging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DC Charging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AE7E9BE-B158-9D06-E9CD-39DC2A210A21}"/>
              </a:ext>
            </a:extLst>
          </p:cNvPr>
          <p:cNvSpPr txBox="1">
            <a:spLocks/>
          </p:cNvSpPr>
          <p:nvPr/>
        </p:nvSpPr>
        <p:spPr>
          <a:xfrm>
            <a:off x="8610600" y="5208028"/>
            <a:ext cx="2666918" cy="52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var(--font-fk-grotesk)"/>
              </a:rPr>
              <a:t>Mobile charging</a:t>
            </a:r>
          </a:p>
        </p:txBody>
      </p:sp>
    </p:spTree>
    <p:extLst>
      <p:ext uri="{BB962C8B-B14F-4D97-AF65-F5344CB8AC3E}">
        <p14:creationId xmlns:p14="http://schemas.microsoft.com/office/powerpoint/2010/main" val="340976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15F2-0EE6-AA8D-4AAD-24BB0192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DF7A-7BF7-06C6-C798-BBFCC684A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4904"/>
            <a:ext cx="10515600" cy="4727575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US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 </a:t>
            </a: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5-layer IoT architecture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solar, ESS, and grid power at PCC.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 </a:t>
            </a: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(SOC, temperature, energy flow) via cloud dashboards.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 </a:t>
            </a: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swapping (30 units)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charging (4 units)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predictive analytics.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None/>
            </a:pP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US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prototype with solar (110W), ESS (12V 15Ah), and grid integration.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PCC with threshold-based energy switching (80% ESS → grid feedback).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Node-RED/AWS cloud dashboard for remote monitoring.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documentation (circuit diagrams, code repository, user manual).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2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02B0-951D-2C59-D938-65183017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4DA6-DAFF-C94E-6A3A-1228DF16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9195-573E-A96B-1625-5A1449234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4904"/>
            <a:ext cx="10515600" cy="5367656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70000"/>
              </a:lnSpc>
              <a:buNone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US" sz="1800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110W polycrystalline panel (23.02V).</a:t>
            </a:r>
          </a:p>
          <a:p>
            <a:pPr algn="l">
              <a:lnSpc>
                <a:spcPct val="17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2x 12V 15Ah lead-acid batteries.</a:t>
            </a:r>
          </a:p>
          <a:p>
            <a:pPr algn="l">
              <a:lnSpc>
                <a:spcPct val="17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8x ESP32 (</a:t>
            </a:r>
            <a:r>
              <a:rPr lang="en-US" sz="1800" b="0" i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/Bluetooth).</a:t>
            </a:r>
          </a:p>
          <a:p>
            <a:pPr algn="l">
              <a:lnSpc>
                <a:spcPct val="17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Voltage/current (ACS712), temperature (DHT11), LDR.</a:t>
            </a:r>
          </a:p>
          <a:p>
            <a:pPr algn="l">
              <a:lnSpc>
                <a:spcPct val="170000"/>
              </a:lnSpc>
              <a:buNone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US" sz="1800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Node-RED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Real-time GUI.</a:t>
            </a:r>
          </a:p>
          <a:p>
            <a:pPr algn="l">
              <a:lnSpc>
                <a:spcPct val="17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IoT Core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Cloud data storage/analytics.</a:t>
            </a:r>
          </a:p>
          <a:p>
            <a:pPr algn="l">
              <a:lnSpc>
                <a:spcPct val="170000"/>
              </a:lnSpc>
              <a:buNone/>
            </a:pPr>
            <a:r>
              <a:rPr lang="en-US" sz="18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Standards:</a:t>
            </a:r>
            <a:endParaRPr lang="en-US" sz="1800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1547 (grid integration), IEC 62196 (EV charging).</a:t>
            </a:r>
          </a:p>
          <a:p>
            <a:pPr>
              <a:lnSpc>
                <a:spcPct val="170000"/>
              </a:lnSpc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89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7F92-068B-A196-A197-AC44AFDB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CDFD-B88C-69C5-DB90-F3B93FFC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0A3E-DA8E-2FC5-C0BC-7A563A056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4904"/>
            <a:ext cx="10723880" cy="47275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Layer: Collects data (voltage, SOC, temperature).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Layer: ESP32 processes data.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MQTT to AWS cloud.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Layer: Stores/predicts energy demand.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Layer: Node-RED dashboard for operators.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Flow: Solar → ESS → Grid → Loads (swapping + fast charging).</a:t>
            </a:r>
          </a:p>
        </p:txBody>
      </p:sp>
    </p:spTree>
    <p:extLst>
      <p:ext uri="{BB962C8B-B14F-4D97-AF65-F5344CB8AC3E}">
        <p14:creationId xmlns:p14="http://schemas.microsoft.com/office/powerpoint/2010/main" val="247567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FEE4-D6DD-8BED-7575-C3AE11AF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935F-23C5-2AF2-0A1C-3B6CFF64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of Action (4 Milestones)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9C8910A-411B-E069-2927-5E8CD3F98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98035"/>
              </p:ext>
            </p:extLst>
          </p:nvPr>
        </p:nvGraphicFramePr>
        <p:xfrm>
          <a:off x="360680" y="1104052"/>
          <a:ext cx="111506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117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464C-64B4-3650-F3BF-06E043DA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53A1-74D3-20B3-E2F2-DFA5167E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9515F-0947-1275-FA3C-30790F0CB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4904"/>
            <a:ext cx="10515600" cy="47275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(₹27K):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+ ESS: ₹8,464 (BOM rows 5–7).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Microcontrollers/sensors: ₹8,000 (rows 16–18, 20).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Swapping/charging units: ₹8,536 (rows 3, 8–15).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IoT Core (free tier + minimal costs).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Node-RED (open-source).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(₹3K): PCB, wiring, tools.</a:t>
            </a:r>
          </a:p>
        </p:txBody>
      </p:sp>
    </p:spTree>
    <p:extLst>
      <p:ext uri="{BB962C8B-B14F-4D97-AF65-F5344CB8AC3E}">
        <p14:creationId xmlns:p14="http://schemas.microsoft.com/office/powerpoint/2010/main" val="3914826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0D5A-0899-2C6A-E146-79066CE8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C6948C-5D47-A73B-2CD9-30FE16D1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1271"/>
            <a:ext cx="12192000" cy="4855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D4BBEF-2B47-1841-34E5-489ABEF21554}"/>
              </a:ext>
            </a:extLst>
          </p:cNvPr>
          <p:cNvSpPr txBox="1"/>
          <p:nvPr/>
        </p:nvSpPr>
        <p:spPr>
          <a:xfrm>
            <a:off x="523664" y="128853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Solar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5967B-8D0A-EB09-EC35-6A6392DAADFB}"/>
              </a:ext>
            </a:extLst>
          </p:cNvPr>
          <p:cNvSpPr txBox="1"/>
          <p:nvPr/>
        </p:nvSpPr>
        <p:spPr>
          <a:xfrm>
            <a:off x="7081935" y="4980352"/>
            <a:ext cx="123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Fast Charging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ACF1F-EB50-9D44-4CC0-2A831BB3082A}"/>
              </a:ext>
            </a:extLst>
          </p:cNvPr>
          <p:cNvSpPr txBox="1"/>
          <p:nvPr/>
        </p:nvSpPr>
        <p:spPr>
          <a:xfrm>
            <a:off x="4626023" y="498035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ESS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75894-4F26-E6CF-7BB1-95BD245EEC64}"/>
              </a:ext>
            </a:extLst>
          </p:cNvPr>
          <p:cNvSpPr txBox="1"/>
          <p:nvPr/>
        </p:nvSpPr>
        <p:spPr>
          <a:xfrm>
            <a:off x="4694448" y="180842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PCC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0B0DE-6BF7-EF95-8EDC-F611C78B66FE}"/>
              </a:ext>
            </a:extLst>
          </p:cNvPr>
          <p:cNvSpPr txBox="1"/>
          <p:nvPr/>
        </p:nvSpPr>
        <p:spPr>
          <a:xfrm>
            <a:off x="2262708" y="1368906"/>
            <a:ext cx="13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Converter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B749F-8EEE-B3EE-D440-DB5F8B7F9FDB}"/>
              </a:ext>
            </a:extLst>
          </p:cNvPr>
          <p:cNvSpPr txBox="1"/>
          <p:nvPr/>
        </p:nvSpPr>
        <p:spPr>
          <a:xfrm>
            <a:off x="-17512" y="58365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Central Monitoring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F27FA2-95D4-B9B6-C671-08CB65892A40}"/>
              </a:ext>
            </a:extLst>
          </p:cNvPr>
          <p:cNvSpPr txBox="1"/>
          <p:nvPr/>
        </p:nvSpPr>
        <p:spPr>
          <a:xfrm>
            <a:off x="565652" y="2947407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G</a:t>
            </a:r>
            <a:r>
              <a:rPr lang="en-US" b="1" dirty="0">
                <a:highlight>
                  <a:srgbClr val="FFFF00"/>
                </a:highlight>
              </a:rPr>
              <a:t>rid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863D0-EE67-F647-12DF-F401AB32B06E}"/>
              </a:ext>
            </a:extLst>
          </p:cNvPr>
          <p:cNvSpPr txBox="1"/>
          <p:nvPr/>
        </p:nvSpPr>
        <p:spPr>
          <a:xfrm>
            <a:off x="7457864" y="790034"/>
            <a:ext cx="206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Swapping Station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6FF5DD-24BA-9957-7805-DD8FDE4801C0}"/>
              </a:ext>
            </a:extLst>
          </p:cNvPr>
          <p:cNvSpPr txBox="1"/>
          <p:nvPr/>
        </p:nvSpPr>
        <p:spPr>
          <a:xfrm>
            <a:off x="10931867" y="1808422"/>
            <a:ext cx="1344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Charging </a:t>
            </a:r>
          </a:p>
          <a:p>
            <a:pPr algn="ctr"/>
            <a:r>
              <a:rPr lang="en-IN" b="1" dirty="0">
                <a:highlight>
                  <a:srgbClr val="FFFF00"/>
                </a:highlight>
              </a:rPr>
              <a:t>Monitoring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1A49F-03ED-2D90-A470-B44ADF77B084}"/>
              </a:ext>
            </a:extLst>
          </p:cNvPr>
          <p:cNvSpPr txBox="1"/>
          <p:nvPr/>
        </p:nvSpPr>
        <p:spPr>
          <a:xfrm>
            <a:off x="9982200" y="2066091"/>
            <a:ext cx="115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Vehicles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60A34-C1EF-40B3-8B81-4BE01595BE5D}"/>
              </a:ext>
            </a:extLst>
          </p:cNvPr>
          <p:cNvSpPr txBox="1"/>
          <p:nvPr/>
        </p:nvSpPr>
        <p:spPr>
          <a:xfrm>
            <a:off x="5804790" y="1808422"/>
            <a:ext cx="134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Divider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52182-9AB7-0F67-FC74-B081C21205A4}"/>
              </a:ext>
            </a:extLst>
          </p:cNvPr>
          <p:cNvSpPr txBox="1"/>
          <p:nvPr/>
        </p:nvSpPr>
        <p:spPr>
          <a:xfrm>
            <a:off x="8538131" y="26390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Converter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8208C-3F80-8BB0-71E0-64E47B0EB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72085"/>
            <a:ext cx="10515600" cy="762635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2391814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B3B6605-08B1-4BF6-0EA2-370F37A2B254}"/>
              </a:ext>
            </a:extLst>
          </p:cNvPr>
          <p:cNvSpPr/>
          <p:nvPr/>
        </p:nvSpPr>
        <p:spPr>
          <a:xfrm>
            <a:off x="7003089" y="3427321"/>
            <a:ext cx="5042732" cy="27610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D01C3C-2A6E-16FF-4A17-ADD36FA005B2}"/>
              </a:ext>
            </a:extLst>
          </p:cNvPr>
          <p:cNvSpPr/>
          <p:nvPr/>
        </p:nvSpPr>
        <p:spPr>
          <a:xfrm>
            <a:off x="5964748" y="578102"/>
            <a:ext cx="3721013" cy="2485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98CA29-B55B-CAB7-9F72-C47A0075DA02}"/>
              </a:ext>
            </a:extLst>
          </p:cNvPr>
          <p:cNvSpPr/>
          <p:nvPr/>
        </p:nvSpPr>
        <p:spPr>
          <a:xfrm>
            <a:off x="1622375" y="1170194"/>
            <a:ext cx="4021494" cy="26467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D5FC6-C20D-4B6A-264A-4E1B979E45CB}"/>
              </a:ext>
            </a:extLst>
          </p:cNvPr>
          <p:cNvSpPr txBox="1"/>
          <p:nvPr/>
        </p:nvSpPr>
        <p:spPr>
          <a:xfrm>
            <a:off x="3518417" y="563726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0D569CE4-41B4-F4E0-92B3-145CD537463B}"/>
              </a:ext>
            </a:extLst>
          </p:cNvPr>
          <p:cNvSpPr/>
          <p:nvPr/>
        </p:nvSpPr>
        <p:spPr>
          <a:xfrm>
            <a:off x="6080630" y="967748"/>
            <a:ext cx="1618055" cy="133756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5FD8D2-120B-3B1C-4F40-91032B7BD59A}"/>
              </a:ext>
            </a:extLst>
          </p:cNvPr>
          <p:cNvSpPr txBox="1"/>
          <p:nvPr/>
        </p:nvSpPr>
        <p:spPr>
          <a:xfrm>
            <a:off x="3464765" y="1271403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</a:p>
          <a:p>
            <a:pPr algn="ctr"/>
            <a:r>
              <a:rPr lang="en-US" dirty="0"/>
              <a:t>Solar Available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7D3F9-DF5A-1AD4-60DB-70056588689F}"/>
              </a:ext>
            </a:extLst>
          </p:cNvPr>
          <p:cNvSpPr txBox="1"/>
          <p:nvPr/>
        </p:nvSpPr>
        <p:spPr>
          <a:xfrm>
            <a:off x="2506235" y="2471732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1D96C7-B463-A698-78E6-B4C722163B74}"/>
              </a:ext>
            </a:extLst>
          </p:cNvPr>
          <p:cNvSpPr txBox="1"/>
          <p:nvPr/>
        </p:nvSpPr>
        <p:spPr>
          <a:xfrm>
            <a:off x="1763075" y="1447193"/>
            <a:ext cx="983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Off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3E65D7-3D9F-6B8F-1259-3D6432A26115}"/>
              </a:ext>
            </a:extLst>
          </p:cNvPr>
          <p:cNvSpPr txBox="1"/>
          <p:nvPr/>
        </p:nvSpPr>
        <p:spPr>
          <a:xfrm>
            <a:off x="3745968" y="2442241"/>
            <a:ext cx="16768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Charging &gt; 80%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CE7C2851-C7AD-9B34-0BC6-1734F08618CF}"/>
              </a:ext>
            </a:extLst>
          </p:cNvPr>
          <p:cNvSpPr/>
          <p:nvPr/>
        </p:nvSpPr>
        <p:spPr>
          <a:xfrm>
            <a:off x="3012233" y="1271403"/>
            <a:ext cx="1884784" cy="923330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9455AE-B7CA-0B7B-8A9C-F84BA879CF39}"/>
              </a:ext>
            </a:extLst>
          </p:cNvPr>
          <p:cNvSpPr txBox="1"/>
          <p:nvPr/>
        </p:nvSpPr>
        <p:spPr>
          <a:xfrm>
            <a:off x="6332151" y="1167599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</a:p>
          <a:p>
            <a:pPr algn="ctr"/>
            <a:r>
              <a:rPr lang="en-US" dirty="0"/>
              <a:t>Solar Not Available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51519-17FC-6E5A-5FE9-487BAA6E625B}"/>
              </a:ext>
            </a:extLst>
          </p:cNvPr>
          <p:cNvSpPr txBox="1"/>
          <p:nvPr/>
        </p:nvSpPr>
        <p:spPr>
          <a:xfrm>
            <a:off x="7639978" y="760401"/>
            <a:ext cx="983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Off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2ACA3C-B9B0-C47F-3F7E-58F452B9D476}"/>
              </a:ext>
            </a:extLst>
          </p:cNvPr>
          <p:cNvSpPr txBox="1"/>
          <p:nvPr/>
        </p:nvSpPr>
        <p:spPr>
          <a:xfrm>
            <a:off x="7981370" y="1479862"/>
            <a:ext cx="14378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DAE97-0183-4863-454E-168D8CCA69BB}"/>
              </a:ext>
            </a:extLst>
          </p:cNvPr>
          <p:cNvSpPr txBox="1"/>
          <p:nvPr/>
        </p:nvSpPr>
        <p:spPr>
          <a:xfrm>
            <a:off x="6452282" y="2578502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20D3F-C24D-FEBB-AFDE-3EFA2F6F1A6D}"/>
              </a:ext>
            </a:extLst>
          </p:cNvPr>
          <p:cNvSpPr txBox="1"/>
          <p:nvPr/>
        </p:nvSpPr>
        <p:spPr>
          <a:xfrm>
            <a:off x="3745968" y="3401468"/>
            <a:ext cx="156954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to Grid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511963-1A47-CF54-09C9-482193033C17}"/>
              </a:ext>
            </a:extLst>
          </p:cNvPr>
          <p:cNvSpPr txBox="1"/>
          <p:nvPr/>
        </p:nvSpPr>
        <p:spPr>
          <a:xfrm>
            <a:off x="8467097" y="2207796"/>
            <a:ext cx="10337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  <a:p>
            <a:pPr algn="ctr"/>
            <a:r>
              <a:rPr lang="en-US" dirty="0"/>
              <a:t>&lt; 20%</a:t>
            </a:r>
          </a:p>
        </p:txBody>
      </p: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4F82128A-3278-2428-1655-B7016910D751}"/>
              </a:ext>
            </a:extLst>
          </p:cNvPr>
          <p:cNvSpPr/>
          <p:nvPr/>
        </p:nvSpPr>
        <p:spPr>
          <a:xfrm>
            <a:off x="8526625" y="3519177"/>
            <a:ext cx="1618055" cy="133756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046C19-7B73-5E1B-2FA5-FE164259591F}"/>
              </a:ext>
            </a:extLst>
          </p:cNvPr>
          <p:cNvSpPr txBox="1"/>
          <p:nvPr/>
        </p:nvSpPr>
        <p:spPr>
          <a:xfrm>
            <a:off x="8778146" y="3719028"/>
            <a:ext cx="111501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</a:t>
            </a:r>
          </a:p>
          <a:p>
            <a:pPr algn="ctr"/>
            <a:r>
              <a:rPr lang="en-US" dirty="0"/>
              <a:t>Power </a:t>
            </a:r>
          </a:p>
          <a:p>
            <a:pPr algn="ctr"/>
            <a:r>
              <a:rPr lang="en-US" dirty="0"/>
              <a:t>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54133A-D3AE-032C-CF55-D777BC7E36F3}"/>
              </a:ext>
            </a:extLst>
          </p:cNvPr>
          <p:cNvSpPr txBox="1"/>
          <p:nvPr/>
        </p:nvSpPr>
        <p:spPr>
          <a:xfrm>
            <a:off x="7181820" y="4016963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 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A12FB-AA1A-D19E-0B1C-817D52C79F74}"/>
              </a:ext>
            </a:extLst>
          </p:cNvPr>
          <p:cNvSpPr txBox="1"/>
          <p:nvPr/>
        </p:nvSpPr>
        <p:spPr>
          <a:xfrm>
            <a:off x="10355425" y="3996027"/>
            <a:ext cx="1033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Load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7E9FDD-6D23-6B48-5124-905D1D82485C}"/>
              </a:ext>
            </a:extLst>
          </p:cNvPr>
          <p:cNvSpPr txBox="1"/>
          <p:nvPr/>
        </p:nvSpPr>
        <p:spPr>
          <a:xfrm>
            <a:off x="10230481" y="4862488"/>
            <a:ext cx="15628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 Charging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C60850-F581-E3FF-F1E3-58CEF2BFABED}"/>
              </a:ext>
            </a:extLst>
          </p:cNvPr>
          <p:cNvSpPr txBox="1"/>
          <p:nvPr/>
        </p:nvSpPr>
        <p:spPr>
          <a:xfrm>
            <a:off x="8628085" y="5386944"/>
            <a:ext cx="14378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Upto</a:t>
            </a:r>
            <a:r>
              <a:rPr lang="en-US" dirty="0"/>
              <a:t> Solar Available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E7F585-B322-A05F-EAD1-ABA1B4796823}"/>
              </a:ext>
            </a:extLst>
          </p:cNvPr>
          <p:cNvSpPr txBox="1"/>
          <p:nvPr/>
        </p:nvSpPr>
        <p:spPr>
          <a:xfrm>
            <a:off x="8440825" y="6320717"/>
            <a:ext cx="21672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Cycle Continuous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678F42-4738-CA1E-9D55-969EC779AE9D}"/>
              </a:ext>
            </a:extLst>
          </p:cNvPr>
          <p:cNvCxnSpPr/>
          <p:nvPr/>
        </p:nvCxnSpPr>
        <p:spPr>
          <a:xfrm flipH="1">
            <a:off x="9428561" y="6035999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E4F17C-AAE3-A766-11A3-870D81FC3005}"/>
              </a:ext>
            </a:extLst>
          </p:cNvPr>
          <p:cNvCxnSpPr/>
          <p:nvPr/>
        </p:nvCxnSpPr>
        <p:spPr>
          <a:xfrm flipH="1">
            <a:off x="8982762" y="1882717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386E4A-60F4-4C30-462A-59D151E8AA2D}"/>
              </a:ext>
            </a:extLst>
          </p:cNvPr>
          <p:cNvCxnSpPr/>
          <p:nvPr/>
        </p:nvCxnSpPr>
        <p:spPr>
          <a:xfrm flipH="1">
            <a:off x="6889657" y="2280666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DF9F08-1AA7-8F45-43A5-95A880BDE345}"/>
              </a:ext>
            </a:extLst>
          </p:cNvPr>
          <p:cNvCxnSpPr/>
          <p:nvPr/>
        </p:nvCxnSpPr>
        <p:spPr>
          <a:xfrm flipH="1">
            <a:off x="4607764" y="3103661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C96C53-7A6F-E96F-871E-32EF9C1F020A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4537054" y="2194731"/>
            <a:ext cx="0" cy="2024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F01D5D-2AD7-849E-9758-86C0A9ED81EC}"/>
              </a:ext>
            </a:extLst>
          </p:cNvPr>
          <p:cNvCxnSpPr>
            <a:cxnSpLocks/>
          </p:cNvCxnSpPr>
          <p:nvPr/>
        </p:nvCxnSpPr>
        <p:spPr>
          <a:xfrm flipH="1">
            <a:off x="10094855" y="5614084"/>
            <a:ext cx="8810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09C5FF-6555-2313-77A3-2D60D6493E8C}"/>
              </a:ext>
            </a:extLst>
          </p:cNvPr>
          <p:cNvCxnSpPr/>
          <p:nvPr/>
        </p:nvCxnSpPr>
        <p:spPr>
          <a:xfrm flipH="1">
            <a:off x="3946835" y="966603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EFA05F9-910F-EC03-35A1-F37FE6799CBB}"/>
              </a:ext>
            </a:extLst>
          </p:cNvPr>
          <p:cNvCxnSpPr>
            <a:cxnSpLocks/>
          </p:cNvCxnSpPr>
          <p:nvPr/>
        </p:nvCxnSpPr>
        <p:spPr>
          <a:xfrm flipH="1">
            <a:off x="8215550" y="4201629"/>
            <a:ext cx="3110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96AC491-C832-A3BA-8337-A6F488F23A4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0144680" y="4180693"/>
            <a:ext cx="2107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0F167A-026E-CB6C-B66F-32375BE8DEB5}"/>
              </a:ext>
            </a:extLst>
          </p:cNvPr>
          <p:cNvCxnSpPr>
            <a:cxnSpLocks/>
          </p:cNvCxnSpPr>
          <p:nvPr/>
        </p:nvCxnSpPr>
        <p:spPr>
          <a:xfrm flipH="1">
            <a:off x="2751663" y="1636529"/>
            <a:ext cx="2605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D28727-A2B5-074E-E6C2-DDEB18C22CC6}"/>
              </a:ext>
            </a:extLst>
          </p:cNvPr>
          <p:cNvCxnSpPr>
            <a:cxnSpLocks/>
          </p:cNvCxnSpPr>
          <p:nvPr/>
        </p:nvCxnSpPr>
        <p:spPr>
          <a:xfrm>
            <a:off x="3451590" y="2207796"/>
            <a:ext cx="0" cy="263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AD31E74-4A08-E4CC-5754-2C1AC2D09196}"/>
              </a:ext>
            </a:extLst>
          </p:cNvPr>
          <p:cNvCxnSpPr>
            <a:cxnSpLocks/>
          </p:cNvCxnSpPr>
          <p:nvPr/>
        </p:nvCxnSpPr>
        <p:spPr>
          <a:xfrm>
            <a:off x="7698685" y="1629264"/>
            <a:ext cx="2826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3BB0ECB-AC14-719A-1A12-496EBCA1D0E8}"/>
              </a:ext>
            </a:extLst>
          </p:cNvPr>
          <p:cNvCxnSpPr>
            <a:cxnSpLocks/>
          </p:cNvCxnSpPr>
          <p:nvPr/>
        </p:nvCxnSpPr>
        <p:spPr>
          <a:xfrm flipV="1">
            <a:off x="6889657" y="929506"/>
            <a:ext cx="756883" cy="37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780D65F-0DB8-D3A9-13E3-0DB2C4357D80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4897017" y="1636529"/>
            <a:ext cx="1183613" cy="37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4947464-D1A1-DE01-19AF-0F1C42EDA215}"/>
              </a:ext>
            </a:extLst>
          </p:cNvPr>
          <p:cNvCxnSpPr>
            <a:cxnSpLocks/>
          </p:cNvCxnSpPr>
          <p:nvPr/>
        </p:nvCxnSpPr>
        <p:spPr>
          <a:xfrm>
            <a:off x="10975908" y="4418043"/>
            <a:ext cx="0" cy="4386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01EBF2-79CD-0C45-1C33-1820CC393A35}"/>
              </a:ext>
            </a:extLst>
          </p:cNvPr>
          <p:cNvCxnSpPr>
            <a:cxnSpLocks/>
          </p:cNvCxnSpPr>
          <p:nvPr/>
        </p:nvCxnSpPr>
        <p:spPr>
          <a:xfrm>
            <a:off x="9332535" y="2874406"/>
            <a:ext cx="0" cy="692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21498BC-7F4B-29C6-248E-FF100F2C3E91}"/>
              </a:ext>
            </a:extLst>
          </p:cNvPr>
          <p:cNvCxnSpPr/>
          <p:nvPr/>
        </p:nvCxnSpPr>
        <p:spPr>
          <a:xfrm flipV="1">
            <a:off x="10975908" y="5231820"/>
            <a:ext cx="0" cy="3822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A3E8252F-58BE-84C0-2457-F94B80153BE2}"/>
              </a:ext>
            </a:extLst>
          </p:cNvPr>
          <p:cNvCxnSpPr>
            <a:cxnSpLocks/>
            <a:stCxn id="34" idx="1"/>
            <a:endCxn id="35" idx="1"/>
          </p:cNvCxnSpPr>
          <p:nvPr/>
        </p:nvCxnSpPr>
        <p:spPr>
          <a:xfrm rot="10800000">
            <a:off x="3518417" y="748393"/>
            <a:ext cx="4922408" cy="5756991"/>
          </a:xfrm>
          <a:prstGeom prst="curvedConnector3">
            <a:avLst>
              <a:gd name="adj1" fmla="val 15753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itle 1">
            <a:extLst>
              <a:ext uri="{FF2B5EF4-FFF2-40B4-BE49-F238E27FC236}">
                <a16:creationId xmlns:a16="http://schemas.microsoft.com/office/drawing/2014/main" id="{D5DED5DA-39B3-B09B-CDA5-1C655E35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85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PCC integration and Automation</a:t>
            </a:r>
          </a:p>
        </p:txBody>
      </p:sp>
    </p:spTree>
    <p:extLst>
      <p:ext uri="{BB962C8B-B14F-4D97-AF65-F5344CB8AC3E}">
        <p14:creationId xmlns:p14="http://schemas.microsoft.com/office/powerpoint/2010/main" val="3052293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7D7247-F14B-84C6-FA87-638DA5F0149B}"/>
              </a:ext>
            </a:extLst>
          </p:cNvPr>
          <p:cNvSpPr txBox="1"/>
          <p:nvPr/>
        </p:nvSpPr>
        <p:spPr>
          <a:xfrm>
            <a:off x="6113178" y="431902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C34A8-06AB-DBAF-F8C5-8EADB82D4D01}"/>
              </a:ext>
            </a:extLst>
          </p:cNvPr>
          <p:cNvSpPr txBox="1"/>
          <p:nvPr/>
        </p:nvSpPr>
        <p:spPr>
          <a:xfrm>
            <a:off x="6089073" y="1867287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C9727-3223-55FD-E7C9-048ED812FCCF}"/>
              </a:ext>
            </a:extLst>
          </p:cNvPr>
          <p:cNvSpPr txBox="1"/>
          <p:nvPr/>
        </p:nvSpPr>
        <p:spPr>
          <a:xfrm>
            <a:off x="3989688" y="1867287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674C2-29F1-252D-02BF-2EF4B6DC197B}"/>
              </a:ext>
            </a:extLst>
          </p:cNvPr>
          <p:cNvSpPr txBox="1"/>
          <p:nvPr/>
        </p:nvSpPr>
        <p:spPr>
          <a:xfrm>
            <a:off x="3989688" y="1138300"/>
            <a:ext cx="50307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for the power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0880A-05B1-2B00-58E8-F686A052CDF9}"/>
              </a:ext>
            </a:extLst>
          </p:cNvPr>
          <p:cNvSpPr txBox="1"/>
          <p:nvPr/>
        </p:nvSpPr>
        <p:spPr>
          <a:xfrm>
            <a:off x="7684939" y="4730009"/>
            <a:ext cx="192210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 Fast Charging Station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D1356-B028-712B-CC4E-599CE393F68B}"/>
              </a:ext>
            </a:extLst>
          </p:cNvPr>
          <p:cNvSpPr txBox="1"/>
          <p:nvPr/>
        </p:nvSpPr>
        <p:spPr>
          <a:xfrm>
            <a:off x="3161908" y="4776613"/>
            <a:ext cx="201774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Battery Swapping Station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46C4F2-1F08-80A0-E450-5671FBC31145}"/>
              </a:ext>
            </a:extLst>
          </p:cNvPr>
          <p:cNvSpPr txBox="1"/>
          <p:nvPr/>
        </p:nvSpPr>
        <p:spPr>
          <a:xfrm>
            <a:off x="2911927" y="2631667"/>
            <a:ext cx="70678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PCC – Point of Common Coupling</a:t>
            </a:r>
          </a:p>
          <a:p>
            <a:pPr marL="342900" indent="-342900">
              <a:buAutoNum type="arabicPeriod"/>
            </a:pPr>
            <a:r>
              <a:rPr lang="en-US" sz="1800" dirty="0"/>
              <a:t>Solar – ON   </a:t>
            </a:r>
            <a:r>
              <a:rPr lang="en-US" sz="1800" dirty="0">
                <a:sym typeface="Wingdings" panose="05000000000000000000" pitchFamily="2" charset="2"/>
              </a:rPr>
              <a:t>  ESS Charge      Grid OFF                	 Load ON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ON   </a:t>
            </a:r>
            <a:r>
              <a:rPr lang="en-US" sz="1800" dirty="0">
                <a:sym typeface="Wingdings" panose="05000000000000000000" pitchFamily="2" charset="2"/>
              </a:rPr>
              <a:t>  ESS &gt;80%         [Grid DC- AC</a:t>
            </a:r>
            <a:r>
              <a:rPr lang="en-US" sz="1800">
                <a:sym typeface="Wingdings" panose="05000000000000000000" pitchFamily="2" charset="2"/>
              </a:rPr>
              <a:t>] </a:t>
            </a:r>
            <a:r>
              <a:rPr lang="en-US">
                <a:sym typeface="Wingdings" panose="05000000000000000000" pitchFamily="2" charset="2"/>
              </a:rPr>
              <a:t>OFF</a:t>
            </a:r>
            <a:r>
              <a:rPr lang="en-US" sz="1800">
                <a:sym typeface="Wingdings" panose="05000000000000000000" pitchFamily="2" charset="2"/>
              </a:rPr>
              <a:t>  </a:t>
            </a:r>
            <a:r>
              <a:rPr lang="en-US" sz="1800" dirty="0">
                <a:sym typeface="Wingdings" panose="05000000000000000000" pitchFamily="2" charset="2"/>
              </a:rPr>
              <a:t>	 Load ON 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OFF </a:t>
            </a:r>
            <a:r>
              <a:rPr lang="en-US" sz="1800" dirty="0">
                <a:sym typeface="Wingdings" panose="05000000000000000000" pitchFamily="2" charset="2"/>
              </a:rPr>
              <a:t>  ESS ON              Grid OFF                	  Load ON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OFF </a:t>
            </a:r>
            <a:r>
              <a:rPr lang="en-US" sz="1800" dirty="0">
                <a:sym typeface="Wingdings" panose="05000000000000000000" pitchFamily="2" charset="2"/>
              </a:rPr>
              <a:t>  ESS &lt;20%         [Grid DC- AC] ON 	  Load ON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Solar – OFF </a:t>
            </a:r>
            <a:r>
              <a:rPr lang="en-US" sz="1800" dirty="0">
                <a:sym typeface="Wingdings" panose="05000000000000000000" pitchFamily="2" charset="2"/>
              </a:rPr>
              <a:t>  ESS  charge     [Grid AC- </a:t>
            </a:r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n-US" sz="1800" dirty="0">
                <a:sym typeface="Wingdings" panose="05000000000000000000" pitchFamily="2" charset="2"/>
              </a:rPr>
              <a:t>C] ON 	  Load OFF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4B83A-3170-4D64-7C4B-A50EDDA13F8B}"/>
              </a:ext>
            </a:extLst>
          </p:cNvPr>
          <p:cNvSpPr txBox="1"/>
          <p:nvPr/>
        </p:nvSpPr>
        <p:spPr>
          <a:xfrm>
            <a:off x="8236670" y="1855228"/>
            <a:ext cx="7837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FA4D4B-2E13-8D72-E8F1-011365965F7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505062" y="801234"/>
            <a:ext cx="1" cy="3370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2620B7-EA06-34AD-DFDE-88D589BBC8C8}"/>
              </a:ext>
            </a:extLst>
          </p:cNvPr>
          <p:cNvCxnSpPr/>
          <p:nvPr/>
        </p:nvCxnSpPr>
        <p:spPr>
          <a:xfrm flipH="1">
            <a:off x="4381573" y="1562487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9B4B6C-F235-B9F6-8794-3A700A4BDB84}"/>
              </a:ext>
            </a:extLst>
          </p:cNvPr>
          <p:cNvCxnSpPr/>
          <p:nvPr/>
        </p:nvCxnSpPr>
        <p:spPr>
          <a:xfrm flipH="1">
            <a:off x="6505061" y="1529030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376114-1B2E-C02A-7971-19848502F0F3}"/>
              </a:ext>
            </a:extLst>
          </p:cNvPr>
          <p:cNvCxnSpPr/>
          <p:nvPr/>
        </p:nvCxnSpPr>
        <p:spPr>
          <a:xfrm flipH="1">
            <a:off x="8604440" y="1529030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AFE245-A68E-A6D4-F887-CD91C70F3FF1}"/>
              </a:ext>
            </a:extLst>
          </p:cNvPr>
          <p:cNvCxnSpPr/>
          <p:nvPr/>
        </p:nvCxnSpPr>
        <p:spPr>
          <a:xfrm flipH="1">
            <a:off x="4381569" y="2309873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1B0CDF-B874-67E5-1165-34E4E219F5AF}"/>
              </a:ext>
            </a:extLst>
          </p:cNvPr>
          <p:cNvCxnSpPr/>
          <p:nvPr/>
        </p:nvCxnSpPr>
        <p:spPr>
          <a:xfrm flipH="1">
            <a:off x="6493002" y="2287772"/>
            <a:ext cx="2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90228AA-D412-BA6D-ED04-7839FAC3EA62}"/>
              </a:ext>
            </a:extLst>
          </p:cNvPr>
          <p:cNvCxnSpPr>
            <a:cxnSpLocks/>
          </p:cNvCxnSpPr>
          <p:nvPr/>
        </p:nvCxnSpPr>
        <p:spPr>
          <a:xfrm flipH="1">
            <a:off x="8604435" y="2267356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1CFEA6-A25D-3481-87DB-427A1B4B5996}"/>
              </a:ext>
            </a:extLst>
          </p:cNvPr>
          <p:cNvCxnSpPr>
            <a:cxnSpLocks/>
          </p:cNvCxnSpPr>
          <p:nvPr/>
        </p:nvCxnSpPr>
        <p:spPr>
          <a:xfrm flipH="1">
            <a:off x="4170781" y="4393897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C80CBF-5A7B-0AC1-9D15-EC2108FA26A3}"/>
              </a:ext>
            </a:extLst>
          </p:cNvPr>
          <p:cNvCxnSpPr>
            <a:cxnSpLocks/>
          </p:cNvCxnSpPr>
          <p:nvPr/>
        </p:nvCxnSpPr>
        <p:spPr>
          <a:xfrm flipH="1">
            <a:off x="8645992" y="4375846"/>
            <a:ext cx="7" cy="364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190C43B1-3E01-C2EC-B232-74368BAD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5965" y="-723038"/>
            <a:ext cx="10515600" cy="6810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to End Flow</a:t>
            </a:r>
          </a:p>
        </p:txBody>
      </p:sp>
    </p:spTree>
    <p:extLst>
      <p:ext uri="{BB962C8B-B14F-4D97-AF65-F5344CB8AC3E}">
        <p14:creationId xmlns:p14="http://schemas.microsoft.com/office/powerpoint/2010/main" val="221850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4851-BB7E-803E-9EB3-B224233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55261BB7-0074-DAEF-E27A-05B315BC9F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DF03-4765-4A5A-0268-72F5A97C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C411-D582-2761-B3F9-B2B0214A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61AA-2CC8-CE09-C614-033C9172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14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0A3D306F-0491-269A-2B67-0B20736E8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DD2AE06A-F488-22A5-61CF-1FB623C51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9A967477-8CA0-3367-B939-F78AFF9E9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63158"/>
            <a:ext cx="1564193" cy="110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55504C-AEC6-EB84-B08B-0558BECBFC40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8E8CD6-2B8E-44A6-8D76-47B245BBB176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79FF102E-EDE7-E211-0F27-543BB6096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30816C-6707-F822-67B0-92144A493046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48238D-FDE4-15C1-CD8C-9E318CE02F38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1F0A989-F82F-4F8D-34B8-7DD32E1E99AB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A6E092-26D6-74E1-142E-7F6303B2F6A5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95F4FB-B9FA-B2DA-BBED-46EB8E6C4B24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2E2B48-F6C6-6052-28D5-D91FF45DB53C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554F2C0-20C0-B92D-3FB0-2D1B7A040DA6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8289172-E316-8C88-29F6-69BDB49A56E2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99BC5431-8A29-9E83-D010-49AF55BB2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D42ADF4E-B573-7B7E-931B-0074E4D14F4A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395E36-CE39-548B-6E31-6E008B99371D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252CC8-9BF2-5397-B2A0-BFB2CA78438B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72A455F-EE0E-C01A-8B1A-2785A7E4185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1590202C-8AC1-ACF6-C031-579A061021E3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D5CB56A-1C51-10D7-8916-30577C5E148C}"/>
              </a:ext>
            </a:extLst>
          </p:cNvPr>
          <p:cNvSpPr txBox="1"/>
          <p:nvPr/>
        </p:nvSpPr>
        <p:spPr>
          <a:xfrm>
            <a:off x="1774547" y="553338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4239225-C62C-C62A-3AE6-524FA0F581BD}"/>
              </a:ext>
            </a:extLst>
          </p:cNvPr>
          <p:cNvSpPr txBox="1"/>
          <p:nvPr/>
        </p:nvSpPr>
        <p:spPr>
          <a:xfrm>
            <a:off x="39872" y="569355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9308E26-8D6B-181C-6DAA-750B82284339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559A6CC6-1C81-09DF-D116-19CA75E283F2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846A8005-5D40-1A03-1618-0CCD5AC63F86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876E233-167C-26D6-BE77-F0E7955096E1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5BD08560-D535-2599-5EBB-23B2494644F2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59B9611B-13DD-99D0-2693-80FADF732E39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420B9A15-918D-8CF4-7583-3B602F2C2BC6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BA1FF12-39D5-F91C-28C0-2B6BCE61BBEF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06E27F50-E931-C58D-AA52-7D82498B7E86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8F09EE95-54C3-D795-8B5B-46BFAD5E9772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735C97A4-DED1-C826-CD61-6D7E04AB09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136046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17DA9F3A-B56B-A847-7634-EE6DFA7E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136046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E4345945-F6E6-D689-8716-391F81F78944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3FEBA-C571-C65A-27D5-6BB7F28D7665}"/>
              </a:ext>
            </a:extLst>
          </p:cNvPr>
          <p:cNvSpPr txBox="1"/>
          <p:nvPr/>
        </p:nvSpPr>
        <p:spPr>
          <a:xfrm>
            <a:off x="1579166" y="2514213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25948-1EEC-A46D-FF13-7F94BE218D94}"/>
              </a:ext>
            </a:extLst>
          </p:cNvPr>
          <p:cNvSpPr txBox="1"/>
          <p:nvPr/>
        </p:nvSpPr>
        <p:spPr>
          <a:xfrm>
            <a:off x="3070550" y="2994856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99C47-8E75-29E8-BA27-EF60D1F5696F}"/>
              </a:ext>
            </a:extLst>
          </p:cNvPr>
          <p:cNvSpPr txBox="1"/>
          <p:nvPr/>
        </p:nvSpPr>
        <p:spPr>
          <a:xfrm>
            <a:off x="4529052" y="2570181"/>
            <a:ext cx="86655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SW_5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D71A6-A54B-163D-3B60-1C5A29E49461}"/>
              </a:ext>
            </a:extLst>
          </p:cNvPr>
          <p:cNvSpPr txBox="1"/>
          <p:nvPr/>
        </p:nvSpPr>
        <p:spPr>
          <a:xfrm>
            <a:off x="1748672" y="5114962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6C561-0A58-BB4C-0F30-B6DC92CC47AE}"/>
              </a:ext>
            </a:extLst>
          </p:cNvPr>
          <p:cNvSpPr txBox="1"/>
          <p:nvPr/>
        </p:nvSpPr>
        <p:spPr>
          <a:xfrm>
            <a:off x="1881860" y="5986879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SW_4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5044657-D435-4F2E-272C-F2244545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384" y="-85209"/>
            <a:ext cx="6494343" cy="687770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Sensor monitoring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42DFC-2543-A905-3CDF-AA0A582E769B}"/>
              </a:ext>
            </a:extLst>
          </p:cNvPr>
          <p:cNvSpPr txBox="1"/>
          <p:nvPr/>
        </p:nvSpPr>
        <p:spPr>
          <a:xfrm>
            <a:off x="806235" y="2230448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0AA68-334D-ED97-9F61-0E4A52FBD841}"/>
              </a:ext>
            </a:extLst>
          </p:cNvPr>
          <p:cNvSpPr txBox="1"/>
          <p:nvPr/>
        </p:nvSpPr>
        <p:spPr>
          <a:xfrm>
            <a:off x="3338632" y="4600944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DF597-174F-C054-7432-9CE1216F7704}"/>
              </a:ext>
            </a:extLst>
          </p:cNvPr>
          <p:cNvSpPr txBox="1"/>
          <p:nvPr/>
        </p:nvSpPr>
        <p:spPr>
          <a:xfrm>
            <a:off x="118628" y="4594177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B9127-0DC6-1C42-7469-6F470A1AEA4E}"/>
              </a:ext>
            </a:extLst>
          </p:cNvPr>
          <p:cNvSpPr txBox="1"/>
          <p:nvPr/>
        </p:nvSpPr>
        <p:spPr>
          <a:xfrm>
            <a:off x="140605" y="6103345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A9D3C3-5A86-76A2-89F8-8D553A826FF4}"/>
              </a:ext>
            </a:extLst>
          </p:cNvPr>
          <p:cNvSpPr txBox="1"/>
          <p:nvPr/>
        </p:nvSpPr>
        <p:spPr>
          <a:xfrm>
            <a:off x="6633292" y="2569811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0901C-F6C1-C0B3-9F84-22496BA850C6}"/>
              </a:ext>
            </a:extLst>
          </p:cNvPr>
          <p:cNvSpPr txBox="1"/>
          <p:nvPr/>
        </p:nvSpPr>
        <p:spPr>
          <a:xfrm>
            <a:off x="6633292" y="3509923"/>
            <a:ext cx="564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M-5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75520F-2DD3-0B72-03D3-47B96EA4159A}"/>
              </a:ext>
            </a:extLst>
          </p:cNvPr>
          <p:cNvSpPr txBox="1"/>
          <p:nvPr/>
        </p:nvSpPr>
        <p:spPr>
          <a:xfrm>
            <a:off x="8740246" y="136525"/>
            <a:ext cx="333312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2</a:t>
            </a:r>
          </a:p>
          <a:p>
            <a:pPr marL="342900" indent="-342900">
              <a:buAutoNum type="arabicPeriod"/>
            </a:pPr>
            <a:r>
              <a:rPr lang="en-US" u="sng" dirty="0">
                <a:solidFill>
                  <a:schemeClr val="accent6">
                    <a:lumMod val="50000"/>
                  </a:schemeClr>
                </a:solidFill>
              </a:rPr>
              <a:t>Solar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Voltage, Current, Temp, RTC, Humidity, Light Intensity, SW – M/C_1</a:t>
            </a:r>
          </a:p>
          <a:p>
            <a:r>
              <a:rPr lang="en-US" dirty="0"/>
              <a:t>       </a:t>
            </a:r>
            <a:endParaRPr lang="en-US" u="sng" dirty="0"/>
          </a:p>
          <a:p>
            <a:pPr marL="342900" indent="-342900">
              <a:buAutoNum type="arabicPeriod" startAt="2"/>
            </a:pPr>
            <a:r>
              <a:rPr lang="en-US" u="sng" dirty="0">
                <a:solidFill>
                  <a:schemeClr val="accent5">
                    <a:lumMod val="50000"/>
                  </a:schemeClr>
                </a:solidFill>
              </a:rPr>
              <a:t>ESS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Voltage, Current, Temp, SW – M/C_2</a:t>
            </a:r>
          </a:p>
          <a:p>
            <a:r>
              <a:rPr lang="en-US" dirty="0"/>
              <a:t>        </a:t>
            </a:r>
            <a:endParaRPr lang="en-US" u="sng" dirty="0"/>
          </a:p>
          <a:p>
            <a:pPr marL="342900" indent="-342900">
              <a:buAutoNum type="arabicPeriod"/>
            </a:pP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Grid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      AC – DC  - Adopter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Voltage, Current , SW – M/C_3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      DC – AC Converter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Current(AC - Sensors) SW – M/C_4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Load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DC – DC Converter</a:t>
            </a:r>
          </a:p>
          <a:p>
            <a:r>
              <a:rPr lang="en-US" dirty="0">
                <a:solidFill>
                  <a:srgbClr val="FF0000"/>
                </a:solidFill>
              </a:rPr>
              <a:t>       1. Swapping  - Voltage, Current, SW – M/C_4</a:t>
            </a:r>
          </a:p>
          <a:p>
            <a:r>
              <a:rPr lang="en-US" dirty="0">
                <a:solidFill>
                  <a:srgbClr val="FF0000"/>
                </a:solidFill>
              </a:rPr>
              <a:t>2. Fast charge – 12 Batteries Voltage, Current, SW – M/C_5</a:t>
            </a:r>
          </a:p>
          <a:p>
            <a:r>
              <a:rPr lang="en-US" u="sng" dirty="0"/>
              <a:t> 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5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E4E2A13D-5391-3B6B-71B7-08EBE69B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15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09666"/>
            <a:ext cx="1564193" cy="116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CE9137-E61F-2EB0-E511-9731521E05AF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2B4738-AADD-5231-73F2-81251CB68BC3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74566D4F-9CE1-1DB0-ED96-4D0F6AAB2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2757FA-C661-4383-AA2D-FA99E4718F8B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7AA407-6B43-6FA6-3816-72BBC540CE65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246D429-256B-E299-1E63-6B717D39130B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CD4F87-39FE-14B2-7749-CFA2F002AD7A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160B77-0987-44B5-C474-3698A73F78F8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DFFC96-2820-396E-D71B-4C9DC89A6409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1D5688C-3C43-3655-25C2-85A5B2A9244D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FADA0-3655-029E-A45F-CE5ABD092F08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D69F2FEC-A4F2-656F-D020-8EBE22612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092EB76E-10C7-D52C-9F95-1401F0FF5AAF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18ECC9-B4BE-09B0-E2F9-1E2C5A7935DE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0D303E-B840-9B82-3954-A4C79CCC3F7C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3623EA7-BFF6-AF0C-CB3E-9B24A32E1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E89EAA6A-500D-58BD-7C4E-69E6750C91AC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40958B1-4E1A-B35C-B64A-5DA4B8A205DA}"/>
              </a:ext>
            </a:extLst>
          </p:cNvPr>
          <p:cNvSpPr txBox="1"/>
          <p:nvPr/>
        </p:nvSpPr>
        <p:spPr>
          <a:xfrm>
            <a:off x="75554" y="5700657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40B33168-A4F8-3861-99EB-BDBD8937A61D}"/>
              </a:ext>
            </a:extLst>
          </p:cNvPr>
          <p:cNvSpPr txBox="1"/>
          <p:nvPr/>
        </p:nvSpPr>
        <p:spPr>
          <a:xfrm>
            <a:off x="1804989" y="5592011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81EE3EB5-3345-62F9-21E4-8787319E45A4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35320AC-207C-5798-1142-21A932614646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ECEA6AA2-D4E7-1435-402F-B40C64E810C4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DF7AD8DF-3EF5-FCD3-C44B-4B4B5A2E2614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D9C9A524-C603-63B6-EAAB-CD242AEB7366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59D7FEEC-0EEC-E173-E4B8-66B0F6C27A1C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62033FE3-C232-FEB2-5C71-5E3B9FD7F353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CA1E320-1809-F4B2-B486-AB1C48893BA4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57F7C6DB-66FF-41AA-DE43-8872D000F81A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8E2E81CB-55C8-646B-0C9B-983BA1E046E0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B1C98754-3029-4402-88CD-59DB3920CB76}"/>
              </a:ext>
            </a:extLst>
          </p:cNvPr>
          <p:cNvSpPr txBox="1"/>
          <p:nvPr/>
        </p:nvSpPr>
        <p:spPr>
          <a:xfrm>
            <a:off x="8744218" y="415085"/>
            <a:ext cx="33403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1</a:t>
            </a:r>
          </a:p>
          <a:p>
            <a:endParaRPr lang="en-US" dirty="0"/>
          </a:p>
          <a:p>
            <a:r>
              <a:rPr lang="en-US" b="1" dirty="0"/>
              <a:t>Sources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u="sng" dirty="0"/>
              <a:t>Solar</a:t>
            </a:r>
          </a:p>
          <a:p>
            <a:r>
              <a:rPr lang="en-US" dirty="0"/>
              <a:t>       Pannel – 1</a:t>
            </a:r>
          </a:p>
          <a:p>
            <a:r>
              <a:rPr lang="en-US" dirty="0"/>
              <a:t>       Solar charger converter</a:t>
            </a:r>
          </a:p>
          <a:p>
            <a:r>
              <a:rPr lang="en-US" dirty="0"/>
              <a:t>       </a:t>
            </a:r>
            <a:endParaRPr lang="en-US" u="sng" dirty="0"/>
          </a:p>
          <a:p>
            <a:r>
              <a:rPr lang="en-US" dirty="0"/>
              <a:t>2.     </a:t>
            </a:r>
            <a:r>
              <a:rPr lang="en-US" u="sng" dirty="0"/>
              <a:t>ESS</a:t>
            </a:r>
          </a:p>
          <a:p>
            <a:r>
              <a:rPr lang="en-US" dirty="0"/>
              <a:t>        Batteries -2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pPr marL="342900" indent="-342900">
              <a:buAutoNum type="arabicPeriod"/>
            </a:pPr>
            <a:r>
              <a:rPr lang="en-US" u="sng" dirty="0"/>
              <a:t>Grid</a:t>
            </a:r>
          </a:p>
          <a:p>
            <a:r>
              <a:rPr lang="en-US" dirty="0"/>
              <a:t>       AC – DC  - Adopter – XHM602</a:t>
            </a:r>
          </a:p>
          <a:p>
            <a:r>
              <a:rPr lang="en-US" dirty="0"/>
              <a:t>       DC – AC Converter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Load</a:t>
            </a:r>
          </a:p>
          <a:p>
            <a:r>
              <a:rPr lang="en-US" dirty="0"/>
              <a:t>            DC – DC Converter</a:t>
            </a:r>
          </a:p>
          <a:p>
            <a:r>
              <a:rPr lang="en-US" dirty="0"/>
              <a:t>       1. Swapping  - 10 Batteries</a:t>
            </a:r>
          </a:p>
          <a:p>
            <a:r>
              <a:rPr lang="en-US" dirty="0"/>
              <a:t>        2. Fast charge – 12 Batteries</a:t>
            </a:r>
          </a:p>
          <a:p>
            <a:r>
              <a:rPr lang="en-US" u="sng" dirty="0"/>
              <a:t> </a:t>
            </a:r>
          </a:p>
          <a:p>
            <a:pPr marL="342900" indent="-342900">
              <a:buAutoNum type="arabicPeriod"/>
            </a:pPr>
            <a:endParaRPr lang="en-US" u="sng" dirty="0"/>
          </a:p>
          <a:p>
            <a:endParaRPr lang="en-US" dirty="0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E12707D7-7029-4726-7264-9E7592E778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253584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57551E6D-75A9-A527-B796-0E7CF6849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311970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6E82AC1B-6B91-9FAE-728D-D4A7F537ACBA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Title 1">
            <a:extLst>
              <a:ext uri="{FF2B5EF4-FFF2-40B4-BE49-F238E27FC236}">
                <a16:creationId xmlns:a16="http://schemas.microsoft.com/office/drawing/2014/main" id="{08744D15-35DA-7E75-DCF3-0D3CF86E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Energy source</a:t>
            </a:r>
          </a:p>
        </p:txBody>
      </p:sp>
    </p:spTree>
    <p:extLst>
      <p:ext uri="{BB962C8B-B14F-4D97-AF65-F5344CB8AC3E}">
        <p14:creationId xmlns:p14="http://schemas.microsoft.com/office/powerpoint/2010/main" val="267258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95CD-E4EB-EAE1-62E1-1F2C5DB2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055">
            <a:extLst>
              <a:ext uri="{FF2B5EF4-FFF2-40B4-BE49-F238E27FC236}">
                <a16:creationId xmlns:a16="http://schemas.microsoft.com/office/drawing/2014/main" id="{E6CD1E6E-ABAF-CF03-B214-C8F09A99C5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6055" y="1968759"/>
            <a:ext cx="2015297" cy="23979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C376-A196-C29C-A63B-7581B8C5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DB70F-565D-1CE8-45B3-A7D8CD57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B6B4-F21B-9DBD-339C-913D350F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16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471652FD-CAD7-7E17-1194-C3F39F562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AC8FA18F-72D0-8A7A-D8A7-96A1D18C0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2415073" y="4200148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9DB4D72B-009F-7090-506D-1F2E31F0A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95" y="3463158"/>
            <a:ext cx="1564193" cy="110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BD06CF-CFA1-0E46-684C-B4752BDB5973}"/>
              </a:ext>
            </a:extLst>
          </p:cNvPr>
          <p:cNvSpPr txBox="1"/>
          <p:nvPr/>
        </p:nvSpPr>
        <p:spPr>
          <a:xfrm>
            <a:off x="149291" y="212058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996DF1-B6F4-BB5D-E219-8229230A8C13}"/>
              </a:ext>
            </a:extLst>
          </p:cNvPr>
          <p:cNvSpPr txBox="1"/>
          <p:nvPr/>
        </p:nvSpPr>
        <p:spPr>
          <a:xfrm>
            <a:off x="674137" y="421539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9738235D-A98C-AE43-A0A2-6FFAB1F46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13588" r="3937" b="52425"/>
          <a:stretch/>
        </p:blipFill>
        <p:spPr bwMode="auto">
          <a:xfrm>
            <a:off x="1748672" y="553126"/>
            <a:ext cx="3579108" cy="141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FC4270-4044-4DD2-67DB-C13BCBD86E91}"/>
              </a:ext>
            </a:extLst>
          </p:cNvPr>
          <p:cNvCxnSpPr/>
          <p:nvPr/>
        </p:nvCxnSpPr>
        <p:spPr>
          <a:xfrm flipH="1">
            <a:off x="1204799" y="2120583"/>
            <a:ext cx="8181" cy="4733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D290F6-1F8B-82B4-A121-CEE02BCE2526}"/>
              </a:ext>
            </a:extLst>
          </p:cNvPr>
          <p:cNvCxnSpPr/>
          <p:nvPr/>
        </p:nvCxnSpPr>
        <p:spPr>
          <a:xfrm>
            <a:off x="1214130" y="2593910"/>
            <a:ext cx="16503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7E9074-DFA1-35C7-2A22-45261DD577F2}"/>
              </a:ext>
            </a:extLst>
          </p:cNvPr>
          <p:cNvCxnSpPr/>
          <p:nvPr/>
        </p:nvCxnSpPr>
        <p:spPr>
          <a:xfrm flipV="1">
            <a:off x="2864498" y="1838131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016722E-0DC9-99D1-4206-475D5C94021A}"/>
              </a:ext>
            </a:extLst>
          </p:cNvPr>
          <p:cNvCxnSpPr/>
          <p:nvPr/>
        </p:nvCxnSpPr>
        <p:spPr>
          <a:xfrm>
            <a:off x="3144416" y="1968759"/>
            <a:ext cx="0" cy="815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C98AEDE-48D9-B52F-4E56-3E88C28A4C8C}"/>
              </a:ext>
            </a:extLst>
          </p:cNvPr>
          <p:cNvCxnSpPr/>
          <p:nvPr/>
        </p:nvCxnSpPr>
        <p:spPr>
          <a:xfrm flipH="1">
            <a:off x="942392" y="2784515"/>
            <a:ext cx="222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D40A7E-C328-BBA0-878C-A401EA1829DD}"/>
              </a:ext>
            </a:extLst>
          </p:cNvPr>
          <p:cNvCxnSpPr/>
          <p:nvPr/>
        </p:nvCxnSpPr>
        <p:spPr>
          <a:xfrm flipV="1">
            <a:off x="942392" y="2120583"/>
            <a:ext cx="0" cy="66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0424D4-9F51-A088-B72F-B32B69FBF3F3}"/>
              </a:ext>
            </a:extLst>
          </p:cNvPr>
          <p:cNvCxnSpPr>
            <a:cxnSpLocks/>
          </p:cNvCxnSpPr>
          <p:nvPr/>
        </p:nvCxnSpPr>
        <p:spPr>
          <a:xfrm>
            <a:off x="3405673" y="1838131"/>
            <a:ext cx="0" cy="25939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6E9381-FE63-200B-1709-762FA6233B23}"/>
              </a:ext>
            </a:extLst>
          </p:cNvPr>
          <p:cNvCxnSpPr/>
          <p:nvPr/>
        </p:nvCxnSpPr>
        <p:spPr>
          <a:xfrm>
            <a:off x="3688701" y="1838131"/>
            <a:ext cx="0" cy="2528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4">
            <a:extLst>
              <a:ext uri="{FF2B5EF4-FFF2-40B4-BE49-F238E27FC236}">
                <a16:creationId xmlns:a16="http://schemas.microsoft.com/office/drawing/2014/main" id="{3F0A9CF0-CF18-4173-1F4C-8CF6CB4EF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5" b="38756"/>
          <a:stretch/>
        </p:blipFill>
        <p:spPr bwMode="auto">
          <a:xfrm rot="10800000">
            <a:off x="724338" y="4678769"/>
            <a:ext cx="1138463" cy="60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6DBA35A9-D749-6397-E187-81A113EB5AC5}"/>
              </a:ext>
            </a:extLst>
          </p:cNvPr>
          <p:cNvSpPr/>
          <p:nvPr/>
        </p:nvSpPr>
        <p:spPr>
          <a:xfrm>
            <a:off x="1916932" y="4981276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5C0F2B-34D1-7375-83D3-3E1617E62101}"/>
              </a:ext>
            </a:extLst>
          </p:cNvPr>
          <p:cNvSpPr txBox="1"/>
          <p:nvPr/>
        </p:nvSpPr>
        <p:spPr>
          <a:xfrm>
            <a:off x="32991" y="4877110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2D823C-90B1-1DB6-787A-1BEC6056DD48}"/>
              </a:ext>
            </a:extLst>
          </p:cNvPr>
          <p:cNvSpPr txBox="1"/>
          <p:nvPr/>
        </p:nvSpPr>
        <p:spPr>
          <a:xfrm>
            <a:off x="1723726" y="466240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657CA46-3D1C-7A6C-0020-B3E25F798B8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731219" y="5545551"/>
            <a:ext cx="1124701" cy="605004"/>
          </a:xfrm>
          <a:prstGeom prst="rect">
            <a:avLst/>
          </a:prstGeom>
        </p:spPr>
      </p:pic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E4F64A5B-AC4F-D1C3-7E2C-7410F94AC4DE}"/>
              </a:ext>
            </a:extLst>
          </p:cNvPr>
          <p:cNvSpPr/>
          <p:nvPr/>
        </p:nvSpPr>
        <p:spPr>
          <a:xfrm rot="10800000">
            <a:off x="1941116" y="5860665"/>
            <a:ext cx="605389" cy="62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FF805DE-02D7-CB09-9B7A-40915EF39C23}"/>
              </a:ext>
            </a:extLst>
          </p:cNvPr>
          <p:cNvSpPr txBox="1"/>
          <p:nvPr/>
        </p:nvSpPr>
        <p:spPr>
          <a:xfrm>
            <a:off x="1774547" y="553338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952C75B-903F-85D5-CD2B-4F8B4DB70099}"/>
              </a:ext>
            </a:extLst>
          </p:cNvPr>
          <p:cNvSpPr txBox="1"/>
          <p:nvPr/>
        </p:nvSpPr>
        <p:spPr>
          <a:xfrm>
            <a:off x="39872" y="569355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60C0791-3764-EF57-C425-E91DB5C9838A}"/>
              </a:ext>
            </a:extLst>
          </p:cNvPr>
          <p:cNvCxnSpPr>
            <a:cxnSpLocks/>
          </p:cNvCxnSpPr>
          <p:nvPr/>
        </p:nvCxnSpPr>
        <p:spPr>
          <a:xfrm>
            <a:off x="4217437" y="1838131"/>
            <a:ext cx="0" cy="1101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F572BEF0-3D54-049B-4336-540C39F28093}"/>
              </a:ext>
            </a:extLst>
          </p:cNvPr>
          <p:cNvCxnSpPr/>
          <p:nvPr/>
        </p:nvCxnSpPr>
        <p:spPr>
          <a:xfrm>
            <a:off x="4217435" y="293914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5F27683C-6304-7ADD-2148-0448005B9216}"/>
              </a:ext>
            </a:extLst>
          </p:cNvPr>
          <p:cNvCxnSpPr>
            <a:cxnSpLocks/>
          </p:cNvCxnSpPr>
          <p:nvPr/>
        </p:nvCxnSpPr>
        <p:spPr>
          <a:xfrm>
            <a:off x="3903306" y="1848607"/>
            <a:ext cx="0" cy="131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5C3D817-A35A-F3C6-91FD-C20A9B9106AE}"/>
              </a:ext>
            </a:extLst>
          </p:cNvPr>
          <p:cNvCxnSpPr>
            <a:cxnSpLocks/>
          </p:cNvCxnSpPr>
          <p:nvPr/>
        </p:nvCxnSpPr>
        <p:spPr>
          <a:xfrm>
            <a:off x="3906416" y="3167743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883B7B9C-796B-0E78-F294-779E0CC2D85F}"/>
              </a:ext>
            </a:extLst>
          </p:cNvPr>
          <p:cNvCxnSpPr>
            <a:cxnSpLocks/>
          </p:cNvCxnSpPr>
          <p:nvPr/>
        </p:nvCxnSpPr>
        <p:spPr>
          <a:xfrm>
            <a:off x="3903306" y="3411301"/>
            <a:ext cx="0" cy="935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8757DBC3-4F42-B3E2-FCB1-C073D4F1BB3D}"/>
              </a:ext>
            </a:extLst>
          </p:cNvPr>
          <p:cNvCxnSpPr>
            <a:cxnSpLocks/>
          </p:cNvCxnSpPr>
          <p:nvPr/>
        </p:nvCxnSpPr>
        <p:spPr>
          <a:xfrm>
            <a:off x="3906416" y="3429000"/>
            <a:ext cx="1652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79B90940-3A50-B713-81D1-0C183710640B}"/>
              </a:ext>
            </a:extLst>
          </p:cNvPr>
          <p:cNvCxnSpPr/>
          <p:nvPr/>
        </p:nvCxnSpPr>
        <p:spPr>
          <a:xfrm>
            <a:off x="4220547" y="3639842"/>
            <a:ext cx="0" cy="7557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7E604921-83DC-8F0A-56C5-17D46E9EC16C}"/>
              </a:ext>
            </a:extLst>
          </p:cNvPr>
          <p:cNvCxnSpPr/>
          <p:nvPr/>
        </p:nvCxnSpPr>
        <p:spPr>
          <a:xfrm>
            <a:off x="4217436" y="3652283"/>
            <a:ext cx="13381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37CF5A12-9E42-B4FC-41CA-F15F1A52B423}"/>
              </a:ext>
            </a:extLst>
          </p:cNvPr>
          <p:cNvSpPr txBox="1"/>
          <p:nvPr/>
        </p:nvSpPr>
        <p:spPr>
          <a:xfrm>
            <a:off x="6096000" y="2085728"/>
            <a:ext cx="830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DC – DC</a:t>
            </a:r>
          </a:p>
          <a:p>
            <a:pPr algn="ctr"/>
            <a:r>
              <a:rPr lang="en-US" sz="1200" dirty="0"/>
              <a:t>Converter</a:t>
            </a:r>
          </a:p>
        </p:txBody>
      </p:sp>
      <p:sp>
        <p:nvSpPr>
          <p:cNvPr id="1057" name="Arrow: Right 1056">
            <a:extLst>
              <a:ext uri="{FF2B5EF4-FFF2-40B4-BE49-F238E27FC236}">
                <a16:creationId xmlns:a16="http://schemas.microsoft.com/office/drawing/2014/main" id="{5712F841-A436-64C6-9BEA-0EA21F98AF8F}"/>
              </a:ext>
            </a:extLst>
          </p:cNvPr>
          <p:cNvSpPr/>
          <p:nvPr/>
        </p:nvSpPr>
        <p:spPr>
          <a:xfrm>
            <a:off x="6866936" y="2854359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8B2705A7-3B37-2891-F829-10AAA7CBFF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1681" y="2480447"/>
            <a:ext cx="1253584" cy="747823"/>
          </a:xfrm>
          <a:prstGeom prst="rect">
            <a:avLst/>
          </a:prstGeom>
        </p:spPr>
      </p:pic>
      <p:pic>
        <p:nvPicPr>
          <p:cNvPr id="1063" name="Picture 16" descr="Electric Vehicle Charging and the ...">
            <a:extLst>
              <a:ext uri="{FF2B5EF4-FFF2-40B4-BE49-F238E27FC236}">
                <a16:creationId xmlns:a16="http://schemas.microsoft.com/office/drawing/2014/main" id="{A71D3861-8223-D054-436C-E54B8D6E0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81" y="3308845"/>
            <a:ext cx="1311970" cy="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0B14929E-BAB8-C2D9-AFE7-EDF0206A6574}"/>
              </a:ext>
            </a:extLst>
          </p:cNvPr>
          <p:cNvSpPr/>
          <p:nvPr/>
        </p:nvSpPr>
        <p:spPr>
          <a:xfrm>
            <a:off x="6866936" y="3561081"/>
            <a:ext cx="498141" cy="62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DB73F-68FF-1ACB-56E7-5788C62805D4}"/>
              </a:ext>
            </a:extLst>
          </p:cNvPr>
          <p:cNvSpPr txBox="1"/>
          <p:nvPr/>
        </p:nvSpPr>
        <p:spPr>
          <a:xfrm>
            <a:off x="1579166" y="2514213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1BA90-7126-EB6E-4DDE-B42FE6954CBB}"/>
              </a:ext>
            </a:extLst>
          </p:cNvPr>
          <p:cNvSpPr txBox="1"/>
          <p:nvPr/>
        </p:nvSpPr>
        <p:spPr>
          <a:xfrm>
            <a:off x="3070550" y="2994856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16124-E8CD-A91B-38CC-12D84492A730}"/>
              </a:ext>
            </a:extLst>
          </p:cNvPr>
          <p:cNvSpPr txBox="1"/>
          <p:nvPr/>
        </p:nvSpPr>
        <p:spPr>
          <a:xfrm>
            <a:off x="4529052" y="2570181"/>
            <a:ext cx="86655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SW_5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DC8E6-9CC6-96B8-6E07-8D30B161AE6C}"/>
              </a:ext>
            </a:extLst>
          </p:cNvPr>
          <p:cNvSpPr txBox="1"/>
          <p:nvPr/>
        </p:nvSpPr>
        <p:spPr>
          <a:xfrm>
            <a:off x="1748672" y="5114962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5C3D7-F529-A2C7-7C4B-D2861D603528}"/>
              </a:ext>
            </a:extLst>
          </p:cNvPr>
          <p:cNvSpPr txBox="1"/>
          <p:nvPr/>
        </p:nvSpPr>
        <p:spPr>
          <a:xfrm>
            <a:off x="1881860" y="5986879"/>
            <a:ext cx="7238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SW_4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5007C-F932-23CC-DC6E-DE24E62F20DD}"/>
              </a:ext>
            </a:extLst>
          </p:cNvPr>
          <p:cNvSpPr txBox="1"/>
          <p:nvPr/>
        </p:nvSpPr>
        <p:spPr>
          <a:xfrm>
            <a:off x="4711959" y="4684688"/>
            <a:ext cx="74470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Conditions</a:t>
            </a:r>
          </a:p>
          <a:p>
            <a:pPr marL="342900" indent="-342900">
              <a:buAutoNum type="arabicPeriod"/>
            </a:pPr>
            <a:r>
              <a:rPr lang="en-US" sz="1400" dirty="0"/>
              <a:t>Solar – ON  </a:t>
            </a:r>
            <a:r>
              <a:rPr lang="en-US" sz="1400" dirty="0">
                <a:sym typeface="Wingdings" panose="05000000000000000000" pitchFamily="2" charset="2"/>
              </a:rPr>
              <a:t>  ESS Charge  Grid OFF                 Load ON  - [ON – S1,S2,S5] – [OFF – S3,S4]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ON  </a:t>
            </a:r>
            <a:r>
              <a:rPr lang="en-US" sz="1400" dirty="0">
                <a:sym typeface="Wingdings" panose="05000000000000000000" pitchFamily="2" charset="2"/>
              </a:rPr>
              <a:t>  ESS &gt;80%    [Grid DC- AC] ON   Load ON  - [ON – S1,S2,S5,S4] – [OFF – S3]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OFF </a:t>
            </a:r>
            <a:r>
              <a:rPr lang="en-US" sz="1400" dirty="0">
                <a:sym typeface="Wingdings" panose="05000000000000000000" pitchFamily="2" charset="2"/>
              </a:rPr>
              <a:t>  ESS ON        Grid OFF                  Load ON  - [ON – S2,S3,S4,S5] – [OFF – S1] 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Solar – OFF </a:t>
            </a:r>
            <a:r>
              <a:rPr lang="en-US" sz="1400" dirty="0">
                <a:sym typeface="Wingdings" panose="05000000000000000000" pitchFamily="2" charset="2"/>
              </a:rPr>
              <a:t>  ESS &lt;20%    [Grid DC- AC] ON   Load ON  - [ON – S3,S5] – [OFF – S1,S2,S4]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BF0E41E-490A-1B1D-D0ED-3022ABA8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Energy source</a:t>
            </a:r>
          </a:p>
        </p:txBody>
      </p:sp>
    </p:spTree>
    <p:extLst>
      <p:ext uri="{BB962C8B-B14F-4D97-AF65-F5344CB8AC3E}">
        <p14:creationId xmlns:p14="http://schemas.microsoft.com/office/powerpoint/2010/main" val="69077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EA43-92A7-C633-D81C-B2AE43E9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4B29-502E-5D1E-5F33-97ADFBE4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35205-CAC6-D80D-38D9-5FA31DFA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7598-DE70-3766-24B9-9A317FAA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17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62621E-8707-590A-18AF-9779DAB2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97848-7044-96A5-9D15-CAA5846A0062}"/>
              </a:ext>
            </a:extLst>
          </p:cNvPr>
          <p:cNvSpPr txBox="1"/>
          <p:nvPr/>
        </p:nvSpPr>
        <p:spPr>
          <a:xfrm>
            <a:off x="8153400" y="1544197"/>
            <a:ext cx="3333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3</a:t>
            </a:r>
          </a:p>
          <a:p>
            <a:pPr marL="342900" indent="-342900">
              <a:buAutoNum type="arabicPeriod"/>
            </a:pPr>
            <a:r>
              <a:rPr lang="en-US" dirty="0"/>
              <a:t>Swapping </a:t>
            </a:r>
          </a:p>
          <a:p>
            <a:r>
              <a:rPr lang="en-US" dirty="0"/>
              <a:t>       batteries  - 10,</a:t>
            </a:r>
          </a:p>
          <a:p>
            <a:r>
              <a:rPr lang="en-US" dirty="0" err="1"/>
              <a:t>Centlot</a:t>
            </a:r>
            <a:r>
              <a:rPr lang="en-US" dirty="0"/>
              <a:t> </a:t>
            </a:r>
            <a:r>
              <a:rPr lang="en-US" dirty="0" err="1"/>
              <a:t>xt</a:t>
            </a:r>
            <a:r>
              <a:rPr lang="en-US" dirty="0"/>
              <a:t> M60312V Digital charger controller</a:t>
            </a:r>
          </a:p>
          <a:p>
            <a:endParaRPr lang="en-US" dirty="0"/>
          </a:p>
          <a:p>
            <a:r>
              <a:rPr lang="en-US" dirty="0"/>
              <a:t>Voltage</a:t>
            </a:r>
          </a:p>
          <a:p>
            <a:r>
              <a:rPr lang="en-US" dirty="0"/>
              <a:t>Current </a:t>
            </a:r>
          </a:p>
          <a:p>
            <a:r>
              <a:rPr lang="en-US" dirty="0"/>
              <a:t>Temperature</a:t>
            </a:r>
          </a:p>
        </p:txBody>
      </p:sp>
      <p:pic>
        <p:nvPicPr>
          <p:cNvPr id="2050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B4974D09-3AB5-C10B-4162-24768C0EA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177388" y="3768407"/>
            <a:ext cx="683609" cy="184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8650 Battery Holder 1S PCB Mounted">
            <a:extLst>
              <a:ext uri="{FF2B5EF4-FFF2-40B4-BE49-F238E27FC236}">
                <a16:creationId xmlns:a16="http://schemas.microsoft.com/office/drawing/2014/main" id="{DEE46576-F42F-C33E-B3F8-3ABC73D3A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7" t="36454" r="11443" b="39443"/>
          <a:stretch/>
        </p:blipFill>
        <p:spPr bwMode="auto">
          <a:xfrm rot="5400000">
            <a:off x="-156373" y="4370069"/>
            <a:ext cx="1989146" cy="72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ntIoT - XH-M603 12-24V Digital Control Charge Controller Module - for Lithium Li-ion car Battery">
            <a:extLst>
              <a:ext uri="{FF2B5EF4-FFF2-40B4-BE49-F238E27FC236}">
                <a16:creationId xmlns:a16="http://schemas.microsoft.com/office/drawing/2014/main" id="{423C6DE7-AE89-9E94-8297-F44A5ABB4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2" t="22473" r="8832" b="18942"/>
          <a:stretch/>
        </p:blipFill>
        <p:spPr bwMode="auto">
          <a:xfrm>
            <a:off x="4360264" y="1999915"/>
            <a:ext cx="3333126" cy="23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9E0688-EF0C-7182-F2B8-BD9E2D9B49E0}"/>
              </a:ext>
            </a:extLst>
          </p:cNvPr>
          <p:cNvSpPr/>
          <p:nvPr/>
        </p:nvSpPr>
        <p:spPr>
          <a:xfrm>
            <a:off x="272104" y="1536641"/>
            <a:ext cx="1810568" cy="1300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DC Power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326BC2A-A4A3-8E80-8055-44515B1159D5}"/>
              </a:ext>
            </a:extLst>
          </p:cNvPr>
          <p:cNvCxnSpPr>
            <a:cxnSpLocks/>
          </p:cNvCxnSpPr>
          <p:nvPr/>
        </p:nvCxnSpPr>
        <p:spPr>
          <a:xfrm>
            <a:off x="2096003" y="2183363"/>
            <a:ext cx="2498365" cy="606325"/>
          </a:xfrm>
          <a:prstGeom prst="bentConnector3">
            <a:avLst>
              <a:gd name="adj1" fmla="val 7763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B98C5F6-A58A-A035-A131-3B59677DF2A9}"/>
              </a:ext>
            </a:extLst>
          </p:cNvPr>
          <p:cNvCxnSpPr>
            <a:cxnSpLocks/>
          </p:cNvCxnSpPr>
          <p:nvPr/>
        </p:nvCxnSpPr>
        <p:spPr>
          <a:xfrm>
            <a:off x="2096003" y="2828112"/>
            <a:ext cx="2498365" cy="272137"/>
          </a:xfrm>
          <a:prstGeom prst="bentConnector3">
            <a:avLst>
              <a:gd name="adj1" fmla="val 716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90D8C5D-F601-3862-2BED-0B4138B8FD91}"/>
              </a:ext>
            </a:extLst>
          </p:cNvPr>
          <p:cNvCxnSpPr>
            <a:cxnSpLocks/>
          </p:cNvCxnSpPr>
          <p:nvPr/>
        </p:nvCxnSpPr>
        <p:spPr>
          <a:xfrm flipV="1">
            <a:off x="1519192" y="3353315"/>
            <a:ext cx="3075176" cy="607004"/>
          </a:xfrm>
          <a:prstGeom prst="bentConnector3">
            <a:avLst>
              <a:gd name="adj1" fmla="val 363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B68D873-A270-C8E5-8E34-8F4EC920C88B}"/>
              </a:ext>
            </a:extLst>
          </p:cNvPr>
          <p:cNvCxnSpPr>
            <a:cxnSpLocks/>
          </p:cNvCxnSpPr>
          <p:nvPr/>
        </p:nvCxnSpPr>
        <p:spPr>
          <a:xfrm flipV="1">
            <a:off x="1434070" y="3739702"/>
            <a:ext cx="3267999" cy="1808099"/>
          </a:xfrm>
          <a:prstGeom prst="bentConnector3">
            <a:avLst>
              <a:gd name="adj1" fmla="val 4400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006AFA3-F921-7054-5B17-AD3C71C3A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4" y="5645963"/>
            <a:ext cx="2062481" cy="1132207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5C686836-8225-13BD-1F9D-B73CC14F5E56}"/>
              </a:ext>
            </a:extLst>
          </p:cNvPr>
          <p:cNvSpPr txBox="1"/>
          <p:nvPr/>
        </p:nvSpPr>
        <p:spPr>
          <a:xfrm>
            <a:off x="3068068" y="2073537"/>
            <a:ext cx="626853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M-5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3A173728-62D4-E4AE-AEA2-CAF91B9F09E2}"/>
              </a:ext>
            </a:extLst>
          </p:cNvPr>
          <p:cNvSpPr txBox="1"/>
          <p:nvPr/>
        </p:nvSpPr>
        <p:spPr>
          <a:xfrm>
            <a:off x="3043231" y="3151670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2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7FDF-A64D-70BA-2846-A651F0B0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0E7D9-EB9C-2E83-0842-FF3CBE26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86FC-B252-3303-9677-B5517AF9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DC883-EB7B-C445-4397-A5EEB44D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18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0BA662-04DD-A816-1603-5E41908F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B9A181-8E5E-96BE-2F3D-CFA3F6F4EE72}"/>
              </a:ext>
            </a:extLst>
          </p:cNvPr>
          <p:cNvSpPr txBox="1"/>
          <p:nvPr/>
        </p:nvSpPr>
        <p:spPr>
          <a:xfrm>
            <a:off x="8153400" y="1544197"/>
            <a:ext cx="3333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4</a:t>
            </a:r>
          </a:p>
          <a:p>
            <a:pPr marL="342900" indent="-342900">
              <a:buAutoNum type="arabicPeriod"/>
            </a:pPr>
            <a:r>
              <a:rPr lang="en-US" dirty="0"/>
              <a:t>Swapping </a:t>
            </a:r>
          </a:p>
          <a:p>
            <a:r>
              <a:rPr lang="en-US" dirty="0"/>
              <a:t>       batteries  - 3*4 = 12,</a:t>
            </a:r>
          </a:p>
          <a:p>
            <a:r>
              <a:rPr lang="en-US" dirty="0" err="1"/>
              <a:t>Centlot</a:t>
            </a:r>
            <a:r>
              <a:rPr lang="en-US" dirty="0"/>
              <a:t> </a:t>
            </a:r>
            <a:r>
              <a:rPr lang="en-US" dirty="0" err="1"/>
              <a:t>xt</a:t>
            </a:r>
            <a:r>
              <a:rPr lang="en-US" dirty="0"/>
              <a:t> M60312V Digital charger controller</a:t>
            </a:r>
          </a:p>
          <a:p>
            <a:endParaRPr lang="en-US" dirty="0"/>
          </a:p>
          <a:p>
            <a:r>
              <a:rPr lang="en-US" dirty="0"/>
              <a:t>Voltage</a:t>
            </a:r>
          </a:p>
          <a:p>
            <a:r>
              <a:rPr lang="en-US" dirty="0"/>
              <a:t>Current </a:t>
            </a:r>
          </a:p>
          <a:p>
            <a:r>
              <a:rPr lang="en-US" dirty="0"/>
              <a:t>Temperature</a:t>
            </a:r>
          </a:p>
        </p:txBody>
      </p:sp>
      <p:pic>
        <p:nvPicPr>
          <p:cNvPr id="2054" name="Picture 6" descr="CentIoT - XH-M603 12-24V Digital Control Charge Controller Module - for Lithium Li-ion car Battery">
            <a:extLst>
              <a:ext uri="{FF2B5EF4-FFF2-40B4-BE49-F238E27FC236}">
                <a16:creationId xmlns:a16="http://schemas.microsoft.com/office/drawing/2014/main" id="{94AE2EF3-DC0E-66F1-F4DA-228F41AEC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2" t="22473" r="8832" b="18942"/>
          <a:stretch/>
        </p:blipFill>
        <p:spPr bwMode="auto">
          <a:xfrm>
            <a:off x="4360264" y="1999915"/>
            <a:ext cx="3333126" cy="23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633E51-1736-29EF-08B8-1423A64D6E10}"/>
              </a:ext>
            </a:extLst>
          </p:cNvPr>
          <p:cNvSpPr/>
          <p:nvPr/>
        </p:nvSpPr>
        <p:spPr>
          <a:xfrm>
            <a:off x="272104" y="1536641"/>
            <a:ext cx="1810568" cy="1300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DC Power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89BCE9D-6569-9DD3-40B2-4FA64811D90A}"/>
              </a:ext>
            </a:extLst>
          </p:cNvPr>
          <p:cNvCxnSpPr>
            <a:cxnSpLocks/>
          </p:cNvCxnSpPr>
          <p:nvPr/>
        </p:nvCxnSpPr>
        <p:spPr>
          <a:xfrm>
            <a:off x="2096003" y="2183363"/>
            <a:ext cx="2498365" cy="606325"/>
          </a:xfrm>
          <a:prstGeom prst="bentConnector3">
            <a:avLst>
              <a:gd name="adj1" fmla="val 7763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44B52D9-6584-1CFB-6B76-3283A5D3D0DF}"/>
              </a:ext>
            </a:extLst>
          </p:cNvPr>
          <p:cNvCxnSpPr>
            <a:cxnSpLocks/>
          </p:cNvCxnSpPr>
          <p:nvPr/>
        </p:nvCxnSpPr>
        <p:spPr>
          <a:xfrm>
            <a:off x="2096003" y="2828112"/>
            <a:ext cx="2498365" cy="272137"/>
          </a:xfrm>
          <a:prstGeom prst="bentConnector3">
            <a:avLst>
              <a:gd name="adj1" fmla="val 716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64D9880-4FD9-D17B-E1D3-7CC49536DDAC}"/>
              </a:ext>
            </a:extLst>
          </p:cNvPr>
          <p:cNvCxnSpPr>
            <a:cxnSpLocks/>
          </p:cNvCxnSpPr>
          <p:nvPr/>
        </p:nvCxnSpPr>
        <p:spPr>
          <a:xfrm flipV="1">
            <a:off x="1519192" y="3353315"/>
            <a:ext cx="3075176" cy="607004"/>
          </a:xfrm>
          <a:prstGeom prst="bentConnector3">
            <a:avLst>
              <a:gd name="adj1" fmla="val 363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D054B00-0570-5829-D45D-55AB6CD06788}"/>
              </a:ext>
            </a:extLst>
          </p:cNvPr>
          <p:cNvCxnSpPr>
            <a:cxnSpLocks/>
          </p:cNvCxnSpPr>
          <p:nvPr/>
        </p:nvCxnSpPr>
        <p:spPr>
          <a:xfrm flipV="1">
            <a:off x="1434070" y="3739702"/>
            <a:ext cx="3267999" cy="1808099"/>
          </a:xfrm>
          <a:prstGeom prst="bentConnector3">
            <a:avLst>
              <a:gd name="adj1" fmla="val 4400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5EAD538-BADF-BCE9-8BFC-115C242D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72" y="3822424"/>
            <a:ext cx="1905000" cy="1905000"/>
          </a:xfrm>
          <a:prstGeom prst="rect">
            <a:avLst/>
          </a:prstGeom>
        </p:spPr>
      </p:pic>
      <p:pic>
        <p:nvPicPr>
          <p:cNvPr id="7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F2BD2CF5-0ED4-CCEA-A33A-4405E8D5E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734002" y="4325505"/>
            <a:ext cx="337855" cy="108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991BF62B-7AC0-0B8C-B2BC-E502F477F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145039" y="4298024"/>
            <a:ext cx="400956" cy="108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47A1667B-35E4-E8F0-318A-7FFC70D474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616094" y="4310131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3B08F1C3-B5AF-3A93-3951-7E2AE958B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301062" y="4298024"/>
            <a:ext cx="400956" cy="108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427251-69D2-A254-CFD8-67B08E886658}"/>
              </a:ext>
            </a:extLst>
          </p:cNvPr>
          <p:cNvSpPr txBox="1"/>
          <p:nvPr/>
        </p:nvSpPr>
        <p:spPr>
          <a:xfrm>
            <a:off x="2914707" y="1964659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M-5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01AB0-E402-46A0-63CC-5F95E9E4103E}"/>
              </a:ext>
            </a:extLst>
          </p:cNvPr>
          <p:cNvSpPr txBox="1"/>
          <p:nvPr/>
        </p:nvSpPr>
        <p:spPr>
          <a:xfrm>
            <a:off x="3043231" y="3151670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M-7</a:t>
            </a:r>
          </a:p>
          <a:p>
            <a:endParaRPr lang="en-US" dirty="0"/>
          </a:p>
        </p:txBody>
      </p:sp>
      <p:pic>
        <p:nvPicPr>
          <p:cNvPr id="14" name="Picture 16" descr="Electric Vehicle Charging and the ...">
            <a:extLst>
              <a:ext uri="{FF2B5EF4-FFF2-40B4-BE49-F238E27FC236}">
                <a16:creationId xmlns:a16="http://schemas.microsoft.com/office/drawing/2014/main" id="{ED26A157-6038-CB18-BD9D-8F051F8FB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1" y="4935130"/>
            <a:ext cx="3260369" cy="156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112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A270-1C26-9EF9-38E3-E30311F0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65D3-7FCB-C588-12B9-1A0F7456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616A8-14C4-07B0-2121-9CACC00D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D400B-33A3-71CF-7775-9A94C35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19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1A1111-5921-6C99-1A73-FBFE0B4B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 unit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9C1A3-DBE4-D36A-B2FB-71D7BA9C4346}"/>
              </a:ext>
            </a:extLst>
          </p:cNvPr>
          <p:cNvSpPr txBox="1"/>
          <p:nvPr/>
        </p:nvSpPr>
        <p:spPr>
          <a:xfrm>
            <a:off x="8153400" y="1544197"/>
            <a:ext cx="3333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5</a:t>
            </a:r>
          </a:p>
          <a:p>
            <a:endParaRPr lang="en-US" dirty="0"/>
          </a:p>
          <a:p>
            <a:r>
              <a:rPr lang="en-US" dirty="0" err="1"/>
              <a:t>Xcluma</a:t>
            </a:r>
            <a:r>
              <a:rPr lang="en-US" dirty="0"/>
              <a:t> XHM240 - 18650</a:t>
            </a:r>
          </a:p>
        </p:txBody>
      </p:sp>
      <p:pic>
        <p:nvPicPr>
          <p:cNvPr id="6146" name="Picture 2" descr="Xcluma XH M2240 18650 from robu.in">
            <a:extLst>
              <a:ext uri="{FF2B5EF4-FFF2-40B4-BE49-F238E27FC236}">
                <a16:creationId xmlns:a16="http://schemas.microsoft.com/office/drawing/2014/main" id="{877D85BF-0359-5AAC-0B26-8A33BBD37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1" t="22735" r="11905" b="25295"/>
          <a:stretch/>
        </p:blipFill>
        <p:spPr bwMode="auto">
          <a:xfrm>
            <a:off x="2836506" y="1959781"/>
            <a:ext cx="4025219" cy="27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6DD70629-8F09-D733-84AE-BACC7E86E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3176107" y="2649298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999143C2-A2B0-5050-1B10-DE735595B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6014445" y="2607310"/>
            <a:ext cx="396479" cy="107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556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20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401073" y="129800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80102" y="2319994"/>
            <a:ext cx="2167021" cy="165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18" y="4362488"/>
            <a:ext cx="1786784" cy="1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74B7A5-1E12-DA8A-05EC-D65BC0C1E4CA}"/>
              </a:ext>
            </a:extLst>
          </p:cNvPr>
          <p:cNvSpPr txBox="1"/>
          <p:nvPr/>
        </p:nvSpPr>
        <p:spPr>
          <a:xfrm>
            <a:off x="2088502" y="423027"/>
            <a:ext cx="3704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Solar </a:t>
            </a:r>
          </a:p>
          <a:p>
            <a:r>
              <a:rPr lang="en-US" dirty="0"/>
              <a:t>M/c – 1</a:t>
            </a:r>
          </a:p>
          <a:p>
            <a:r>
              <a:rPr lang="en-US" dirty="0"/>
              <a:t>Voltage, Current, Temp, Humidity, Light Intensity, SW – On/OFF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79F70-F40B-BD60-2573-8B322D3A2D43}"/>
              </a:ext>
            </a:extLst>
          </p:cNvPr>
          <p:cNvSpPr txBox="1"/>
          <p:nvPr/>
        </p:nvSpPr>
        <p:spPr>
          <a:xfrm>
            <a:off x="2247123" y="2545361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</a:t>
            </a:r>
          </a:p>
          <a:p>
            <a:r>
              <a:rPr lang="en-US" dirty="0"/>
              <a:t>M/c – 2</a:t>
            </a:r>
          </a:p>
          <a:p>
            <a:r>
              <a:rPr lang="en-US" dirty="0"/>
              <a:t>Voltage, Current, SW – On/OFF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87C33-81CD-F62E-F069-F5EFD0AEFB31}"/>
              </a:ext>
            </a:extLst>
          </p:cNvPr>
          <p:cNvSpPr txBox="1"/>
          <p:nvPr/>
        </p:nvSpPr>
        <p:spPr>
          <a:xfrm>
            <a:off x="2088501" y="4450855"/>
            <a:ext cx="37042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Grid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AC – DC  - Adopter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Voltage, Current , SW – M/C_3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DC – AC Converter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Current(AC - Sensors) SW – M/C_4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83F5A3-A391-16E6-B70B-37AD5EB4A9AA}"/>
              </a:ext>
            </a:extLst>
          </p:cNvPr>
          <p:cNvSpPr txBox="1"/>
          <p:nvPr/>
        </p:nvSpPr>
        <p:spPr>
          <a:xfrm>
            <a:off x="5792754" y="2545361"/>
            <a:ext cx="943156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M/C – 1</a:t>
            </a:r>
          </a:p>
          <a:p>
            <a:r>
              <a:rPr lang="en-US" dirty="0"/>
              <a:t>M/C - 2</a:t>
            </a:r>
          </a:p>
          <a:p>
            <a:r>
              <a:rPr lang="en-US" dirty="0"/>
              <a:t>M/C - 3</a:t>
            </a:r>
          </a:p>
          <a:p>
            <a:r>
              <a:rPr lang="en-US" dirty="0"/>
              <a:t>M/C - 4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03CADC-BC19-ED22-3292-690E38E0CD5C}"/>
              </a:ext>
            </a:extLst>
          </p:cNvPr>
          <p:cNvCxnSpPr/>
          <p:nvPr/>
        </p:nvCxnSpPr>
        <p:spPr>
          <a:xfrm>
            <a:off x="4926563" y="1502229"/>
            <a:ext cx="866191" cy="9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D722DC-1303-0655-E9E8-7A200666D90C}"/>
              </a:ext>
            </a:extLst>
          </p:cNvPr>
          <p:cNvCxnSpPr/>
          <p:nvPr/>
        </p:nvCxnSpPr>
        <p:spPr>
          <a:xfrm>
            <a:off x="4945224" y="3121999"/>
            <a:ext cx="746449" cy="2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226A18-5216-2934-82E0-6C901924D4A1}"/>
              </a:ext>
            </a:extLst>
          </p:cNvPr>
          <p:cNvCxnSpPr/>
          <p:nvPr/>
        </p:nvCxnSpPr>
        <p:spPr>
          <a:xfrm flipV="1">
            <a:off x="4414144" y="3816220"/>
            <a:ext cx="1378610" cy="1651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Raspberry Pi 4 Computer, Model B, 4GB ...">
            <a:extLst>
              <a:ext uri="{FF2B5EF4-FFF2-40B4-BE49-F238E27FC236}">
                <a16:creationId xmlns:a16="http://schemas.microsoft.com/office/drawing/2014/main" id="{A58B0812-3F91-CE03-B00B-6678A63B3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914" y="2420318"/>
            <a:ext cx="2235719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929591-2619-CBBF-7D5A-7801DC2411F8}"/>
              </a:ext>
            </a:extLst>
          </p:cNvPr>
          <p:cNvCxnSpPr/>
          <p:nvPr/>
        </p:nvCxnSpPr>
        <p:spPr>
          <a:xfrm>
            <a:off x="6836991" y="3145525"/>
            <a:ext cx="282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6" descr="upload.wikimedia.org/wikipedia/commons/thumb/2/2b/...">
            <a:extLst>
              <a:ext uri="{FF2B5EF4-FFF2-40B4-BE49-F238E27FC236}">
                <a16:creationId xmlns:a16="http://schemas.microsoft.com/office/drawing/2014/main" id="{058BB8FD-DF09-DCDB-28CE-15CA824D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922" y="4273334"/>
            <a:ext cx="1092474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AWS Cloud Practitioner Tutorial">
            <a:extLst>
              <a:ext uri="{FF2B5EF4-FFF2-40B4-BE49-F238E27FC236}">
                <a16:creationId xmlns:a16="http://schemas.microsoft.com/office/drawing/2014/main" id="{935731A7-DB1D-E3EE-F9F8-6C568CBFF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79" y="4273334"/>
            <a:ext cx="1170508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 design user interface UI for website ...">
            <a:extLst>
              <a:ext uri="{FF2B5EF4-FFF2-40B4-BE49-F238E27FC236}">
                <a16:creationId xmlns:a16="http://schemas.microsoft.com/office/drawing/2014/main" id="{87E055DC-FA65-7012-A7B2-2BD4F94FF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126" y="4129502"/>
            <a:ext cx="1797990" cy="119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9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13BF-5279-74D1-11DA-D148B78D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DA5E-86E0-40EA-AB48-D796503B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EA67-01AB-491A-7F29-FB65A5F2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3EB-3E28-296A-B70B-09E0F65E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21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22EBA-66B6-B623-94BB-2068C3E8BA92}"/>
              </a:ext>
            </a:extLst>
          </p:cNvPr>
          <p:cNvSpPr txBox="1"/>
          <p:nvPr/>
        </p:nvSpPr>
        <p:spPr>
          <a:xfrm>
            <a:off x="2088502" y="423027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Swapping station</a:t>
            </a:r>
          </a:p>
          <a:p>
            <a:r>
              <a:rPr lang="en-US" dirty="0"/>
              <a:t>M/c – 5</a:t>
            </a:r>
          </a:p>
          <a:p>
            <a:r>
              <a:rPr lang="en-US" dirty="0"/>
              <a:t>Voltage, Current SW – On/OFF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C58D8-9AA0-CC5F-9260-B5F5BDC7F30B}"/>
              </a:ext>
            </a:extLst>
          </p:cNvPr>
          <p:cNvSpPr txBox="1"/>
          <p:nvPr/>
        </p:nvSpPr>
        <p:spPr>
          <a:xfrm>
            <a:off x="2088501" y="4450855"/>
            <a:ext cx="37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Fast Charging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M/C_6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Voltage, Current, SW – M/C_4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ED0A41-5FEB-57C7-B9FB-FA2ED96623CD}"/>
              </a:ext>
            </a:extLst>
          </p:cNvPr>
          <p:cNvSpPr txBox="1"/>
          <p:nvPr/>
        </p:nvSpPr>
        <p:spPr>
          <a:xfrm>
            <a:off x="5792754" y="2545361"/>
            <a:ext cx="943156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M/C – 1</a:t>
            </a:r>
          </a:p>
          <a:p>
            <a:r>
              <a:rPr lang="en-US" dirty="0"/>
              <a:t>M/C - 2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CE07BB-D041-7770-A166-97C011B3F74F}"/>
              </a:ext>
            </a:extLst>
          </p:cNvPr>
          <p:cNvCxnSpPr/>
          <p:nvPr/>
        </p:nvCxnSpPr>
        <p:spPr>
          <a:xfrm>
            <a:off x="4926563" y="1502229"/>
            <a:ext cx="866191" cy="9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BBF91D-FA49-5CAF-1747-9725AB265A1E}"/>
              </a:ext>
            </a:extLst>
          </p:cNvPr>
          <p:cNvCxnSpPr>
            <a:cxnSpLocks/>
          </p:cNvCxnSpPr>
          <p:nvPr/>
        </p:nvCxnSpPr>
        <p:spPr>
          <a:xfrm flipV="1">
            <a:off x="3674564" y="3191692"/>
            <a:ext cx="2017109" cy="125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Raspberry Pi 4 Computer, Model B, 4GB ...">
            <a:extLst>
              <a:ext uri="{FF2B5EF4-FFF2-40B4-BE49-F238E27FC236}">
                <a16:creationId xmlns:a16="http://schemas.microsoft.com/office/drawing/2014/main" id="{AE5302E9-240F-3E6B-B829-38FC072C8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914" y="2420318"/>
            <a:ext cx="2235719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BFB455-1761-C41A-8547-67229249E337}"/>
              </a:ext>
            </a:extLst>
          </p:cNvPr>
          <p:cNvCxnSpPr/>
          <p:nvPr/>
        </p:nvCxnSpPr>
        <p:spPr>
          <a:xfrm>
            <a:off x="6836991" y="3145525"/>
            <a:ext cx="282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6" descr="upload.wikimedia.org/wikipedia/commons/thumb/2/2b/...">
            <a:extLst>
              <a:ext uri="{FF2B5EF4-FFF2-40B4-BE49-F238E27FC236}">
                <a16:creationId xmlns:a16="http://schemas.microsoft.com/office/drawing/2014/main" id="{52DC1D60-B5AD-65FE-4369-AC6E3FB56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922" y="4273334"/>
            <a:ext cx="1092474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AWS Cloud Practitioner Tutorial">
            <a:extLst>
              <a:ext uri="{FF2B5EF4-FFF2-40B4-BE49-F238E27FC236}">
                <a16:creationId xmlns:a16="http://schemas.microsoft.com/office/drawing/2014/main" id="{2C8EB574-CA0D-92DF-8BE8-E7B902C03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79" y="4273334"/>
            <a:ext cx="1170508" cy="10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 design user interface UI for website ...">
            <a:extLst>
              <a:ext uri="{FF2B5EF4-FFF2-40B4-BE49-F238E27FC236}">
                <a16:creationId xmlns:a16="http://schemas.microsoft.com/office/drawing/2014/main" id="{326F948F-02EC-D4F0-2F03-1B66EF535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126" y="4129502"/>
            <a:ext cx="1797990" cy="119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8912DC-5753-470A-19C1-A176D8FA96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0" y="491149"/>
            <a:ext cx="2062481" cy="1132207"/>
          </a:xfrm>
          <a:prstGeom prst="rect">
            <a:avLst/>
          </a:prstGeom>
        </p:spPr>
      </p:pic>
      <p:pic>
        <p:nvPicPr>
          <p:cNvPr id="7" name="Picture 16" descr="Electric Vehicle Charging and the ...">
            <a:extLst>
              <a:ext uri="{FF2B5EF4-FFF2-40B4-BE49-F238E27FC236}">
                <a16:creationId xmlns:a16="http://schemas.microsoft.com/office/drawing/2014/main" id="{62C1B2EB-3F55-2109-9198-CAA0B18FF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3" y="4727741"/>
            <a:ext cx="1841277" cy="113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436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EA43-92A7-C633-D81C-B2AE43E9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4B29-502E-5D1E-5F33-97ADFBE4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10/2/2025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35205-CAC6-D80D-38D9-5FA31DFA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7598-DE70-3766-24B9-9A317FAA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22</a:t>
            </a:fld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62621E-8707-590A-18AF-9779DAB2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928" y="-85209"/>
            <a:ext cx="5061799" cy="80764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source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97848-7044-96A5-9D15-CAA5846A0062}"/>
              </a:ext>
            </a:extLst>
          </p:cNvPr>
          <p:cNvSpPr txBox="1"/>
          <p:nvPr/>
        </p:nvSpPr>
        <p:spPr>
          <a:xfrm>
            <a:off x="8153400" y="1544197"/>
            <a:ext cx="33331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Procurement_ Part – 3</a:t>
            </a:r>
          </a:p>
          <a:p>
            <a:pPr marL="342900" indent="-342900">
              <a:buAutoNum type="arabicPeriod"/>
            </a:pPr>
            <a:r>
              <a:rPr lang="en-US" dirty="0"/>
              <a:t>Swapping </a:t>
            </a:r>
          </a:p>
          <a:p>
            <a:r>
              <a:rPr lang="en-US" dirty="0"/>
              <a:t>       batteries  - 10,</a:t>
            </a:r>
          </a:p>
          <a:p>
            <a:r>
              <a:rPr lang="en-US" dirty="0" err="1"/>
              <a:t>Centlot</a:t>
            </a:r>
            <a:r>
              <a:rPr lang="en-US" dirty="0"/>
              <a:t> </a:t>
            </a:r>
            <a:r>
              <a:rPr lang="en-US" dirty="0" err="1"/>
              <a:t>xt</a:t>
            </a:r>
            <a:r>
              <a:rPr lang="en-US" dirty="0"/>
              <a:t> M60312V Digital charger controller</a:t>
            </a:r>
          </a:p>
          <a:p>
            <a:endParaRPr lang="en-US" dirty="0"/>
          </a:p>
          <a:p>
            <a:r>
              <a:rPr lang="en-US" dirty="0"/>
              <a:t>Voltage</a:t>
            </a:r>
          </a:p>
          <a:p>
            <a:r>
              <a:rPr lang="en-US" dirty="0"/>
              <a:t>Current </a:t>
            </a:r>
          </a:p>
          <a:p>
            <a:r>
              <a:rPr lang="en-US" dirty="0"/>
              <a:t>Temperature</a:t>
            </a:r>
          </a:p>
        </p:txBody>
      </p:sp>
      <p:pic>
        <p:nvPicPr>
          <p:cNvPr id="2050" name="Picture 2" descr="Buy 18650 2550mah Lithium Ion Battery - BAK - 3C Discharge Rate - KTRON  India">
            <a:extLst>
              <a:ext uri="{FF2B5EF4-FFF2-40B4-BE49-F238E27FC236}">
                <a16:creationId xmlns:a16="http://schemas.microsoft.com/office/drawing/2014/main" id="{B4974D09-3AB5-C10B-4162-24768C0EA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4" t="16312" r="36761" b="16170"/>
          <a:stretch/>
        </p:blipFill>
        <p:spPr bwMode="auto">
          <a:xfrm>
            <a:off x="1177388" y="3768407"/>
            <a:ext cx="683609" cy="184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8650 Battery Holder 1S PCB Mounted">
            <a:extLst>
              <a:ext uri="{FF2B5EF4-FFF2-40B4-BE49-F238E27FC236}">
                <a16:creationId xmlns:a16="http://schemas.microsoft.com/office/drawing/2014/main" id="{DEE46576-F42F-C33E-B3F8-3ABC73D3A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7" t="36454" r="11443" b="39443"/>
          <a:stretch/>
        </p:blipFill>
        <p:spPr bwMode="auto">
          <a:xfrm rot="5400000">
            <a:off x="-156373" y="4370069"/>
            <a:ext cx="1989146" cy="72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ntIoT - XH-M603 12-24V Digital Control Charge Controller Module - for Lithium Li-ion car Battery">
            <a:extLst>
              <a:ext uri="{FF2B5EF4-FFF2-40B4-BE49-F238E27FC236}">
                <a16:creationId xmlns:a16="http://schemas.microsoft.com/office/drawing/2014/main" id="{423C6DE7-AE89-9E94-8297-F44A5ABB4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2" t="22473" r="8832" b="18942"/>
          <a:stretch/>
        </p:blipFill>
        <p:spPr bwMode="auto">
          <a:xfrm>
            <a:off x="4360264" y="1999915"/>
            <a:ext cx="3333126" cy="23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9E0688-EF0C-7182-F2B8-BD9E2D9B49E0}"/>
              </a:ext>
            </a:extLst>
          </p:cNvPr>
          <p:cNvSpPr/>
          <p:nvPr/>
        </p:nvSpPr>
        <p:spPr>
          <a:xfrm>
            <a:off x="272104" y="1536641"/>
            <a:ext cx="1810568" cy="1300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DC Power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326BC2A-A4A3-8E80-8055-44515B1159D5}"/>
              </a:ext>
            </a:extLst>
          </p:cNvPr>
          <p:cNvCxnSpPr>
            <a:cxnSpLocks/>
          </p:cNvCxnSpPr>
          <p:nvPr/>
        </p:nvCxnSpPr>
        <p:spPr>
          <a:xfrm>
            <a:off x="2096003" y="2183363"/>
            <a:ext cx="2498365" cy="606325"/>
          </a:xfrm>
          <a:prstGeom prst="bentConnector3">
            <a:avLst>
              <a:gd name="adj1" fmla="val 7763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B98C5F6-A58A-A035-A131-3B59677DF2A9}"/>
              </a:ext>
            </a:extLst>
          </p:cNvPr>
          <p:cNvCxnSpPr>
            <a:cxnSpLocks/>
          </p:cNvCxnSpPr>
          <p:nvPr/>
        </p:nvCxnSpPr>
        <p:spPr>
          <a:xfrm>
            <a:off x="2096003" y="2828112"/>
            <a:ext cx="2498365" cy="272137"/>
          </a:xfrm>
          <a:prstGeom prst="bentConnector3">
            <a:avLst>
              <a:gd name="adj1" fmla="val 716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90D8C5D-F601-3862-2BED-0B4138B8FD91}"/>
              </a:ext>
            </a:extLst>
          </p:cNvPr>
          <p:cNvCxnSpPr>
            <a:cxnSpLocks/>
          </p:cNvCxnSpPr>
          <p:nvPr/>
        </p:nvCxnSpPr>
        <p:spPr>
          <a:xfrm flipV="1">
            <a:off x="1519192" y="3353315"/>
            <a:ext cx="3075176" cy="607004"/>
          </a:xfrm>
          <a:prstGeom prst="bentConnector3">
            <a:avLst>
              <a:gd name="adj1" fmla="val 363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B68D873-A270-C8E5-8E34-8F4EC920C88B}"/>
              </a:ext>
            </a:extLst>
          </p:cNvPr>
          <p:cNvCxnSpPr>
            <a:cxnSpLocks/>
          </p:cNvCxnSpPr>
          <p:nvPr/>
        </p:nvCxnSpPr>
        <p:spPr>
          <a:xfrm flipV="1">
            <a:off x="1434070" y="3739702"/>
            <a:ext cx="3267999" cy="1808099"/>
          </a:xfrm>
          <a:prstGeom prst="bentConnector3">
            <a:avLst>
              <a:gd name="adj1" fmla="val 4400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006AFA3-F921-7054-5B17-AD3C71C3A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4" y="5645963"/>
            <a:ext cx="2062481" cy="1132207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5C686836-8225-13BD-1F9D-B73CC14F5E56}"/>
              </a:ext>
            </a:extLst>
          </p:cNvPr>
          <p:cNvSpPr txBox="1"/>
          <p:nvPr/>
        </p:nvSpPr>
        <p:spPr>
          <a:xfrm>
            <a:off x="3068068" y="2073537"/>
            <a:ext cx="626853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M-5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3A173728-62D4-E4AE-AEA2-CAF91B9F09E2}"/>
              </a:ext>
            </a:extLst>
          </p:cNvPr>
          <p:cNvSpPr txBox="1"/>
          <p:nvPr/>
        </p:nvSpPr>
        <p:spPr>
          <a:xfrm>
            <a:off x="3043231" y="3151670"/>
            <a:ext cx="626853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9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265F6-3163-7DC9-0CB5-BF3A8A8E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 of Material’s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091C5B-7359-C1B9-3E06-058C69162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377756"/>
              </p:ext>
            </p:extLst>
          </p:nvPr>
        </p:nvGraphicFramePr>
        <p:xfrm>
          <a:off x="1733493" y="1825625"/>
          <a:ext cx="8725017" cy="4351344"/>
        </p:xfrm>
        <a:graphic>
          <a:graphicData uri="http://schemas.openxmlformats.org/drawingml/2006/table">
            <a:tbl>
              <a:tblPr/>
              <a:tblGrid>
                <a:gridCol w="652639">
                  <a:extLst>
                    <a:ext uri="{9D8B030D-6E8A-4147-A177-3AD203B41FA5}">
                      <a16:colId xmlns:a16="http://schemas.microsoft.com/office/drawing/2014/main" val="2388820773"/>
                    </a:ext>
                  </a:extLst>
                </a:gridCol>
                <a:gridCol w="2675341">
                  <a:extLst>
                    <a:ext uri="{9D8B030D-6E8A-4147-A177-3AD203B41FA5}">
                      <a16:colId xmlns:a16="http://schemas.microsoft.com/office/drawing/2014/main" val="3584929511"/>
                    </a:ext>
                  </a:extLst>
                </a:gridCol>
                <a:gridCol w="552556">
                  <a:extLst>
                    <a:ext uri="{9D8B030D-6E8A-4147-A177-3AD203B41FA5}">
                      <a16:colId xmlns:a16="http://schemas.microsoft.com/office/drawing/2014/main" val="2855139925"/>
                    </a:ext>
                  </a:extLst>
                </a:gridCol>
                <a:gridCol w="2606864">
                  <a:extLst>
                    <a:ext uri="{9D8B030D-6E8A-4147-A177-3AD203B41FA5}">
                      <a16:colId xmlns:a16="http://schemas.microsoft.com/office/drawing/2014/main" val="3477286469"/>
                    </a:ext>
                  </a:extLst>
                </a:gridCol>
                <a:gridCol w="1079303">
                  <a:extLst>
                    <a:ext uri="{9D8B030D-6E8A-4147-A177-3AD203B41FA5}">
                      <a16:colId xmlns:a16="http://schemas.microsoft.com/office/drawing/2014/main" val="1959297452"/>
                    </a:ext>
                  </a:extLst>
                </a:gridCol>
                <a:gridCol w="1158314">
                  <a:extLst>
                    <a:ext uri="{9D8B030D-6E8A-4147-A177-3AD203B41FA5}">
                      <a16:colId xmlns:a16="http://schemas.microsoft.com/office/drawing/2014/main" val="81147030"/>
                    </a:ext>
                  </a:extLst>
                </a:gridCol>
              </a:tblGrid>
              <a:tr h="6295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Component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Cost (₹)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(₹)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709947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 Panel (110W)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23.02V, Polycrystalline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420104"/>
                  </a:ext>
                </a:extLst>
              </a:tr>
              <a:tr h="62956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 Charge Controller (30A)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PWM, 12V/24V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499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998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298131"/>
                  </a:ext>
                </a:extLst>
              </a:tr>
              <a:tr h="62956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Lead-Acid Battery (12V 15Ah)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Sealed, Rechargeable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1299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2598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3143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ESP32 Microcontroller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WiFi + Bluetooth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85169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DC-DC Converter (1500W)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12-48V to 24-72V Boost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33855"/>
                  </a:ext>
                </a:extLst>
              </a:tr>
              <a:tr h="62956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Voltage/Current Sensors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ACS712 (30A), ZMPT101B (AC)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9490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Raspberry Pi 3B+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 Real time monitoring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152343"/>
                  </a:ext>
                </a:extLst>
              </a:tr>
              <a:tr h="427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12213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16426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642" marR="12642" marT="126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50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28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392" y="881351"/>
            <a:ext cx="10640754" cy="77584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2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482" y="5110480"/>
            <a:ext cx="2975664" cy="10712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10/2/2025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FA02C-461D-D6B5-C5C1-B7874A5D0625}"/>
              </a:ext>
            </a:extLst>
          </p:cNvPr>
          <p:cNvSpPr txBox="1"/>
          <p:nvPr/>
        </p:nvSpPr>
        <p:spPr>
          <a:xfrm>
            <a:off x="334297" y="2330669"/>
            <a:ext cx="11856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"Engineering is the closest thing to magic that exists in the world." </a:t>
            </a:r>
          </a:p>
          <a:p>
            <a:pPr algn="r"/>
            <a:r>
              <a:rPr lang="en-US" sz="2800" b="0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 Elon Musk</a:t>
            </a: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1713</Words>
  <Application>Microsoft Office PowerPoint</Application>
  <PresentationFormat>Widescreen</PresentationFormat>
  <Paragraphs>420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ADLaM Display</vt:lpstr>
      <vt:lpstr>Aptos</vt:lpstr>
      <vt:lpstr>Aptos Display</vt:lpstr>
      <vt:lpstr>Arial</vt:lpstr>
      <vt:lpstr>Calibri</vt:lpstr>
      <vt:lpstr>DeepSeek-CJK-patch</vt:lpstr>
      <vt:lpstr>Times New Roman</vt:lpstr>
      <vt:lpstr>var(--font-fk-grotesk)</vt:lpstr>
      <vt:lpstr>Wingdings</vt:lpstr>
      <vt:lpstr>Office Theme</vt:lpstr>
      <vt:lpstr>Title –  Design of IOT Architecture for Battery Charging Management Technology</vt:lpstr>
      <vt:lpstr>Outline</vt:lpstr>
      <vt:lpstr>Problem Statement Challenges in Current EV Charging Infrastructure</vt:lpstr>
      <vt:lpstr>PowerPoint Presentation</vt:lpstr>
      <vt:lpstr>Types of Charging Technology</vt:lpstr>
      <vt:lpstr>Scope &amp; Deliverables</vt:lpstr>
      <vt:lpstr>Technical Specifications</vt:lpstr>
      <vt:lpstr>System Design</vt:lpstr>
      <vt:lpstr>Plan of Action (4 Milestones)</vt:lpstr>
      <vt:lpstr>Budget Breakdown</vt:lpstr>
      <vt:lpstr>System Design</vt:lpstr>
      <vt:lpstr>PCC integration and Automation</vt:lpstr>
      <vt:lpstr>End to End Flow</vt:lpstr>
      <vt:lpstr>Automation Energy Sensor monitoring</vt:lpstr>
      <vt:lpstr>Integrating Energy source</vt:lpstr>
      <vt:lpstr>Automation Energy source</vt:lpstr>
      <vt:lpstr>Load source</vt:lpstr>
      <vt:lpstr>Load source</vt:lpstr>
      <vt:lpstr>Discharge unit</vt:lpstr>
      <vt:lpstr>PowerPoint Presentation</vt:lpstr>
      <vt:lpstr>PowerPoint Presentation</vt:lpstr>
      <vt:lpstr>Load source</vt:lpstr>
      <vt:lpstr>Bill of Material’s 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jagadeeswara kamarajugadda | AP23122100002</dc:creator>
  <cp:lastModifiedBy>jagadeeswara kamarajugadda | AP23122100002</cp:lastModifiedBy>
  <cp:revision>65</cp:revision>
  <dcterms:created xsi:type="dcterms:W3CDTF">2024-11-26T14:37:38Z</dcterms:created>
  <dcterms:modified xsi:type="dcterms:W3CDTF">2025-10-03T05:23:21Z</dcterms:modified>
</cp:coreProperties>
</file>