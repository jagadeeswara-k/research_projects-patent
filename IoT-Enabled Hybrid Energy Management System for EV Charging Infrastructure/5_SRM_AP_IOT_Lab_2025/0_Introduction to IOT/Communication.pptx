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3" r:id="rId8"/>
    <p:sldId id="260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2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07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8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18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5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8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24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83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5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1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46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3A2CA-68A4-2DDD-BCD7-8FD6A87E8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163" y="223520"/>
            <a:ext cx="8127574" cy="863600"/>
          </a:xfrm>
        </p:spPr>
        <p:txBody>
          <a:bodyPr/>
          <a:lstStyle/>
          <a:p>
            <a:r>
              <a:rPr lang="en-US" dirty="0"/>
              <a:t>IOT Communication</a:t>
            </a:r>
          </a:p>
        </p:txBody>
      </p:sp>
      <p:pic>
        <p:nvPicPr>
          <p:cNvPr id="1026" name="Picture 2" descr="Smart Home: A Complete Guide for a ...">
            <a:extLst>
              <a:ext uri="{FF2B5EF4-FFF2-40B4-BE49-F238E27FC236}">
                <a16:creationId xmlns:a16="http://schemas.microsoft.com/office/drawing/2014/main" id="{2EA3FB24-39F1-DE92-0EB5-95C804CD7D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14"/>
          <a:stretch/>
        </p:blipFill>
        <p:spPr bwMode="auto">
          <a:xfrm>
            <a:off x="7248951" y="1229360"/>
            <a:ext cx="4191209" cy="236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BARO smart home app • Home Center App ...">
            <a:extLst>
              <a:ext uri="{FF2B5EF4-FFF2-40B4-BE49-F238E27FC236}">
                <a16:creationId xmlns:a16="http://schemas.microsoft.com/office/drawing/2014/main" id="{BB2BC9C7-36D7-F8D0-B05B-2DA42DBB9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1335405"/>
            <a:ext cx="167640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AF9E01B-C65C-E502-4D17-2E311ADA329C}"/>
              </a:ext>
            </a:extLst>
          </p:cNvPr>
          <p:cNvCxnSpPr/>
          <p:nvPr/>
        </p:nvCxnSpPr>
        <p:spPr>
          <a:xfrm>
            <a:off x="2194560" y="1991360"/>
            <a:ext cx="50543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4DEF90-69DC-0E2C-4DC5-F99643F924A4}"/>
              </a:ext>
            </a:extLst>
          </p:cNvPr>
          <p:cNvCxnSpPr/>
          <p:nvPr/>
        </p:nvCxnSpPr>
        <p:spPr>
          <a:xfrm flipH="1">
            <a:off x="2389239" y="2517058"/>
            <a:ext cx="4768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81E4118-66FA-AE0E-B8C8-CEAB30F20836}"/>
              </a:ext>
            </a:extLst>
          </p:cNvPr>
          <p:cNvSpPr txBox="1"/>
          <p:nvPr/>
        </p:nvSpPr>
        <p:spPr>
          <a:xfrm>
            <a:off x="3794385" y="2069543"/>
            <a:ext cx="1854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Communication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AC9F7-C489-5BA7-22C3-069374F12C2D}"/>
              </a:ext>
            </a:extLst>
          </p:cNvPr>
          <p:cNvSpPr txBox="1"/>
          <p:nvPr/>
        </p:nvSpPr>
        <p:spPr>
          <a:xfrm>
            <a:off x="2024363" y="3838347"/>
            <a:ext cx="2735492" cy="175432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Standard Methods</a:t>
            </a:r>
          </a:p>
          <a:p>
            <a:endParaRPr lang="en-US" dirty="0"/>
          </a:p>
          <a:p>
            <a:r>
              <a:rPr lang="en-US" sz="1800" b="0" i="0" u="none" strike="noStrike" baseline="0" dirty="0">
                <a:solidFill>
                  <a:srgbClr val="653299"/>
                </a:solidFill>
                <a:latin typeface="Calibri" panose="020F0502020204030204" pitchFamily="34" charset="0"/>
              </a:rPr>
              <a:t>1: Request –Response</a:t>
            </a:r>
          </a:p>
          <a:p>
            <a:r>
              <a:rPr lang="en-US" sz="1800" b="0" i="0" u="none" strike="noStrike" baseline="0" dirty="0">
                <a:solidFill>
                  <a:srgbClr val="653299"/>
                </a:solidFill>
                <a:latin typeface="Calibri" panose="020F0502020204030204" pitchFamily="34" charset="0"/>
              </a:rPr>
              <a:t>2: Publish-Subscribe Model</a:t>
            </a:r>
            <a:endParaRPr lang="en-US" dirty="0">
              <a:solidFill>
                <a:srgbClr val="653299"/>
              </a:solidFill>
              <a:latin typeface="Calibri" panose="020F050202020403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653299"/>
                </a:solidFill>
                <a:latin typeface="Calibri" panose="020F0502020204030204" pitchFamily="34" charset="0"/>
              </a:rPr>
              <a:t>3: Push-Pull Model</a:t>
            </a:r>
          </a:p>
          <a:p>
            <a:r>
              <a:rPr lang="en-US" sz="1800" b="0" i="0" u="none" strike="noStrike" baseline="0" dirty="0">
                <a:solidFill>
                  <a:srgbClr val="653299"/>
                </a:solidFill>
                <a:latin typeface="Calibri" panose="020F0502020204030204" pitchFamily="34" charset="0"/>
              </a:rPr>
              <a:t>4: Exclusive Pair Model</a:t>
            </a:r>
            <a:endParaRPr lang="en-US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3B3B2F4-29D3-A036-1B0D-F1E96236985D}"/>
              </a:ext>
            </a:extLst>
          </p:cNvPr>
          <p:cNvSpPr/>
          <p:nvPr/>
        </p:nvSpPr>
        <p:spPr>
          <a:xfrm>
            <a:off x="3215148" y="2607197"/>
            <a:ext cx="226142" cy="11410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F8BD40-245B-91F8-9C73-1D67A581D72D}"/>
              </a:ext>
            </a:extLst>
          </p:cNvPr>
          <p:cNvSpPr txBox="1"/>
          <p:nvPr/>
        </p:nvSpPr>
        <p:spPr>
          <a:xfrm>
            <a:off x="5248201" y="3822449"/>
            <a:ext cx="2175532" cy="230832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Standard protocols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653299"/>
                </a:solidFill>
                <a:latin typeface="Calibri" panose="020F0502020204030204" pitchFamily="34" charset="0"/>
              </a:rPr>
              <a:t>MQTT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i="0" u="none" strike="noStrike" baseline="0" dirty="0" err="1">
                <a:solidFill>
                  <a:srgbClr val="653299"/>
                </a:solidFill>
                <a:latin typeface="Calibri" panose="020F0502020204030204" pitchFamily="34" charset="0"/>
              </a:rPr>
              <a:t>Coap</a:t>
            </a:r>
            <a:endParaRPr lang="en-US" sz="1800" b="0" i="0" u="none" strike="noStrike" baseline="0" dirty="0">
              <a:solidFill>
                <a:srgbClr val="653299"/>
              </a:solidFill>
              <a:latin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rgbClr val="653299"/>
                </a:solidFill>
                <a:latin typeface="Calibri" panose="020F0502020204030204" pitchFamily="34" charset="0"/>
              </a:rPr>
              <a:t>Xmpp</a:t>
            </a:r>
            <a:endParaRPr lang="en-US" sz="1800" b="0" i="0" u="none" strike="noStrike" baseline="0" dirty="0">
              <a:solidFill>
                <a:srgbClr val="653299"/>
              </a:solidFill>
              <a:latin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653299"/>
                </a:solidFill>
                <a:latin typeface="Calibri" panose="020F0502020204030204" pitchFamily="34" charset="0"/>
              </a:rPr>
              <a:t>Rest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i="0" u="none" strike="noStrike" baseline="0" dirty="0">
                <a:solidFill>
                  <a:srgbClr val="653299"/>
                </a:solidFill>
                <a:latin typeface="Calibri" panose="020F0502020204030204" pitchFamily="34" charset="0"/>
              </a:rPr>
              <a:t>Http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rgbClr val="653299"/>
                </a:solidFill>
                <a:latin typeface="Calibri" panose="020F0502020204030204" pitchFamily="34" charset="0"/>
              </a:rPr>
              <a:t>Wifi</a:t>
            </a:r>
            <a:r>
              <a:rPr lang="en-US" dirty="0">
                <a:solidFill>
                  <a:srgbClr val="653299"/>
                </a:solidFill>
                <a:latin typeface="Calibri" panose="020F0502020204030204" pitchFamily="34" charset="0"/>
              </a:rPr>
              <a:t>, BLE – </a:t>
            </a:r>
            <a:r>
              <a:rPr lang="en-US" dirty="0" err="1">
                <a:solidFill>
                  <a:srgbClr val="653299"/>
                </a:solidFill>
                <a:latin typeface="Calibri" panose="020F0502020204030204" pitchFamily="34" charset="0"/>
              </a:rPr>
              <a:t>etc</a:t>
            </a:r>
            <a:endParaRPr lang="en-US" sz="1800" b="0" i="0" u="none" strike="noStrike" baseline="0" dirty="0">
              <a:solidFill>
                <a:srgbClr val="65329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89BA5C26-6BA5-593B-44E3-2E1242EC542D}"/>
              </a:ext>
            </a:extLst>
          </p:cNvPr>
          <p:cNvSpPr/>
          <p:nvPr/>
        </p:nvSpPr>
        <p:spPr>
          <a:xfrm>
            <a:off x="6222896" y="2576482"/>
            <a:ext cx="226142" cy="11410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8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7C496-8600-E507-ACDF-3DBC7A07C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51" y="76200"/>
            <a:ext cx="8915402" cy="1371600"/>
          </a:xfrm>
        </p:spPr>
        <p:txBody>
          <a:bodyPr/>
          <a:lstStyle/>
          <a:p>
            <a:r>
              <a:rPr lang="en-US" sz="3200" b="0" i="0" u="none" strike="noStrike" baseline="0" dirty="0">
                <a:solidFill>
                  <a:srgbClr val="653299"/>
                </a:solidFill>
                <a:latin typeface="Calibri" panose="020F0502020204030204" pitchFamily="34" charset="0"/>
              </a:rPr>
              <a:t>Request –Response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FC66C-D750-A22A-86A3-CF08055CB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081" y="1290484"/>
            <a:ext cx="8915402" cy="413725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The client sends requests to the server and the server responds to the requests.</a:t>
            </a:r>
          </a:p>
          <a:p>
            <a:r>
              <a:rPr lang="en-US" b="1" dirty="0"/>
              <a:t> When the server receives a request, it decides</a:t>
            </a:r>
          </a:p>
          <a:p>
            <a:pPr lvl="1"/>
            <a:r>
              <a:rPr lang="en-US" b="1" dirty="0"/>
              <a:t>how to respond,</a:t>
            </a:r>
          </a:p>
          <a:p>
            <a:pPr lvl="1"/>
            <a:r>
              <a:rPr lang="en-US" b="1" dirty="0"/>
              <a:t>fetches the data,</a:t>
            </a:r>
          </a:p>
          <a:p>
            <a:pPr lvl="1"/>
            <a:r>
              <a:rPr lang="en-US" b="1" dirty="0"/>
              <a:t>retrieves resource representation,</a:t>
            </a:r>
          </a:p>
          <a:p>
            <a:pPr lvl="1"/>
            <a:r>
              <a:rPr lang="en-US" b="1" dirty="0"/>
              <a:t>prepares the response, and</a:t>
            </a:r>
          </a:p>
          <a:p>
            <a:pPr lvl="1"/>
            <a:r>
              <a:rPr lang="en-US" b="1" dirty="0"/>
              <a:t>then sends the response to the client.</a:t>
            </a:r>
          </a:p>
          <a:p>
            <a:r>
              <a:rPr lang="en-US" b="1" dirty="0"/>
              <a:t>stateless communication model.</a:t>
            </a:r>
          </a:p>
          <a:p>
            <a:r>
              <a:rPr lang="en-US" b="1" dirty="0"/>
              <a:t> Each request-response pair is independent of others.</a:t>
            </a:r>
          </a:p>
          <a:p>
            <a:r>
              <a:rPr lang="en-US" b="1" dirty="0"/>
              <a:t> Example:</a:t>
            </a:r>
          </a:p>
          <a:p>
            <a:pPr lvl="1"/>
            <a:r>
              <a:rPr lang="en-US" b="1" dirty="0"/>
              <a:t>HTTP works as a request-response protocol between a client and server.</a:t>
            </a:r>
          </a:p>
          <a:p>
            <a:pPr lvl="1"/>
            <a:r>
              <a:rPr lang="en-US" b="1" dirty="0"/>
              <a:t> A web browser may be the client, and an application on a computer that hosts a web site may be the server</a:t>
            </a:r>
          </a:p>
        </p:txBody>
      </p:sp>
    </p:spTree>
    <p:extLst>
      <p:ext uri="{BB962C8B-B14F-4D97-AF65-F5344CB8AC3E}">
        <p14:creationId xmlns:p14="http://schemas.microsoft.com/office/powerpoint/2010/main" val="9462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EFCAFC-B8FD-9CAC-6811-A76D41E8C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88" y="1347497"/>
            <a:ext cx="9307224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65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7F034-519D-100F-3D28-BB4DA51B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68B83-CE40-E122-04B7-6BE5E59A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51" y="76200"/>
            <a:ext cx="8915402" cy="1371600"/>
          </a:xfrm>
        </p:spPr>
        <p:txBody>
          <a:bodyPr/>
          <a:lstStyle/>
          <a:p>
            <a:r>
              <a:rPr lang="en-US" sz="3200" b="0" i="0" u="none" strike="noStrike" baseline="0" dirty="0">
                <a:solidFill>
                  <a:srgbClr val="653299"/>
                </a:solidFill>
                <a:latin typeface="Calibri" panose="020F0502020204030204" pitchFamily="34" charset="0"/>
              </a:rPr>
              <a:t>Publish-Subscribe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A843-66E1-F0F2-C0EF-43CA5086F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920" y="1447800"/>
            <a:ext cx="8915402" cy="4137259"/>
          </a:xfrm>
        </p:spPr>
        <p:txBody>
          <a:bodyPr/>
          <a:lstStyle/>
          <a:p>
            <a:r>
              <a:rPr lang="en-US" b="1" dirty="0"/>
              <a:t>Involves publishers, brokers and consumers.</a:t>
            </a:r>
          </a:p>
          <a:p>
            <a:r>
              <a:rPr lang="en-US" b="1" dirty="0"/>
              <a:t> Publishers are the source of data.</a:t>
            </a:r>
          </a:p>
          <a:p>
            <a:r>
              <a:rPr lang="en-US" b="1" dirty="0"/>
              <a:t> Publishers send the data to the topics which are managed by the broker.</a:t>
            </a:r>
          </a:p>
          <a:p>
            <a:r>
              <a:rPr lang="en-US" b="1" dirty="0"/>
              <a:t> Publishers are not aware of the consumers.</a:t>
            </a:r>
          </a:p>
          <a:p>
            <a:r>
              <a:rPr lang="en-US" b="1" dirty="0"/>
              <a:t> Consumers subscribe to the topics which are managed by the broker.</a:t>
            </a:r>
          </a:p>
          <a:p>
            <a:r>
              <a:rPr lang="en-US" b="1" dirty="0"/>
              <a:t> When the broker receive data for a topic from the publisher, it sends the data to all the subscribed consumers.</a:t>
            </a:r>
          </a:p>
        </p:txBody>
      </p:sp>
    </p:spTree>
    <p:extLst>
      <p:ext uri="{BB962C8B-B14F-4D97-AF65-F5344CB8AC3E}">
        <p14:creationId xmlns:p14="http://schemas.microsoft.com/office/powerpoint/2010/main" val="4184981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C97181-C33E-A1E1-7597-0D26F2A56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694" y="418111"/>
            <a:ext cx="9030960" cy="5372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5E157A-511E-2457-F846-F7C3627E9D6E}"/>
              </a:ext>
            </a:extLst>
          </p:cNvPr>
          <p:cNvSpPr txBox="1"/>
          <p:nvPr/>
        </p:nvSpPr>
        <p:spPr>
          <a:xfrm>
            <a:off x="2703871" y="6282813"/>
            <a:ext cx="249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 – YouTube</a:t>
            </a:r>
          </a:p>
        </p:txBody>
      </p:sp>
    </p:spTree>
    <p:extLst>
      <p:ext uri="{BB962C8B-B14F-4D97-AF65-F5344CB8AC3E}">
        <p14:creationId xmlns:p14="http://schemas.microsoft.com/office/powerpoint/2010/main" val="806097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5CCCA-6E49-DA5B-62BB-6B45ABBC8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2993C-F763-78B5-2A13-DACB8A0B0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51" y="76200"/>
            <a:ext cx="8915402" cy="1371600"/>
          </a:xfrm>
        </p:spPr>
        <p:txBody>
          <a:bodyPr/>
          <a:lstStyle/>
          <a:p>
            <a:r>
              <a:rPr lang="en-US" sz="3200" b="0" i="0" u="none" strike="noStrike" baseline="0" dirty="0">
                <a:solidFill>
                  <a:srgbClr val="653299"/>
                </a:solidFill>
                <a:latin typeface="Calibri" panose="020F0502020204030204" pitchFamily="34" charset="0"/>
              </a:rPr>
              <a:t>Push-Pull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1394C-1855-C812-F47E-5D866B32A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5" y="2057400"/>
            <a:ext cx="11533239" cy="4137259"/>
          </a:xfrm>
        </p:spPr>
        <p:txBody>
          <a:bodyPr/>
          <a:lstStyle/>
          <a:p>
            <a:r>
              <a:rPr lang="en-US" b="1" dirty="0"/>
              <a:t>The data producers push the data to queues and the consumers Pull the data from the Queues.</a:t>
            </a:r>
          </a:p>
          <a:p>
            <a:r>
              <a:rPr lang="en-US" b="1" dirty="0"/>
              <a:t> Producers do not need to be aware of the consumers.</a:t>
            </a:r>
          </a:p>
          <a:p>
            <a:r>
              <a:rPr lang="en-US" b="1" dirty="0"/>
              <a:t> Queues help in decoupling the messaging between the Producers and Consumers.</a:t>
            </a:r>
          </a:p>
          <a:p>
            <a:r>
              <a:rPr lang="en-US" b="1" dirty="0"/>
              <a:t> Queues also act as a buffer,</a:t>
            </a:r>
          </a:p>
          <a:p>
            <a:pPr lvl="1"/>
            <a:r>
              <a:rPr lang="en-US" b="1" dirty="0"/>
              <a:t> which helps in situations when there is a mismatch between the rate at which the producers push data and the</a:t>
            </a:r>
          </a:p>
          <a:p>
            <a:pPr lvl="1"/>
            <a:r>
              <a:rPr lang="en-US" b="1" dirty="0"/>
              <a:t>rate </a:t>
            </a:r>
            <a:r>
              <a:rPr lang="en-US" b="1" dirty="0" err="1"/>
              <a:t>rate</a:t>
            </a:r>
            <a:r>
              <a:rPr lang="en-US" b="1" dirty="0"/>
              <a:t> at which the consumer pull data.</a:t>
            </a:r>
          </a:p>
        </p:txBody>
      </p:sp>
    </p:spTree>
    <p:extLst>
      <p:ext uri="{BB962C8B-B14F-4D97-AF65-F5344CB8AC3E}">
        <p14:creationId xmlns:p14="http://schemas.microsoft.com/office/powerpoint/2010/main" val="3738608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1D9EE7-F2E7-0C75-FFFF-4C94D1F5C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918" y="1106147"/>
            <a:ext cx="8449854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65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38816-24FD-BBA6-7A7F-08FC4B3B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1BE7-0E8D-953D-6629-B0A1F8C2D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51" y="76200"/>
            <a:ext cx="8915402" cy="1371600"/>
          </a:xfrm>
        </p:spPr>
        <p:txBody>
          <a:bodyPr/>
          <a:lstStyle/>
          <a:p>
            <a:r>
              <a:rPr lang="en-US" sz="3200" b="0" i="0" u="none" strike="noStrike" baseline="0" dirty="0">
                <a:solidFill>
                  <a:srgbClr val="653299"/>
                </a:solidFill>
                <a:latin typeface="Calibri" panose="020F0502020204030204" pitchFamily="34" charset="0"/>
              </a:rPr>
              <a:t>Exclusive Pair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AF353-DF0A-36B2-A157-C866DD5A4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061" y="1447800"/>
            <a:ext cx="8915402" cy="4137259"/>
          </a:xfrm>
        </p:spPr>
        <p:txBody>
          <a:bodyPr/>
          <a:lstStyle/>
          <a:p>
            <a:r>
              <a:rPr lang="en-US" b="1" dirty="0"/>
              <a:t>Exclusive Pair is a</a:t>
            </a:r>
          </a:p>
          <a:p>
            <a:pPr lvl="1"/>
            <a:r>
              <a:rPr lang="en-US" b="1" dirty="0"/>
              <a:t> bidirectional</a:t>
            </a:r>
          </a:p>
          <a:p>
            <a:pPr lvl="1"/>
            <a:r>
              <a:rPr lang="en-US" b="1" dirty="0"/>
              <a:t> fully duplex that uses a persistent connection between the client and server.</a:t>
            </a:r>
          </a:p>
          <a:p>
            <a:r>
              <a:rPr lang="en-US" b="1" dirty="0"/>
              <a:t> Connection is setup it remains open until the client sends a request to close the connection.</a:t>
            </a:r>
          </a:p>
          <a:p>
            <a:r>
              <a:rPr lang="en-US" b="1" dirty="0"/>
              <a:t> Client and server can send messages to each other after connection setup.</a:t>
            </a:r>
          </a:p>
          <a:p>
            <a:r>
              <a:rPr lang="en-US" b="1" dirty="0"/>
              <a:t> Stateful communication model and the server is aware of all the open connections.</a:t>
            </a:r>
          </a:p>
        </p:txBody>
      </p:sp>
    </p:spTree>
    <p:extLst>
      <p:ext uri="{BB962C8B-B14F-4D97-AF65-F5344CB8AC3E}">
        <p14:creationId xmlns:p14="http://schemas.microsoft.com/office/powerpoint/2010/main" val="1292777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AF29BC-54FD-D704-8651-77E537BA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967" y="1295102"/>
            <a:ext cx="8888065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90580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AnalogousFromRegularSeedRightStep">
      <a:dk1>
        <a:srgbClr val="000000"/>
      </a:dk1>
      <a:lt1>
        <a:srgbClr val="FFFFFF"/>
      </a:lt1>
      <a:dk2>
        <a:srgbClr val="412524"/>
      </a:dk2>
      <a:lt2>
        <a:srgbClr val="E2E8E8"/>
      </a:lt2>
      <a:accent1>
        <a:srgbClr val="E72B29"/>
      </a:accent1>
      <a:accent2>
        <a:srgbClr val="D56817"/>
      </a:accent2>
      <a:accent3>
        <a:srgbClr val="BAA221"/>
      </a:accent3>
      <a:accent4>
        <a:srgbClr val="89B213"/>
      </a:accent4>
      <a:accent5>
        <a:srgbClr val="52B921"/>
      </a:accent5>
      <a:accent6>
        <a:srgbClr val="15BD24"/>
      </a:accent6>
      <a:hlink>
        <a:srgbClr val="309192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373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Avenir Next LT Pro</vt:lpstr>
      <vt:lpstr>Avenir Next LT Pro Light</vt:lpstr>
      <vt:lpstr>Calibri</vt:lpstr>
      <vt:lpstr>EncaseVTI</vt:lpstr>
      <vt:lpstr>IOT Communication</vt:lpstr>
      <vt:lpstr>Request –Response</vt:lpstr>
      <vt:lpstr>PowerPoint Presentation</vt:lpstr>
      <vt:lpstr>Publish-Subscribe Model</vt:lpstr>
      <vt:lpstr>PowerPoint Presentation</vt:lpstr>
      <vt:lpstr>Push-Pull Model</vt:lpstr>
      <vt:lpstr>PowerPoint Presentation</vt:lpstr>
      <vt:lpstr>Exclusive Pair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Jagadeesh .</dc:creator>
  <cp:lastModifiedBy>Jagadeesh .</cp:lastModifiedBy>
  <cp:revision>12</cp:revision>
  <dcterms:created xsi:type="dcterms:W3CDTF">2025-01-02T09:21:09Z</dcterms:created>
  <dcterms:modified xsi:type="dcterms:W3CDTF">2025-01-02T09:56:32Z</dcterms:modified>
</cp:coreProperties>
</file>