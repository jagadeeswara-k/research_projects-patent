
<file path=[Content_Types].xml><?xml version="1.0" encoding="utf-8"?>
<Types xmlns="http://schemas.openxmlformats.org/package/2006/content-types">
  <Default Extension="emf" ContentType="image/x-emf"/>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 id="258" r:id="rId3"/>
    <p:sldId id="428" r:id="rId4"/>
    <p:sldId id="259" r:id="rId5"/>
    <p:sldId id="263" r:id="rId6"/>
    <p:sldId id="261" r:id="rId7"/>
    <p:sldId id="262" r:id="rId8"/>
    <p:sldId id="264" r:id="rId9"/>
    <p:sldId id="265" r:id="rId10"/>
    <p:sldId id="266" r:id="rId11"/>
    <p:sldId id="267" r:id="rId12"/>
    <p:sldId id="268" r:id="rId13"/>
    <p:sldId id="373" r:id="rId14"/>
    <p:sldId id="378" r:id="rId15"/>
    <p:sldId id="379" r:id="rId16"/>
    <p:sldId id="380" r:id="rId17"/>
    <p:sldId id="381" r:id="rId18"/>
    <p:sldId id="382" r:id="rId19"/>
    <p:sldId id="383" r:id="rId20"/>
    <p:sldId id="429" r:id="rId21"/>
    <p:sldId id="260" r:id="rId22"/>
    <p:sldId id="384" r:id="rId23"/>
    <p:sldId id="385" r:id="rId24"/>
    <p:sldId id="386" r:id="rId25"/>
  </p:sldIdLst>
  <p:sldSz cx="12801600" cy="79549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DB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120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209780-0809-4317-A407-4FFC25E716FB}"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US"/>
        </a:p>
      </dgm:t>
    </dgm:pt>
    <dgm:pt modelId="{5237B714-418B-49D4-9892-4A5C85ADDA9B}">
      <dgm:prSet/>
      <dgm:spPr/>
      <dgm:t>
        <a:bodyPr/>
        <a:lstStyle/>
        <a:p>
          <a:r>
            <a:rPr lang="en-US" b="1" i="0" dirty="0"/>
            <a:t>Grid Integration</a:t>
          </a:r>
          <a:endParaRPr lang="en-US" dirty="0"/>
        </a:p>
      </dgm:t>
    </dgm:pt>
    <dgm:pt modelId="{064B79DE-D28C-4286-87F1-B0232949D44E}" type="parTrans" cxnId="{E91750FB-CA32-4B7B-A764-845176C44821}">
      <dgm:prSet/>
      <dgm:spPr/>
      <dgm:t>
        <a:bodyPr/>
        <a:lstStyle/>
        <a:p>
          <a:endParaRPr lang="en-US"/>
        </a:p>
      </dgm:t>
    </dgm:pt>
    <dgm:pt modelId="{D70C237A-B14F-4ADE-8D03-2C87F06792C4}" type="sibTrans" cxnId="{E91750FB-CA32-4B7B-A764-845176C44821}">
      <dgm:prSet/>
      <dgm:spPr/>
      <dgm:t>
        <a:bodyPr/>
        <a:lstStyle/>
        <a:p>
          <a:endParaRPr lang="en-US"/>
        </a:p>
      </dgm:t>
    </dgm:pt>
    <dgm:pt modelId="{91118BAC-D688-4D4A-80FD-0C24ED495C07}">
      <dgm:prSet/>
      <dgm:spPr/>
      <dgm:t>
        <a:bodyPr/>
        <a:lstStyle/>
        <a:p>
          <a:r>
            <a:rPr lang="en-US" b="0" i="0" dirty="0"/>
            <a:t>Fault detection and monitoring</a:t>
          </a:r>
          <a:endParaRPr lang="en-US" dirty="0"/>
        </a:p>
      </dgm:t>
    </dgm:pt>
    <dgm:pt modelId="{35E0FDA2-3314-4503-BC77-604C1E50FE7F}" type="parTrans" cxnId="{80B1B067-2D2E-4DCD-9863-EC00D787CFA2}">
      <dgm:prSet/>
      <dgm:spPr/>
      <dgm:t>
        <a:bodyPr/>
        <a:lstStyle/>
        <a:p>
          <a:endParaRPr lang="en-US"/>
        </a:p>
      </dgm:t>
    </dgm:pt>
    <dgm:pt modelId="{CCD0828B-AE9D-4E31-9B19-612D3DA43D83}" type="sibTrans" cxnId="{80B1B067-2D2E-4DCD-9863-EC00D787CFA2}">
      <dgm:prSet/>
      <dgm:spPr/>
      <dgm:t>
        <a:bodyPr/>
        <a:lstStyle/>
        <a:p>
          <a:endParaRPr lang="en-US"/>
        </a:p>
      </dgm:t>
    </dgm:pt>
    <dgm:pt modelId="{E1053380-9F67-44EA-AC1E-7E0C6B89E29B}">
      <dgm:prSet/>
      <dgm:spPr/>
      <dgm:t>
        <a:bodyPr/>
        <a:lstStyle/>
        <a:p>
          <a:r>
            <a:rPr lang="en-US" b="0" i="0" dirty="0"/>
            <a:t>IoT-based optimization of microgrid operations</a:t>
          </a:r>
          <a:endParaRPr lang="en-US" dirty="0"/>
        </a:p>
      </dgm:t>
    </dgm:pt>
    <dgm:pt modelId="{8A220F99-1F19-4893-8AF6-71492BD101D7}" type="parTrans" cxnId="{EB21A5AF-CDC8-45F3-BC59-9479AB44976D}">
      <dgm:prSet/>
      <dgm:spPr/>
      <dgm:t>
        <a:bodyPr/>
        <a:lstStyle/>
        <a:p>
          <a:endParaRPr lang="en-US"/>
        </a:p>
      </dgm:t>
    </dgm:pt>
    <dgm:pt modelId="{D8405FA4-7603-45D5-B3A3-0AAAD4361C78}" type="sibTrans" cxnId="{EB21A5AF-CDC8-45F3-BC59-9479AB44976D}">
      <dgm:prSet/>
      <dgm:spPr/>
      <dgm:t>
        <a:bodyPr/>
        <a:lstStyle/>
        <a:p>
          <a:endParaRPr lang="en-US"/>
        </a:p>
      </dgm:t>
    </dgm:pt>
    <dgm:pt modelId="{CBB2ED1F-3B09-4201-A8BD-840DB3D58079}">
      <dgm:prSet/>
      <dgm:spPr/>
      <dgm:t>
        <a:bodyPr/>
        <a:lstStyle/>
        <a:p>
          <a:r>
            <a:rPr lang="en-US" b="0" i="0" dirty="0"/>
            <a:t>Power quality enhancement using active filters</a:t>
          </a:r>
          <a:endParaRPr lang="en-US" dirty="0"/>
        </a:p>
      </dgm:t>
    </dgm:pt>
    <dgm:pt modelId="{21226081-8E2F-4FB6-86CE-AB875FBB6104}" type="parTrans" cxnId="{F53D008A-A17E-4F18-A249-EBA9E533A9A8}">
      <dgm:prSet/>
      <dgm:spPr/>
      <dgm:t>
        <a:bodyPr/>
        <a:lstStyle/>
        <a:p>
          <a:endParaRPr lang="en-US"/>
        </a:p>
      </dgm:t>
    </dgm:pt>
    <dgm:pt modelId="{F2986735-0A9B-429D-BA53-4BA27F26F195}" type="sibTrans" cxnId="{F53D008A-A17E-4F18-A249-EBA9E533A9A8}">
      <dgm:prSet/>
      <dgm:spPr/>
      <dgm:t>
        <a:bodyPr/>
        <a:lstStyle/>
        <a:p>
          <a:endParaRPr lang="en-US"/>
        </a:p>
      </dgm:t>
    </dgm:pt>
    <dgm:pt modelId="{CE7C2EF1-5D0E-485F-8066-A9278C90EAC0}">
      <dgm:prSet/>
      <dgm:spPr/>
      <dgm:t>
        <a:bodyPr/>
        <a:lstStyle/>
        <a:p>
          <a:r>
            <a:rPr lang="en-US" b="1" i="0" dirty="0"/>
            <a:t>Management Monitoring</a:t>
          </a:r>
          <a:endParaRPr lang="en-US" dirty="0"/>
        </a:p>
      </dgm:t>
    </dgm:pt>
    <dgm:pt modelId="{A91CF968-95C0-4251-A4FF-1C052A257AD6}" type="parTrans" cxnId="{3B568ABB-B26C-4086-A399-6DB71428BB19}">
      <dgm:prSet/>
      <dgm:spPr/>
      <dgm:t>
        <a:bodyPr/>
        <a:lstStyle/>
        <a:p>
          <a:endParaRPr lang="en-US"/>
        </a:p>
      </dgm:t>
    </dgm:pt>
    <dgm:pt modelId="{FA61BF7E-5DF0-4BD9-B68F-E524105CBD68}" type="sibTrans" cxnId="{3B568ABB-B26C-4086-A399-6DB71428BB19}">
      <dgm:prSet/>
      <dgm:spPr/>
      <dgm:t>
        <a:bodyPr/>
        <a:lstStyle/>
        <a:p>
          <a:endParaRPr lang="en-US"/>
        </a:p>
      </dgm:t>
    </dgm:pt>
    <dgm:pt modelId="{37F193E0-B9F1-4BD2-8ECF-B63FDFD0B3DD}">
      <dgm:prSet/>
      <dgm:spPr/>
      <dgm:t>
        <a:bodyPr/>
        <a:lstStyle/>
        <a:p>
          <a:r>
            <a:rPr lang="en-US" b="0" i="0" dirty="0"/>
            <a:t>Real-time monitoring criticality</a:t>
          </a:r>
          <a:endParaRPr lang="en-US" dirty="0"/>
        </a:p>
      </dgm:t>
    </dgm:pt>
    <dgm:pt modelId="{EC3D0CB7-2587-4B6B-884C-ED3BE114BEE6}" type="parTrans" cxnId="{44A3BFAB-2C5F-489C-80E2-4A9C54FD335D}">
      <dgm:prSet/>
      <dgm:spPr/>
      <dgm:t>
        <a:bodyPr/>
        <a:lstStyle/>
        <a:p>
          <a:endParaRPr lang="en-US"/>
        </a:p>
      </dgm:t>
    </dgm:pt>
    <dgm:pt modelId="{56CBF6F7-DE71-4A25-9CA8-6748E66F61B9}" type="sibTrans" cxnId="{44A3BFAB-2C5F-489C-80E2-4A9C54FD335D}">
      <dgm:prSet/>
      <dgm:spPr/>
      <dgm:t>
        <a:bodyPr/>
        <a:lstStyle/>
        <a:p>
          <a:endParaRPr lang="en-US"/>
        </a:p>
      </dgm:t>
    </dgm:pt>
    <dgm:pt modelId="{F17B33FB-1701-4B87-888C-8F3D10B59F25}">
      <dgm:prSet/>
      <dgm:spPr/>
      <dgm:t>
        <a:bodyPr/>
        <a:lstStyle/>
        <a:p>
          <a:r>
            <a:rPr lang="en-US" b="0" i="0" dirty="0"/>
            <a:t>IoT-based monitoring</a:t>
          </a:r>
          <a:endParaRPr lang="en-US" dirty="0"/>
        </a:p>
      </dgm:t>
    </dgm:pt>
    <dgm:pt modelId="{A93E3CC1-6809-4DF1-9799-4894A72E137E}" type="parTrans" cxnId="{83448BB8-B2B1-46B1-A7A4-FD76FE9248B7}">
      <dgm:prSet/>
      <dgm:spPr/>
      <dgm:t>
        <a:bodyPr/>
        <a:lstStyle/>
        <a:p>
          <a:endParaRPr lang="en-US"/>
        </a:p>
      </dgm:t>
    </dgm:pt>
    <dgm:pt modelId="{366D3F1F-9247-4A56-A851-614A08A95171}" type="sibTrans" cxnId="{83448BB8-B2B1-46B1-A7A4-FD76FE9248B7}">
      <dgm:prSet/>
      <dgm:spPr/>
      <dgm:t>
        <a:bodyPr/>
        <a:lstStyle/>
        <a:p>
          <a:endParaRPr lang="en-US"/>
        </a:p>
      </dgm:t>
    </dgm:pt>
    <dgm:pt modelId="{CA12534A-E7CE-415D-95F0-4276DDDA123A}">
      <dgm:prSet/>
      <dgm:spPr/>
      <dgm:t>
        <a:bodyPr/>
        <a:lstStyle/>
        <a:p>
          <a:r>
            <a:rPr lang="en-US" b="1" i="0" dirty="0"/>
            <a:t>Machine Learning</a:t>
          </a:r>
          <a:endParaRPr lang="en-US" dirty="0"/>
        </a:p>
      </dgm:t>
    </dgm:pt>
    <dgm:pt modelId="{62C766FA-8832-4919-A580-116FA12C00C1}" type="parTrans" cxnId="{DD6B078F-6F32-4943-A276-1F6DD1C16460}">
      <dgm:prSet/>
      <dgm:spPr/>
      <dgm:t>
        <a:bodyPr/>
        <a:lstStyle/>
        <a:p>
          <a:endParaRPr lang="en-US"/>
        </a:p>
      </dgm:t>
    </dgm:pt>
    <dgm:pt modelId="{2A47B1B7-72E9-4E32-9A8E-7FB693F8D6DF}" type="sibTrans" cxnId="{DD6B078F-6F32-4943-A276-1F6DD1C16460}">
      <dgm:prSet/>
      <dgm:spPr/>
      <dgm:t>
        <a:bodyPr/>
        <a:lstStyle/>
        <a:p>
          <a:endParaRPr lang="en-US"/>
        </a:p>
      </dgm:t>
    </dgm:pt>
    <dgm:pt modelId="{B33EBE27-E39A-482B-9A53-BEDBB26228D5}">
      <dgm:prSet/>
      <dgm:spPr/>
      <dgm:t>
        <a:bodyPr/>
        <a:lstStyle/>
        <a:p>
          <a:r>
            <a:rPr lang="en-US" b="0" i="0" dirty="0"/>
            <a:t>Need for range prediction</a:t>
          </a:r>
          <a:endParaRPr lang="en-US" dirty="0"/>
        </a:p>
      </dgm:t>
    </dgm:pt>
    <dgm:pt modelId="{BA8725E8-F58D-4E7C-B348-C61933BE13B3}" type="parTrans" cxnId="{FF4A71B4-F724-4CBD-8796-BC30B162E4E3}">
      <dgm:prSet/>
      <dgm:spPr/>
      <dgm:t>
        <a:bodyPr/>
        <a:lstStyle/>
        <a:p>
          <a:endParaRPr lang="en-US"/>
        </a:p>
      </dgm:t>
    </dgm:pt>
    <dgm:pt modelId="{9855811B-427A-4003-BA19-C19981FB0294}" type="sibTrans" cxnId="{FF4A71B4-F724-4CBD-8796-BC30B162E4E3}">
      <dgm:prSet/>
      <dgm:spPr/>
      <dgm:t>
        <a:bodyPr/>
        <a:lstStyle/>
        <a:p>
          <a:endParaRPr lang="en-US"/>
        </a:p>
      </dgm:t>
    </dgm:pt>
    <dgm:pt modelId="{C92790ED-1DAC-4B0F-891B-5218ECAA0C62}">
      <dgm:prSet/>
      <dgm:spPr/>
      <dgm:t>
        <a:bodyPr/>
        <a:lstStyle/>
        <a:p>
          <a:r>
            <a:rPr lang="en-US" b="0" i="0" dirty="0"/>
            <a:t>Charging behavior prediction</a:t>
          </a:r>
          <a:endParaRPr lang="en-US" dirty="0"/>
        </a:p>
      </dgm:t>
    </dgm:pt>
    <dgm:pt modelId="{30932767-9913-4C15-9FD8-AB37594F9E6F}" type="parTrans" cxnId="{6CDB6E26-99C3-4ADF-B989-B2C3A677A387}">
      <dgm:prSet/>
      <dgm:spPr/>
      <dgm:t>
        <a:bodyPr/>
        <a:lstStyle/>
        <a:p>
          <a:endParaRPr lang="en-US"/>
        </a:p>
      </dgm:t>
    </dgm:pt>
    <dgm:pt modelId="{2334365B-58F6-4FA9-AE9A-3742A417E97C}" type="sibTrans" cxnId="{6CDB6E26-99C3-4ADF-B989-B2C3A677A387}">
      <dgm:prSet/>
      <dgm:spPr/>
      <dgm:t>
        <a:bodyPr/>
        <a:lstStyle/>
        <a:p>
          <a:endParaRPr lang="en-US"/>
        </a:p>
      </dgm:t>
    </dgm:pt>
    <dgm:pt modelId="{5C258978-0D08-45D8-A86C-79671D9383AF}">
      <dgm:prSet/>
      <dgm:spPr/>
      <dgm:t>
        <a:bodyPr/>
        <a:lstStyle/>
        <a:p>
          <a:r>
            <a:rPr lang="en-US" b="0" i="0" dirty="0"/>
            <a:t>Power quality monitoring</a:t>
          </a:r>
        </a:p>
      </dgm:t>
    </dgm:pt>
    <dgm:pt modelId="{FA6FBDD9-00B0-4C58-9F02-12EBE1FA5617}" type="parTrans" cxnId="{508BDD7F-42D4-426E-87B2-788277A9FFBA}">
      <dgm:prSet/>
      <dgm:spPr/>
      <dgm:t>
        <a:bodyPr/>
        <a:lstStyle/>
        <a:p>
          <a:endParaRPr lang="en-US"/>
        </a:p>
      </dgm:t>
    </dgm:pt>
    <dgm:pt modelId="{B89AE2C0-7DF0-4C57-BA07-BA6B9137BFC0}" type="sibTrans" cxnId="{508BDD7F-42D4-426E-87B2-788277A9FFBA}">
      <dgm:prSet/>
      <dgm:spPr/>
      <dgm:t>
        <a:bodyPr/>
        <a:lstStyle/>
        <a:p>
          <a:endParaRPr lang="en-US"/>
        </a:p>
      </dgm:t>
    </dgm:pt>
    <dgm:pt modelId="{4E088BA5-75DB-4A46-B7CD-AF987DC4E49F}">
      <dgm:prSet/>
      <dgm:spPr/>
      <dgm:t>
        <a:bodyPr/>
        <a:lstStyle/>
        <a:p>
          <a:r>
            <a:rPr lang="en-US" b="0" i="0" dirty="0"/>
            <a:t>Discuss outcomes in the context of FPGA implementations. Need for range prediction</a:t>
          </a:r>
          <a:endParaRPr lang="en-US" dirty="0"/>
        </a:p>
      </dgm:t>
    </dgm:pt>
    <dgm:pt modelId="{D1CA5C90-3769-4B03-BB37-4FE915843039}" type="parTrans" cxnId="{23733CB9-BB8C-45FF-BE5A-EE210194B39F}">
      <dgm:prSet/>
      <dgm:spPr/>
      <dgm:t>
        <a:bodyPr/>
        <a:lstStyle/>
        <a:p>
          <a:endParaRPr lang="en-US"/>
        </a:p>
      </dgm:t>
    </dgm:pt>
    <dgm:pt modelId="{97E988BE-2F65-4396-BC15-FF3B79219225}" type="sibTrans" cxnId="{23733CB9-BB8C-45FF-BE5A-EE210194B39F}">
      <dgm:prSet/>
      <dgm:spPr/>
      <dgm:t>
        <a:bodyPr/>
        <a:lstStyle/>
        <a:p>
          <a:endParaRPr lang="en-US"/>
        </a:p>
      </dgm:t>
    </dgm:pt>
    <dgm:pt modelId="{92387B44-4C84-42EA-B10A-6A51E07972DF}">
      <dgm:prSet/>
      <dgm:spPr/>
      <dgm:t>
        <a:bodyPr/>
        <a:lstStyle/>
        <a:p>
          <a:r>
            <a:rPr lang="en-US" b="0" i="0" dirty="0"/>
            <a:t>Optimizing charging schedules</a:t>
          </a:r>
          <a:endParaRPr lang="en-US" dirty="0"/>
        </a:p>
      </dgm:t>
    </dgm:pt>
    <dgm:pt modelId="{2E92215A-EEBF-4C19-9803-C819BA80CFC0}" type="parTrans" cxnId="{6A6E2A7C-AB27-4B6E-B2B2-8B7B8C91EB78}">
      <dgm:prSet/>
      <dgm:spPr/>
      <dgm:t>
        <a:bodyPr/>
        <a:lstStyle/>
        <a:p>
          <a:endParaRPr lang="en-US"/>
        </a:p>
      </dgm:t>
    </dgm:pt>
    <dgm:pt modelId="{D88C7432-4E18-42E4-A756-576F19016EB4}" type="sibTrans" cxnId="{6A6E2A7C-AB27-4B6E-B2B2-8B7B8C91EB78}">
      <dgm:prSet/>
      <dgm:spPr/>
      <dgm:t>
        <a:bodyPr/>
        <a:lstStyle/>
        <a:p>
          <a:endParaRPr lang="en-US"/>
        </a:p>
      </dgm:t>
    </dgm:pt>
    <dgm:pt modelId="{56A11A27-3A4D-4BE8-8399-B90115674323}">
      <dgm:prSet/>
      <dgm:spPr/>
      <dgm:t>
        <a:bodyPr/>
        <a:lstStyle/>
        <a:p>
          <a:r>
            <a:rPr lang="en-US" b="0" i="0" dirty="0"/>
            <a:t>Predicting power demand</a:t>
          </a:r>
          <a:endParaRPr lang="en-US" dirty="0"/>
        </a:p>
      </dgm:t>
    </dgm:pt>
    <dgm:pt modelId="{4A77C78B-C869-4118-BB90-B496F1B4F9C6}" type="parTrans" cxnId="{90163807-C3FA-4CAE-9B2A-AF536A44A45D}">
      <dgm:prSet/>
      <dgm:spPr/>
      <dgm:t>
        <a:bodyPr/>
        <a:lstStyle/>
        <a:p>
          <a:endParaRPr lang="en-US"/>
        </a:p>
      </dgm:t>
    </dgm:pt>
    <dgm:pt modelId="{86C6816C-039C-46A7-BC22-D2C7724B8BF6}" type="sibTrans" cxnId="{90163807-C3FA-4CAE-9B2A-AF536A44A45D}">
      <dgm:prSet/>
      <dgm:spPr/>
      <dgm:t>
        <a:bodyPr/>
        <a:lstStyle/>
        <a:p>
          <a:endParaRPr lang="en-US"/>
        </a:p>
      </dgm:t>
    </dgm:pt>
    <dgm:pt modelId="{1C2B733A-1D60-49B1-B306-D88538C36AD5}">
      <dgm:prSet/>
      <dgm:spPr/>
      <dgm:t>
        <a:bodyPr/>
        <a:lstStyle/>
        <a:p>
          <a:r>
            <a:rPr lang="en-US" b="0" i="0" dirty="0"/>
            <a:t>Managing load distribution</a:t>
          </a:r>
          <a:endParaRPr lang="en-US" dirty="0"/>
        </a:p>
      </dgm:t>
    </dgm:pt>
    <dgm:pt modelId="{39FC77F8-78D5-4DCC-AE90-33FE68233FCA}" type="parTrans" cxnId="{FD1993A6-43CC-4702-8092-C70C3DC9476A}">
      <dgm:prSet/>
      <dgm:spPr/>
      <dgm:t>
        <a:bodyPr/>
        <a:lstStyle/>
        <a:p>
          <a:endParaRPr lang="en-US"/>
        </a:p>
      </dgm:t>
    </dgm:pt>
    <dgm:pt modelId="{2094F00A-AD8C-49AD-A2F9-4B46469BEDD2}" type="sibTrans" cxnId="{FD1993A6-43CC-4702-8092-C70C3DC9476A}">
      <dgm:prSet/>
      <dgm:spPr/>
      <dgm:t>
        <a:bodyPr/>
        <a:lstStyle/>
        <a:p>
          <a:endParaRPr lang="en-US"/>
        </a:p>
      </dgm:t>
    </dgm:pt>
    <dgm:pt modelId="{E367D6D3-1F1D-4D54-A73C-1B1355C33949}" type="pres">
      <dgm:prSet presAssocID="{B7209780-0809-4317-A407-4FFC25E716FB}" presName="linear" presStyleCnt="0">
        <dgm:presLayoutVars>
          <dgm:dir/>
          <dgm:animLvl val="lvl"/>
          <dgm:resizeHandles val="exact"/>
        </dgm:presLayoutVars>
      </dgm:prSet>
      <dgm:spPr/>
    </dgm:pt>
    <dgm:pt modelId="{6739F9CE-E72E-48FA-B206-D8AFB63B538A}" type="pres">
      <dgm:prSet presAssocID="{5237B714-418B-49D4-9892-4A5C85ADDA9B}" presName="parentLin" presStyleCnt="0"/>
      <dgm:spPr/>
    </dgm:pt>
    <dgm:pt modelId="{2183E032-536F-4081-892F-CC3AB7F77FB2}" type="pres">
      <dgm:prSet presAssocID="{5237B714-418B-49D4-9892-4A5C85ADDA9B}" presName="parentLeftMargin" presStyleLbl="node1" presStyleIdx="0" presStyleCnt="3"/>
      <dgm:spPr/>
    </dgm:pt>
    <dgm:pt modelId="{3F95C356-820F-4021-A612-68A1226142EB}" type="pres">
      <dgm:prSet presAssocID="{5237B714-418B-49D4-9892-4A5C85ADDA9B}" presName="parentText" presStyleLbl="node1" presStyleIdx="0" presStyleCnt="3">
        <dgm:presLayoutVars>
          <dgm:chMax val="0"/>
          <dgm:bulletEnabled val="1"/>
        </dgm:presLayoutVars>
      </dgm:prSet>
      <dgm:spPr/>
    </dgm:pt>
    <dgm:pt modelId="{AC927DF3-41F7-43B9-A0EE-1428A07AA8B1}" type="pres">
      <dgm:prSet presAssocID="{5237B714-418B-49D4-9892-4A5C85ADDA9B}" presName="negativeSpace" presStyleCnt="0"/>
      <dgm:spPr/>
    </dgm:pt>
    <dgm:pt modelId="{1F070962-6C75-4453-B9C4-AF9CC60F75C6}" type="pres">
      <dgm:prSet presAssocID="{5237B714-418B-49D4-9892-4A5C85ADDA9B}" presName="childText" presStyleLbl="conFgAcc1" presStyleIdx="0" presStyleCnt="3">
        <dgm:presLayoutVars>
          <dgm:bulletEnabled val="1"/>
        </dgm:presLayoutVars>
      </dgm:prSet>
      <dgm:spPr/>
    </dgm:pt>
    <dgm:pt modelId="{287A39EB-12C6-44CE-A2B6-F7FD9BB300BB}" type="pres">
      <dgm:prSet presAssocID="{D70C237A-B14F-4ADE-8D03-2C87F06792C4}" presName="spaceBetweenRectangles" presStyleCnt="0"/>
      <dgm:spPr/>
    </dgm:pt>
    <dgm:pt modelId="{E4177181-7B94-446D-8DFE-B9AB5CF85815}" type="pres">
      <dgm:prSet presAssocID="{CE7C2EF1-5D0E-485F-8066-A9278C90EAC0}" presName="parentLin" presStyleCnt="0"/>
      <dgm:spPr/>
    </dgm:pt>
    <dgm:pt modelId="{3FA020B8-58A3-47B3-976E-897B92D7A08B}" type="pres">
      <dgm:prSet presAssocID="{CE7C2EF1-5D0E-485F-8066-A9278C90EAC0}" presName="parentLeftMargin" presStyleLbl="node1" presStyleIdx="0" presStyleCnt="3"/>
      <dgm:spPr/>
    </dgm:pt>
    <dgm:pt modelId="{58CC84EB-F72C-42E3-9474-A713FA102D33}" type="pres">
      <dgm:prSet presAssocID="{CE7C2EF1-5D0E-485F-8066-A9278C90EAC0}" presName="parentText" presStyleLbl="node1" presStyleIdx="1" presStyleCnt="3">
        <dgm:presLayoutVars>
          <dgm:chMax val="0"/>
          <dgm:bulletEnabled val="1"/>
        </dgm:presLayoutVars>
      </dgm:prSet>
      <dgm:spPr/>
    </dgm:pt>
    <dgm:pt modelId="{632F1291-A004-4EA6-B4DF-B3BE85A7A79A}" type="pres">
      <dgm:prSet presAssocID="{CE7C2EF1-5D0E-485F-8066-A9278C90EAC0}" presName="negativeSpace" presStyleCnt="0"/>
      <dgm:spPr/>
    </dgm:pt>
    <dgm:pt modelId="{3711D07D-0FB4-4CAB-9D4C-7F2BDE407DC7}" type="pres">
      <dgm:prSet presAssocID="{CE7C2EF1-5D0E-485F-8066-A9278C90EAC0}" presName="childText" presStyleLbl="conFgAcc1" presStyleIdx="1" presStyleCnt="3">
        <dgm:presLayoutVars>
          <dgm:bulletEnabled val="1"/>
        </dgm:presLayoutVars>
      </dgm:prSet>
      <dgm:spPr/>
    </dgm:pt>
    <dgm:pt modelId="{77565ED9-6972-41C6-B623-EDFB14D4BD4E}" type="pres">
      <dgm:prSet presAssocID="{FA61BF7E-5DF0-4BD9-B68F-E524105CBD68}" presName="spaceBetweenRectangles" presStyleCnt="0"/>
      <dgm:spPr/>
    </dgm:pt>
    <dgm:pt modelId="{28FFC207-3A68-4C24-841D-637A21104F22}" type="pres">
      <dgm:prSet presAssocID="{CA12534A-E7CE-415D-95F0-4276DDDA123A}" presName="parentLin" presStyleCnt="0"/>
      <dgm:spPr/>
    </dgm:pt>
    <dgm:pt modelId="{A5558983-52A5-4E81-9EED-5FC5B3AA7205}" type="pres">
      <dgm:prSet presAssocID="{CA12534A-E7CE-415D-95F0-4276DDDA123A}" presName="parentLeftMargin" presStyleLbl="node1" presStyleIdx="1" presStyleCnt="3"/>
      <dgm:spPr/>
    </dgm:pt>
    <dgm:pt modelId="{EDFA5E73-B985-46F5-A040-678746311B48}" type="pres">
      <dgm:prSet presAssocID="{CA12534A-E7CE-415D-95F0-4276DDDA123A}" presName="parentText" presStyleLbl="node1" presStyleIdx="2" presStyleCnt="3">
        <dgm:presLayoutVars>
          <dgm:chMax val="0"/>
          <dgm:bulletEnabled val="1"/>
        </dgm:presLayoutVars>
      </dgm:prSet>
      <dgm:spPr/>
    </dgm:pt>
    <dgm:pt modelId="{15080B39-75F0-4773-A9E2-BB2D2D7AFD2F}" type="pres">
      <dgm:prSet presAssocID="{CA12534A-E7CE-415D-95F0-4276DDDA123A}" presName="negativeSpace" presStyleCnt="0"/>
      <dgm:spPr/>
    </dgm:pt>
    <dgm:pt modelId="{8449C31A-9160-4BCF-A8E9-829DE59113F5}" type="pres">
      <dgm:prSet presAssocID="{CA12534A-E7CE-415D-95F0-4276DDDA123A}" presName="childText" presStyleLbl="conFgAcc1" presStyleIdx="2" presStyleCnt="3">
        <dgm:presLayoutVars>
          <dgm:bulletEnabled val="1"/>
        </dgm:presLayoutVars>
      </dgm:prSet>
      <dgm:spPr/>
    </dgm:pt>
  </dgm:ptLst>
  <dgm:cxnLst>
    <dgm:cxn modelId="{90163807-C3FA-4CAE-9B2A-AF536A44A45D}" srcId="{CA12534A-E7CE-415D-95F0-4276DDDA123A}" destId="{56A11A27-3A4D-4BE8-8399-B90115674323}" srcOrd="4" destOrd="0" parTransId="{4A77C78B-C869-4118-BB90-B496F1B4F9C6}" sibTransId="{86C6816C-039C-46A7-BC22-D2C7724B8BF6}"/>
    <dgm:cxn modelId="{6964141E-0B3C-4E0A-869D-E1D674326194}" type="presOf" srcId="{E1053380-9F67-44EA-AC1E-7E0C6B89E29B}" destId="{1F070962-6C75-4453-B9C4-AF9CC60F75C6}" srcOrd="0" destOrd="1" presId="urn:microsoft.com/office/officeart/2005/8/layout/list1"/>
    <dgm:cxn modelId="{6CDB6E26-99C3-4ADF-B989-B2C3A677A387}" srcId="{CA12534A-E7CE-415D-95F0-4276DDDA123A}" destId="{C92790ED-1DAC-4B0F-891B-5218ECAA0C62}" srcOrd="1" destOrd="0" parTransId="{30932767-9913-4C15-9FD8-AB37594F9E6F}" sibTransId="{2334365B-58F6-4FA9-AE9A-3742A417E97C}"/>
    <dgm:cxn modelId="{3DF5BB33-0556-494F-92D3-38692BC417D3}" type="presOf" srcId="{56A11A27-3A4D-4BE8-8399-B90115674323}" destId="{8449C31A-9160-4BCF-A8E9-829DE59113F5}" srcOrd="0" destOrd="4" presId="urn:microsoft.com/office/officeart/2005/8/layout/list1"/>
    <dgm:cxn modelId="{FAD1D838-20AA-4602-9A0F-C55EE0DEA80A}" type="presOf" srcId="{F17B33FB-1701-4B87-888C-8F3D10B59F25}" destId="{3711D07D-0FB4-4CAB-9D4C-7F2BDE407DC7}" srcOrd="0" destOrd="1" presId="urn:microsoft.com/office/officeart/2005/8/layout/list1"/>
    <dgm:cxn modelId="{E5B95A61-28F9-4BEF-ABF3-0693082F969C}" type="presOf" srcId="{CBB2ED1F-3B09-4201-A8BD-840DB3D58079}" destId="{1F070962-6C75-4453-B9C4-AF9CC60F75C6}" srcOrd="0" destOrd="2" presId="urn:microsoft.com/office/officeart/2005/8/layout/list1"/>
    <dgm:cxn modelId="{80B1B067-2D2E-4DCD-9863-EC00D787CFA2}" srcId="{5237B714-418B-49D4-9892-4A5C85ADDA9B}" destId="{91118BAC-D688-4D4A-80FD-0C24ED495C07}" srcOrd="0" destOrd="0" parTransId="{35E0FDA2-3314-4503-BC77-604C1E50FE7F}" sibTransId="{CCD0828B-AE9D-4E31-9B19-612D3DA43D83}"/>
    <dgm:cxn modelId="{EBACB068-49DA-4151-AE24-A2CC06CB989D}" type="presOf" srcId="{CE7C2EF1-5D0E-485F-8066-A9278C90EAC0}" destId="{58CC84EB-F72C-42E3-9474-A713FA102D33}" srcOrd="1" destOrd="0" presId="urn:microsoft.com/office/officeart/2005/8/layout/list1"/>
    <dgm:cxn modelId="{E664BB4C-707F-4966-8379-EF7523120965}" type="presOf" srcId="{B33EBE27-E39A-482B-9A53-BEDBB26228D5}" destId="{8449C31A-9160-4BCF-A8E9-829DE59113F5}" srcOrd="0" destOrd="0" presId="urn:microsoft.com/office/officeart/2005/8/layout/list1"/>
    <dgm:cxn modelId="{2D0B2451-55E9-4F4C-88E9-0248DCD870A9}" type="presOf" srcId="{5C258978-0D08-45D8-A86C-79671D9383AF}" destId="{3711D07D-0FB4-4CAB-9D4C-7F2BDE407DC7}" srcOrd="0" destOrd="2" presId="urn:microsoft.com/office/officeart/2005/8/layout/list1"/>
    <dgm:cxn modelId="{E88A4359-0D39-4A11-BF28-BF4807A859A9}" type="presOf" srcId="{B7209780-0809-4317-A407-4FFC25E716FB}" destId="{E367D6D3-1F1D-4D54-A73C-1B1355C33949}" srcOrd="0" destOrd="0" presId="urn:microsoft.com/office/officeart/2005/8/layout/list1"/>
    <dgm:cxn modelId="{6A6E2A7C-AB27-4B6E-B2B2-8B7B8C91EB78}" srcId="{CA12534A-E7CE-415D-95F0-4276DDDA123A}" destId="{92387B44-4C84-42EA-B10A-6A51E07972DF}" srcOrd="3" destOrd="0" parTransId="{2E92215A-EEBF-4C19-9803-C819BA80CFC0}" sibTransId="{D88C7432-4E18-42E4-A756-576F19016EB4}"/>
    <dgm:cxn modelId="{508BDD7F-42D4-426E-87B2-788277A9FFBA}" srcId="{CE7C2EF1-5D0E-485F-8066-A9278C90EAC0}" destId="{5C258978-0D08-45D8-A86C-79671D9383AF}" srcOrd="2" destOrd="0" parTransId="{FA6FBDD9-00B0-4C58-9F02-12EBE1FA5617}" sibTransId="{B89AE2C0-7DF0-4C57-BA07-BA6B9137BFC0}"/>
    <dgm:cxn modelId="{F53D008A-A17E-4F18-A249-EBA9E533A9A8}" srcId="{5237B714-418B-49D4-9892-4A5C85ADDA9B}" destId="{CBB2ED1F-3B09-4201-A8BD-840DB3D58079}" srcOrd="2" destOrd="0" parTransId="{21226081-8E2F-4FB6-86CE-AB875FBB6104}" sibTransId="{F2986735-0A9B-429D-BA53-4BA27F26F195}"/>
    <dgm:cxn modelId="{FE41198A-8AE4-4A8C-897C-E20BF094CBA1}" type="presOf" srcId="{5237B714-418B-49D4-9892-4A5C85ADDA9B}" destId="{3F95C356-820F-4021-A612-68A1226142EB}" srcOrd="1" destOrd="0" presId="urn:microsoft.com/office/officeart/2005/8/layout/list1"/>
    <dgm:cxn modelId="{DD6B078F-6F32-4943-A276-1F6DD1C16460}" srcId="{B7209780-0809-4317-A407-4FFC25E716FB}" destId="{CA12534A-E7CE-415D-95F0-4276DDDA123A}" srcOrd="2" destOrd="0" parTransId="{62C766FA-8832-4919-A580-116FA12C00C1}" sibTransId="{2A47B1B7-72E9-4E32-9A8E-7FB693F8D6DF}"/>
    <dgm:cxn modelId="{194665A2-B8E1-4089-BA10-1D3078884CB8}" type="presOf" srcId="{92387B44-4C84-42EA-B10A-6A51E07972DF}" destId="{8449C31A-9160-4BCF-A8E9-829DE59113F5}" srcOrd="0" destOrd="3" presId="urn:microsoft.com/office/officeart/2005/8/layout/list1"/>
    <dgm:cxn modelId="{FD1993A6-43CC-4702-8092-C70C3DC9476A}" srcId="{CA12534A-E7CE-415D-95F0-4276DDDA123A}" destId="{1C2B733A-1D60-49B1-B306-D88538C36AD5}" srcOrd="5" destOrd="0" parTransId="{39FC77F8-78D5-4DCC-AE90-33FE68233FCA}" sibTransId="{2094F00A-AD8C-49AD-A2F9-4B46469BEDD2}"/>
    <dgm:cxn modelId="{44A3BFAB-2C5F-489C-80E2-4A9C54FD335D}" srcId="{CE7C2EF1-5D0E-485F-8066-A9278C90EAC0}" destId="{37F193E0-B9F1-4BD2-8ECF-B63FDFD0B3DD}" srcOrd="0" destOrd="0" parTransId="{EC3D0CB7-2587-4B6B-884C-ED3BE114BEE6}" sibTransId="{56CBF6F7-DE71-4A25-9CA8-6748E66F61B9}"/>
    <dgm:cxn modelId="{EB21A5AF-CDC8-45F3-BC59-9479AB44976D}" srcId="{5237B714-418B-49D4-9892-4A5C85ADDA9B}" destId="{E1053380-9F67-44EA-AC1E-7E0C6B89E29B}" srcOrd="1" destOrd="0" parTransId="{8A220F99-1F19-4893-8AF6-71492BD101D7}" sibTransId="{D8405FA4-7603-45D5-B3A3-0AAAD4361C78}"/>
    <dgm:cxn modelId="{1D6297B1-76CE-46F8-9366-908CFC6FFE7D}" type="presOf" srcId="{CA12534A-E7CE-415D-95F0-4276DDDA123A}" destId="{EDFA5E73-B985-46F5-A040-678746311B48}" srcOrd="1" destOrd="0" presId="urn:microsoft.com/office/officeart/2005/8/layout/list1"/>
    <dgm:cxn modelId="{FF4A71B4-F724-4CBD-8796-BC30B162E4E3}" srcId="{CA12534A-E7CE-415D-95F0-4276DDDA123A}" destId="{B33EBE27-E39A-482B-9A53-BEDBB26228D5}" srcOrd="0" destOrd="0" parTransId="{BA8725E8-F58D-4E7C-B348-C61933BE13B3}" sibTransId="{9855811B-427A-4003-BA19-C19981FB0294}"/>
    <dgm:cxn modelId="{83448BB8-B2B1-46B1-A7A4-FD76FE9248B7}" srcId="{CE7C2EF1-5D0E-485F-8066-A9278C90EAC0}" destId="{F17B33FB-1701-4B87-888C-8F3D10B59F25}" srcOrd="1" destOrd="0" parTransId="{A93E3CC1-6809-4DF1-9799-4894A72E137E}" sibTransId="{366D3F1F-9247-4A56-A851-614A08A95171}"/>
    <dgm:cxn modelId="{23733CB9-BB8C-45FF-BE5A-EE210194B39F}" srcId="{CA12534A-E7CE-415D-95F0-4276DDDA123A}" destId="{4E088BA5-75DB-4A46-B7CD-AF987DC4E49F}" srcOrd="2" destOrd="0" parTransId="{D1CA5C90-3769-4B03-BB37-4FE915843039}" sibTransId="{97E988BE-2F65-4396-BC15-FF3B79219225}"/>
    <dgm:cxn modelId="{3B568ABB-B26C-4086-A399-6DB71428BB19}" srcId="{B7209780-0809-4317-A407-4FFC25E716FB}" destId="{CE7C2EF1-5D0E-485F-8066-A9278C90EAC0}" srcOrd="1" destOrd="0" parTransId="{A91CF968-95C0-4251-A4FF-1C052A257AD6}" sibTransId="{FA61BF7E-5DF0-4BD9-B68F-E524105CBD68}"/>
    <dgm:cxn modelId="{F7202FC1-193B-4CF7-8E13-8D497F7E881E}" type="presOf" srcId="{37F193E0-B9F1-4BD2-8ECF-B63FDFD0B3DD}" destId="{3711D07D-0FB4-4CAB-9D4C-7F2BDE407DC7}" srcOrd="0" destOrd="0" presId="urn:microsoft.com/office/officeart/2005/8/layout/list1"/>
    <dgm:cxn modelId="{588EC0C7-5C01-4104-A429-C00521B42479}" type="presOf" srcId="{5237B714-418B-49D4-9892-4A5C85ADDA9B}" destId="{2183E032-536F-4081-892F-CC3AB7F77FB2}" srcOrd="0" destOrd="0" presId="urn:microsoft.com/office/officeart/2005/8/layout/list1"/>
    <dgm:cxn modelId="{28D919CC-2690-48FC-9F99-74285AD06B83}" type="presOf" srcId="{C92790ED-1DAC-4B0F-891B-5218ECAA0C62}" destId="{8449C31A-9160-4BCF-A8E9-829DE59113F5}" srcOrd="0" destOrd="1" presId="urn:microsoft.com/office/officeart/2005/8/layout/list1"/>
    <dgm:cxn modelId="{2B912ADE-8E61-4C43-BC55-EFF8DDB9CFC6}" type="presOf" srcId="{CA12534A-E7CE-415D-95F0-4276DDDA123A}" destId="{A5558983-52A5-4E81-9EED-5FC5B3AA7205}" srcOrd="0" destOrd="0" presId="urn:microsoft.com/office/officeart/2005/8/layout/list1"/>
    <dgm:cxn modelId="{10660EF5-73FF-41C9-8765-150FDA6B1985}" type="presOf" srcId="{4E088BA5-75DB-4A46-B7CD-AF987DC4E49F}" destId="{8449C31A-9160-4BCF-A8E9-829DE59113F5}" srcOrd="0" destOrd="2" presId="urn:microsoft.com/office/officeart/2005/8/layout/list1"/>
    <dgm:cxn modelId="{C564C6F5-6887-4A6E-A8D7-924ED5108BFF}" type="presOf" srcId="{91118BAC-D688-4D4A-80FD-0C24ED495C07}" destId="{1F070962-6C75-4453-B9C4-AF9CC60F75C6}" srcOrd="0" destOrd="0" presId="urn:microsoft.com/office/officeart/2005/8/layout/list1"/>
    <dgm:cxn modelId="{F0410FF8-C01A-4452-80E7-99EFA61F5D2B}" type="presOf" srcId="{CE7C2EF1-5D0E-485F-8066-A9278C90EAC0}" destId="{3FA020B8-58A3-47B3-976E-897B92D7A08B}" srcOrd="0" destOrd="0" presId="urn:microsoft.com/office/officeart/2005/8/layout/list1"/>
    <dgm:cxn modelId="{E91750FB-CA32-4B7B-A764-845176C44821}" srcId="{B7209780-0809-4317-A407-4FFC25E716FB}" destId="{5237B714-418B-49D4-9892-4A5C85ADDA9B}" srcOrd="0" destOrd="0" parTransId="{064B79DE-D28C-4286-87F1-B0232949D44E}" sibTransId="{D70C237A-B14F-4ADE-8D03-2C87F06792C4}"/>
    <dgm:cxn modelId="{B5C2CDFF-B934-463F-A483-40BC1834C2E7}" type="presOf" srcId="{1C2B733A-1D60-49B1-B306-D88538C36AD5}" destId="{8449C31A-9160-4BCF-A8E9-829DE59113F5}" srcOrd="0" destOrd="5" presId="urn:microsoft.com/office/officeart/2005/8/layout/list1"/>
    <dgm:cxn modelId="{5D87A6C3-281C-4C2B-A1B1-38DEABFF677B}" type="presParOf" srcId="{E367D6D3-1F1D-4D54-A73C-1B1355C33949}" destId="{6739F9CE-E72E-48FA-B206-D8AFB63B538A}" srcOrd="0" destOrd="0" presId="urn:microsoft.com/office/officeart/2005/8/layout/list1"/>
    <dgm:cxn modelId="{F4D5A29A-1A63-4A88-BC2A-BA25ED1143D0}" type="presParOf" srcId="{6739F9CE-E72E-48FA-B206-D8AFB63B538A}" destId="{2183E032-536F-4081-892F-CC3AB7F77FB2}" srcOrd="0" destOrd="0" presId="urn:microsoft.com/office/officeart/2005/8/layout/list1"/>
    <dgm:cxn modelId="{849167E3-0351-412B-B2E3-3956FC6EAF2D}" type="presParOf" srcId="{6739F9CE-E72E-48FA-B206-D8AFB63B538A}" destId="{3F95C356-820F-4021-A612-68A1226142EB}" srcOrd="1" destOrd="0" presId="urn:microsoft.com/office/officeart/2005/8/layout/list1"/>
    <dgm:cxn modelId="{F0A5E267-3212-48C6-936E-D218D88B1EDF}" type="presParOf" srcId="{E367D6D3-1F1D-4D54-A73C-1B1355C33949}" destId="{AC927DF3-41F7-43B9-A0EE-1428A07AA8B1}" srcOrd="1" destOrd="0" presId="urn:microsoft.com/office/officeart/2005/8/layout/list1"/>
    <dgm:cxn modelId="{52ED30DE-0975-488A-A549-356DB648BA0D}" type="presParOf" srcId="{E367D6D3-1F1D-4D54-A73C-1B1355C33949}" destId="{1F070962-6C75-4453-B9C4-AF9CC60F75C6}" srcOrd="2" destOrd="0" presId="urn:microsoft.com/office/officeart/2005/8/layout/list1"/>
    <dgm:cxn modelId="{B2BC79CA-2C7F-490A-A434-C5D8A45FFEFB}" type="presParOf" srcId="{E367D6D3-1F1D-4D54-A73C-1B1355C33949}" destId="{287A39EB-12C6-44CE-A2B6-F7FD9BB300BB}" srcOrd="3" destOrd="0" presId="urn:microsoft.com/office/officeart/2005/8/layout/list1"/>
    <dgm:cxn modelId="{CBFAB8D0-0DA9-4D74-94D4-7E28052AFEC8}" type="presParOf" srcId="{E367D6D3-1F1D-4D54-A73C-1B1355C33949}" destId="{E4177181-7B94-446D-8DFE-B9AB5CF85815}" srcOrd="4" destOrd="0" presId="urn:microsoft.com/office/officeart/2005/8/layout/list1"/>
    <dgm:cxn modelId="{6F0507F8-0CE1-4954-B9CB-E76FA36542C3}" type="presParOf" srcId="{E4177181-7B94-446D-8DFE-B9AB5CF85815}" destId="{3FA020B8-58A3-47B3-976E-897B92D7A08B}" srcOrd="0" destOrd="0" presId="urn:microsoft.com/office/officeart/2005/8/layout/list1"/>
    <dgm:cxn modelId="{F68D0699-8E76-4B5F-87C9-1F12D39DEBF7}" type="presParOf" srcId="{E4177181-7B94-446D-8DFE-B9AB5CF85815}" destId="{58CC84EB-F72C-42E3-9474-A713FA102D33}" srcOrd="1" destOrd="0" presId="urn:microsoft.com/office/officeart/2005/8/layout/list1"/>
    <dgm:cxn modelId="{3ED6DD64-858D-40B0-9B30-57F4772602FE}" type="presParOf" srcId="{E367D6D3-1F1D-4D54-A73C-1B1355C33949}" destId="{632F1291-A004-4EA6-B4DF-B3BE85A7A79A}" srcOrd="5" destOrd="0" presId="urn:microsoft.com/office/officeart/2005/8/layout/list1"/>
    <dgm:cxn modelId="{5C90605B-2A43-49D1-A45C-8DA47A9DEB1A}" type="presParOf" srcId="{E367D6D3-1F1D-4D54-A73C-1B1355C33949}" destId="{3711D07D-0FB4-4CAB-9D4C-7F2BDE407DC7}" srcOrd="6" destOrd="0" presId="urn:microsoft.com/office/officeart/2005/8/layout/list1"/>
    <dgm:cxn modelId="{3702E327-F841-44BC-9792-C0C0EA0618BA}" type="presParOf" srcId="{E367D6D3-1F1D-4D54-A73C-1B1355C33949}" destId="{77565ED9-6972-41C6-B623-EDFB14D4BD4E}" srcOrd="7" destOrd="0" presId="urn:microsoft.com/office/officeart/2005/8/layout/list1"/>
    <dgm:cxn modelId="{9FDD2CD7-2945-4CAC-B8A4-93889F3C81BD}" type="presParOf" srcId="{E367D6D3-1F1D-4D54-A73C-1B1355C33949}" destId="{28FFC207-3A68-4C24-841D-637A21104F22}" srcOrd="8" destOrd="0" presId="urn:microsoft.com/office/officeart/2005/8/layout/list1"/>
    <dgm:cxn modelId="{2AA0B077-041C-4243-9CC2-0FD07FC73F94}" type="presParOf" srcId="{28FFC207-3A68-4C24-841D-637A21104F22}" destId="{A5558983-52A5-4E81-9EED-5FC5B3AA7205}" srcOrd="0" destOrd="0" presId="urn:microsoft.com/office/officeart/2005/8/layout/list1"/>
    <dgm:cxn modelId="{9BB01380-94C0-4C0E-9E84-F6D5AC4F12BA}" type="presParOf" srcId="{28FFC207-3A68-4C24-841D-637A21104F22}" destId="{EDFA5E73-B985-46F5-A040-678746311B48}" srcOrd="1" destOrd="0" presId="urn:microsoft.com/office/officeart/2005/8/layout/list1"/>
    <dgm:cxn modelId="{C48E6D72-ED3E-4601-BE84-D5A3B36C8134}" type="presParOf" srcId="{E367D6D3-1F1D-4D54-A73C-1B1355C33949}" destId="{15080B39-75F0-4773-A9E2-BB2D2D7AFD2F}" srcOrd="9" destOrd="0" presId="urn:microsoft.com/office/officeart/2005/8/layout/list1"/>
    <dgm:cxn modelId="{7CB4873E-14AE-4EF9-B0B5-00D114B04A5F}" type="presParOf" srcId="{E367D6D3-1F1D-4D54-A73C-1B1355C33949}" destId="{8449C31A-9160-4BCF-A8E9-829DE59113F5}"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05B8C3F-CFA6-4359-9324-7DCFE89FE4AD}"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C0E7855C-E136-40BC-9C99-8A4265941A85}">
      <dgm:prSet phldrT="[Text]"/>
      <dgm:spPr/>
      <dgm:t>
        <a:bodyPr/>
        <a:lstStyle/>
        <a:p>
          <a:r>
            <a:rPr lang="en-US" dirty="0"/>
            <a:t>*</a:t>
          </a:r>
        </a:p>
      </dgm:t>
    </dgm:pt>
    <dgm:pt modelId="{4101DDE1-8FAB-4058-8526-CCC894A7BA4B}" type="parTrans" cxnId="{6C7BD69D-19ED-400E-905C-8D97F56762B2}">
      <dgm:prSet/>
      <dgm:spPr/>
      <dgm:t>
        <a:bodyPr/>
        <a:lstStyle/>
        <a:p>
          <a:endParaRPr lang="en-US"/>
        </a:p>
      </dgm:t>
    </dgm:pt>
    <dgm:pt modelId="{03128737-48FD-4438-AE75-8D728D070940}" type="sibTrans" cxnId="{6C7BD69D-19ED-400E-905C-8D97F56762B2}">
      <dgm:prSet/>
      <dgm:spPr/>
      <dgm:t>
        <a:bodyPr/>
        <a:lstStyle/>
        <a:p>
          <a:endParaRPr lang="en-US"/>
        </a:p>
      </dgm:t>
    </dgm:pt>
    <dgm:pt modelId="{00B3C7AA-4DB4-4233-B9AD-AABD8D238ADF}">
      <dgm:prSet phldrT="[Text]"/>
      <dgm:spPr/>
      <dgm:t>
        <a:bodyPr/>
        <a:lstStyle/>
        <a:p>
          <a:pPr algn="just">
            <a:buNone/>
          </a:pPr>
          <a:r>
            <a:rPr lang="en-US" dirty="0"/>
            <a:t>"Engineering problems are under-defined; there are many solutions, good, bad, and indifferent. The art is to arrive at a good solution." </a:t>
          </a:r>
        </a:p>
      </dgm:t>
    </dgm:pt>
    <dgm:pt modelId="{AF84ECCB-3A9B-4186-A992-2DFE1874B518}" type="parTrans" cxnId="{82F61880-2437-4198-90AC-B6260908E303}">
      <dgm:prSet/>
      <dgm:spPr/>
      <dgm:t>
        <a:bodyPr/>
        <a:lstStyle/>
        <a:p>
          <a:endParaRPr lang="en-US"/>
        </a:p>
      </dgm:t>
    </dgm:pt>
    <dgm:pt modelId="{03093588-450F-407E-A2BD-1ADA99AAAA25}" type="sibTrans" cxnId="{82F61880-2437-4198-90AC-B6260908E303}">
      <dgm:prSet/>
      <dgm:spPr/>
      <dgm:t>
        <a:bodyPr/>
        <a:lstStyle/>
        <a:p>
          <a:endParaRPr lang="en-US"/>
        </a:p>
      </dgm:t>
    </dgm:pt>
    <dgm:pt modelId="{BC9AEDEB-D6F3-4240-B45C-0B2A17BFD62D}">
      <dgm:prSet/>
      <dgm:spPr/>
      <dgm:t>
        <a:bodyPr/>
        <a:lstStyle/>
        <a:p>
          <a:pPr algn="l"/>
          <a:endParaRPr lang="en-US" dirty="0"/>
        </a:p>
      </dgm:t>
    </dgm:pt>
    <dgm:pt modelId="{CEB649FE-1F16-413B-B509-BE31CD2CD5C4}" type="parTrans" cxnId="{E515E3C9-6B9F-45F1-8035-A3871455657D}">
      <dgm:prSet/>
      <dgm:spPr/>
      <dgm:t>
        <a:bodyPr/>
        <a:lstStyle/>
        <a:p>
          <a:endParaRPr lang="en-US"/>
        </a:p>
      </dgm:t>
    </dgm:pt>
    <dgm:pt modelId="{79EBC6ED-3EBD-4DF1-83D1-F3FF48E645AB}" type="sibTrans" cxnId="{E515E3C9-6B9F-45F1-8035-A3871455657D}">
      <dgm:prSet/>
      <dgm:spPr/>
      <dgm:t>
        <a:bodyPr/>
        <a:lstStyle/>
        <a:p>
          <a:endParaRPr lang="en-US"/>
        </a:p>
      </dgm:t>
    </dgm:pt>
    <dgm:pt modelId="{F040EDF2-3DE2-4A6E-A5B6-5C3237B08B8B}">
      <dgm:prSet/>
      <dgm:spPr/>
      <dgm:t>
        <a:bodyPr/>
        <a:lstStyle/>
        <a:p>
          <a:pPr algn="r"/>
          <a:r>
            <a:rPr lang="en-US" dirty="0"/>
            <a:t>- Richard James</a:t>
          </a:r>
        </a:p>
      </dgm:t>
    </dgm:pt>
    <dgm:pt modelId="{C50C6057-C71F-4CDD-BF18-A288246A13FD}" type="parTrans" cxnId="{797A71F8-CFE9-4467-B146-24536021B03A}">
      <dgm:prSet/>
      <dgm:spPr/>
      <dgm:t>
        <a:bodyPr/>
        <a:lstStyle/>
        <a:p>
          <a:endParaRPr lang="en-US"/>
        </a:p>
      </dgm:t>
    </dgm:pt>
    <dgm:pt modelId="{03DEA72F-348A-4F06-880A-2AAB52B904D4}" type="sibTrans" cxnId="{797A71F8-CFE9-4467-B146-24536021B03A}">
      <dgm:prSet/>
      <dgm:spPr/>
      <dgm:t>
        <a:bodyPr/>
        <a:lstStyle/>
        <a:p>
          <a:endParaRPr lang="en-US"/>
        </a:p>
      </dgm:t>
    </dgm:pt>
    <dgm:pt modelId="{A235118C-8738-4A67-9C08-DE941EE4AACE}" type="pres">
      <dgm:prSet presAssocID="{005B8C3F-CFA6-4359-9324-7DCFE89FE4AD}" presName="linearFlow" presStyleCnt="0">
        <dgm:presLayoutVars>
          <dgm:dir/>
          <dgm:animLvl val="lvl"/>
          <dgm:resizeHandles val="exact"/>
        </dgm:presLayoutVars>
      </dgm:prSet>
      <dgm:spPr/>
    </dgm:pt>
    <dgm:pt modelId="{607941F9-307F-4E24-8F4B-2A5D5D5D292D}" type="pres">
      <dgm:prSet presAssocID="{C0E7855C-E136-40BC-9C99-8A4265941A85}" presName="composite" presStyleCnt="0"/>
      <dgm:spPr/>
    </dgm:pt>
    <dgm:pt modelId="{39487E9F-293F-4F3E-A1A9-17D428A64966}" type="pres">
      <dgm:prSet presAssocID="{C0E7855C-E136-40BC-9C99-8A4265941A85}" presName="parentText" presStyleLbl="alignNode1" presStyleIdx="0" presStyleCnt="1">
        <dgm:presLayoutVars>
          <dgm:chMax val="1"/>
          <dgm:bulletEnabled val="1"/>
        </dgm:presLayoutVars>
      </dgm:prSet>
      <dgm:spPr/>
    </dgm:pt>
    <dgm:pt modelId="{89CAB319-2F2A-4DA2-A543-B9201449C1F7}" type="pres">
      <dgm:prSet presAssocID="{C0E7855C-E136-40BC-9C99-8A4265941A85}" presName="descendantText" presStyleLbl="alignAcc1" presStyleIdx="0" presStyleCnt="1">
        <dgm:presLayoutVars>
          <dgm:bulletEnabled val="1"/>
        </dgm:presLayoutVars>
      </dgm:prSet>
      <dgm:spPr/>
    </dgm:pt>
  </dgm:ptLst>
  <dgm:cxnLst>
    <dgm:cxn modelId="{9FB35655-1C85-4E09-9954-F1D172DAFB9F}" type="presOf" srcId="{C0E7855C-E136-40BC-9C99-8A4265941A85}" destId="{39487E9F-293F-4F3E-A1A9-17D428A64966}" srcOrd="0" destOrd="0" presId="urn:microsoft.com/office/officeart/2005/8/layout/chevron2"/>
    <dgm:cxn modelId="{82F61880-2437-4198-90AC-B6260908E303}" srcId="{C0E7855C-E136-40BC-9C99-8A4265941A85}" destId="{00B3C7AA-4DB4-4233-B9AD-AABD8D238ADF}" srcOrd="0" destOrd="0" parTransId="{AF84ECCB-3A9B-4186-A992-2DFE1874B518}" sibTransId="{03093588-450F-407E-A2BD-1ADA99AAAA25}"/>
    <dgm:cxn modelId="{CB486C87-FCAA-4271-831F-1B6C308C74A4}" type="presOf" srcId="{F040EDF2-3DE2-4A6E-A5B6-5C3237B08B8B}" destId="{89CAB319-2F2A-4DA2-A543-B9201449C1F7}" srcOrd="0" destOrd="2" presId="urn:microsoft.com/office/officeart/2005/8/layout/chevron2"/>
    <dgm:cxn modelId="{6C7BD69D-19ED-400E-905C-8D97F56762B2}" srcId="{005B8C3F-CFA6-4359-9324-7DCFE89FE4AD}" destId="{C0E7855C-E136-40BC-9C99-8A4265941A85}" srcOrd="0" destOrd="0" parTransId="{4101DDE1-8FAB-4058-8526-CCC894A7BA4B}" sibTransId="{03128737-48FD-4438-AE75-8D728D070940}"/>
    <dgm:cxn modelId="{A5F4D5C3-2301-4B2A-B1C0-05D093CFE840}" type="presOf" srcId="{00B3C7AA-4DB4-4233-B9AD-AABD8D238ADF}" destId="{89CAB319-2F2A-4DA2-A543-B9201449C1F7}" srcOrd="0" destOrd="0" presId="urn:microsoft.com/office/officeart/2005/8/layout/chevron2"/>
    <dgm:cxn modelId="{E515E3C9-6B9F-45F1-8035-A3871455657D}" srcId="{C0E7855C-E136-40BC-9C99-8A4265941A85}" destId="{BC9AEDEB-D6F3-4240-B45C-0B2A17BFD62D}" srcOrd="1" destOrd="0" parTransId="{CEB649FE-1F16-413B-B509-BE31CD2CD5C4}" sibTransId="{79EBC6ED-3EBD-4DF1-83D1-F3FF48E645AB}"/>
    <dgm:cxn modelId="{5DD2B4D3-0C65-4971-A3DD-3DD49E940A6F}" type="presOf" srcId="{BC9AEDEB-D6F3-4240-B45C-0B2A17BFD62D}" destId="{89CAB319-2F2A-4DA2-A543-B9201449C1F7}" srcOrd="0" destOrd="1" presId="urn:microsoft.com/office/officeart/2005/8/layout/chevron2"/>
    <dgm:cxn modelId="{183270F5-9287-4D4B-B03A-B4A97A919CDE}" type="presOf" srcId="{005B8C3F-CFA6-4359-9324-7DCFE89FE4AD}" destId="{A235118C-8738-4A67-9C08-DE941EE4AACE}" srcOrd="0" destOrd="0" presId="urn:microsoft.com/office/officeart/2005/8/layout/chevron2"/>
    <dgm:cxn modelId="{797A71F8-CFE9-4467-B146-24536021B03A}" srcId="{C0E7855C-E136-40BC-9C99-8A4265941A85}" destId="{F040EDF2-3DE2-4A6E-A5B6-5C3237B08B8B}" srcOrd="2" destOrd="0" parTransId="{C50C6057-C71F-4CDD-BF18-A288246A13FD}" sibTransId="{03DEA72F-348A-4F06-880A-2AAB52B904D4}"/>
    <dgm:cxn modelId="{57493EDC-584D-442B-91FB-7D28D289FCA8}" type="presParOf" srcId="{A235118C-8738-4A67-9C08-DE941EE4AACE}" destId="{607941F9-307F-4E24-8F4B-2A5D5D5D292D}" srcOrd="0" destOrd="0" presId="urn:microsoft.com/office/officeart/2005/8/layout/chevron2"/>
    <dgm:cxn modelId="{2987B317-1B7C-4B62-B4DA-BB967529E7B7}" type="presParOf" srcId="{607941F9-307F-4E24-8F4B-2A5D5D5D292D}" destId="{39487E9F-293F-4F3E-A1A9-17D428A64966}" srcOrd="0" destOrd="0" presId="urn:microsoft.com/office/officeart/2005/8/layout/chevron2"/>
    <dgm:cxn modelId="{845EA655-6D0E-4DC6-9170-74BBC8CFE252}" type="presParOf" srcId="{607941F9-307F-4E24-8F4B-2A5D5D5D292D}" destId="{89CAB319-2F2A-4DA2-A543-B9201449C1F7}"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070962-6C75-4453-B9C4-AF9CC60F75C6}">
      <dsp:nvSpPr>
        <dsp:cNvPr id="0" name=""/>
        <dsp:cNvSpPr/>
      </dsp:nvSpPr>
      <dsp:spPr>
        <a:xfrm>
          <a:off x="0" y="633104"/>
          <a:ext cx="6101685" cy="143640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3559" tIns="395732" rIns="473559" bIns="135128" numCol="1" spcCol="1270" anchor="t" anchorCtr="0">
          <a:noAutofit/>
        </a:bodyPr>
        <a:lstStyle/>
        <a:p>
          <a:pPr marL="171450" lvl="1" indent="-171450" algn="l" defTabSz="844550">
            <a:lnSpc>
              <a:spcPct val="90000"/>
            </a:lnSpc>
            <a:spcBef>
              <a:spcPct val="0"/>
            </a:spcBef>
            <a:spcAft>
              <a:spcPct val="15000"/>
            </a:spcAft>
            <a:buChar char="•"/>
          </a:pPr>
          <a:r>
            <a:rPr lang="en-US" sz="1900" b="0" i="0" kern="1200" dirty="0"/>
            <a:t>Fault detection and monitoring</a:t>
          </a:r>
          <a:endParaRPr lang="en-US" sz="1900" kern="1200" dirty="0"/>
        </a:p>
        <a:p>
          <a:pPr marL="171450" lvl="1" indent="-171450" algn="l" defTabSz="844550">
            <a:lnSpc>
              <a:spcPct val="90000"/>
            </a:lnSpc>
            <a:spcBef>
              <a:spcPct val="0"/>
            </a:spcBef>
            <a:spcAft>
              <a:spcPct val="15000"/>
            </a:spcAft>
            <a:buChar char="•"/>
          </a:pPr>
          <a:r>
            <a:rPr lang="en-US" sz="1900" b="0" i="0" kern="1200" dirty="0"/>
            <a:t>IoT-based optimization of microgrid operations</a:t>
          </a:r>
          <a:endParaRPr lang="en-US" sz="1900" kern="1200" dirty="0"/>
        </a:p>
        <a:p>
          <a:pPr marL="171450" lvl="1" indent="-171450" algn="l" defTabSz="844550">
            <a:lnSpc>
              <a:spcPct val="90000"/>
            </a:lnSpc>
            <a:spcBef>
              <a:spcPct val="0"/>
            </a:spcBef>
            <a:spcAft>
              <a:spcPct val="15000"/>
            </a:spcAft>
            <a:buChar char="•"/>
          </a:pPr>
          <a:r>
            <a:rPr lang="en-US" sz="1900" b="0" i="0" kern="1200" dirty="0"/>
            <a:t>Power quality enhancement using active filters</a:t>
          </a:r>
          <a:endParaRPr lang="en-US" sz="1900" kern="1200" dirty="0"/>
        </a:p>
      </dsp:txBody>
      <dsp:txXfrm>
        <a:off x="0" y="633104"/>
        <a:ext cx="6101685" cy="1436400"/>
      </dsp:txXfrm>
    </dsp:sp>
    <dsp:sp modelId="{3F95C356-820F-4021-A612-68A1226142EB}">
      <dsp:nvSpPr>
        <dsp:cNvPr id="0" name=""/>
        <dsp:cNvSpPr/>
      </dsp:nvSpPr>
      <dsp:spPr>
        <a:xfrm>
          <a:off x="305084" y="352664"/>
          <a:ext cx="4271179" cy="5608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440" tIns="0" rIns="161440" bIns="0" numCol="1" spcCol="1270" anchor="ctr" anchorCtr="0">
          <a:noAutofit/>
        </a:bodyPr>
        <a:lstStyle/>
        <a:p>
          <a:pPr marL="0" lvl="0" indent="0" algn="l" defTabSz="844550">
            <a:lnSpc>
              <a:spcPct val="90000"/>
            </a:lnSpc>
            <a:spcBef>
              <a:spcPct val="0"/>
            </a:spcBef>
            <a:spcAft>
              <a:spcPct val="35000"/>
            </a:spcAft>
            <a:buNone/>
          </a:pPr>
          <a:r>
            <a:rPr lang="en-US" sz="1900" b="1" i="0" kern="1200" dirty="0"/>
            <a:t>Grid Integration</a:t>
          </a:r>
          <a:endParaRPr lang="en-US" sz="1900" kern="1200" dirty="0"/>
        </a:p>
      </dsp:txBody>
      <dsp:txXfrm>
        <a:off x="332464" y="380044"/>
        <a:ext cx="4216419" cy="506120"/>
      </dsp:txXfrm>
    </dsp:sp>
    <dsp:sp modelId="{3711D07D-0FB4-4CAB-9D4C-7F2BDE407DC7}">
      <dsp:nvSpPr>
        <dsp:cNvPr id="0" name=""/>
        <dsp:cNvSpPr/>
      </dsp:nvSpPr>
      <dsp:spPr>
        <a:xfrm>
          <a:off x="0" y="2452544"/>
          <a:ext cx="6101685" cy="1436400"/>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3559" tIns="395732" rIns="473559" bIns="135128" numCol="1" spcCol="1270" anchor="t" anchorCtr="0">
          <a:noAutofit/>
        </a:bodyPr>
        <a:lstStyle/>
        <a:p>
          <a:pPr marL="171450" lvl="1" indent="-171450" algn="l" defTabSz="844550">
            <a:lnSpc>
              <a:spcPct val="90000"/>
            </a:lnSpc>
            <a:spcBef>
              <a:spcPct val="0"/>
            </a:spcBef>
            <a:spcAft>
              <a:spcPct val="15000"/>
            </a:spcAft>
            <a:buChar char="•"/>
          </a:pPr>
          <a:r>
            <a:rPr lang="en-US" sz="1900" b="0" i="0" kern="1200" dirty="0"/>
            <a:t>Real-time monitoring criticality</a:t>
          </a:r>
          <a:endParaRPr lang="en-US" sz="1900" kern="1200" dirty="0"/>
        </a:p>
        <a:p>
          <a:pPr marL="171450" lvl="1" indent="-171450" algn="l" defTabSz="844550">
            <a:lnSpc>
              <a:spcPct val="90000"/>
            </a:lnSpc>
            <a:spcBef>
              <a:spcPct val="0"/>
            </a:spcBef>
            <a:spcAft>
              <a:spcPct val="15000"/>
            </a:spcAft>
            <a:buChar char="•"/>
          </a:pPr>
          <a:r>
            <a:rPr lang="en-US" sz="1900" b="0" i="0" kern="1200" dirty="0"/>
            <a:t>IoT-based monitoring</a:t>
          </a:r>
          <a:endParaRPr lang="en-US" sz="1900" kern="1200" dirty="0"/>
        </a:p>
        <a:p>
          <a:pPr marL="171450" lvl="1" indent="-171450" algn="l" defTabSz="844550">
            <a:lnSpc>
              <a:spcPct val="90000"/>
            </a:lnSpc>
            <a:spcBef>
              <a:spcPct val="0"/>
            </a:spcBef>
            <a:spcAft>
              <a:spcPct val="15000"/>
            </a:spcAft>
            <a:buChar char="•"/>
          </a:pPr>
          <a:r>
            <a:rPr lang="en-US" sz="1900" b="0" i="0" kern="1200" dirty="0"/>
            <a:t>Power quality monitoring</a:t>
          </a:r>
        </a:p>
      </dsp:txBody>
      <dsp:txXfrm>
        <a:off x="0" y="2452544"/>
        <a:ext cx="6101685" cy="1436400"/>
      </dsp:txXfrm>
    </dsp:sp>
    <dsp:sp modelId="{58CC84EB-F72C-42E3-9474-A713FA102D33}">
      <dsp:nvSpPr>
        <dsp:cNvPr id="0" name=""/>
        <dsp:cNvSpPr/>
      </dsp:nvSpPr>
      <dsp:spPr>
        <a:xfrm>
          <a:off x="305084" y="2172104"/>
          <a:ext cx="4271179" cy="56088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440" tIns="0" rIns="161440" bIns="0" numCol="1" spcCol="1270" anchor="ctr" anchorCtr="0">
          <a:noAutofit/>
        </a:bodyPr>
        <a:lstStyle/>
        <a:p>
          <a:pPr marL="0" lvl="0" indent="0" algn="l" defTabSz="844550">
            <a:lnSpc>
              <a:spcPct val="90000"/>
            </a:lnSpc>
            <a:spcBef>
              <a:spcPct val="0"/>
            </a:spcBef>
            <a:spcAft>
              <a:spcPct val="35000"/>
            </a:spcAft>
            <a:buNone/>
          </a:pPr>
          <a:r>
            <a:rPr lang="en-US" sz="1900" b="1" i="0" kern="1200" dirty="0"/>
            <a:t>Management Monitoring</a:t>
          </a:r>
          <a:endParaRPr lang="en-US" sz="1900" kern="1200" dirty="0"/>
        </a:p>
      </dsp:txBody>
      <dsp:txXfrm>
        <a:off x="332464" y="2199484"/>
        <a:ext cx="4216419" cy="506120"/>
      </dsp:txXfrm>
    </dsp:sp>
    <dsp:sp modelId="{8449C31A-9160-4BCF-A8E9-829DE59113F5}">
      <dsp:nvSpPr>
        <dsp:cNvPr id="0" name=""/>
        <dsp:cNvSpPr/>
      </dsp:nvSpPr>
      <dsp:spPr>
        <a:xfrm>
          <a:off x="0" y="4271984"/>
          <a:ext cx="6101685" cy="2633400"/>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3559" tIns="395732" rIns="473559" bIns="135128" numCol="1" spcCol="1270" anchor="t" anchorCtr="0">
          <a:noAutofit/>
        </a:bodyPr>
        <a:lstStyle/>
        <a:p>
          <a:pPr marL="171450" lvl="1" indent="-171450" algn="l" defTabSz="844550">
            <a:lnSpc>
              <a:spcPct val="90000"/>
            </a:lnSpc>
            <a:spcBef>
              <a:spcPct val="0"/>
            </a:spcBef>
            <a:spcAft>
              <a:spcPct val="15000"/>
            </a:spcAft>
            <a:buChar char="•"/>
          </a:pPr>
          <a:r>
            <a:rPr lang="en-US" sz="1900" b="0" i="0" kern="1200" dirty="0"/>
            <a:t>Need for range prediction</a:t>
          </a:r>
          <a:endParaRPr lang="en-US" sz="1900" kern="1200" dirty="0"/>
        </a:p>
        <a:p>
          <a:pPr marL="171450" lvl="1" indent="-171450" algn="l" defTabSz="844550">
            <a:lnSpc>
              <a:spcPct val="90000"/>
            </a:lnSpc>
            <a:spcBef>
              <a:spcPct val="0"/>
            </a:spcBef>
            <a:spcAft>
              <a:spcPct val="15000"/>
            </a:spcAft>
            <a:buChar char="•"/>
          </a:pPr>
          <a:r>
            <a:rPr lang="en-US" sz="1900" b="0" i="0" kern="1200" dirty="0"/>
            <a:t>Charging behavior prediction</a:t>
          </a:r>
          <a:endParaRPr lang="en-US" sz="1900" kern="1200" dirty="0"/>
        </a:p>
        <a:p>
          <a:pPr marL="171450" lvl="1" indent="-171450" algn="l" defTabSz="844550">
            <a:lnSpc>
              <a:spcPct val="90000"/>
            </a:lnSpc>
            <a:spcBef>
              <a:spcPct val="0"/>
            </a:spcBef>
            <a:spcAft>
              <a:spcPct val="15000"/>
            </a:spcAft>
            <a:buChar char="•"/>
          </a:pPr>
          <a:r>
            <a:rPr lang="en-US" sz="1900" b="0" i="0" kern="1200" dirty="0"/>
            <a:t>Discuss outcomes in the context of FPGA implementations. Need for range prediction</a:t>
          </a:r>
          <a:endParaRPr lang="en-US" sz="1900" kern="1200" dirty="0"/>
        </a:p>
        <a:p>
          <a:pPr marL="171450" lvl="1" indent="-171450" algn="l" defTabSz="844550">
            <a:lnSpc>
              <a:spcPct val="90000"/>
            </a:lnSpc>
            <a:spcBef>
              <a:spcPct val="0"/>
            </a:spcBef>
            <a:spcAft>
              <a:spcPct val="15000"/>
            </a:spcAft>
            <a:buChar char="•"/>
          </a:pPr>
          <a:r>
            <a:rPr lang="en-US" sz="1900" b="0" i="0" kern="1200" dirty="0"/>
            <a:t>Optimizing charging schedules</a:t>
          </a:r>
          <a:endParaRPr lang="en-US" sz="1900" kern="1200" dirty="0"/>
        </a:p>
        <a:p>
          <a:pPr marL="171450" lvl="1" indent="-171450" algn="l" defTabSz="844550">
            <a:lnSpc>
              <a:spcPct val="90000"/>
            </a:lnSpc>
            <a:spcBef>
              <a:spcPct val="0"/>
            </a:spcBef>
            <a:spcAft>
              <a:spcPct val="15000"/>
            </a:spcAft>
            <a:buChar char="•"/>
          </a:pPr>
          <a:r>
            <a:rPr lang="en-US" sz="1900" b="0" i="0" kern="1200" dirty="0"/>
            <a:t>Predicting power demand</a:t>
          </a:r>
          <a:endParaRPr lang="en-US" sz="1900" kern="1200" dirty="0"/>
        </a:p>
        <a:p>
          <a:pPr marL="171450" lvl="1" indent="-171450" algn="l" defTabSz="844550">
            <a:lnSpc>
              <a:spcPct val="90000"/>
            </a:lnSpc>
            <a:spcBef>
              <a:spcPct val="0"/>
            </a:spcBef>
            <a:spcAft>
              <a:spcPct val="15000"/>
            </a:spcAft>
            <a:buChar char="•"/>
          </a:pPr>
          <a:r>
            <a:rPr lang="en-US" sz="1900" b="0" i="0" kern="1200" dirty="0"/>
            <a:t>Managing load distribution</a:t>
          </a:r>
          <a:endParaRPr lang="en-US" sz="1900" kern="1200" dirty="0"/>
        </a:p>
      </dsp:txBody>
      <dsp:txXfrm>
        <a:off x="0" y="4271984"/>
        <a:ext cx="6101685" cy="2633400"/>
      </dsp:txXfrm>
    </dsp:sp>
    <dsp:sp modelId="{EDFA5E73-B985-46F5-A040-678746311B48}">
      <dsp:nvSpPr>
        <dsp:cNvPr id="0" name=""/>
        <dsp:cNvSpPr/>
      </dsp:nvSpPr>
      <dsp:spPr>
        <a:xfrm>
          <a:off x="305084" y="3991544"/>
          <a:ext cx="4271179" cy="56088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1440" tIns="0" rIns="161440" bIns="0" numCol="1" spcCol="1270" anchor="ctr" anchorCtr="0">
          <a:noAutofit/>
        </a:bodyPr>
        <a:lstStyle/>
        <a:p>
          <a:pPr marL="0" lvl="0" indent="0" algn="l" defTabSz="844550">
            <a:lnSpc>
              <a:spcPct val="90000"/>
            </a:lnSpc>
            <a:spcBef>
              <a:spcPct val="0"/>
            </a:spcBef>
            <a:spcAft>
              <a:spcPct val="35000"/>
            </a:spcAft>
            <a:buNone/>
          </a:pPr>
          <a:r>
            <a:rPr lang="en-US" sz="1900" b="1" i="0" kern="1200" dirty="0"/>
            <a:t>Machine Learning</a:t>
          </a:r>
          <a:endParaRPr lang="en-US" sz="1900" kern="1200" dirty="0"/>
        </a:p>
      </dsp:txBody>
      <dsp:txXfrm>
        <a:off x="332464" y="4018924"/>
        <a:ext cx="4216419" cy="5061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487E9F-293F-4F3E-A1A9-17D428A64966}">
      <dsp:nvSpPr>
        <dsp:cNvPr id="0" name=""/>
        <dsp:cNvSpPr/>
      </dsp:nvSpPr>
      <dsp:spPr>
        <a:xfrm rot="5400000">
          <a:off x="-519493" y="519493"/>
          <a:ext cx="3463290" cy="2424303"/>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41275" numCol="1" spcCol="1270" anchor="ctr" anchorCtr="0">
          <a:noAutofit/>
        </a:bodyPr>
        <a:lstStyle/>
        <a:p>
          <a:pPr marL="0" lvl="0" indent="0" algn="ctr" defTabSz="2889250">
            <a:lnSpc>
              <a:spcPct val="90000"/>
            </a:lnSpc>
            <a:spcBef>
              <a:spcPct val="0"/>
            </a:spcBef>
            <a:spcAft>
              <a:spcPct val="35000"/>
            </a:spcAft>
            <a:buNone/>
          </a:pPr>
          <a:r>
            <a:rPr lang="en-US" sz="6500" kern="1200" dirty="0"/>
            <a:t>*</a:t>
          </a:r>
        </a:p>
      </dsp:txBody>
      <dsp:txXfrm rot="-5400000">
        <a:off x="1" y="1212152"/>
        <a:ext cx="2424303" cy="1038987"/>
      </dsp:txXfrm>
    </dsp:sp>
    <dsp:sp modelId="{89CAB319-2F2A-4DA2-A543-B9201449C1F7}">
      <dsp:nvSpPr>
        <dsp:cNvPr id="0" name=""/>
        <dsp:cNvSpPr/>
      </dsp:nvSpPr>
      <dsp:spPr>
        <a:xfrm rot="5400000">
          <a:off x="6224492" y="-3800189"/>
          <a:ext cx="2251138" cy="9851517"/>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4912" tIns="16510" rIns="16510" bIns="16510" numCol="1" spcCol="1270" anchor="ctr" anchorCtr="0">
          <a:noAutofit/>
        </a:bodyPr>
        <a:lstStyle/>
        <a:p>
          <a:pPr marL="228600" lvl="1" indent="-228600" algn="just" defTabSz="1155700">
            <a:lnSpc>
              <a:spcPct val="90000"/>
            </a:lnSpc>
            <a:spcBef>
              <a:spcPct val="0"/>
            </a:spcBef>
            <a:spcAft>
              <a:spcPct val="15000"/>
            </a:spcAft>
            <a:buNone/>
          </a:pPr>
          <a:r>
            <a:rPr lang="en-US" sz="2600" kern="1200" dirty="0"/>
            <a:t>"Engineering problems are under-defined; there are many solutions, good, bad, and indifferent. The art is to arrive at a good solution." </a:t>
          </a:r>
        </a:p>
        <a:p>
          <a:pPr marL="228600" lvl="1" indent="-228600" algn="l" defTabSz="1155700">
            <a:lnSpc>
              <a:spcPct val="90000"/>
            </a:lnSpc>
            <a:spcBef>
              <a:spcPct val="0"/>
            </a:spcBef>
            <a:spcAft>
              <a:spcPct val="15000"/>
            </a:spcAft>
            <a:buChar char="•"/>
          </a:pPr>
          <a:endParaRPr lang="en-US" sz="2600" kern="1200" dirty="0"/>
        </a:p>
        <a:p>
          <a:pPr marL="228600" lvl="1" indent="-228600" algn="r" defTabSz="1155700">
            <a:lnSpc>
              <a:spcPct val="90000"/>
            </a:lnSpc>
            <a:spcBef>
              <a:spcPct val="0"/>
            </a:spcBef>
            <a:spcAft>
              <a:spcPct val="15000"/>
            </a:spcAft>
            <a:buChar char="•"/>
          </a:pPr>
          <a:r>
            <a:rPr lang="en-US" sz="2600" kern="1200" dirty="0"/>
            <a:t>- Richard James</a:t>
          </a:r>
        </a:p>
      </dsp:txBody>
      <dsp:txXfrm rot="-5400000">
        <a:off x="2424303" y="109891"/>
        <a:ext cx="9741626" cy="203135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1301889"/>
            <a:ext cx="9601200" cy="2769506"/>
          </a:xfrm>
        </p:spPr>
        <p:txBody>
          <a:bodyPr anchor="b"/>
          <a:lstStyle>
            <a:lvl1pPr algn="ctr">
              <a:defRPr sz="6300"/>
            </a:lvl1pPr>
          </a:lstStyle>
          <a:p>
            <a:r>
              <a:rPr lang="en-US"/>
              <a:t>Click to edit Master title style</a:t>
            </a:r>
            <a:endParaRPr lang="en-US" dirty="0"/>
          </a:p>
        </p:txBody>
      </p:sp>
      <p:sp>
        <p:nvSpPr>
          <p:cNvPr id="3" name="Subtitle 2"/>
          <p:cNvSpPr>
            <a:spLocks noGrp="1"/>
          </p:cNvSpPr>
          <p:nvPr>
            <p:ph type="subTitle" idx="1"/>
          </p:nvPr>
        </p:nvSpPr>
        <p:spPr>
          <a:xfrm>
            <a:off x="1600200" y="4178198"/>
            <a:ext cx="9601200" cy="1920607"/>
          </a:xfrm>
        </p:spPr>
        <p:txBody>
          <a:bodyPr/>
          <a:lstStyle>
            <a:lvl1pPr marL="0" indent="0" algn="ctr">
              <a:buNone/>
              <a:defRPr sz="2520"/>
            </a:lvl1pPr>
            <a:lvl2pPr marL="480060" indent="0" algn="ctr">
              <a:buNone/>
              <a:defRPr sz="2100"/>
            </a:lvl2pPr>
            <a:lvl3pPr marL="960120" indent="0" algn="ctr">
              <a:buNone/>
              <a:defRPr sz="1890"/>
            </a:lvl3pPr>
            <a:lvl4pPr marL="1440180" indent="0" algn="ctr">
              <a:buNone/>
              <a:defRPr sz="1680"/>
            </a:lvl4pPr>
            <a:lvl5pPr marL="1920240" indent="0" algn="ctr">
              <a:buNone/>
              <a:defRPr sz="1680"/>
            </a:lvl5pPr>
            <a:lvl6pPr marL="2400300" indent="0" algn="ctr">
              <a:buNone/>
              <a:defRPr sz="1680"/>
            </a:lvl6pPr>
            <a:lvl7pPr marL="2880360" indent="0" algn="ctr">
              <a:buNone/>
              <a:defRPr sz="1680"/>
            </a:lvl7pPr>
            <a:lvl8pPr marL="3360420" indent="0" algn="ctr">
              <a:buNone/>
              <a:defRPr sz="1680"/>
            </a:lvl8pPr>
            <a:lvl9pPr marL="3840480" indent="0" algn="ctr">
              <a:buNone/>
              <a:defRPr sz="1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97ABF80-1A4C-4E96-8F0A-4605A5D32515}" type="datetimeFigureOut">
              <a:rPr lang="en-US" smtClean="0"/>
              <a:t>4/13/2025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8951BB-AEAB-47A3-AEF0-1C3249626DB4}" type="slidenum">
              <a:rPr lang="en-US" smtClean="0"/>
              <a:t>‹#›</a:t>
            </a:fld>
            <a:endParaRPr lang="en-US"/>
          </a:p>
        </p:txBody>
      </p:sp>
    </p:spTree>
    <p:extLst>
      <p:ext uri="{BB962C8B-B14F-4D97-AF65-F5344CB8AC3E}">
        <p14:creationId xmlns:p14="http://schemas.microsoft.com/office/powerpoint/2010/main" val="3429784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7ABF80-1A4C-4E96-8F0A-4605A5D32515}" type="datetimeFigureOut">
              <a:rPr lang="en-US" smtClean="0"/>
              <a:t>4/13/2025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8951BB-AEAB-47A3-AEF0-1C3249626DB4}" type="slidenum">
              <a:rPr lang="en-US" smtClean="0"/>
              <a:t>‹#›</a:t>
            </a:fld>
            <a:endParaRPr lang="en-US"/>
          </a:p>
        </p:txBody>
      </p:sp>
    </p:spTree>
    <p:extLst>
      <p:ext uri="{BB962C8B-B14F-4D97-AF65-F5344CB8AC3E}">
        <p14:creationId xmlns:p14="http://schemas.microsoft.com/office/powerpoint/2010/main" val="3964576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73443" y="1983218"/>
            <a:ext cx="11041380" cy="3309043"/>
          </a:xfrm>
        </p:spPr>
        <p:txBody>
          <a:bodyPr anchor="b"/>
          <a:lstStyle>
            <a:lvl1pPr>
              <a:defRPr sz="6300"/>
            </a:lvl1pPr>
          </a:lstStyle>
          <a:p>
            <a:r>
              <a:rPr lang="en-US"/>
              <a:t>Click to edit Master title style</a:t>
            </a:r>
            <a:endParaRPr lang="en-US" dirty="0"/>
          </a:p>
        </p:txBody>
      </p:sp>
      <p:sp>
        <p:nvSpPr>
          <p:cNvPr id="3" name="Text Placeholder 2"/>
          <p:cNvSpPr>
            <a:spLocks noGrp="1"/>
          </p:cNvSpPr>
          <p:nvPr>
            <p:ph type="body" idx="1"/>
          </p:nvPr>
        </p:nvSpPr>
        <p:spPr>
          <a:xfrm>
            <a:off x="873443" y="5323565"/>
            <a:ext cx="11041380" cy="1740148"/>
          </a:xfrm>
        </p:spPr>
        <p:txBody>
          <a:bodyPr/>
          <a:lstStyle>
            <a:lvl1pPr marL="0" indent="0">
              <a:buNone/>
              <a:defRPr sz="2520">
                <a:solidFill>
                  <a:schemeClr val="tx1">
                    <a:tint val="82000"/>
                  </a:schemeClr>
                </a:solidFill>
              </a:defRPr>
            </a:lvl1pPr>
            <a:lvl2pPr marL="480060" indent="0">
              <a:buNone/>
              <a:defRPr sz="2100">
                <a:solidFill>
                  <a:schemeClr val="tx1">
                    <a:tint val="82000"/>
                  </a:schemeClr>
                </a:solidFill>
              </a:defRPr>
            </a:lvl2pPr>
            <a:lvl3pPr marL="960120" indent="0">
              <a:buNone/>
              <a:defRPr sz="1890">
                <a:solidFill>
                  <a:schemeClr val="tx1">
                    <a:tint val="82000"/>
                  </a:schemeClr>
                </a:solidFill>
              </a:defRPr>
            </a:lvl3pPr>
            <a:lvl4pPr marL="1440180" indent="0">
              <a:buNone/>
              <a:defRPr sz="1680">
                <a:solidFill>
                  <a:schemeClr val="tx1">
                    <a:tint val="82000"/>
                  </a:schemeClr>
                </a:solidFill>
              </a:defRPr>
            </a:lvl4pPr>
            <a:lvl5pPr marL="1920240" indent="0">
              <a:buNone/>
              <a:defRPr sz="1680">
                <a:solidFill>
                  <a:schemeClr val="tx1">
                    <a:tint val="82000"/>
                  </a:schemeClr>
                </a:solidFill>
              </a:defRPr>
            </a:lvl5pPr>
            <a:lvl6pPr marL="2400300" indent="0">
              <a:buNone/>
              <a:defRPr sz="1680">
                <a:solidFill>
                  <a:schemeClr val="tx1">
                    <a:tint val="82000"/>
                  </a:schemeClr>
                </a:solidFill>
              </a:defRPr>
            </a:lvl6pPr>
            <a:lvl7pPr marL="2880360" indent="0">
              <a:buNone/>
              <a:defRPr sz="1680">
                <a:solidFill>
                  <a:schemeClr val="tx1">
                    <a:tint val="82000"/>
                  </a:schemeClr>
                </a:solidFill>
              </a:defRPr>
            </a:lvl7pPr>
            <a:lvl8pPr marL="3360420" indent="0">
              <a:buNone/>
              <a:defRPr sz="1680">
                <a:solidFill>
                  <a:schemeClr val="tx1">
                    <a:tint val="82000"/>
                  </a:schemeClr>
                </a:solidFill>
              </a:defRPr>
            </a:lvl8pPr>
            <a:lvl9pPr marL="3840480" indent="0">
              <a:buNone/>
              <a:defRPr sz="1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7ABF80-1A4C-4E96-8F0A-4605A5D32515}" type="datetimeFigureOut">
              <a:rPr lang="en-US" smtClean="0"/>
              <a:t>4/13/2025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8951BB-AEAB-47A3-AEF0-1C3249626DB4}" type="slidenum">
              <a:rPr lang="en-US" smtClean="0"/>
              <a:t>‹#›</a:t>
            </a:fld>
            <a:endParaRPr lang="en-US"/>
          </a:p>
        </p:txBody>
      </p:sp>
    </p:spTree>
    <p:extLst>
      <p:ext uri="{BB962C8B-B14F-4D97-AF65-F5344CB8AC3E}">
        <p14:creationId xmlns:p14="http://schemas.microsoft.com/office/powerpoint/2010/main" val="891879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80110" y="2117641"/>
            <a:ext cx="5440680" cy="5047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80810" y="2117641"/>
            <a:ext cx="5440680" cy="5047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7ABF80-1A4C-4E96-8F0A-4605A5D32515}" type="datetimeFigureOut">
              <a:rPr lang="en-US" smtClean="0"/>
              <a:t>4/13/2025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8951BB-AEAB-47A3-AEF0-1C3249626DB4}" type="slidenum">
              <a:rPr lang="en-US" smtClean="0"/>
              <a:t>‹#›</a:t>
            </a:fld>
            <a:endParaRPr lang="en-US"/>
          </a:p>
        </p:txBody>
      </p:sp>
    </p:spTree>
    <p:extLst>
      <p:ext uri="{BB962C8B-B14F-4D97-AF65-F5344CB8AC3E}">
        <p14:creationId xmlns:p14="http://schemas.microsoft.com/office/powerpoint/2010/main" val="2769453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81777" y="423529"/>
            <a:ext cx="11041380" cy="153759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1778" y="1950071"/>
            <a:ext cx="5415676" cy="955700"/>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en-US"/>
              <a:t>Click to edit Master text styles</a:t>
            </a:r>
          </a:p>
        </p:txBody>
      </p:sp>
      <p:sp>
        <p:nvSpPr>
          <p:cNvPr id="4" name="Content Placeholder 3"/>
          <p:cNvSpPr>
            <a:spLocks noGrp="1"/>
          </p:cNvSpPr>
          <p:nvPr>
            <p:ph sz="half" idx="2"/>
          </p:nvPr>
        </p:nvSpPr>
        <p:spPr>
          <a:xfrm>
            <a:off x="881778" y="2905771"/>
            <a:ext cx="5415676" cy="42739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80810" y="1950071"/>
            <a:ext cx="5442347" cy="955700"/>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en-US"/>
              <a:t>Click to edit Master text styles</a:t>
            </a:r>
          </a:p>
        </p:txBody>
      </p:sp>
      <p:sp>
        <p:nvSpPr>
          <p:cNvPr id="6" name="Content Placeholder 5"/>
          <p:cNvSpPr>
            <a:spLocks noGrp="1"/>
          </p:cNvSpPr>
          <p:nvPr>
            <p:ph sz="quarter" idx="4"/>
          </p:nvPr>
        </p:nvSpPr>
        <p:spPr>
          <a:xfrm>
            <a:off x="6480810" y="2905771"/>
            <a:ext cx="5442347" cy="42739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97ABF80-1A4C-4E96-8F0A-4605A5D32515}" type="datetimeFigureOut">
              <a:rPr lang="en-US" smtClean="0"/>
              <a:t>4/13/2025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8951BB-AEAB-47A3-AEF0-1C3249626DB4}" type="slidenum">
              <a:rPr lang="en-US" smtClean="0"/>
              <a:t>‹#›</a:t>
            </a:fld>
            <a:endParaRPr lang="en-US"/>
          </a:p>
        </p:txBody>
      </p:sp>
    </p:spTree>
    <p:extLst>
      <p:ext uri="{BB962C8B-B14F-4D97-AF65-F5344CB8AC3E}">
        <p14:creationId xmlns:p14="http://schemas.microsoft.com/office/powerpoint/2010/main" val="1663317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97ABF80-1A4C-4E96-8F0A-4605A5D32515}" type="datetimeFigureOut">
              <a:rPr lang="en-US" smtClean="0"/>
              <a:t>4/13/2025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8951BB-AEAB-47A3-AEF0-1C3249626DB4}" type="slidenum">
              <a:rPr lang="en-US" smtClean="0"/>
              <a:t>‹#›</a:t>
            </a:fld>
            <a:endParaRPr lang="en-US"/>
          </a:p>
        </p:txBody>
      </p:sp>
    </p:spTree>
    <p:extLst>
      <p:ext uri="{BB962C8B-B14F-4D97-AF65-F5344CB8AC3E}">
        <p14:creationId xmlns:p14="http://schemas.microsoft.com/office/powerpoint/2010/main" val="419330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7ABF80-1A4C-4E96-8F0A-4605A5D32515}" type="datetimeFigureOut">
              <a:rPr lang="en-US" smtClean="0"/>
              <a:t>4/13/2025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8951BB-AEAB-47A3-AEF0-1C3249626DB4}" type="slidenum">
              <a:rPr lang="en-US" smtClean="0"/>
              <a:t>‹#›</a:t>
            </a:fld>
            <a:endParaRPr lang="en-US"/>
          </a:p>
        </p:txBody>
      </p:sp>
    </p:spTree>
    <p:extLst>
      <p:ext uri="{BB962C8B-B14F-4D97-AF65-F5344CB8AC3E}">
        <p14:creationId xmlns:p14="http://schemas.microsoft.com/office/powerpoint/2010/main" val="2891910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1778" y="530331"/>
            <a:ext cx="4128849" cy="1856158"/>
          </a:xfrm>
        </p:spPr>
        <p:txBody>
          <a:bodyPr anchor="b"/>
          <a:lstStyle>
            <a:lvl1pPr>
              <a:defRPr sz="3360"/>
            </a:lvl1pPr>
          </a:lstStyle>
          <a:p>
            <a:r>
              <a:rPr lang="en-US"/>
              <a:t>Click to edit Master title style</a:t>
            </a:r>
            <a:endParaRPr lang="en-US" dirty="0"/>
          </a:p>
        </p:txBody>
      </p:sp>
      <p:sp>
        <p:nvSpPr>
          <p:cNvPr id="3" name="Content Placeholder 2"/>
          <p:cNvSpPr>
            <a:spLocks noGrp="1"/>
          </p:cNvSpPr>
          <p:nvPr>
            <p:ph idx="1"/>
          </p:nvPr>
        </p:nvSpPr>
        <p:spPr>
          <a:xfrm>
            <a:off x="5442347" y="1145368"/>
            <a:ext cx="6480810" cy="5653180"/>
          </a:xfrm>
        </p:spPr>
        <p:txBody>
          <a:bodyPr/>
          <a:lstStyle>
            <a:lvl1pPr>
              <a:defRPr sz="3360"/>
            </a:lvl1pPr>
            <a:lvl2pPr>
              <a:defRPr sz="2940"/>
            </a:lvl2pPr>
            <a:lvl3pPr>
              <a:defRPr sz="252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1778" y="2386489"/>
            <a:ext cx="4128849" cy="4421266"/>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en-US"/>
              <a:t>Click to edit Master text styles</a:t>
            </a:r>
          </a:p>
        </p:txBody>
      </p:sp>
      <p:sp>
        <p:nvSpPr>
          <p:cNvPr id="5" name="Date Placeholder 4"/>
          <p:cNvSpPr>
            <a:spLocks noGrp="1"/>
          </p:cNvSpPr>
          <p:nvPr>
            <p:ph type="dt" sz="half" idx="10"/>
          </p:nvPr>
        </p:nvSpPr>
        <p:spPr/>
        <p:txBody>
          <a:bodyPr/>
          <a:lstStyle/>
          <a:p>
            <a:fld id="{697ABF80-1A4C-4E96-8F0A-4605A5D32515}" type="datetimeFigureOut">
              <a:rPr lang="en-US" smtClean="0"/>
              <a:t>4/13/2025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8951BB-AEAB-47A3-AEF0-1C3249626DB4}" type="slidenum">
              <a:rPr lang="en-US" smtClean="0"/>
              <a:t>‹#›</a:t>
            </a:fld>
            <a:endParaRPr lang="en-US"/>
          </a:p>
        </p:txBody>
      </p:sp>
    </p:spTree>
    <p:extLst>
      <p:ext uri="{BB962C8B-B14F-4D97-AF65-F5344CB8AC3E}">
        <p14:creationId xmlns:p14="http://schemas.microsoft.com/office/powerpoint/2010/main" val="1082488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1778" y="530331"/>
            <a:ext cx="4128849" cy="1856158"/>
          </a:xfrm>
        </p:spPr>
        <p:txBody>
          <a:bodyPr anchor="b"/>
          <a:lstStyle>
            <a:lvl1pPr>
              <a:defRPr sz="3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42347" y="1145368"/>
            <a:ext cx="6480810" cy="5653180"/>
          </a:xfrm>
        </p:spPr>
        <p:txBody>
          <a:bodyPr anchor="t"/>
          <a:lstStyle>
            <a:lvl1pPr marL="0" indent="0">
              <a:buNone/>
              <a:defRPr sz="3360"/>
            </a:lvl1pPr>
            <a:lvl2pPr marL="480060" indent="0">
              <a:buNone/>
              <a:defRPr sz="2940"/>
            </a:lvl2pPr>
            <a:lvl3pPr marL="960120" indent="0">
              <a:buNone/>
              <a:defRPr sz="2520"/>
            </a:lvl3pPr>
            <a:lvl4pPr marL="1440180" indent="0">
              <a:buNone/>
              <a:defRPr sz="2100"/>
            </a:lvl4pPr>
            <a:lvl5pPr marL="1920240" indent="0">
              <a:buNone/>
              <a:defRPr sz="2100"/>
            </a:lvl5pPr>
            <a:lvl6pPr marL="2400300" indent="0">
              <a:buNone/>
              <a:defRPr sz="2100"/>
            </a:lvl6pPr>
            <a:lvl7pPr marL="2880360" indent="0">
              <a:buNone/>
              <a:defRPr sz="2100"/>
            </a:lvl7pPr>
            <a:lvl8pPr marL="3360420" indent="0">
              <a:buNone/>
              <a:defRPr sz="2100"/>
            </a:lvl8pPr>
            <a:lvl9pPr marL="3840480" indent="0">
              <a:buNone/>
              <a:defRPr sz="2100"/>
            </a:lvl9pPr>
          </a:lstStyle>
          <a:p>
            <a:r>
              <a:rPr lang="en-US"/>
              <a:t>Click icon to add picture</a:t>
            </a:r>
            <a:endParaRPr lang="en-US" dirty="0"/>
          </a:p>
        </p:txBody>
      </p:sp>
      <p:sp>
        <p:nvSpPr>
          <p:cNvPr id="4" name="Text Placeholder 3"/>
          <p:cNvSpPr>
            <a:spLocks noGrp="1"/>
          </p:cNvSpPr>
          <p:nvPr>
            <p:ph type="body" sz="half" idx="2"/>
          </p:nvPr>
        </p:nvSpPr>
        <p:spPr>
          <a:xfrm>
            <a:off x="881778" y="2386489"/>
            <a:ext cx="4128849" cy="4421266"/>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en-US"/>
              <a:t>Click to edit Master text styles</a:t>
            </a:r>
          </a:p>
        </p:txBody>
      </p:sp>
      <p:sp>
        <p:nvSpPr>
          <p:cNvPr id="5" name="Date Placeholder 4"/>
          <p:cNvSpPr>
            <a:spLocks noGrp="1"/>
          </p:cNvSpPr>
          <p:nvPr>
            <p:ph type="dt" sz="half" idx="10"/>
          </p:nvPr>
        </p:nvSpPr>
        <p:spPr/>
        <p:txBody>
          <a:bodyPr/>
          <a:lstStyle/>
          <a:p>
            <a:fld id="{697ABF80-1A4C-4E96-8F0A-4605A5D32515}" type="datetimeFigureOut">
              <a:rPr lang="en-US" smtClean="0"/>
              <a:t>4/13/2025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8951BB-AEAB-47A3-AEF0-1C3249626DB4}" type="slidenum">
              <a:rPr lang="en-US" smtClean="0"/>
              <a:t>‹#›</a:t>
            </a:fld>
            <a:endParaRPr lang="en-US"/>
          </a:p>
        </p:txBody>
      </p:sp>
    </p:spTree>
    <p:extLst>
      <p:ext uri="{BB962C8B-B14F-4D97-AF65-F5344CB8AC3E}">
        <p14:creationId xmlns:p14="http://schemas.microsoft.com/office/powerpoint/2010/main" val="3859852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7ABF80-1A4C-4E96-8F0A-4605A5D32515}" type="datetimeFigureOut">
              <a:rPr lang="en-US" smtClean="0"/>
              <a:t>4/13/2025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8951BB-AEAB-47A3-AEF0-1C3249626DB4}" type="slidenum">
              <a:rPr lang="en-US" smtClean="0"/>
              <a:t>‹#›</a:t>
            </a:fld>
            <a:endParaRPr lang="en-US"/>
          </a:p>
        </p:txBody>
      </p:sp>
    </p:spTree>
    <p:extLst>
      <p:ext uri="{BB962C8B-B14F-4D97-AF65-F5344CB8AC3E}">
        <p14:creationId xmlns:p14="http://schemas.microsoft.com/office/powerpoint/2010/main" val="3947400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61145" y="423528"/>
            <a:ext cx="2760345" cy="674146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80110" y="423528"/>
            <a:ext cx="8121015" cy="67414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7ABF80-1A4C-4E96-8F0A-4605A5D32515}" type="datetimeFigureOut">
              <a:rPr lang="en-US" smtClean="0"/>
              <a:t>4/13/2025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8951BB-AEAB-47A3-AEF0-1C3249626DB4}" type="slidenum">
              <a:rPr lang="en-US" smtClean="0"/>
              <a:t>‹#›</a:t>
            </a:fld>
            <a:endParaRPr lang="en-US"/>
          </a:p>
        </p:txBody>
      </p:sp>
    </p:spTree>
    <p:extLst>
      <p:ext uri="{BB962C8B-B14F-4D97-AF65-F5344CB8AC3E}">
        <p14:creationId xmlns:p14="http://schemas.microsoft.com/office/powerpoint/2010/main" val="16880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0110" y="423529"/>
            <a:ext cx="11041380" cy="153759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80110" y="2117641"/>
            <a:ext cx="11041380" cy="50473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0110" y="7373073"/>
            <a:ext cx="2880360" cy="423528"/>
          </a:xfrm>
          <a:prstGeom prst="rect">
            <a:avLst/>
          </a:prstGeom>
        </p:spPr>
        <p:txBody>
          <a:bodyPr vert="horz" lIns="91440" tIns="45720" rIns="91440" bIns="45720" rtlCol="0" anchor="ctr"/>
          <a:lstStyle>
            <a:lvl1pPr algn="l">
              <a:defRPr sz="1260">
                <a:solidFill>
                  <a:schemeClr val="tx1">
                    <a:tint val="82000"/>
                  </a:schemeClr>
                </a:solidFill>
              </a:defRPr>
            </a:lvl1pPr>
          </a:lstStyle>
          <a:p>
            <a:fld id="{697ABF80-1A4C-4E96-8F0A-4605A5D32515}" type="datetimeFigureOut">
              <a:rPr lang="en-US" smtClean="0"/>
              <a:t>4/13/2025</a:t>
            </a:fld>
            <a:endParaRPr lang="en-US"/>
          </a:p>
        </p:txBody>
      </p:sp>
      <p:sp>
        <p:nvSpPr>
          <p:cNvPr id="5" name="Footer Placeholder 4"/>
          <p:cNvSpPr>
            <a:spLocks noGrp="1"/>
          </p:cNvSpPr>
          <p:nvPr>
            <p:ph type="ftr" sz="quarter" idx="3"/>
          </p:nvPr>
        </p:nvSpPr>
        <p:spPr>
          <a:xfrm>
            <a:off x="4240530" y="7373073"/>
            <a:ext cx="4320540" cy="423528"/>
          </a:xfrm>
          <a:prstGeom prst="rect">
            <a:avLst/>
          </a:prstGeom>
        </p:spPr>
        <p:txBody>
          <a:bodyPr vert="horz" lIns="91440" tIns="45720" rIns="91440" bIns="45720" rtlCol="0" anchor="ctr"/>
          <a:lstStyle>
            <a:lvl1pPr algn="ctr">
              <a:defRPr sz="126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041130" y="7373073"/>
            <a:ext cx="2880360" cy="423528"/>
          </a:xfrm>
          <a:prstGeom prst="rect">
            <a:avLst/>
          </a:prstGeom>
        </p:spPr>
        <p:txBody>
          <a:bodyPr vert="horz" lIns="91440" tIns="45720" rIns="91440" bIns="45720" rtlCol="0" anchor="ctr"/>
          <a:lstStyle>
            <a:lvl1pPr algn="r">
              <a:defRPr sz="1260">
                <a:solidFill>
                  <a:schemeClr val="tx1">
                    <a:tint val="82000"/>
                  </a:schemeClr>
                </a:solidFill>
              </a:defRPr>
            </a:lvl1pPr>
          </a:lstStyle>
          <a:p>
            <a:fld id="{F18951BB-AEAB-47A3-AEF0-1C3249626DB4}" type="slidenum">
              <a:rPr lang="en-US" smtClean="0"/>
              <a:t>‹#›</a:t>
            </a:fld>
            <a:endParaRPr lang="en-US"/>
          </a:p>
        </p:txBody>
      </p:sp>
    </p:spTree>
    <p:extLst>
      <p:ext uri="{BB962C8B-B14F-4D97-AF65-F5344CB8AC3E}">
        <p14:creationId xmlns:p14="http://schemas.microsoft.com/office/powerpoint/2010/main" val="73218042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60120" rtl="0" eaLnBrk="1" latinLnBrk="0" hangingPunct="1">
        <a:lnSpc>
          <a:spcPct val="90000"/>
        </a:lnSpc>
        <a:spcBef>
          <a:spcPct val="0"/>
        </a:spcBef>
        <a:buNone/>
        <a:defRPr sz="4620" kern="1200">
          <a:solidFill>
            <a:schemeClr val="tx1"/>
          </a:solidFill>
          <a:latin typeface="+mj-lt"/>
          <a:ea typeface="+mj-ea"/>
          <a:cs typeface="+mj-cs"/>
        </a:defRPr>
      </a:lvl1pPr>
    </p:titleStyle>
    <p:bodyStyle>
      <a:lvl1pPr marL="240030" indent="-240030" algn="l" defTabSz="960120" rtl="0" eaLnBrk="1" latinLnBrk="0" hangingPunct="1">
        <a:lnSpc>
          <a:spcPct val="90000"/>
        </a:lnSpc>
        <a:spcBef>
          <a:spcPts val="1050"/>
        </a:spcBef>
        <a:buFont typeface="Arial" panose="020B0604020202020204" pitchFamily="34" charset="0"/>
        <a:buChar char="•"/>
        <a:defRPr sz="2940" kern="1200">
          <a:solidFill>
            <a:schemeClr val="tx1"/>
          </a:solidFill>
          <a:latin typeface="+mn-lt"/>
          <a:ea typeface="+mn-ea"/>
          <a:cs typeface="+mn-cs"/>
        </a:defRPr>
      </a:lvl1pPr>
      <a:lvl2pPr marL="720090" indent="-240030" algn="l" defTabSz="960120" rtl="0" eaLnBrk="1" latinLnBrk="0" hangingPunct="1">
        <a:lnSpc>
          <a:spcPct val="90000"/>
        </a:lnSpc>
        <a:spcBef>
          <a:spcPts val="525"/>
        </a:spcBef>
        <a:buFont typeface="Arial" panose="020B0604020202020204" pitchFamily="34" charset="0"/>
        <a:buChar char="•"/>
        <a:defRPr sz="2520" kern="1200">
          <a:solidFill>
            <a:schemeClr val="tx1"/>
          </a:solidFill>
          <a:latin typeface="+mn-lt"/>
          <a:ea typeface="+mn-ea"/>
          <a:cs typeface="+mn-cs"/>
        </a:defRPr>
      </a:lvl2pPr>
      <a:lvl3pPr marL="1200150" indent="-240030" algn="l" defTabSz="960120" rtl="0" eaLnBrk="1" latinLnBrk="0" hangingPunct="1">
        <a:lnSpc>
          <a:spcPct val="90000"/>
        </a:lnSpc>
        <a:spcBef>
          <a:spcPts val="525"/>
        </a:spcBef>
        <a:buFont typeface="Arial" panose="020B0604020202020204" pitchFamily="34" charset="0"/>
        <a:buChar char="•"/>
        <a:defRPr sz="2100" kern="1200">
          <a:solidFill>
            <a:schemeClr val="tx1"/>
          </a:solidFill>
          <a:latin typeface="+mn-lt"/>
          <a:ea typeface="+mn-ea"/>
          <a:cs typeface="+mn-cs"/>
        </a:defRPr>
      </a:lvl3pPr>
      <a:lvl4pPr marL="16802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4pPr>
      <a:lvl5pPr marL="216027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5pPr>
      <a:lvl6pPr marL="264033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6pPr>
      <a:lvl7pPr marL="312039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7pPr>
      <a:lvl8pPr marL="360045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8pPr>
      <a:lvl9pPr marL="40805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9pPr>
    </p:bodyStyle>
    <p:otherStyle>
      <a:defPPr>
        <a:defRPr lang="en-US"/>
      </a:defPPr>
      <a:lvl1pPr marL="0" algn="l" defTabSz="960120" rtl="0" eaLnBrk="1" latinLnBrk="0" hangingPunct="1">
        <a:defRPr sz="1890" kern="1200">
          <a:solidFill>
            <a:schemeClr val="tx1"/>
          </a:solidFill>
          <a:latin typeface="+mn-lt"/>
          <a:ea typeface="+mn-ea"/>
          <a:cs typeface="+mn-cs"/>
        </a:defRPr>
      </a:lvl1pPr>
      <a:lvl2pPr marL="480060" algn="l" defTabSz="960120" rtl="0" eaLnBrk="1" latinLnBrk="0" hangingPunct="1">
        <a:defRPr sz="1890" kern="1200">
          <a:solidFill>
            <a:schemeClr val="tx1"/>
          </a:solidFill>
          <a:latin typeface="+mn-lt"/>
          <a:ea typeface="+mn-ea"/>
          <a:cs typeface="+mn-cs"/>
        </a:defRPr>
      </a:lvl2pPr>
      <a:lvl3pPr marL="960120" algn="l" defTabSz="960120" rtl="0" eaLnBrk="1" latinLnBrk="0" hangingPunct="1">
        <a:defRPr sz="1890" kern="1200">
          <a:solidFill>
            <a:schemeClr val="tx1"/>
          </a:solidFill>
          <a:latin typeface="+mn-lt"/>
          <a:ea typeface="+mn-ea"/>
          <a:cs typeface="+mn-cs"/>
        </a:defRPr>
      </a:lvl3pPr>
      <a:lvl4pPr marL="1440180" algn="l" defTabSz="960120" rtl="0" eaLnBrk="1" latinLnBrk="0" hangingPunct="1">
        <a:defRPr sz="1890" kern="1200">
          <a:solidFill>
            <a:schemeClr val="tx1"/>
          </a:solidFill>
          <a:latin typeface="+mn-lt"/>
          <a:ea typeface="+mn-ea"/>
          <a:cs typeface="+mn-cs"/>
        </a:defRPr>
      </a:lvl4pPr>
      <a:lvl5pPr marL="1920240" algn="l" defTabSz="960120" rtl="0" eaLnBrk="1" latinLnBrk="0" hangingPunct="1">
        <a:defRPr sz="1890" kern="1200">
          <a:solidFill>
            <a:schemeClr val="tx1"/>
          </a:solidFill>
          <a:latin typeface="+mn-lt"/>
          <a:ea typeface="+mn-ea"/>
          <a:cs typeface="+mn-cs"/>
        </a:defRPr>
      </a:lvl5pPr>
      <a:lvl6pPr marL="2400300" algn="l" defTabSz="960120" rtl="0" eaLnBrk="1" latinLnBrk="0" hangingPunct="1">
        <a:defRPr sz="1890" kern="1200">
          <a:solidFill>
            <a:schemeClr val="tx1"/>
          </a:solidFill>
          <a:latin typeface="+mn-lt"/>
          <a:ea typeface="+mn-ea"/>
          <a:cs typeface="+mn-cs"/>
        </a:defRPr>
      </a:lvl6pPr>
      <a:lvl7pPr marL="2880360" algn="l" defTabSz="960120" rtl="0" eaLnBrk="1" latinLnBrk="0" hangingPunct="1">
        <a:defRPr sz="1890" kern="1200">
          <a:solidFill>
            <a:schemeClr val="tx1"/>
          </a:solidFill>
          <a:latin typeface="+mn-lt"/>
          <a:ea typeface="+mn-ea"/>
          <a:cs typeface="+mn-cs"/>
        </a:defRPr>
      </a:lvl7pPr>
      <a:lvl8pPr marL="3360420" algn="l" defTabSz="960120" rtl="0" eaLnBrk="1" latinLnBrk="0" hangingPunct="1">
        <a:defRPr sz="1890" kern="1200">
          <a:solidFill>
            <a:schemeClr val="tx1"/>
          </a:solidFill>
          <a:latin typeface="+mn-lt"/>
          <a:ea typeface="+mn-ea"/>
          <a:cs typeface="+mn-cs"/>
        </a:defRPr>
      </a:lvl8pPr>
      <a:lvl9pPr marL="3840480" algn="l" defTabSz="960120" rtl="0" eaLnBrk="1" latinLnBrk="0" hangingPunct="1">
        <a:defRPr sz="189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openxmlformats.org/officeDocument/2006/relationships/image" Target="../media/image14.jpeg"/><Relationship Id="rId13" Type="http://schemas.openxmlformats.org/officeDocument/2006/relationships/image" Target="../media/image18.jpeg"/><Relationship Id="rId18" Type="http://schemas.openxmlformats.org/officeDocument/2006/relationships/image" Target="../media/image5.jpeg"/><Relationship Id="rId3" Type="http://schemas.openxmlformats.org/officeDocument/2006/relationships/image" Target="../media/image9.png"/><Relationship Id="rId21" Type="http://schemas.openxmlformats.org/officeDocument/2006/relationships/image" Target="../media/image24.png"/><Relationship Id="rId7" Type="http://schemas.openxmlformats.org/officeDocument/2006/relationships/image" Target="../media/image13.jpeg"/><Relationship Id="rId12" Type="http://schemas.openxmlformats.org/officeDocument/2006/relationships/image" Target="../media/image6.jpeg"/><Relationship Id="rId17" Type="http://schemas.openxmlformats.org/officeDocument/2006/relationships/image" Target="../media/image21.png"/><Relationship Id="rId2" Type="http://schemas.openxmlformats.org/officeDocument/2006/relationships/image" Target="../media/image8.png"/><Relationship Id="rId16" Type="http://schemas.openxmlformats.org/officeDocument/2006/relationships/image" Target="../media/image20.png"/><Relationship Id="rId20"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12.jpeg"/><Relationship Id="rId11" Type="http://schemas.openxmlformats.org/officeDocument/2006/relationships/image" Target="../media/image17.png"/><Relationship Id="rId5" Type="http://schemas.openxmlformats.org/officeDocument/2006/relationships/image" Target="../media/image11.jpeg"/><Relationship Id="rId15" Type="http://schemas.openxmlformats.org/officeDocument/2006/relationships/image" Target="../media/image7.jpeg"/><Relationship Id="rId10" Type="http://schemas.openxmlformats.org/officeDocument/2006/relationships/image" Target="../media/image16.jpeg"/><Relationship Id="rId19" Type="http://schemas.openxmlformats.org/officeDocument/2006/relationships/image" Target="../media/image22.jpeg"/><Relationship Id="rId4" Type="http://schemas.openxmlformats.org/officeDocument/2006/relationships/image" Target="../media/image10.jpeg"/><Relationship Id="rId9" Type="http://schemas.openxmlformats.org/officeDocument/2006/relationships/image" Target="../media/image15.jpeg"/><Relationship Id="rId14" Type="http://schemas.openxmlformats.org/officeDocument/2006/relationships/image" Target="../media/image19.png"/></Relationships>
</file>

<file path=ppt/slides/_rels/slide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ieeexplore.ieee.org/author/37086473393" TargetMode="External"/><Relationship Id="rId2" Type="http://schemas.openxmlformats.org/officeDocument/2006/relationships/hyperlink" Target="https://ieeexplore.ieee.org/author/37277662700" TargetMode="External"/><Relationship Id="rId1" Type="http://schemas.openxmlformats.org/officeDocument/2006/relationships/slideLayout" Target="../slideLayouts/slideLayout2.xml"/><Relationship Id="rId6" Type="http://schemas.openxmlformats.org/officeDocument/2006/relationships/hyperlink" Target="https://ieeexplore.ieee.org/author/37070510100" TargetMode="External"/><Relationship Id="rId5" Type="http://schemas.openxmlformats.org/officeDocument/2006/relationships/hyperlink" Target="https://ieeexplore.ieee.org/author/38244735400" TargetMode="External"/><Relationship Id="rId4" Type="http://schemas.openxmlformats.org/officeDocument/2006/relationships/hyperlink" Target="https://ieeexplore.ieee.org/author/38022319400"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ieeexplore.ieee.org/author/37085456905" TargetMode="External"/><Relationship Id="rId13" Type="http://schemas.openxmlformats.org/officeDocument/2006/relationships/hyperlink" Target="https://ieeexplore.ieee.org/author/37085996232" TargetMode="External"/><Relationship Id="rId3" Type="http://schemas.openxmlformats.org/officeDocument/2006/relationships/hyperlink" Target="https://ieeexplore.ieee.org/author/37404056100" TargetMode="External"/><Relationship Id="rId7" Type="http://schemas.openxmlformats.org/officeDocument/2006/relationships/hyperlink" Target="https://ieeexplore.ieee.org/author/37828672900" TargetMode="External"/><Relationship Id="rId12" Type="http://schemas.openxmlformats.org/officeDocument/2006/relationships/hyperlink" Target="https://ieeexplore.ieee.org/author/37276986800" TargetMode="External"/><Relationship Id="rId17" Type="http://schemas.openxmlformats.org/officeDocument/2006/relationships/hyperlink" Target="https://ieeexplore.ieee.org/author/37604279500" TargetMode="External"/><Relationship Id="rId2" Type="http://schemas.openxmlformats.org/officeDocument/2006/relationships/hyperlink" Target="https://ieeexplore.ieee.org/author/37086163627" TargetMode="External"/><Relationship Id="rId16" Type="http://schemas.openxmlformats.org/officeDocument/2006/relationships/hyperlink" Target="https://ieeexplore.ieee.org/author/37545374700" TargetMode="External"/><Relationship Id="rId1" Type="http://schemas.openxmlformats.org/officeDocument/2006/relationships/slideLayout" Target="../slideLayouts/slideLayout2.xml"/><Relationship Id="rId6" Type="http://schemas.openxmlformats.org/officeDocument/2006/relationships/hyperlink" Target="https://ieeexplore.ieee.org/author/37394086200" TargetMode="External"/><Relationship Id="rId11" Type="http://schemas.openxmlformats.org/officeDocument/2006/relationships/hyperlink" Target="https://ieeexplore.ieee.org/author/37086471527" TargetMode="External"/><Relationship Id="rId5" Type="http://schemas.openxmlformats.org/officeDocument/2006/relationships/hyperlink" Target="https://ieeexplore.ieee.org/author/37086036008" TargetMode="External"/><Relationship Id="rId15" Type="http://schemas.openxmlformats.org/officeDocument/2006/relationships/hyperlink" Target="https://ieeexplore.ieee.org/author/37282336700" TargetMode="External"/><Relationship Id="rId10" Type="http://schemas.openxmlformats.org/officeDocument/2006/relationships/hyperlink" Target="https://ieeexplore.ieee.org/author/37969193400" TargetMode="External"/><Relationship Id="rId4" Type="http://schemas.openxmlformats.org/officeDocument/2006/relationships/hyperlink" Target="https://ieeexplore.ieee.org/author/223219220974115" TargetMode="External"/><Relationship Id="rId9" Type="http://schemas.openxmlformats.org/officeDocument/2006/relationships/hyperlink" Target="https://ieeexplore.ieee.org/author/37086390192" TargetMode="External"/><Relationship Id="rId14" Type="http://schemas.openxmlformats.org/officeDocument/2006/relationships/hyperlink" Target="https://ieeexplore.ieee.org/author/37938098200" TargetMode="External"/></Relationships>
</file>

<file path=ppt/slides/_rels/slide9.xml.rels><?xml version="1.0" encoding="UTF-8" standalone="yes"?>
<Relationships xmlns="http://schemas.openxmlformats.org/package/2006/relationships"><Relationship Id="rId8" Type="http://schemas.openxmlformats.org/officeDocument/2006/relationships/hyperlink" Target="https://ieeexplore.ieee.org/author/37087862607" TargetMode="External"/><Relationship Id="rId13" Type="http://schemas.openxmlformats.org/officeDocument/2006/relationships/hyperlink" Target="https://ieeexplore.ieee.org/author/37088647663" TargetMode="External"/><Relationship Id="rId3" Type="http://schemas.openxmlformats.org/officeDocument/2006/relationships/hyperlink" Target="https://ieeexplore.ieee.org/author/37087090594" TargetMode="External"/><Relationship Id="rId7" Type="http://schemas.openxmlformats.org/officeDocument/2006/relationships/hyperlink" Target="https://ieeexplore.ieee.org/author/38498253200" TargetMode="External"/><Relationship Id="rId12" Type="http://schemas.openxmlformats.org/officeDocument/2006/relationships/hyperlink" Target="https://ieeexplore.ieee.org/author/37409779000" TargetMode="External"/><Relationship Id="rId17" Type="http://schemas.openxmlformats.org/officeDocument/2006/relationships/hyperlink" Target="https://ieeexplore.ieee.org/author/37089914850" TargetMode="External"/><Relationship Id="rId2" Type="http://schemas.openxmlformats.org/officeDocument/2006/relationships/hyperlink" Target="https://ieeexplore.ieee.org/author/37086388356" TargetMode="External"/><Relationship Id="rId16" Type="http://schemas.openxmlformats.org/officeDocument/2006/relationships/hyperlink" Target="https://ieeexplore.ieee.org/author/963712504225056" TargetMode="External"/><Relationship Id="rId1" Type="http://schemas.openxmlformats.org/officeDocument/2006/relationships/slideLayout" Target="../slideLayouts/slideLayout2.xml"/><Relationship Id="rId6" Type="http://schemas.openxmlformats.org/officeDocument/2006/relationships/hyperlink" Target="https://ieeexplore.ieee.org/author/37279089800" TargetMode="External"/><Relationship Id="rId11" Type="http://schemas.openxmlformats.org/officeDocument/2006/relationships/hyperlink" Target="https://ieeexplore.ieee.org/author/37085369812" TargetMode="External"/><Relationship Id="rId5" Type="http://schemas.openxmlformats.org/officeDocument/2006/relationships/hyperlink" Target="https://ieeexplore.ieee.org/author/37278521300" TargetMode="External"/><Relationship Id="rId15" Type="http://schemas.openxmlformats.org/officeDocument/2006/relationships/hyperlink" Target="https://ieeexplore.ieee.org/author/37089844609" TargetMode="External"/><Relationship Id="rId10" Type="http://schemas.openxmlformats.org/officeDocument/2006/relationships/hyperlink" Target="https://ieeexplore.ieee.org/author/37088556877" TargetMode="External"/><Relationship Id="rId4" Type="http://schemas.openxmlformats.org/officeDocument/2006/relationships/hyperlink" Target="https://ieeexplore.ieee.org/author/37086387438" TargetMode="External"/><Relationship Id="rId9" Type="http://schemas.openxmlformats.org/officeDocument/2006/relationships/hyperlink" Target="https://ieeexplore.ieee.org/author/37280405100" TargetMode="External"/><Relationship Id="rId14" Type="http://schemas.openxmlformats.org/officeDocument/2006/relationships/hyperlink" Target="https://ieeexplore.ieee.org/author/37089757632"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ieeexplore.ieee.org/author/37089355684" TargetMode="External"/><Relationship Id="rId13" Type="http://schemas.openxmlformats.org/officeDocument/2006/relationships/hyperlink" Target="https://ieeexplore.ieee.org/author/37085854298" TargetMode="External"/><Relationship Id="rId18" Type="http://schemas.openxmlformats.org/officeDocument/2006/relationships/hyperlink" Target="https://ieeexplore.ieee.org/author/37086092878" TargetMode="External"/><Relationship Id="rId3" Type="http://schemas.openxmlformats.org/officeDocument/2006/relationships/hyperlink" Target="https://ieeexplore.ieee.org/author/37085808146" TargetMode="External"/><Relationship Id="rId7" Type="http://schemas.openxmlformats.org/officeDocument/2006/relationships/hyperlink" Target="https://ieeexplore.ieee.org/author/37089202372" TargetMode="External"/><Relationship Id="rId12" Type="http://schemas.openxmlformats.org/officeDocument/2006/relationships/hyperlink" Target="https://ieeexplore.ieee.org/author/37085482927" TargetMode="External"/><Relationship Id="rId17" Type="http://schemas.openxmlformats.org/officeDocument/2006/relationships/hyperlink" Target="https://ieeexplore.ieee.org/author/37085819921" TargetMode="External"/><Relationship Id="rId2" Type="http://schemas.openxmlformats.org/officeDocument/2006/relationships/hyperlink" Target="https://ieeexplore.ieee.org/author/37089350365" TargetMode="External"/><Relationship Id="rId16" Type="http://schemas.openxmlformats.org/officeDocument/2006/relationships/hyperlink" Target="https://ieeexplore.ieee.org/author/37088962810" TargetMode="External"/><Relationship Id="rId1" Type="http://schemas.openxmlformats.org/officeDocument/2006/relationships/slideLayout" Target="../slideLayouts/slideLayout2.xml"/><Relationship Id="rId6" Type="http://schemas.openxmlformats.org/officeDocument/2006/relationships/hyperlink" Target="https://ieeexplore.ieee.org/author/415859568002251" TargetMode="External"/><Relationship Id="rId11" Type="http://schemas.openxmlformats.org/officeDocument/2006/relationships/hyperlink" Target="https://ieeexplore.ieee.org/author/37088598922" TargetMode="External"/><Relationship Id="rId5" Type="http://schemas.openxmlformats.org/officeDocument/2006/relationships/hyperlink" Target="https://ieeexplore.ieee.org/author/824852825022285" TargetMode="External"/><Relationship Id="rId15" Type="http://schemas.openxmlformats.org/officeDocument/2006/relationships/hyperlink" Target="https://ieeexplore.ieee.org/author/37085392807" TargetMode="External"/><Relationship Id="rId10" Type="http://schemas.openxmlformats.org/officeDocument/2006/relationships/hyperlink" Target="https://ieeexplore.ieee.org/author/37089936966" TargetMode="External"/><Relationship Id="rId4" Type="http://schemas.openxmlformats.org/officeDocument/2006/relationships/hyperlink" Target="https://ieeexplore.ieee.org/author/37089879341" TargetMode="External"/><Relationship Id="rId9" Type="http://schemas.openxmlformats.org/officeDocument/2006/relationships/hyperlink" Target="https://ieeexplore.ieee.org/author/37089937112" TargetMode="External"/><Relationship Id="rId14" Type="http://schemas.openxmlformats.org/officeDocument/2006/relationships/hyperlink" Target="https://ieeexplore.ieee.org/author/37085785255"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s://ieeexplore.ieee.org/author/37076938100" TargetMode="External"/><Relationship Id="rId3" Type="http://schemas.openxmlformats.org/officeDocument/2006/relationships/hyperlink" Target="https://ieeexplore.ieee.org/author/37075762800" TargetMode="External"/><Relationship Id="rId7" Type="http://schemas.openxmlformats.org/officeDocument/2006/relationships/hyperlink" Target="https://ieeexplore.ieee.org/author/37089832913" TargetMode="External"/><Relationship Id="rId2" Type="http://schemas.openxmlformats.org/officeDocument/2006/relationships/hyperlink" Target="https://ieeexplore.ieee.org/author/37087199192" TargetMode="External"/><Relationship Id="rId1" Type="http://schemas.openxmlformats.org/officeDocument/2006/relationships/slideLayout" Target="../slideLayouts/slideLayout2.xml"/><Relationship Id="rId6" Type="http://schemas.openxmlformats.org/officeDocument/2006/relationships/hyperlink" Target="https://ieeexplore.ieee.org/author/37272377700" TargetMode="External"/><Relationship Id="rId5" Type="http://schemas.openxmlformats.org/officeDocument/2006/relationships/hyperlink" Target="https://ieeexplore.ieee.org/author/37408989200" TargetMode="External"/><Relationship Id="rId4" Type="http://schemas.openxmlformats.org/officeDocument/2006/relationships/hyperlink" Target="https://ieeexplore.ieee.org/author/37088574354"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https://ieeexplore.ieee.org/author/37271571000" TargetMode="External"/><Relationship Id="rId3" Type="http://schemas.openxmlformats.org/officeDocument/2006/relationships/hyperlink" Target="https://ieeexplore.ieee.org/author/37088574357" TargetMode="External"/><Relationship Id="rId7" Type="http://schemas.openxmlformats.org/officeDocument/2006/relationships/hyperlink" Target="https://ieeexplore.ieee.org/author/38270455400" TargetMode="External"/><Relationship Id="rId12" Type="http://schemas.openxmlformats.org/officeDocument/2006/relationships/hyperlink" Target="https://qspace.qu.edu.qa/browse?authority=7f9bd68e-8e69-4250-beca-a52b1c6437bd&amp;type=author" TargetMode="External"/><Relationship Id="rId2" Type="http://schemas.openxmlformats.org/officeDocument/2006/relationships/hyperlink" Target="https://ieeexplore.ieee.org/author/37088576833" TargetMode="External"/><Relationship Id="rId1" Type="http://schemas.openxmlformats.org/officeDocument/2006/relationships/slideLayout" Target="../slideLayouts/slideLayout2.xml"/><Relationship Id="rId6" Type="http://schemas.openxmlformats.org/officeDocument/2006/relationships/hyperlink" Target="https://ieeexplore.ieee.org/author/37088355753" TargetMode="External"/><Relationship Id="rId11" Type="http://schemas.openxmlformats.org/officeDocument/2006/relationships/hyperlink" Target="https://qspace.qu.edu.qa/browse?authority=9e932979-3e5b-4a5e-972c-1e7e0980c7cb&amp;type=author" TargetMode="External"/><Relationship Id="rId5" Type="http://schemas.openxmlformats.org/officeDocument/2006/relationships/hyperlink" Target="https://ieeexplore.ieee.org/author/37403957300" TargetMode="External"/><Relationship Id="rId10" Type="http://schemas.openxmlformats.org/officeDocument/2006/relationships/hyperlink" Target="https://qspace.qu.edu.qa/browse?authority=441f2c11-f370-4cfe-a536-6a5e5b9f006d&amp;type=author" TargetMode="External"/><Relationship Id="rId4" Type="http://schemas.openxmlformats.org/officeDocument/2006/relationships/hyperlink" Target="https://ieeexplore.ieee.org/author/37088577194" TargetMode="External"/><Relationship Id="rId9" Type="http://schemas.openxmlformats.org/officeDocument/2006/relationships/hyperlink" Target="https://ieeexplore.ieee.org/author/37085435195" TargetMode="Externa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jpeg"/><Relationship Id="rId4" Type="http://schemas.openxmlformats.org/officeDocument/2006/relationships/image" Target="../media/image35.emf"/></Relationships>
</file>

<file path=ppt/slides/_rels/slide2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image" Target="../media/image44.png"/><Relationship Id="rId4" Type="http://schemas.openxmlformats.org/officeDocument/2006/relationships/image" Target="../media/image39.png"/><Relationship Id="rId9" Type="http://schemas.openxmlformats.org/officeDocument/2006/relationships/image" Target="../media/image6.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24129"/>
            <a:ext cx="13037276" cy="1352712"/>
          </a:xfrm>
        </p:spPr>
        <p:txBody>
          <a:bodyPr vert="horz" lIns="91440" tIns="45720" rIns="91440" bIns="45720" rtlCol="0" anchor="t">
            <a:noAutofit/>
          </a:bodyPr>
          <a:lstStyle/>
          <a:p>
            <a:pPr algn="l">
              <a:lnSpc>
                <a:spcPct val="150000"/>
              </a:lnSpc>
            </a:pPr>
            <a:r>
              <a:rPr lang="en-US" sz="2300" spc="3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Title – </a:t>
            </a:r>
            <a:br>
              <a:rPr lang="en-US" sz="2300" spc="3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br>
            <a:r>
              <a:rPr lang="en-US" sz="2400" spc="300" dirty="0">
                <a:solidFill>
                  <a:srgbClr val="C00000"/>
                </a:solidFill>
                <a:latin typeface="ADLaM Display" panose="02010000000000000000" pitchFamily="2" charset="0"/>
                <a:ea typeface="ADLaM Display" panose="02010000000000000000" pitchFamily="2" charset="0"/>
                <a:cs typeface="ADLaM Display" panose="02010000000000000000" pitchFamily="2" charset="0"/>
              </a:rPr>
              <a:t>Design of IOT Architecture for Battery Charging Management System</a:t>
            </a:r>
            <a:endParaRPr lang="en-US" sz="2300" spc="300" dirty="0">
              <a:solidFill>
                <a:srgbClr val="C00000"/>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8" name="TextBox 7">
            <a:extLst>
              <a:ext uri="{FF2B5EF4-FFF2-40B4-BE49-F238E27FC236}">
                <a16:creationId xmlns:a16="http://schemas.microsoft.com/office/drawing/2014/main" id="{AE14C790-7258-76B7-ED0C-3952226A849A}"/>
              </a:ext>
            </a:extLst>
          </p:cNvPr>
          <p:cNvSpPr txBox="1"/>
          <p:nvPr/>
        </p:nvSpPr>
        <p:spPr>
          <a:xfrm>
            <a:off x="-54782" y="6838653"/>
            <a:ext cx="5389886" cy="830997"/>
          </a:xfrm>
          <a:prstGeom prst="rect">
            <a:avLst/>
          </a:prstGeom>
          <a:noFill/>
        </p:spPr>
        <p:txBody>
          <a:bodyPr wrap="square" rtlCol="0">
            <a:spAutoFit/>
          </a:bodyPr>
          <a:lstStyle/>
          <a:p>
            <a:pPr algn="ctr"/>
            <a:r>
              <a:rPr lang="en-US" sz="1600" b="1" dirty="0">
                <a:solidFill>
                  <a:schemeClr val="tx2"/>
                </a:solidFill>
                <a:latin typeface="+mj-lt"/>
                <a:ea typeface="+mj-ea"/>
                <a:cs typeface="+mj-cs"/>
              </a:rPr>
              <a:t>School of Engineering and Sciences (SEAS)</a:t>
            </a:r>
            <a:br>
              <a:rPr lang="en-US" sz="1600" b="1" dirty="0">
                <a:solidFill>
                  <a:schemeClr val="tx2"/>
                </a:solidFill>
                <a:latin typeface="+mj-lt"/>
                <a:ea typeface="+mj-ea"/>
                <a:cs typeface="+mj-cs"/>
              </a:rPr>
            </a:br>
            <a:r>
              <a:rPr lang="en-US" sz="1600" b="1" dirty="0">
                <a:solidFill>
                  <a:schemeClr val="tx2"/>
                </a:solidFill>
                <a:latin typeface="+mj-lt"/>
                <a:ea typeface="+mj-ea"/>
                <a:cs typeface="+mj-cs"/>
              </a:rPr>
              <a:t>Department of Electronics and Communication Engineering</a:t>
            </a:r>
            <a:br>
              <a:rPr lang="en-US" sz="1600" b="1" dirty="0">
                <a:solidFill>
                  <a:schemeClr val="tx2"/>
                </a:solidFill>
                <a:latin typeface="+mj-lt"/>
                <a:ea typeface="+mj-ea"/>
                <a:cs typeface="+mj-cs"/>
              </a:rPr>
            </a:br>
            <a:r>
              <a:rPr lang="en-US" sz="1600" dirty="0">
                <a:solidFill>
                  <a:schemeClr val="tx2"/>
                </a:solidFill>
                <a:latin typeface="+mj-lt"/>
                <a:ea typeface="+mj-ea"/>
                <a:cs typeface="+mj-cs"/>
              </a:rPr>
              <a:t> SRM University, Andhra Pradesh (SRM AP) </a:t>
            </a:r>
            <a:endParaRPr lang="en-US" sz="1600" dirty="0"/>
          </a:p>
        </p:txBody>
      </p:sp>
      <p:sp>
        <p:nvSpPr>
          <p:cNvPr id="11" name="TextBox 10">
            <a:extLst>
              <a:ext uri="{FF2B5EF4-FFF2-40B4-BE49-F238E27FC236}">
                <a16:creationId xmlns:a16="http://schemas.microsoft.com/office/drawing/2014/main" id="{A5F8596C-750C-6011-6B31-33F7DF8A40B1}"/>
              </a:ext>
            </a:extLst>
          </p:cNvPr>
          <p:cNvSpPr txBox="1"/>
          <p:nvPr/>
        </p:nvSpPr>
        <p:spPr>
          <a:xfrm>
            <a:off x="9318172" y="0"/>
            <a:ext cx="3374571" cy="707886"/>
          </a:xfrm>
          <a:prstGeom prst="rect">
            <a:avLst/>
          </a:prstGeom>
          <a:noFill/>
        </p:spPr>
        <p:txBody>
          <a:bodyPr wrap="square" rtlCol="0">
            <a:spAutoFit/>
          </a:bodyPr>
          <a:lstStyle/>
          <a:p>
            <a:pPr algn="ctr"/>
            <a:r>
              <a:rPr lang="en-US" sz="2000" b="1" dirty="0">
                <a:solidFill>
                  <a:schemeClr val="tx2"/>
                </a:solidFill>
                <a:latin typeface="+mj-lt"/>
                <a:ea typeface="+mj-ea"/>
                <a:cs typeface="+mj-cs"/>
              </a:rPr>
              <a:t>Presentation on Major project</a:t>
            </a:r>
          </a:p>
          <a:p>
            <a:pPr algn="ctr"/>
            <a:r>
              <a:rPr lang="en-US" sz="2000" b="1" dirty="0">
                <a:solidFill>
                  <a:schemeClr val="tx2"/>
                </a:solidFill>
                <a:latin typeface="+mj-lt"/>
                <a:ea typeface="+mj-ea"/>
                <a:cs typeface="+mj-cs"/>
              </a:rPr>
              <a:t>2</a:t>
            </a:r>
            <a:r>
              <a:rPr lang="en-US" sz="2000" b="1" baseline="30000" dirty="0">
                <a:solidFill>
                  <a:schemeClr val="tx2"/>
                </a:solidFill>
                <a:latin typeface="+mj-lt"/>
                <a:ea typeface="+mj-ea"/>
                <a:cs typeface="+mj-cs"/>
              </a:rPr>
              <a:t>nd</a:t>
            </a:r>
            <a:r>
              <a:rPr lang="en-US" sz="2000" b="1" dirty="0">
                <a:solidFill>
                  <a:schemeClr val="tx2"/>
                </a:solidFill>
                <a:latin typeface="+mj-lt"/>
                <a:ea typeface="+mj-ea"/>
                <a:cs typeface="+mj-cs"/>
              </a:rPr>
              <a:t> Sem – Review -1</a:t>
            </a:r>
            <a:endParaRPr lang="en-US" sz="2000" b="1" dirty="0"/>
          </a:p>
        </p:txBody>
      </p:sp>
      <p:pic>
        <p:nvPicPr>
          <p:cNvPr id="10" name="Picture 9" descr="A black and green logo&#10;&#10;Description automatically generated">
            <a:extLst>
              <a:ext uri="{FF2B5EF4-FFF2-40B4-BE49-F238E27FC236}">
                <a16:creationId xmlns:a16="http://schemas.microsoft.com/office/drawing/2014/main" id="{00387109-12A4-BD5A-150C-D499C1EE4A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1605" y="5766417"/>
            <a:ext cx="3768199" cy="1077218"/>
          </a:xfrm>
          <a:prstGeom prst="rect">
            <a:avLst/>
          </a:prstGeom>
        </p:spPr>
      </p:pic>
      <p:cxnSp>
        <p:nvCxnSpPr>
          <p:cNvPr id="5" name="Straight Connector 4">
            <a:extLst>
              <a:ext uri="{FF2B5EF4-FFF2-40B4-BE49-F238E27FC236}">
                <a16:creationId xmlns:a16="http://schemas.microsoft.com/office/drawing/2014/main" id="{69F68C0E-BDE4-8591-032A-D863A5568E60}"/>
              </a:ext>
            </a:extLst>
          </p:cNvPr>
          <p:cNvCxnSpPr/>
          <p:nvPr/>
        </p:nvCxnSpPr>
        <p:spPr>
          <a:xfrm flipH="1">
            <a:off x="-54782" y="5381142"/>
            <a:ext cx="492656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E4A9853-8C9C-9FB2-2020-54A6CCFE56E7}"/>
              </a:ext>
            </a:extLst>
          </p:cNvPr>
          <p:cNvSpPr txBox="1"/>
          <p:nvPr/>
        </p:nvSpPr>
        <p:spPr>
          <a:xfrm>
            <a:off x="-252177" y="3626816"/>
            <a:ext cx="4287416" cy="1754326"/>
          </a:xfrm>
          <a:prstGeom prst="rect">
            <a:avLst/>
          </a:prstGeom>
          <a:noFill/>
        </p:spPr>
        <p:txBody>
          <a:bodyPr wrap="square" rtlCol="0">
            <a:spAutoFit/>
          </a:bodyPr>
          <a:lstStyle/>
          <a:p>
            <a:pPr algn="ctr"/>
            <a:r>
              <a:rPr lang="en-US" dirty="0">
                <a:solidFill>
                  <a:schemeClr val="tx2"/>
                </a:solidFill>
                <a:latin typeface="+mj-lt"/>
                <a:ea typeface="+mj-ea"/>
                <a:cs typeface="+mj-cs"/>
              </a:rPr>
              <a:t>Presented by</a:t>
            </a:r>
            <a:br>
              <a:rPr lang="en-US" dirty="0">
                <a:solidFill>
                  <a:schemeClr val="tx2"/>
                </a:solidFill>
                <a:latin typeface="+mj-lt"/>
                <a:ea typeface="+mj-ea"/>
                <a:cs typeface="+mj-cs"/>
              </a:rPr>
            </a:br>
            <a:r>
              <a:rPr lang="en-US" b="1" dirty="0">
                <a:solidFill>
                  <a:schemeClr val="tx2"/>
                </a:solidFill>
                <a:latin typeface="+mj-lt"/>
                <a:ea typeface="+mj-ea"/>
                <a:cs typeface="+mj-cs"/>
              </a:rPr>
              <a:t>Jagadeesh_(AP2312210002)</a:t>
            </a:r>
            <a:endParaRPr lang="en-US" dirty="0">
              <a:solidFill>
                <a:schemeClr val="tx2"/>
              </a:solidFill>
              <a:latin typeface="+mj-lt"/>
              <a:ea typeface="+mj-ea"/>
              <a:cs typeface="+mj-cs"/>
            </a:endParaRPr>
          </a:p>
          <a:p>
            <a:pPr algn="ctr"/>
            <a:endParaRPr lang="en-US" dirty="0">
              <a:solidFill>
                <a:schemeClr val="tx2"/>
              </a:solidFill>
              <a:latin typeface="+mj-lt"/>
              <a:ea typeface="+mj-ea"/>
              <a:cs typeface="+mj-cs"/>
            </a:endParaRPr>
          </a:p>
          <a:p>
            <a:pPr algn="ctr"/>
            <a:r>
              <a:rPr lang="en-US" dirty="0">
                <a:latin typeface="Times New Roman" panose="02020603050405020304" pitchFamily="18" charset="0"/>
                <a:cs typeface="Times New Roman" panose="02020603050405020304" pitchFamily="18" charset="0"/>
              </a:rPr>
              <a:t>under the Esteemed guidance of</a:t>
            </a:r>
            <a:br>
              <a:rPr lang="en-US" dirty="0">
                <a:latin typeface="Times New Roman" panose="02020603050405020304" pitchFamily="18" charset="0"/>
                <a:cs typeface="Times New Roman" panose="02020603050405020304" pitchFamily="18" charset="0"/>
              </a:rPr>
            </a:br>
            <a:r>
              <a:rPr lang="en-US" b="1" dirty="0">
                <a:solidFill>
                  <a:srgbClr val="008E40"/>
                </a:solidFill>
                <a:latin typeface="Times New Roman" panose="02020603050405020304" pitchFamily="18" charset="0"/>
                <a:cs typeface="Times New Roman" panose="02020603050405020304" pitchFamily="18" charset="0"/>
              </a:rPr>
              <a:t>Dr. Sujith </a:t>
            </a:r>
            <a:r>
              <a:rPr lang="en-US" b="1" dirty="0" err="1">
                <a:solidFill>
                  <a:srgbClr val="008E40"/>
                </a:solidFill>
                <a:latin typeface="Times New Roman" panose="02020603050405020304" pitchFamily="18" charset="0"/>
                <a:cs typeface="Times New Roman" panose="02020603050405020304" pitchFamily="18" charset="0"/>
              </a:rPr>
              <a:t>Kalluri</a:t>
            </a:r>
            <a:r>
              <a:rPr lang="en-US" b="1" dirty="0">
                <a:solidFill>
                  <a:srgbClr val="008E40"/>
                </a:solidFill>
                <a:latin typeface="Times New Roman" panose="02020603050405020304" pitchFamily="18" charset="0"/>
                <a:cs typeface="Times New Roman" panose="02020603050405020304" pitchFamily="18" charset="0"/>
              </a:rPr>
              <a:t> </a:t>
            </a:r>
            <a:r>
              <a:rPr lang="en-US" b="1" dirty="0" err="1">
                <a:solidFill>
                  <a:srgbClr val="008E40"/>
                </a:solidFill>
                <a:latin typeface="Times New Roman" panose="02020603050405020304" pitchFamily="18" charset="0"/>
                <a:cs typeface="Times New Roman" panose="02020603050405020304" pitchFamily="18" charset="0"/>
              </a:rPr>
              <a:t>Ph.D</a:t>
            </a:r>
            <a:br>
              <a:rPr lang="en-US" b="1" dirty="0">
                <a:solidFill>
                  <a:srgbClr val="008E40"/>
                </a:solidFill>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Associate Professor</a:t>
            </a:r>
            <a:endParaRPr lang="en-US" dirty="0"/>
          </a:p>
        </p:txBody>
      </p:sp>
      <p:pic>
        <p:nvPicPr>
          <p:cNvPr id="2052" name="Picture 4" descr="The Role Of IoT In Smart Grid Tech - Intuz">
            <a:extLst>
              <a:ext uri="{FF2B5EF4-FFF2-40B4-BE49-F238E27FC236}">
                <a16:creationId xmlns:a16="http://schemas.microsoft.com/office/drawing/2014/main" id="{CDF7FA1B-5A62-DE3D-001C-A0EDF44D58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1781" y="4827387"/>
            <a:ext cx="3828249" cy="201291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Communications Protocols for Grid-EV Integration - QualityLogic">
            <a:extLst>
              <a:ext uri="{FF2B5EF4-FFF2-40B4-BE49-F238E27FC236}">
                <a16:creationId xmlns:a16="http://schemas.microsoft.com/office/drawing/2014/main" id="{5882BF7D-EDFE-220C-5FF5-AAFC723E75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99408" y="3567400"/>
            <a:ext cx="4404333" cy="201291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PV &amp; Energy Storage System in EV Charging Station - Rockwill Electric Group  - ROCKWILL Electric Group">
            <a:extLst>
              <a:ext uri="{FF2B5EF4-FFF2-40B4-BE49-F238E27FC236}">
                <a16:creationId xmlns:a16="http://schemas.microsoft.com/office/drawing/2014/main" id="{038C071D-1370-B4CA-67DA-F6D405BC48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92928" y="2220686"/>
            <a:ext cx="4191101" cy="235317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32" descr="Battery Swapping &amp; Charging Stations ...">
            <a:extLst>
              <a:ext uri="{FF2B5EF4-FFF2-40B4-BE49-F238E27FC236}">
                <a16:creationId xmlns:a16="http://schemas.microsoft.com/office/drawing/2014/main" id="{A407A5D9-602E-61C5-9FE4-B4E949D394D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17629" y="6122754"/>
            <a:ext cx="2079169" cy="165473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0" descr="Node-Red Dashboard 2.0 - Default start ...">
            <a:extLst>
              <a:ext uri="{FF2B5EF4-FFF2-40B4-BE49-F238E27FC236}">
                <a16:creationId xmlns:a16="http://schemas.microsoft.com/office/drawing/2014/main" id="{63A1B069-2790-572F-017B-424DCEF1B04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28394" y="6218390"/>
            <a:ext cx="2496947" cy="139156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6" descr="What is an “algorithm”? It depends whom you ask | MIT Technology Review">
            <a:extLst>
              <a:ext uri="{FF2B5EF4-FFF2-40B4-BE49-F238E27FC236}">
                <a16:creationId xmlns:a16="http://schemas.microsoft.com/office/drawing/2014/main" id="{D7F34DE2-A204-46F0-B2DA-46C1E6AFFCD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19454" y="2098889"/>
            <a:ext cx="2438399" cy="1467088"/>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a:extLst>
              <a:ext uri="{FF2B5EF4-FFF2-40B4-BE49-F238E27FC236}">
                <a16:creationId xmlns:a16="http://schemas.microsoft.com/office/drawing/2014/main" id="{9D98E1E8-1955-1C39-CB46-DF17FA2E4286}"/>
              </a:ext>
            </a:extLst>
          </p:cNvPr>
          <p:cNvCxnSpPr>
            <a:cxnSpLocks/>
          </p:cNvCxnSpPr>
          <p:nvPr/>
        </p:nvCxnSpPr>
        <p:spPr>
          <a:xfrm flipV="1">
            <a:off x="3810000" y="3134217"/>
            <a:ext cx="0" cy="2246925"/>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2169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5615" y="273298"/>
            <a:ext cx="3888526" cy="807646"/>
          </a:xfrm>
        </p:spPr>
        <p:txBody>
          <a:bodyPr>
            <a:normAutofit/>
          </a:bodyPr>
          <a:lstStyle/>
          <a:p>
            <a:r>
              <a:rPr lang="en-US" b="1" dirty="0">
                <a:solidFill>
                  <a:srgbClr val="002060"/>
                </a:solidFill>
                <a:latin typeface="Times New Roman" panose="02020603050405020304" pitchFamily="18" charset="0"/>
                <a:cs typeface="Times New Roman" panose="02020603050405020304" pitchFamily="18" charset="0"/>
              </a:rPr>
              <a:t>Outline</a:t>
            </a:r>
            <a:endParaRPr lang="en-IN" b="1" dirty="0">
              <a:solidFill>
                <a:srgbClr val="002060"/>
              </a:solidFill>
              <a:latin typeface="Times New Roman" panose="02020603050405020304" pitchFamily="18" charset="0"/>
              <a:cs typeface="Times New Roman" panose="02020603050405020304" pitchFamily="18" charset="0"/>
            </a:endParaRPr>
          </a:p>
        </p:txBody>
      </p:sp>
      <p:pic>
        <p:nvPicPr>
          <p:cNvPr id="9" name="Picture 8" descr="A black and green logo&#10;&#10;Description automatically generated">
            <a:extLst>
              <a:ext uri="{FF2B5EF4-FFF2-40B4-BE49-F238E27FC236}">
                <a16:creationId xmlns:a16="http://schemas.microsoft.com/office/drawing/2014/main" id="{A4E8363D-BD78-CB08-68C5-EF4C2730BC9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45717" y="111648"/>
            <a:ext cx="2291754" cy="750991"/>
          </a:xfrm>
          <a:prstGeom prst="rect">
            <a:avLst/>
          </a:prstGeom>
        </p:spPr>
      </p:pic>
      <p:sp>
        <p:nvSpPr>
          <p:cNvPr id="11" name="TextBox 10">
            <a:extLst>
              <a:ext uri="{FF2B5EF4-FFF2-40B4-BE49-F238E27FC236}">
                <a16:creationId xmlns:a16="http://schemas.microsoft.com/office/drawing/2014/main" id="{64245924-1534-2B33-F883-AB95C8907383}"/>
              </a:ext>
            </a:extLst>
          </p:cNvPr>
          <p:cNvSpPr txBox="1"/>
          <p:nvPr/>
        </p:nvSpPr>
        <p:spPr>
          <a:xfrm>
            <a:off x="254529" y="2433559"/>
            <a:ext cx="2788024" cy="4613058"/>
          </a:xfrm>
          <a:prstGeom prst="rect">
            <a:avLst/>
          </a:prstGeom>
          <a:noFill/>
          <a:ln w="28575">
            <a:solidFill>
              <a:srgbClr val="002060"/>
            </a:solidFill>
          </a:ln>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2_1 </a:t>
            </a:r>
            <a:r>
              <a:rPr lang="en-US" dirty="0">
                <a:latin typeface="Times New Roman" panose="02020603050405020304" pitchFamily="18" charset="0"/>
                <a:cs typeface="Times New Roman" panose="02020603050405020304" pitchFamily="18" charset="0"/>
                <a:sym typeface="Wingdings" panose="05000000000000000000" pitchFamily="2" charset="2"/>
              </a:rPr>
              <a:t> Revied Work</a:t>
            </a: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Introduction</a:t>
            </a:r>
          </a:p>
          <a:p>
            <a:pPr>
              <a:lnSpc>
                <a:spcPct val="150000"/>
              </a:lnSpc>
            </a:pPr>
            <a:r>
              <a:rPr lang="en-US" b="1" dirty="0">
                <a:solidFill>
                  <a:srgbClr val="C00000"/>
                </a:solidFill>
                <a:latin typeface="Times New Roman" panose="02020603050405020304" pitchFamily="18" charset="0"/>
                <a:cs typeface="Times New Roman" panose="02020603050405020304" pitchFamily="18" charset="0"/>
              </a:rPr>
              <a:t>Literature survey</a:t>
            </a:r>
          </a:p>
          <a:p>
            <a:pPr>
              <a:lnSpc>
                <a:spcPct val="150000"/>
              </a:lnSpc>
            </a:pPr>
            <a:r>
              <a:rPr lang="en-US" b="1" dirty="0">
                <a:solidFill>
                  <a:srgbClr val="C00000"/>
                </a:solidFill>
                <a:latin typeface="Times New Roman" panose="02020603050405020304" pitchFamily="18" charset="0"/>
                <a:cs typeface="Times New Roman" panose="02020603050405020304" pitchFamily="18" charset="0"/>
              </a:rPr>
              <a:t>Research gap</a:t>
            </a:r>
          </a:p>
          <a:p>
            <a:pPr>
              <a:lnSpc>
                <a:spcPct val="150000"/>
              </a:lnSpc>
            </a:pPr>
            <a:r>
              <a:rPr lang="en-US" dirty="0">
                <a:latin typeface="Times New Roman" panose="02020603050405020304" pitchFamily="18" charset="0"/>
                <a:cs typeface="Times New Roman" panose="02020603050405020304" pitchFamily="18" charset="0"/>
              </a:rPr>
              <a:t>Objective</a:t>
            </a:r>
          </a:p>
          <a:p>
            <a:pPr>
              <a:lnSpc>
                <a:spcPct val="150000"/>
              </a:lnSpc>
            </a:pPr>
            <a:r>
              <a:rPr lang="en-US" dirty="0">
                <a:latin typeface="Times New Roman" panose="02020603050405020304" pitchFamily="18" charset="0"/>
                <a:cs typeface="Times New Roman" panose="02020603050405020304" pitchFamily="18" charset="0"/>
              </a:rPr>
              <a:t>Problem formulation</a:t>
            </a:r>
          </a:p>
          <a:p>
            <a:pPr>
              <a:lnSpc>
                <a:spcPct val="150000"/>
              </a:lnSpc>
            </a:pPr>
            <a:r>
              <a:rPr lang="en-US" b="1" dirty="0">
                <a:solidFill>
                  <a:srgbClr val="C00000"/>
                </a:solidFill>
                <a:latin typeface="Times New Roman" panose="02020603050405020304" pitchFamily="18" charset="0"/>
                <a:cs typeface="Times New Roman" panose="02020603050405020304" pitchFamily="18" charset="0"/>
              </a:rPr>
              <a:t>Proposed Methodology</a:t>
            </a:r>
          </a:p>
          <a:p>
            <a:pPr>
              <a:lnSpc>
                <a:spcPct val="150000"/>
              </a:lnSpc>
            </a:pPr>
            <a:r>
              <a:rPr lang="en-US" dirty="0">
                <a:latin typeface="Times New Roman" panose="02020603050405020304" pitchFamily="18" charset="0"/>
                <a:cs typeface="Times New Roman" panose="02020603050405020304" pitchFamily="18" charset="0"/>
              </a:rPr>
              <a:t>Present ongoing work status</a:t>
            </a:r>
          </a:p>
          <a:p>
            <a:pPr>
              <a:lnSpc>
                <a:spcPct val="150000"/>
              </a:lnSpc>
            </a:pPr>
            <a:r>
              <a:rPr lang="en-US" dirty="0">
                <a:latin typeface="Times New Roman" panose="02020603050405020304" pitchFamily="18" charset="0"/>
                <a:cs typeface="Times New Roman" panose="02020603050405020304" pitchFamily="18" charset="0"/>
              </a:rPr>
              <a:t>Conclusion</a:t>
            </a:r>
          </a:p>
          <a:p>
            <a:pPr>
              <a:lnSpc>
                <a:spcPct val="150000"/>
              </a:lnSpc>
            </a:pPr>
            <a:r>
              <a:rPr lang="en-US" dirty="0">
                <a:latin typeface="Times New Roman" panose="02020603050405020304" pitchFamily="18" charset="0"/>
                <a:cs typeface="Times New Roman" panose="02020603050405020304" pitchFamily="18" charset="0"/>
              </a:rPr>
              <a:t>Future Outcomes</a:t>
            </a:r>
          </a:p>
          <a:p>
            <a:pPr>
              <a:lnSpc>
                <a:spcPct val="150000"/>
              </a:lnSpc>
            </a:pPr>
            <a:r>
              <a:rPr lang="en-US" dirty="0">
                <a:latin typeface="Times New Roman" panose="02020603050405020304" pitchFamily="18" charset="0"/>
                <a:cs typeface="Times New Roman" panose="02020603050405020304" pitchFamily="18" charset="0"/>
              </a:rPr>
              <a:t>References</a:t>
            </a:r>
          </a:p>
        </p:txBody>
      </p:sp>
      <p:cxnSp>
        <p:nvCxnSpPr>
          <p:cNvPr id="8" name="Connector: Elbow 7">
            <a:extLst>
              <a:ext uri="{FF2B5EF4-FFF2-40B4-BE49-F238E27FC236}">
                <a16:creationId xmlns:a16="http://schemas.microsoft.com/office/drawing/2014/main" id="{359A9745-6693-C492-162F-6474ACD99E0E}"/>
              </a:ext>
            </a:extLst>
          </p:cNvPr>
          <p:cNvCxnSpPr>
            <a:cxnSpLocks/>
            <a:endCxn id="38" idx="1"/>
          </p:cNvCxnSpPr>
          <p:nvPr/>
        </p:nvCxnSpPr>
        <p:spPr>
          <a:xfrm flipV="1">
            <a:off x="2124264" y="2034976"/>
            <a:ext cx="1697927" cy="1513767"/>
          </a:xfrm>
          <a:prstGeom prst="bentConnector3">
            <a:avLst>
              <a:gd name="adj1" fmla="val 41666"/>
            </a:avLst>
          </a:prstGeom>
          <a:ln w="28575">
            <a:solidFill>
              <a:schemeClr val="accent2"/>
            </a:solidFill>
            <a:tailEnd type="triangle"/>
          </a:ln>
        </p:spPr>
        <p:style>
          <a:lnRef idx="2">
            <a:schemeClr val="dk1"/>
          </a:lnRef>
          <a:fillRef idx="0">
            <a:schemeClr val="dk1"/>
          </a:fillRef>
          <a:effectRef idx="1">
            <a:schemeClr val="dk1"/>
          </a:effectRef>
          <a:fontRef idx="minor">
            <a:schemeClr val="tx1"/>
          </a:fontRef>
        </p:style>
      </p:cxnSp>
      <p:cxnSp>
        <p:nvCxnSpPr>
          <p:cNvPr id="16" name="Connector: Elbow 15">
            <a:extLst>
              <a:ext uri="{FF2B5EF4-FFF2-40B4-BE49-F238E27FC236}">
                <a16:creationId xmlns:a16="http://schemas.microsoft.com/office/drawing/2014/main" id="{CBFE3471-B11F-4F56-32E1-A1F309BA4329}"/>
              </a:ext>
            </a:extLst>
          </p:cNvPr>
          <p:cNvCxnSpPr>
            <a:cxnSpLocks/>
          </p:cNvCxnSpPr>
          <p:nvPr/>
        </p:nvCxnSpPr>
        <p:spPr>
          <a:xfrm>
            <a:off x="1729242" y="3995891"/>
            <a:ext cx="3701743" cy="439860"/>
          </a:xfrm>
          <a:prstGeom prst="bentConnector3">
            <a:avLst>
              <a:gd name="adj1" fmla="val 50000"/>
            </a:avLst>
          </a:prstGeom>
          <a:ln w="28575">
            <a:solidFill>
              <a:srgbClr val="00B050"/>
            </a:solidFill>
            <a:tailEnd type="triangle"/>
          </a:ln>
        </p:spPr>
        <p:style>
          <a:lnRef idx="2">
            <a:schemeClr val="dk1"/>
          </a:lnRef>
          <a:fillRef idx="0">
            <a:schemeClr val="dk1"/>
          </a:fillRef>
          <a:effectRef idx="1">
            <a:schemeClr val="dk1"/>
          </a:effectRef>
          <a:fontRef idx="minor">
            <a:schemeClr val="tx1"/>
          </a:fontRef>
        </p:style>
      </p:cxnSp>
      <p:cxnSp>
        <p:nvCxnSpPr>
          <p:cNvPr id="21" name="Connector: Elbow 20">
            <a:extLst>
              <a:ext uri="{FF2B5EF4-FFF2-40B4-BE49-F238E27FC236}">
                <a16:creationId xmlns:a16="http://schemas.microsoft.com/office/drawing/2014/main" id="{9872DD10-D720-BC8B-7715-2C5C6AD67039}"/>
              </a:ext>
            </a:extLst>
          </p:cNvPr>
          <p:cNvCxnSpPr>
            <a:cxnSpLocks/>
          </p:cNvCxnSpPr>
          <p:nvPr/>
        </p:nvCxnSpPr>
        <p:spPr>
          <a:xfrm>
            <a:off x="2588711" y="5246457"/>
            <a:ext cx="1762768" cy="1755150"/>
          </a:xfrm>
          <a:prstGeom prst="bentConnector3">
            <a:avLst>
              <a:gd name="adj1" fmla="val 50000"/>
            </a:avLst>
          </a:prstGeom>
          <a:ln w="28575">
            <a:solidFill>
              <a:srgbClr val="7030A0"/>
            </a:solidFill>
            <a:tailEnd type="triangle"/>
          </a:ln>
        </p:spPr>
        <p:style>
          <a:lnRef idx="2">
            <a:schemeClr val="dk1"/>
          </a:lnRef>
          <a:fillRef idx="0">
            <a:schemeClr val="dk1"/>
          </a:fillRef>
          <a:effectRef idx="1">
            <a:schemeClr val="dk1"/>
          </a:effectRef>
          <a:fontRef idx="minor">
            <a:schemeClr val="tx1"/>
          </a:fontRef>
        </p:style>
      </p:cxnSp>
      <p:pic>
        <p:nvPicPr>
          <p:cNvPr id="1026" name="Picture 2" descr="ER&amp;D and Digital Engineering Services">
            <a:extLst>
              <a:ext uri="{FF2B5EF4-FFF2-40B4-BE49-F238E27FC236}">
                <a16:creationId xmlns:a16="http://schemas.microsoft.com/office/drawing/2014/main" id="{0E6CC72D-307B-14B3-A5BA-F0E4FC4103E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624" b="24702"/>
          <a:stretch/>
        </p:blipFill>
        <p:spPr bwMode="auto">
          <a:xfrm>
            <a:off x="3898748" y="1538360"/>
            <a:ext cx="1160745" cy="51621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lmelin - innovative microporous technology">
            <a:extLst>
              <a:ext uri="{FF2B5EF4-FFF2-40B4-BE49-F238E27FC236}">
                <a16:creationId xmlns:a16="http://schemas.microsoft.com/office/drawing/2014/main" id="{FCF012C4-9526-C7BB-832B-895CF150F5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02979" y="1962916"/>
            <a:ext cx="1139413" cy="38999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Zypp Electric bags $25 Mn in Series B round">
            <a:extLst>
              <a:ext uri="{FF2B5EF4-FFF2-40B4-BE49-F238E27FC236}">
                <a16:creationId xmlns:a16="http://schemas.microsoft.com/office/drawing/2014/main" id="{F714663A-08F9-891C-6D1B-0519718A4D1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2147" t="7897" r="32796" b="18675"/>
          <a:stretch/>
        </p:blipFill>
        <p:spPr bwMode="auto">
          <a:xfrm>
            <a:off x="5136048" y="1719606"/>
            <a:ext cx="666177" cy="51621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eDrift electric | LinkedIn">
            <a:extLst>
              <a:ext uri="{FF2B5EF4-FFF2-40B4-BE49-F238E27FC236}">
                <a16:creationId xmlns:a16="http://schemas.microsoft.com/office/drawing/2014/main" id="{C815707D-71A2-0692-B975-AEC20A44883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1679" y="1614535"/>
            <a:ext cx="764435" cy="709533"/>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49D9A260-E3F2-143F-80B4-08BFAEAD0B27}"/>
              </a:ext>
            </a:extLst>
          </p:cNvPr>
          <p:cNvSpPr txBox="1"/>
          <p:nvPr/>
        </p:nvSpPr>
        <p:spPr>
          <a:xfrm>
            <a:off x="4349123" y="2226333"/>
            <a:ext cx="2094271"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Industry Study case</a:t>
            </a:r>
            <a:endParaRPr lang="en-US" dirty="0"/>
          </a:p>
        </p:txBody>
      </p:sp>
      <p:pic>
        <p:nvPicPr>
          <p:cNvPr id="1034" name="Picture 10" descr="EV Charging Station Infrastructure in ...">
            <a:extLst>
              <a:ext uri="{FF2B5EF4-FFF2-40B4-BE49-F238E27FC236}">
                <a16:creationId xmlns:a16="http://schemas.microsoft.com/office/drawing/2014/main" id="{4F34BC2B-4C6F-2100-B0FD-67B39E93B63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60981" y="1554932"/>
            <a:ext cx="1537852" cy="705991"/>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171B877A-431F-8525-8A80-E6377446490A}"/>
              </a:ext>
            </a:extLst>
          </p:cNvPr>
          <p:cNvSpPr txBox="1"/>
          <p:nvPr/>
        </p:nvSpPr>
        <p:spPr>
          <a:xfrm>
            <a:off x="6610218" y="2218491"/>
            <a:ext cx="210556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EV Charging Station</a:t>
            </a:r>
            <a:endParaRPr lang="en-US" dirty="0"/>
          </a:p>
        </p:txBody>
      </p:sp>
      <p:pic>
        <p:nvPicPr>
          <p:cNvPr id="1036" name="Picture 12" descr="Next-generation battery | SPARK LAB">
            <a:extLst>
              <a:ext uri="{FF2B5EF4-FFF2-40B4-BE49-F238E27FC236}">
                <a16:creationId xmlns:a16="http://schemas.microsoft.com/office/drawing/2014/main" id="{D979C7A9-B06A-9CA4-622E-A8ABB87FAB0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03298" y="1623423"/>
            <a:ext cx="1160745" cy="720884"/>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DC9B7489-82FE-E71F-6F35-C9254E996FD5}"/>
              </a:ext>
            </a:extLst>
          </p:cNvPr>
          <p:cNvSpPr txBox="1"/>
          <p:nvPr/>
        </p:nvSpPr>
        <p:spPr>
          <a:xfrm>
            <a:off x="8979205" y="2224349"/>
            <a:ext cx="721652" cy="369332"/>
          </a:xfrm>
          <a:prstGeom prst="rect">
            <a:avLst/>
          </a:prstGeom>
          <a:noFill/>
        </p:spPr>
        <p:txBody>
          <a:bodyPr wrap="square" rtlCol="0">
            <a:spAutoFit/>
          </a:bodyPr>
          <a:lstStyle/>
          <a:p>
            <a:r>
              <a:rPr lang="en-US" dirty="0"/>
              <a:t>ESS</a:t>
            </a:r>
          </a:p>
        </p:txBody>
      </p:sp>
      <p:pic>
        <p:nvPicPr>
          <p:cNvPr id="1038" name="Picture 14" descr="Battery Swapping Infrastructure – An ...">
            <a:extLst>
              <a:ext uri="{FF2B5EF4-FFF2-40B4-BE49-F238E27FC236}">
                <a16:creationId xmlns:a16="http://schemas.microsoft.com/office/drawing/2014/main" id="{D92BF4A4-7436-1E3F-4B11-B80A20FCF4B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021095" y="1685742"/>
            <a:ext cx="967248" cy="540592"/>
          </a:xfrm>
          <a:prstGeom prst="rect">
            <a:avLst/>
          </a:prstGeom>
          <a:noFill/>
          <a:extLst>
            <a:ext uri="{909E8E84-426E-40DD-AFC4-6F175D3DCCD1}">
              <a14:hiddenFill xmlns:a14="http://schemas.microsoft.com/office/drawing/2010/main">
                <a:solidFill>
                  <a:srgbClr val="FFFFFF"/>
                </a:solidFill>
              </a14:hiddenFill>
            </a:ext>
          </a:extLst>
        </p:spPr>
      </p:pic>
      <p:sp>
        <p:nvSpPr>
          <p:cNvPr id="36" name="TextBox 35">
            <a:extLst>
              <a:ext uri="{FF2B5EF4-FFF2-40B4-BE49-F238E27FC236}">
                <a16:creationId xmlns:a16="http://schemas.microsoft.com/office/drawing/2014/main" id="{52A78D1E-F360-17FF-CF79-EBA2BEC3A5AD}"/>
              </a:ext>
            </a:extLst>
          </p:cNvPr>
          <p:cNvSpPr txBox="1"/>
          <p:nvPr/>
        </p:nvSpPr>
        <p:spPr>
          <a:xfrm>
            <a:off x="9964281" y="2260921"/>
            <a:ext cx="1452716" cy="369332"/>
          </a:xfrm>
          <a:prstGeom prst="rect">
            <a:avLst/>
          </a:prstGeom>
          <a:noFill/>
        </p:spPr>
        <p:txBody>
          <a:bodyPr wrap="square" rtlCol="0">
            <a:spAutoFit/>
          </a:bodyPr>
          <a:lstStyle/>
          <a:p>
            <a:r>
              <a:rPr lang="en-US" dirty="0"/>
              <a:t>Swapping</a:t>
            </a:r>
          </a:p>
        </p:txBody>
      </p:sp>
      <p:pic>
        <p:nvPicPr>
          <p:cNvPr id="1040" name="Picture 16" descr="Best tools for monitoring IoT devices | by MetricFire | Medium">
            <a:extLst>
              <a:ext uri="{FF2B5EF4-FFF2-40B4-BE49-F238E27FC236}">
                <a16:creationId xmlns:a16="http://schemas.microsoft.com/office/drawing/2014/main" id="{5CCF6835-E347-2D01-7D1E-4331EBD72D3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flipH="1">
            <a:off x="11164600" y="1750496"/>
            <a:ext cx="818902" cy="528965"/>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a:extLst>
              <a:ext uri="{FF2B5EF4-FFF2-40B4-BE49-F238E27FC236}">
                <a16:creationId xmlns:a16="http://schemas.microsoft.com/office/drawing/2014/main" id="{BAAF3930-CBA9-AFD9-DB2F-665B645B9DB8}"/>
              </a:ext>
            </a:extLst>
          </p:cNvPr>
          <p:cNvSpPr txBox="1"/>
          <p:nvPr/>
        </p:nvSpPr>
        <p:spPr>
          <a:xfrm>
            <a:off x="11322175" y="2286441"/>
            <a:ext cx="619050" cy="369332"/>
          </a:xfrm>
          <a:prstGeom prst="rect">
            <a:avLst/>
          </a:prstGeom>
          <a:noFill/>
        </p:spPr>
        <p:txBody>
          <a:bodyPr wrap="square" rtlCol="0">
            <a:spAutoFit/>
          </a:bodyPr>
          <a:lstStyle/>
          <a:p>
            <a:r>
              <a:rPr lang="en-US" dirty="0"/>
              <a:t>IOT</a:t>
            </a:r>
          </a:p>
        </p:txBody>
      </p:sp>
      <p:sp>
        <p:nvSpPr>
          <p:cNvPr id="38" name="Rectangle 37">
            <a:extLst>
              <a:ext uri="{FF2B5EF4-FFF2-40B4-BE49-F238E27FC236}">
                <a16:creationId xmlns:a16="http://schemas.microsoft.com/office/drawing/2014/main" id="{1B5C40DF-7781-DEE5-2BDB-99B4B236A6E0}"/>
              </a:ext>
            </a:extLst>
          </p:cNvPr>
          <p:cNvSpPr/>
          <p:nvPr/>
        </p:nvSpPr>
        <p:spPr>
          <a:xfrm>
            <a:off x="3822191" y="1476268"/>
            <a:ext cx="8294090" cy="1117415"/>
          </a:xfrm>
          <a:prstGeom prst="rect">
            <a:avLst/>
          </a:pr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a:extLst>
              <a:ext uri="{FF2B5EF4-FFF2-40B4-BE49-F238E27FC236}">
                <a16:creationId xmlns:a16="http://schemas.microsoft.com/office/drawing/2014/main" id="{D742CBAC-EEA6-4736-DF73-F669B7D4BB5D}"/>
              </a:ext>
            </a:extLst>
          </p:cNvPr>
          <p:cNvCxnSpPr/>
          <p:nvPr/>
        </p:nvCxnSpPr>
        <p:spPr>
          <a:xfrm>
            <a:off x="6691646" y="1476268"/>
            <a:ext cx="0" cy="759555"/>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9F324730-59C8-46F4-8BFB-14CAD4B90A56}"/>
              </a:ext>
            </a:extLst>
          </p:cNvPr>
          <p:cNvCxnSpPr/>
          <p:nvPr/>
        </p:nvCxnSpPr>
        <p:spPr>
          <a:xfrm>
            <a:off x="8703296" y="1828270"/>
            <a:ext cx="0" cy="759555"/>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2222EF09-3C8B-AE6B-8A30-7C292F3A76C8}"/>
              </a:ext>
            </a:extLst>
          </p:cNvPr>
          <p:cNvCxnSpPr/>
          <p:nvPr/>
        </p:nvCxnSpPr>
        <p:spPr>
          <a:xfrm>
            <a:off x="9864041" y="1476268"/>
            <a:ext cx="0" cy="759555"/>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44DC9FA6-2CAF-A86C-3FF3-3FCD0974BBC0}"/>
              </a:ext>
            </a:extLst>
          </p:cNvPr>
          <p:cNvCxnSpPr/>
          <p:nvPr/>
        </p:nvCxnSpPr>
        <p:spPr>
          <a:xfrm>
            <a:off x="11081749" y="1828269"/>
            <a:ext cx="0" cy="759555"/>
          </a:xfrm>
          <a:prstGeom prst="line">
            <a:avLst/>
          </a:prstGeom>
        </p:spPr>
        <p:style>
          <a:lnRef idx="2">
            <a:schemeClr val="accent1"/>
          </a:lnRef>
          <a:fillRef idx="0">
            <a:schemeClr val="accent1"/>
          </a:fillRef>
          <a:effectRef idx="1">
            <a:schemeClr val="accent1"/>
          </a:effectRef>
          <a:fontRef idx="minor">
            <a:schemeClr val="tx1"/>
          </a:fontRef>
        </p:style>
      </p:cxnSp>
      <p:pic>
        <p:nvPicPr>
          <p:cNvPr id="47" name="Picture 46">
            <a:extLst>
              <a:ext uri="{FF2B5EF4-FFF2-40B4-BE49-F238E27FC236}">
                <a16:creationId xmlns:a16="http://schemas.microsoft.com/office/drawing/2014/main" id="{348142E8-6E3D-8692-A94A-294EE17F5F3D}"/>
              </a:ext>
            </a:extLst>
          </p:cNvPr>
          <p:cNvPicPr>
            <a:picLocks noChangeAspect="1"/>
          </p:cNvPicPr>
          <p:nvPr/>
        </p:nvPicPr>
        <p:blipFill>
          <a:blip r:embed="rId11"/>
          <a:srcRect l="4000" t="8973" r="14817" b="10815"/>
          <a:stretch/>
        </p:blipFill>
        <p:spPr>
          <a:xfrm>
            <a:off x="5681717" y="3700944"/>
            <a:ext cx="1321401" cy="732946"/>
          </a:xfrm>
          <a:prstGeom prst="rect">
            <a:avLst/>
          </a:prstGeom>
        </p:spPr>
      </p:pic>
      <p:sp>
        <p:nvSpPr>
          <p:cNvPr id="48" name="TextBox 47">
            <a:extLst>
              <a:ext uri="{FF2B5EF4-FFF2-40B4-BE49-F238E27FC236}">
                <a16:creationId xmlns:a16="http://schemas.microsoft.com/office/drawing/2014/main" id="{6CC8421D-5FA2-EF8D-3EAE-93C0DB4BC3E2}"/>
              </a:ext>
            </a:extLst>
          </p:cNvPr>
          <p:cNvSpPr txBox="1"/>
          <p:nvPr/>
        </p:nvSpPr>
        <p:spPr>
          <a:xfrm>
            <a:off x="5543163" y="4433890"/>
            <a:ext cx="1648466"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IOT Connectivity</a:t>
            </a:r>
            <a:endParaRPr lang="en-US" sz="1600" dirty="0"/>
          </a:p>
        </p:txBody>
      </p:sp>
      <p:pic>
        <p:nvPicPr>
          <p:cNvPr id="1044" name="Picture 20" descr="Node-Red Dashboard 2.0 - Default start ...">
            <a:extLst>
              <a:ext uri="{FF2B5EF4-FFF2-40B4-BE49-F238E27FC236}">
                <a16:creationId xmlns:a16="http://schemas.microsoft.com/office/drawing/2014/main" id="{5FBFF765-AC26-0503-6F0B-6FBB9D4D79F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73801" y="3724948"/>
            <a:ext cx="1321401" cy="736426"/>
          </a:xfrm>
          <a:prstGeom prst="rect">
            <a:avLst/>
          </a:prstGeom>
          <a:noFill/>
          <a:extLst>
            <a:ext uri="{909E8E84-426E-40DD-AFC4-6F175D3DCCD1}">
              <a14:hiddenFill xmlns:a14="http://schemas.microsoft.com/office/drawing/2010/main">
                <a:solidFill>
                  <a:srgbClr val="FFFFFF"/>
                </a:solidFill>
              </a14:hiddenFill>
            </a:ext>
          </a:extLst>
        </p:spPr>
      </p:pic>
      <p:sp>
        <p:nvSpPr>
          <p:cNvPr id="49" name="TextBox 48">
            <a:extLst>
              <a:ext uri="{FF2B5EF4-FFF2-40B4-BE49-F238E27FC236}">
                <a16:creationId xmlns:a16="http://schemas.microsoft.com/office/drawing/2014/main" id="{30ECBA97-6E37-F4AB-60D9-5012A0CF769E}"/>
              </a:ext>
            </a:extLst>
          </p:cNvPr>
          <p:cNvSpPr txBox="1"/>
          <p:nvPr/>
        </p:nvSpPr>
        <p:spPr>
          <a:xfrm>
            <a:off x="7336864" y="4421472"/>
            <a:ext cx="1125371" cy="523220"/>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Real Time monitoring</a:t>
            </a:r>
            <a:endParaRPr lang="en-US" sz="1400" dirty="0"/>
          </a:p>
        </p:txBody>
      </p:sp>
      <p:pic>
        <p:nvPicPr>
          <p:cNvPr id="1046" name="Picture 22" descr="Utility Load Management ...">
            <a:extLst>
              <a:ext uri="{FF2B5EF4-FFF2-40B4-BE49-F238E27FC236}">
                <a16:creationId xmlns:a16="http://schemas.microsoft.com/office/drawing/2014/main" id="{9EDA9842-94E6-FA09-F329-3C8B39914BA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625298" y="3676248"/>
            <a:ext cx="1459783" cy="980292"/>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A5BFD4E7-F601-51B9-E5A2-AF3E70B59226}"/>
              </a:ext>
            </a:extLst>
          </p:cNvPr>
          <p:cNvSpPr txBox="1"/>
          <p:nvPr/>
        </p:nvSpPr>
        <p:spPr>
          <a:xfrm>
            <a:off x="8658939" y="4562672"/>
            <a:ext cx="1642184"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Load management</a:t>
            </a:r>
            <a:endParaRPr lang="en-US" sz="1400" dirty="0"/>
          </a:p>
        </p:txBody>
      </p:sp>
      <p:pic>
        <p:nvPicPr>
          <p:cNvPr id="1048" name="Picture 24" descr="Efficient Artificial Neural Network for Smart Grid Stability Prediction -  Mohsen - 2023 - International Transactions on Electrical Energy Systems -  Wiley Online Library">
            <a:extLst>
              <a:ext uri="{FF2B5EF4-FFF2-40B4-BE49-F238E27FC236}">
                <a16:creationId xmlns:a16="http://schemas.microsoft.com/office/drawing/2014/main" id="{9789001E-F0B0-F987-C6D0-61D95FC74A1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211984" y="3746613"/>
            <a:ext cx="1171568" cy="839565"/>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0B9B6398-C3E5-684E-E1E7-32FBCCE5BDA0}"/>
              </a:ext>
            </a:extLst>
          </p:cNvPr>
          <p:cNvSpPr txBox="1"/>
          <p:nvPr/>
        </p:nvSpPr>
        <p:spPr>
          <a:xfrm>
            <a:off x="10234671" y="4574425"/>
            <a:ext cx="1204327" cy="307777"/>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Grid Stability</a:t>
            </a:r>
            <a:endParaRPr lang="en-US" sz="1400" dirty="0"/>
          </a:p>
        </p:txBody>
      </p:sp>
      <p:pic>
        <p:nvPicPr>
          <p:cNvPr id="1050" name="Picture 26" descr="What is an “algorithm”? It depends whom you ask | MIT Technology Review">
            <a:extLst>
              <a:ext uri="{FF2B5EF4-FFF2-40B4-BE49-F238E27FC236}">
                <a16:creationId xmlns:a16="http://schemas.microsoft.com/office/drawing/2014/main" id="{169A9669-C524-FE5A-C9E1-935F19088CC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438998" y="3798311"/>
            <a:ext cx="1164961" cy="700911"/>
          </a:xfrm>
          <a:prstGeom prst="rect">
            <a:avLst/>
          </a:prstGeom>
          <a:noFill/>
          <a:extLst>
            <a:ext uri="{909E8E84-426E-40DD-AFC4-6F175D3DCCD1}">
              <a14:hiddenFill xmlns:a14="http://schemas.microsoft.com/office/drawing/2010/main">
                <a:solidFill>
                  <a:srgbClr val="FFFFFF"/>
                </a:solidFill>
              </a14:hiddenFill>
            </a:ext>
          </a:extLst>
        </p:spPr>
      </p:pic>
      <p:sp>
        <p:nvSpPr>
          <p:cNvPr id="52" name="TextBox 51">
            <a:extLst>
              <a:ext uri="{FF2B5EF4-FFF2-40B4-BE49-F238E27FC236}">
                <a16:creationId xmlns:a16="http://schemas.microsoft.com/office/drawing/2014/main" id="{8E5BC3B7-E8CA-767D-C1C5-909763EEBBAA}"/>
              </a:ext>
            </a:extLst>
          </p:cNvPr>
          <p:cNvSpPr txBox="1"/>
          <p:nvPr/>
        </p:nvSpPr>
        <p:spPr>
          <a:xfrm>
            <a:off x="11558758" y="4527681"/>
            <a:ext cx="1045201" cy="307777"/>
          </a:xfrm>
          <a:prstGeom prst="rect">
            <a:avLst/>
          </a:prstGeom>
          <a:noFill/>
        </p:spPr>
        <p:txBody>
          <a:bodyPr wrap="square" rtlCol="0">
            <a:spAutoFit/>
          </a:bodyPr>
          <a:lstStyle/>
          <a:p>
            <a:r>
              <a:rPr lang="en-US" sz="1400" dirty="0"/>
              <a:t>Algorithm</a:t>
            </a:r>
          </a:p>
        </p:txBody>
      </p:sp>
      <p:sp>
        <p:nvSpPr>
          <p:cNvPr id="53" name="Rectangle 52">
            <a:extLst>
              <a:ext uri="{FF2B5EF4-FFF2-40B4-BE49-F238E27FC236}">
                <a16:creationId xmlns:a16="http://schemas.microsoft.com/office/drawing/2014/main" id="{E7896981-B312-8C4B-C714-A623171ED20F}"/>
              </a:ext>
            </a:extLst>
          </p:cNvPr>
          <p:cNvSpPr/>
          <p:nvPr/>
        </p:nvSpPr>
        <p:spPr>
          <a:xfrm>
            <a:off x="5511033" y="3643705"/>
            <a:ext cx="7226438" cy="1268099"/>
          </a:xfrm>
          <a:prstGeom prst="rect">
            <a:avLst/>
          </a:prstGeom>
          <a:noFill/>
          <a:ln w="190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5" name="Straight Connector 1024">
            <a:extLst>
              <a:ext uri="{FF2B5EF4-FFF2-40B4-BE49-F238E27FC236}">
                <a16:creationId xmlns:a16="http://schemas.microsoft.com/office/drawing/2014/main" id="{48F25DC9-7DCA-530D-3D42-20ABC1F656F7}"/>
              </a:ext>
            </a:extLst>
          </p:cNvPr>
          <p:cNvCxnSpPr>
            <a:cxnSpLocks/>
          </p:cNvCxnSpPr>
          <p:nvPr/>
        </p:nvCxnSpPr>
        <p:spPr>
          <a:xfrm>
            <a:off x="7136302" y="3995891"/>
            <a:ext cx="0" cy="92261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027" name="Straight Connector 1026">
            <a:extLst>
              <a:ext uri="{FF2B5EF4-FFF2-40B4-BE49-F238E27FC236}">
                <a16:creationId xmlns:a16="http://schemas.microsoft.com/office/drawing/2014/main" id="{0C6B23B2-FD7C-F41A-88AA-C1465E1CD313}"/>
              </a:ext>
            </a:extLst>
          </p:cNvPr>
          <p:cNvCxnSpPr>
            <a:cxnSpLocks/>
          </p:cNvCxnSpPr>
          <p:nvPr/>
        </p:nvCxnSpPr>
        <p:spPr>
          <a:xfrm>
            <a:off x="8625296" y="3655818"/>
            <a:ext cx="0" cy="94735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033" name="Straight Connector 1032">
            <a:extLst>
              <a:ext uri="{FF2B5EF4-FFF2-40B4-BE49-F238E27FC236}">
                <a16:creationId xmlns:a16="http://schemas.microsoft.com/office/drawing/2014/main" id="{98EDC1B6-5F0A-DA47-2948-9343FEC3CE9F}"/>
              </a:ext>
            </a:extLst>
          </p:cNvPr>
          <p:cNvCxnSpPr>
            <a:cxnSpLocks/>
          </p:cNvCxnSpPr>
          <p:nvPr/>
        </p:nvCxnSpPr>
        <p:spPr>
          <a:xfrm>
            <a:off x="11383549" y="3655818"/>
            <a:ext cx="0" cy="94735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035" name="Straight Connector 1034">
            <a:extLst>
              <a:ext uri="{FF2B5EF4-FFF2-40B4-BE49-F238E27FC236}">
                <a16:creationId xmlns:a16="http://schemas.microsoft.com/office/drawing/2014/main" id="{EE9E51EB-B12D-7D82-F37D-DF2E95510204}"/>
              </a:ext>
            </a:extLst>
          </p:cNvPr>
          <p:cNvCxnSpPr>
            <a:cxnSpLocks/>
          </p:cNvCxnSpPr>
          <p:nvPr/>
        </p:nvCxnSpPr>
        <p:spPr>
          <a:xfrm>
            <a:off x="10211984" y="3941697"/>
            <a:ext cx="0" cy="94735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pic>
        <p:nvPicPr>
          <p:cNvPr id="1052" name="Picture 28" descr="Microsoft Power Automate – What Is That? - TPG The Project Group">
            <a:extLst>
              <a:ext uri="{FF2B5EF4-FFF2-40B4-BE49-F238E27FC236}">
                <a16:creationId xmlns:a16="http://schemas.microsoft.com/office/drawing/2014/main" id="{4CA361BC-2D86-E0B4-042E-82CF2F6ABB29}"/>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28442" y="6279802"/>
            <a:ext cx="1648703" cy="955688"/>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038">
            <a:extLst>
              <a:ext uri="{FF2B5EF4-FFF2-40B4-BE49-F238E27FC236}">
                <a16:creationId xmlns:a16="http://schemas.microsoft.com/office/drawing/2014/main" id="{34730054-271D-2839-90B1-8B48753C2BA0}"/>
              </a:ext>
            </a:extLst>
          </p:cNvPr>
          <p:cNvPicPr>
            <a:picLocks noChangeAspect="1"/>
          </p:cNvPicPr>
          <p:nvPr/>
        </p:nvPicPr>
        <p:blipFill>
          <a:blip r:embed="rId17"/>
          <a:stretch>
            <a:fillRect/>
          </a:stretch>
        </p:blipFill>
        <p:spPr>
          <a:xfrm>
            <a:off x="5989778" y="6331656"/>
            <a:ext cx="1315880" cy="819584"/>
          </a:xfrm>
          <a:prstGeom prst="rect">
            <a:avLst/>
          </a:prstGeom>
        </p:spPr>
      </p:pic>
      <p:pic>
        <p:nvPicPr>
          <p:cNvPr id="1056" name="Picture 32" descr="Battery Swapping &amp; Charging Stations ...">
            <a:extLst>
              <a:ext uri="{FF2B5EF4-FFF2-40B4-BE49-F238E27FC236}">
                <a16:creationId xmlns:a16="http://schemas.microsoft.com/office/drawing/2014/main" id="{5E782600-72BF-8568-A2AD-8921B294F646}"/>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467513" y="6193334"/>
            <a:ext cx="1262238" cy="1004566"/>
          </a:xfrm>
          <a:prstGeom prst="rect">
            <a:avLst/>
          </a:prstGeom>
          <a:noFill/>
          <a:extLst>
            <a:ext uri="{909E8E84-426E-40DD-AFC4-6F175D3DCCD1}">
              <a14:hiddenFill xmlns:a14="http://schemas.microsoft.com/office/drawing/2010/main">
                <a:solidFill>
                  <a:srgbClr val="FFFFFF"/>
                </a:solidFill>
              </a14:hiddenFill>
            </a:ext>
          </a:extLst>
        </p:spPr>
      </p:pic>
      <p:pic>
        <p:nvPicPr>
          <p:cNvPr id="1058" name="Picture 34" descr="DC Fast Chargers For (EV) Electric ...">
            <a:extLst>
              <a:ext uri="{FF2B5EF4-FFF2-40B4-BE49-F238E27FC236}">
                <a16:creationId xmlns:a16="http://schemas.microsoft.com/office/drawing/2014/main" id="{268ADC5A-8ED1-D3BD-D004-34D7CB93EBDC}"/>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871637" y="6275576"/>
            <a:ext cx="1262238" cy="726031"/>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041">
            <a:extLst>
              <a:ext uri="{FF2B5EF4-FFF2-40B4-BE49-F238E27FC236}">
                <a16:creationId xmlns:a16="http://schemas.microsoft.com/office/drawing/2014/main" id="{CA4C19A8-407D-2927-ABDB-07C4F4648B43}"/>
              </a:ext>
            </a:extLst>
          </p:cNvPr>
          <p:cNvPicPr>
            <a:picLocks noChangeAspect="1"/>
          </p:cNvPicPr>
          <p:nvPr/>
        </p:nvPicPr>
        <p:blipFill>
          <a:blip r:embed="rId20"/>
          <a:stretch>
            <a:fillRect/>
          </a:stretch>
        </p:blipFill>
        <p:spPr>
          <a:xfrm>
            <a:off x="10268472" y="6221196"/>
            <a:ext cx="1178964" cy="701989"/>
          </a:xfrm>
          <a:prstGeom prst="rect">
            <a:avLst/>
          </a:prstGeom>
        </p:spPr>
      </p:pic>
      <p:pic>
        <p:nvPicPr>
          <p:cNvPr id="1062" name="Picture 38" descr="Connectivity Cloud | Cloudflare">
            <a:extLst>
              <a:ext uri="{FF2B5EF4-FFF2-40B4-BE49-F238E27FC236}">
                <a16:creationId xmlns:a16="http://schemas.microsoft.com/office/drawing/2014/main" id="{C7D262BC-0654-5738-F46D-13F9E5F8417A}"/>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1699395" y="6238048"/>
            <a:ext cx="929940" cy="701989"/>
          </a:xfrm>
          <a:prstGeom prst="rect">
            <a:avLst/>
          </a:prstGeom>
          <a:noFill/>
          <a:extLst>
            <a:ext uri="{909E8E84-426E-40DD-AFC4-6F175D3DCCD1}">
              <a14:hiddenFill xmlns:a14="http://schemas.microsoft.com/office/drawing/2010/main">
                <a:solidFill>
                  <a:srgbClr val="FFFFFF"/>
                </a:solidFill>
              </a14:hiddenFill>
            </a:ext>
          </a:extLst>
        </p:spPr>
      </p:pic>
      <p:sp>
        <p:nvSpPr>
          <p:cNvPr id="1043" name="TextBox 1042">
            <a:extLst>
              <a:ext uri="{FF2B5EF4-FFF2-40B4-BE49-F238E27FC236}">
                <a16:creationId xmlns:a16="http://schemas.microsoft.com/office/drawing/2014/main" id="{4F9A11DF-2E9D-06D6-717B-58D53B42D0BD}"/>
              </a:ext>
            </a:extLst>
          </p:cNvPr>
          <p:cNvSpPr txBox="1"/>
          <p:nvPr/>
        </p:nvSpPr>
        <p:spPr>
          <a:xfrm>
            <a:off x="4606752" y="7125548"/>
            <a:ext cx="1648466" cy="584775"/>
          </a:xfrm>
          <a:prstGeom prst="rect">
            <a:avLst/>
          </a:prstGeom>
          <a:noFill/>
        </p:spPr>
        <p:txBody>
          <a:bodyPr wrap="square" rtlCol="0">
            <a:spAutoFit/>
          </a:bodyPr>
          <a:lstStyle/>
          <a:p>
            <a:r>
              <a:rPr lang="en-US" sz="1600" dirty="0"/>
              <a:t>Integration </a:t>
            </a:r>
          </a:p>
          <a:p>
            <a:r>
              <a:rPr lang="en-US" sz="1600" dirty="0"/>
              <a:t>Automation</a:t>
            </a:r>
          </a:p>
        </p:txBody>
      </p:sp>
      <p:sp>
        <p:nvSpPr>
          <p:cNvPr id="1045" name="TextBox 1044">
            <a:extLst>
              <a:ext uri="{FF2B5EF4-FFF2-40B4-BE49-F238E27FC236}">
                <a16:creationId xmlns:a16="http://schemas.microsoft.com/office/drawing/2014/main" id="{3CEEE653-2491-9BD2-AAB2-1B52C26F3AAD}"/>
              </a:ext>
            </a:extLst>
          </p:cNvPr>
          <p:cNvSpPr txBox="1"/>
          <p:nvPr/>
        </p:nvSpPr>
        <p:spPr>
          <a:xfrm>
            <a:off x="7633937" y="7178258"/>
            <a:ext cx="1205191" cy="338554"/>
          </a:xfrm>
          <a:prstGeom prst="rect">
            <a:avLst/>
          </a:prstGeom>
          <a:noFill/>
        </p:spPr>
        <p:txBody>
          <a:bodyPr wrap="square" rtlCol="0">
            <a:spAutoFit/>
          </a:bodyPr>
          <a:lstStyle/>
          <a:p>
            <a:pPr algn="ctr"/>
            <a:r>
              <a:rPr lang="en-US" sz="1600" dirty="0"/>
              <a:t>Swapping </a:t>
            </a:r>
          </a:p>
        </p:txBody>
      </p:sp>
      <p:sp>
        <p:nvSpPr>
          <p:cNvPr id="1047" name="TextBox 1046">
            <a:extLst>
              <a:ext uri="{FF2B5EF4-FFF2-40B4-BE49-F238E27FC236}">
                <a16:creationId xmlns:a16="http://schemas.microsoft.com/office/drawing/2014/main" id="{36ED4E94-C749-2119-E5F6-D8177834A2A6}"/>
              </a:ext>
            </a:extLst>
          </p:cNvPr>
          <p:cNvSpPr txBox="1"/>
          <p:nvPr/>
        </p:nvSpPr>
        <p:spPr>
          <a:xfrm>
            <a:off x="8831011" y="7151240"/>
            <a:ext cx="1376534" cy="338554"/>
          </a:xfrm>
          <a:prstGeom prst="rect">
            <a:avLst/>
          </a:prstGeom>
          <a:noFill/>
        </p:spPr>
        <p:txBody>
          <a:bodyPr wrap="square" rtlCol="0">
            <a:spAutoFit/>
          </a:bodyPr>
          <a:lstStyle/>
          <a:p>
            <a:r>
              <a:rPr lang="en-US" sz="1600" dirty="0"/>
              <a:t>DC Charging</a:t>
            </a:r>
          </a:p>
        </p:txBody>
      </p:sp>
      <p:sp>
        <p:nvSpPr>
          <p:cNvPr id="1049" name="TextBox 1048">
            <a:extLst>
              <a:ext uri="{FF2B5EF4-FFF2-40B4-BE49-F238E27FC236}">
                <a16:creationId xmlns:a16="http://schemas.microsoft.com/office/drawing/2014/main" id="{A0A7DEA0-5174-007E-A690-70643872885D}"/>
              </a:ext>
            </a:extLst>
          </p:cNvPr>
          <p:cNvSpPr txBox="1"/>
          <p:nvPr/>
        </p:nvSpPr>
        <p:spPr>
          <a:xfrm>
            <a:off x="10196555" y="7138235"/>
            <a:ext cx="1648466"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IOT Architecture</a:t>
            </a:r>
            <a:endParaRPr lang="en-US" sz="1600" dirty="0"/>
          </a:p>
        </p:txBody>
      </p:sp>
      <p:sp>
        <p:nvSpPr>
          <p:cNvPr id="1051" name="TextBox 1050">
            <a:extLst>
              <a:ext uri="{FF2B5EF4-FFF2-40B4-BE49-F238E27FC236}">
                <a16:creationId xmlns:a16="http://schemas.microsoft.com/office/drawing/2014/main" id="{D4A01EAC-36E0-87B6-81D0-1822B625D9B3}"/>
              </a:ext>
            </a:extLst>
          </p:cNvPr>
          <p:cNvSpPr txBox="1"/>
          <p:nvPr/>
        </p:nvSpPr>
        <p:spPr>
          <a:xfrm>
            <a:off x="11728588" y="6903265"/>
            <a:ext cx="843255" cy="584775"/>
          </a:xfrm>
          <a:prstGeom prst="rect">
            <a:avLst/>
          </a:prstGeom>
          <a:noFill/>
        </p:spPr>
        <p:txBody>
          <a:bodyPr wrap="square" rtlCol="0">
            <a:spAutoFit/>
          </a:bodyPr>
          <a:lstStyle/>
          <a:p>
            <a:pPr algn="ctr"/>
            <a:r>
              <a:rPr lang="en-US" sz="1600" dirty="0"/>
              <a:t>Cloud</a:t>
            </a:r>
          </a:p>
          <a:p>
            <a:pPr algn="ctr"/>
            <a:r>
              <a:rPr lang="en-US" sz="1600" dirty="0"/>
              <a:t>AWS</a:t>
            </a:r>
          </a:p>
        </p:txBody>
      </p:sp>
      <p:sp>
        <p:nvSpPr>
          <p:cNvPr id="1054" name="TextBox 1053">
            <a:extLst>
              <a:ext uri="{FF2B5EF4-FFF2-40B4-BE49-F238E27FC236}">
                <a16:creationId xmlns:a16="http://schemas.microsoft.com/office/drawing/2014/main" id="{9E8A66A3-8AFA-37AC-B025-32149B453B68}"/>
              </a:ext>
            </a:extLst>
          </p:cNvPr>
          <p:cNvSpPr txBox="1"/>
          <p:nvPr/>
        </p:nvSpPr>
        <p:spPr>
          <a:xfrm>
            <a:off x="6320770" y="7293864"/>
            <a:ext cx="1648466" cy="338554"/>
          </a:xfrm>
          <a:prstGeom prst="rect">
            <a:avLst/>
          </a:prstGeom>
          <a:noFill/>
        </p:spPr>
        <p:txBody>
          <a:bodyPr wrap="square" rtlCol="0">
            <a:spAutoFit/>
          </a:bodyPr>
          <a:lstStyle/>
          <a:p>
            <a:r>
              <a:rPr lang="en-US" sz="1600" dirty="0"/>
              <a:t>PCC</a:t>
            </a:r>
          </a:p>
        </p:txBody>
      </p:sp>
      <p:sp>
        <p:nvSpPr>
          <p:cNvPr id="1060" name="Rectangle 1059">
            <a:extLst>
              <a:ext uri="{FF2B5EF4-FFF2-40B4-BE49-F238E27FC236}">
                <a16:creationId xmlns:a16="http://schemas.microsoft.com/office/drawing/2014/main" id="{0DDBBC23-2EDE-8AB1-3408-E0C4D660FB13}"/>
              </a:ext>
            </a:extLst>
          </p:cNvPr>
          <p:cNvSpPr/>
          <p:nvPr/>
        </p:nvSpPr>
        <p:spPr>
          <a:xfrm>
            <a:off x="4404141" y="6216151"/>
            <a:ext cx="8225194" cy="1434345"/>
          </a:xfrm>
          <a:prstGeom prst="rect">
            <a:avLst/>
          </a:prstGeom>
          <a:no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66" name="Straight Connector 1065">
            <a:extLst>
              <a:ext uri="{FF2B5EF4-FFF2-40B4-BE49-F238E27FC236}">
                <a16:creationId xmlns:a16="http://schemas.microsoft.com/office/drawing/2014/main" id="{95EBA8F2-BDD9-6685-8FF7-6F66DEC7DBC3}"/>
              </a:ext>
            </a:extLst>
          </p:cNvPr>
          <p:cNvCxnSpPr>
            <a:cxnSpLocks/>
          </p:cNvCxnSpPr>
          <p:nvPr/>
        </p:nvCxnSpPr>
        <p:spPr>
          <a:xfrm>
            <a:off x="5990480" y="6215620"/>
            <a:ext cx="0" cy="922617"/>
          </a:xfrm>
          <a:prstGeom prst="line">
            <a:avLst/>
          </a:prstGeom>
          <a:ln>
            <a:solidFill>
              <a:schemeClr val="accent3">
                <a:lumMod val="50000"/>
              </a:schemeClr>
            </a:solidFill>
          </a:ln>
        </p:spPr>
        <p:style>
          <a:lnRef idx="2">
            <a:schemeClr val="accent1"/>
          </a:lnRef>
          <a:fillRef idx="0">
            <a:schemeClr val="accent1"/>
          </a:fillRef>
          <a:effectRef idx="1">
            <a:schemeClr val="accent1"/>
          </a:effectRef>
          <a:fontRef idx="minor">
            <a:schemeClr val="tx1"/>
          </a:fontRef>
        </p:style>
      </p:cxnSp>
      <p:cxnSp>
        <p:nvCxnSpPr>
          <p:cNvPr id="1067" name="Straight Connector 1066">
            <a:extLst>
              <a:ext uri="{FF2B5EF4-FFF2-40B4-BE49-F238E27FC236}">
                <a16:creationId xmlns:a16="http://schemas.microsoft.com/office/drawing/2014/main" id="{924C3694-A28D-F0EB-ED06-3A24E3420DDA}"/>
              </a:ext>
            </a:extLst>
          </p:cNvPr>
          <p:cNvCxnSpPr>
            <a:cxnSpLocks/>
          </p:cNvCxnSpPr>
          <p:nvPr/>
        </p:nvCxnSpPr>
        <p:spPr>
          <a:xfrm>
            <a:off x="7436829" y="6746061"/>
            <a:ext cx="0" cy="922617"/>
          </a:xfrm>
          <a:prstGeom prst="line">
            <a:avLst/>
          </a:prstGeom>
          <a:ln>
            <a:solidFill>
              <a:schemeClr val="accent3">
                <a:lumMod val="50000"/>
              </a:schemeClr>
            </a:solidFill>
          </a:ln>
        </p:spPr>
        <p:style>
          <a:lnRef idx="2">
            <a:schemeClr val="accent1"/>
          </a:lnRef>
          <a:fillRef idx="0">
            <a:schemeClr val="accent1"/>
          </a:fillRef>
          <a:effectRef idx="1">
            <a:schemeClr val="accent1"/>
          </a:effectRef>
          <a:fontRef idx="minor">
            <a:schemeClr val="tx1"/>
          </a:fontRef>
        </p:style>
      </p:cxnSp>
      <p:cxnSp>
        <p:nvCxnSpPr>
          <p:cNvPr id="1068" name="Straight Connector 1067">
            <a:extLst>
              <a:ext uri="{FF2B5EF4-FFF2-40B4-BE49-F238E27FC236}">
                <a16:creationId xmlns:a16="http://schemas.microsoft.com/office/drawing/2014/main" id="{965F30A4-AB4F-7676-1707-B6E68CBC105D}"/>
              </a:ext>
            </a:extLst>
          </p:cNvPr>
          <p:cNvCxnSpPr>
            <a:cxnSpLocks/>
          </p:cNvCxnSpPr>
          <p:nvPr/>
        </p:nvCxnSpPr>
        <p:spPr>
          <a:xfrm>
            <a:off x="8811213" y="6238048"/>
            <a:ext cx="0" cy="922617"/>
          </a:xfrm>
          <a:prstGeom prst="line">
            <a:avLst/>
          </a:prstGeom>
          <a:ln>
            <a:solidFill>
              <a:schemeClr val="accent3">
                <a:lumMod val="50000"/>
              </a:schemeClr>
            </a:solidFill>
          </a:ln>
        </p:spPr>
        <p:style>
          <a:lnRef idx="2">
            <a:schemeClr val="accent1"/>
          </a:lnRef>
          <a:fillRef idx="0">
            <a:schemeClr val="accent1"/>
          </a:fillRef>
          <a:effectRef idx="1">
            <a:schemeClr val="accent1"/>
          </a:effectRef>
          <a:fontRef idx="minor">
            <a:schemeClr val="tx1"/>
          </a:fontRef>
        </p:style>
      </p:cxnSp>
      <p:cxnSp>
        <p:nvCxnSpPr>
          <p:cNvPr id="1070" name="Straight Connector 1069">
            <a:extLst>
              <a:ext uri="{FF2B5EF4-FFF2-40B4-BE49-F238E27FC236}">
                <a16:creationId xmlns:a16="http://schemas.microsoft.com/office/drawing/2014/main" id="{AB20AA7D-7B5A-1AE6-4AFF-2555DD8CB5DE}"/>
              </a:ext>
            </a:extLst>
          </p:cNvPr>
          <p:cNvCxnSpPr>
            <a:cxnSpLocks/>
          </p:cNvCxnSpPr>
          <p:nvPr/>
        </p:nvCxnSpPr>
        <p:spPr>
          <a:xfrm>
            <a:off x="10207545" y="6727879"/>
            <a:ext cx="0" cy="922617"/>
          </a:xfrm>
          <a:prstGeom prst="line">
            <a:avLst/>
          </a:prstGeom>
          <a:ln>
            <a:solidFill>
              <a:schemeClr val="accent3">
                <a:lumMod val="50000"/>
              </a:schemeClr>
            </a:solidFill>
          </a:ln>
        </p:spPr>
        <p:style>
          <a:lnRef idx="2">
            <a:schemeClr val="accent1"/>
          </a:lnRef>
          <a:fillRef idx="0">
            <a:schemeClr val="accent1"/>
          </a:fillRef>
          <a:effectRef idx="1">
            <a:schemeClr val="accent1"/>
          </a:effectRef>
          <a:fontRef idx="minor">
            <a:schemeClr val="tx1"/>
          </a:fontRef>
        </p:style>
      </p:cxnSp>
      <p:cxnSp>
        <p:nvCxnSpPr>
          <p:cNvPr id="1071" name="Straight Connector 1070">
            <a:extLst>
              <a:ext uri="{FF2B5EF4-FFF2-40B4-BE49-F238E27FC236}">
                <a16:creationId xmlns:a16="http://schemas.microsoft.com/office/drawing/2014/main" id="{51423790-1EBE-FA5A-564E-A688FF8C72B6}"/>
              </a:ext>
            </a:extLst>
          </p:cNvPr>
          <p:cNvCxnSpPr>
            <a:cxnSpLocks/>
          </p:cNvCxnSpPr>
          <p:nvPr/>
        </p:nvCxnSpPr>
        <p:spPr>
          <a:xfrm>
            <a:off x="11699395" y="6228623"/>
            <a:ext cx="0" cy="1248166"/>
          </a:xfrm>
          <a:prstGeom prst="line">
            <a:avLst/>
          </a:prstGeom>
          <a:ln>
            <a:solidFill>
              <a:schemeClr val="accent3">
                <a:lumMod val="5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69972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 EV Charging Station  66KV with grid and Load with 30nos EV Swapping Station and 4 Fast charging Station with vehicles. Image 3 of 4">
            <a:extLst>
              <a:ext uri="{FF2B5EF4-FFF2-40B4-BE49-F238E27FC236}">
                <a16:creationId xmlns:a16="http://schemas.microsoft.com/office/drawing/2014/main" id="{C4190998-36CE-B16F-F702-8706976E1A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3623" y="1019937"/>
            <a:ext cx="3198665" cy="219993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ower generation plat Non renable energy. Image 3 of 4">
            <a:extLst>
              <a:ext uri="{FF2B5EF4-FFF2-40B4-BE49-F238E27FC236}">
                <a16:creationId xmlns:a16="http://schemas.microsoft.com/office/drawing/2014/main" id="{C71A6AFB-78A3-3F38-C36B-D5BBC095EE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855" y="949688"/>
            <a:ext cx="3042501" cy="2199934"/>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Arrow Connector 9">
            <a:extLst>
              <a:ext uri="{FF2B5EF4-FFF2-40B4-BE49-F238E27FC236}">
                <a16:creationId xmlns:a16="http://schemas.microsoft.com/office/drawing/2014/main" id="{9A3A2F3B-93BF-24E1-3E80-0F24820A3971}"/>
              </a:ext>
            </a:extLst>
          </p:cNvPr>
          <p:cNvCxnSpPr>
            <a:cxnSpLocks/>
            <a:stCxn id="1028" idx="3"/>
          </p:cNvCxnSpPr>
          <p:nvPr/>
        </p:nvCxnSpPr>
        <p:spPr>
          <a:xfrm flipV="1">
            <a:off x="4152357" y="2033293"/>
            <a:ext cx="3201266" cy="1636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9C8326FE-ECE3-FFAE-7DCF-9795936B7F83}"/>
              </a:ext>
            </a:extLst>
          </p:cNvPr>
          <p:cNvSpPr txBox="1"/>
          <p:nvPr/>
        </p:nvSpPr>
        <p:spPr>
          <a:xfrm>
            <a:off x="235131" y="3245015"/>
            <a:ext cx="12435787" cy="480131"/>
          </a:xfrm>
          <a:prstGeom prst="rect">
            <a:avLst/>
          </a:prstGeom>
          <a:noFill/>
        </p:spPr>
        <p:txBody>
          <a:bodyPr wrap="square" rtlCol="0">
            <a:spAutoFit/>
          </a:bodyPr>
          <a:lstStyle/>
          <a:p>
            <a:r>
              <a:rPr lang="en-US" sz="2520" dirty="0"/>
              <a:t>Lack of Pollution – need More Transportation – Need coal mines – More Generation cost </a:t>
            </a:r>
          </a:p>
        </p:txBody>
      </p:sp>
      <p:sp>
        <p:nvSpPr>
          <p:cNvPr id="13" name="TextBox 12">
            <a:extLst>
              <a:ext uri="{FF2B5EF4-FFF2-40B4-BE49-F238E27FC236}">
                <a16:creationId xmlns:a16="http://schemas.microsoft.com/office/drawing/2014/main" id="{0E9FF802-91D5-D240-CE18-D27913D3478A}"/>
              </a:ext>
            </a:extLst>
          </p:cNvPr>
          <p:cNvSpPr txBox="1"/>
          <p:nvPr/>
        </p:nvSpPr>
        <p:spPr>
          <a:xfrm>
            <a:off x="581245" y="3729766"/>
            <a:ext cx="12089674" cy="2806922"/>
          </a:xfrm>
          <a:prstGeom prst="rect">
            <a:avLst/>
          </a:prstGeom>
          <a:noFill/>
        </p:spPr>
        <p:txBody>
          <a:bodyPr wrap="square" rtlCol="0">
            <a:spAutoFit/>
          </a:bodyPr>
          <a:lstStyle/>
          <a:p>
            <a:r>
              <a:rPr lang="en-US" sz="2520" b="1" dirty="0">
                <a:solidFill>
                  <a:srgbClr val="C00000"/>
                </a:solidFill>
              </a:rPr>
              <a:t>Why IOT needed</a:t>
            </a:r>
          </a:p>
          <a:p>
            <a:endParaRPr lang="en-US" sz="2520" b="1" dirty="0">
              <a:solidFill>
                <a:srgbClr val="C00000"/>
              </a:solidFill>
            </a:endParaRPr>
          </a:p>
          <a:p>
            <a:r>
              <a:rPr lang="en-US" sz="2520" dirty="0">
                <a:solidFill>
                  <a:srgbClr val="002060"/>
                </a:solidFill>
              </a:rPr>
              <a:t>Real Time Data Monitoring</a:t>
            </a:r>
          </a:p>
          <a:p>
            <a:r>
              <a:rPr lang="en-US" sz="2520" dirty="0">
                <a:solidFill>
                  <a:srgbClr val="002060"/>
                </a:solidFill>
              </a:rPr>
              <a:t>Pre estimation Power Demand</a:t>
            </a:r>
          </a:p>
          <a:p>
            <a:r>
              <a:rPr lang="en-US" sz="2520" dirty="0">
                <a:solidFill>
                  <a:srgbClr val="002060"/>
                </a:solidFill>
              </a:rPr>
              <a:t>To Reuse Harmonic's Imbalance</a:t>
            </a:r>
          </a:p>
          <a:p>
            <a:r>
              <a:rPr lang="en-US" sz="2520" dirty="0">
                <a:solidFill>
                  <a:srgbClr val="002060"/>
                </a:solidFill>
              </a:rPr>
              <a:t>Central Monitoring System</a:t>
            </a:r>
          </a:p>
          <a:p>
            <a:r>
              <a:rPr lang="en-US" sz="2520" dirty="0">
                <a:solidFill>
                  <a:srgbClr val="002060"/>
                </a:solidFill>
              </a:rPr>
              <a:t>End User Integration</a:t>
            </a:r>
          </a:p>
        </p:txBody>
      </p:sp>
      <p:sp>
        <p:nvSpPr>
          <p:cNvPr id="14" name="TextBox 13">
            <a:extLst>
              <a:ext uri="{FF2B5EF4-FFF2-40B4-BE49-F238E27FC236}">
                <a16:creationId xmlns:a16="http://schemas.microsoft.com/office/drawing/2014/main" id="{218CEBE6-B980-448B-6F98-72EE278685C8}"/>
              </a:ext>
            </a:extLst>
          </p:cNvPr>
          <p:cNvSpPr txBox="1"/>
          <p:nvPr/>
        </p:nvSpPr>
        <p:spPr>
          <a:xfrm>
            <a:off x="5376260" y="4905734"/>
            <a:ext cx="7425340" cy="1255728"/>
          </a:xfrm>
          <a:prstGeom prst="rect">
            <a:avLst/>
          </a:prstGeom>
          <a:solidFill>
            <a:schemeClr val="accent2">
              <a:lumMod val="60000"/>
              <a:lumOff val="40000"/>
            </a:schemeClr>
          </a:solidFill>
        </p:spPr>
        <p:txBody>
          <a:bodyPr wrap="square" rtlCol="0">
            <a:spAutoFit/>
          </a:bodyPr>
          <a:lstStyle/>
          <a:p>
            <a:r>
              <a:rPr lang="en-US" sz="2520" dirty="0">
                <a:solidFill>
                  <a:srgbClr val="002060"/>
                </a:solidFill>
              </a:rPr>
              <a:t>EV are Rapidly Increasing in the world Automotive Market</a:t>
            </a:r>
          </a:p>
          <a:p>
            <a:r>
              <a:rPr lang="en-US" sz="2520" dirty="0">
                <a:solidFill>
                  <a:srgbClr val="002060"/>
                </a:solidFill>
              </a:rPr>
              <a:t>So, There is a Demand of Charging Infra</a:t>
            </a:r>
          </a:p>
        </p:txBody>
      </p:sp>
      <p:sp>
        <p:nvSpPr>
          <p:cNvPr id="2" name="Title 1">
            <a:extLst>
              <a:ext uri="{FF2B5EF4-FFF2-40B4-BE49-F238E27FC236}">
                <a16:creationId xmlns:a16="http://schemas.microsoft.com/office/drawing/2014/main" id="{9847F449-68E9-57E0-6751-E6A126971710}"/>
              </a:ext>
            </a:extLst>
          </p:cNvPr>
          <p:cNvSpPr>
            <a:spLocks noGrp="1"/>
          </p:cNvSpPr>
          <p:nvPr>
            <p:ph type="title"/>
          </p:nvPr>
        </p:nvSpPr>
        <p:spPr>
          <a:xfrm>
            <a:off x="217170" y="184800"/>
            <a:ext cx="11041380" cy="605171"/>
          </a:xfrm>
        </p:spPr>
        <p:txBody>
          <a:bodyPr>
            <a:normAutofit fontScale="90000"/>
          </a:bodyPr>
          <a:lstStyle/>
          <a:p>
            <a:r>
              <a:rPr lang="en-US" sz="4000" b="1" dirty="0">
                <a:solidFill>
                  <a:srgbClr val="002060"/>
                </a:solidFill>
                <a:latin typeface="Times New Roman" panose="02020603050405020304" pitchFamily="18" charset="0"/>
                <a:cs typeface="Times New Roman" panose="02020603050405020304" pitchFamily="18" charset="0"/>
              </a:rPr>
              <a:t>Introduction</a:t>
            </a:r>
          </a:p>
        </p:txBody>
      </p:sp>
    </p:spTree>
    <p:extLst>
      <p:ext uri="{BB962C8B-B14F-4D97-AF65-F5344CB8AC3E}">
        <p14:creationId xmlns:p14="http://schemas.microsoft.com/office/powerpoint/2010/main" val="37289717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DF091-8855-4B7F-1EC6-15D2C5451C27}"/>
              </a:ext>
            </a:extLst>
          </p:cNvPr>
          <p:cNvSpPr>
            <a:spLocks noGrp="1"/>
          </p:cNvSpPr>
          <p:nvPr>
            <p:ph type="title"/>
          </p:nvPr>
        </p:nvSpPr>
        <p:spPr>
          <a:xfrm>
            <a:off x="141514" y="0"/>
            <a:ext cx="10515600" cy="690789"/>
          </a:xfrm>
        </p:spPr>
        <p:txBody>
          <a:bodyPr>
            <a:normAutofit/>
          </a:bodyPr>
          <a:lstStyle/>
          <a:p>
            <a:r>
              <a:rPr lang="en-US" sz="4000" b="1" dirty="0">
                <a:solidFill>
                  <a:srgbClr val="002060"/>
                </a:solidFill>
                <a:latin typeface="Times New Roman" panose="02020603050405020304" pitchFamily="18" charset="0"/>
                <a:cs typeface="Times New Roman" panose="02020603050405020304" pitchFamily="18" charset="0"/>
              </a:rPr>
              <a:t>2.1 Semester work</a:t>
            </a:r>
          </a:p>
        </p:txBody>
      </p:sp>
      <p:sp>
        <p:nvSpPr>
          <p:cNvPr id="6" name="Rectangle: Rounded Corners 5">
            <a:extLst>
              <a:ext uri="{FF2B5EF4-FFF2-40B4-BE49-F238E27FC236}">
                <a16:creationId xmlns:a16="http://schemas.microsoft.com/office/drawing/2014/main" id="{B6DD2FDF-6C73-4B6D-0458-912C329A7950}"/>
              </a:ext>
            </a:extLst>
          </p:cNvPr>
          <p:cNvSpPr/>
          <p:nvPr/>
        </p:nvSpPr>
        <p:spPr>
          <a:xfrm>
            <a:off x="141514" y="624205"/>
            <a:ext cx="12518572" cy="816429"/>
          </a:xfrm>
          <a:prstGeom prst="roundRect">
            <a:avLst>
              <a:gd name="adj" fmla="val 6358"/>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002060"/>
                </a:solidFill>
                <a:latin typeface="Times New Roman" panose="02020603050405020304" pitchFamily="18" charset="0"/>
                <a:cs typeface="Times New Roman" panose="02020603050405020304" pitchFamily="18" charset="0"/>
              </a:rPr>
              <a:t>Project Title</a:t>
            </a:r>
          </a:p>
          <a:p>
            <a:pPr algn="ctr"/>
            <a:r>
              <a:rPr lang="en-US" sz="3200" b="1" dirty="0">
                <a:solidFill>
                  <a:srgbClr val="C00000"/>
                </a:solidFill>
                <a:latin typeface="Times New Roman" panose="02020603050405020304" pitchFamily="18" charset="0"/>
                <a:cs typeface="Times New Roman" panose="02020603050405020304" pitchFamily="18" charset="0"/>
              </a:rPr>
              <a:t>Design of IOT Architecture for Battery Charging Management System</a:t>
            </a:r>
          </a:p>
        </p:txBody>
      </p:sp>
      <p:sp>
        <p:nvSpPr>
          <p:cNvPr id="8" name="Rectangle: Rounded Corners 7">
            <a:extLst>
              <a:ext uri="{FF2B5EF4-FFF2-40B4-BE49-F238E27FC236}">
                <a16:creationId xmlns:a16="http://schemas.microsoft.com/office/drawing/2014/main" id="{B3D6E9A8-DCFB-A4B6-4F72-A0DB71A9B9C8}"/>
              </a:ext>
            </a:extLst>
          </p:cNvPr>
          <p:cNvSpPr/>
          <p:nvPr/>
        </p:nvSpPr>
        <p:spPr>
          <a:xfrm>
            <a:off x="141514" y="1544865"/>
            <a:ext cx="3309257" cy="2308678"/>
          </a:xfrm>
          <a:prstGeom prst="roundRect">
            <a:avLst>
              <a:gd name="adj" fmla="val 1401"/>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FF0000"/>
                </a:solidFill>
                <a:latin typeface="Times New Roman" panose="02020603050405020304" pitchFamily="18" charset="0"/>
                <a:cs typeface="Times New Roman" panose="02020603050405020304" pitchFamily="18" charset="0"/>
              </a:rPr>
              <a:t>Problem Statement</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Increasing of EV Charging Infra</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Power Grid Instability</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Real Time Monitoring</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Load Management </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Data Monitoring	</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High operational cost</a:t>
            </a:r>
          </a:p>
          <a:p>
            <a:pPr marL="285750" indent="-285750">
              <a:buFont typeface="Arial" panose="020B0604020202020204" pitchFamily="34" charset="0"/>
              <a:buChar char="•"/>
            </a:pPr>
            <a:endParaRPr lang="en-US" sz="1400" b="1" dirty="0">
              <a:solidFill>
                <a:srgbClr val="00206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b="1" dirty="0">
              <a:solidFill>
                <a:srgbClr val="00206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b="1" dirty="0">
              <a:solidFill>
                <a:srgbClr val="002060"/>
              </a:solidFill>
              <a:latin typeface="Times New Roman" panose="02020603050405020304" pitchFamily="18" charset="0"/>
              <a:cs typeface="Times New Roman" panose="02020603050405020304" pitchFamily="18" charset="0"/>
            </a:endParaRPr>
          </a:p>
        </p:txBody>
      </p:sp>
      <p:pic>
        <p:nvPicPr>
          <p:cNvPr id="3078" name="Picture 6" descr="decommissioning coal-fired power plants ...">
            <a:extLst>
              <a:ext uri="{FF2B5EF4-FFF2-40B4-BE49-F238E27FC236}">
                <a16:creationId xmlns:a16="http://schemas.microsoft.com/office/drawing/2014/main" id="{735C5DA0-6D87-DA51-0A69-DBA0AFFE1A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028" y="3194482"/>
            <a:ext cx="1149993" cy="529205"/>
          </a:xfrm>
          <a:prstGeom prst="rect">
            <a:avLst/>
          </a:prstGeom>
          <a:solidFill>
            <a:schemeClr val="accent4">
              <a:lumMod val="20000"/>
              <a:lumOff val="80000"/>
            </a:schemeClr>
          </a:solidFill>
        </p:spPr>
      </p:pic>
      <p:cxnSp>
        <p:nvCxnSpPr>
          <p:cNvPr id="10" name="Straight Arrow Connector 9">
            <a:extLst>
              <a:ext uri="{FF2B5EF4-FFF2-40B4-BE49-F238E27FC236}">
                <a16:creationId xmlns:a16="http://schemas.microsoft.com/office/drawing/2014/main" id="{2DBEBE13-1E84-062E-39E9-75D2AC1C29BF}"/>
              </a:ext>
            </a:extLst>
          </p:cNvPr>
          <p:cNvCxnSpPr>
            <a:cxnSpLocks/>
          </p:cNvCxnSpPr>
          <p:nvPr/>
        </p:nvCxnSpPr>
        <p:spPr>
          <a:xfrm>
            <a:off x="1433021" y="3459084"/>
            <a:ext cx="575388"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D09A1133-6184-2A3D-5632-B682CE10A917}"/>
              </a:ext>
            </a:extLst>
          </p:cNvPr>
          <p:cNvSpPr/>
          <p:nvPr/>
        </p:nvSpPr>
        <p:spPr>
          <a:xfrm>
            <a:off x="4301802" y="1708151"/>
            <a:ext cx="3309258" cy="1982106"/>
          </a:xfrm>
          <a:prstGeom prst="roundRect">
            <a:avLst>
              <a:gd name="adj" fmla="val 1401"/>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FF0000"/>
                </a:solidFill>
                <a:latin typeface="Times New Roman" panose="02020603050405020304" pitchFamily="18" charset="0"/>
                <a:cs typeface="Times New Roman" panose="02020603050405020304" pitchFamily="18" charset="0"/>
              </a:rPr>
              <a:t>Literature survey</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4 – EV Charging Startup companies</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EV Charging Stations</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Energy Storage Systems </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Battery Swapping Stations</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IOT Integration</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Sensing and Monitoring</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Machine Learning Approach</a:t>
            </a:r>
          </a:p>
          <a:p>
            <a:endParaRPr lang="en-US" sz="1400" b="1" dirty="0">
              <a:solidFill>
                <a:srgbClr val="002060"/>
              </a:solidFill>
              <a:latin typeface="Times New Roman" panose="02020603050405020304" pitchFamily="18" charset="0"/>
              <a:cs typeface="Times New Roman" panose="02020603050405020304" pitchFamily="18" charset="0"/>
            </a:endParaRPr>
          </a:p>
        </p:txBody>
      </p:sp>
      <p:sp>
        <p:nvSpPr>
          <p:cNvPr id="46" name="Rectangle: Rounded Corners 45">
            <a:extLst>
              <a:ext uri="{FF2B5EF4-FFF2-40B4-BE49-F238E27FC236}">
                <a16:creationId xmlns:a16="http://schemas.microsoft.com/office/drawing/2014/main" id="{E96A3CBE-7312-DE41-A546-C83BC58F1C73}"/>
              </a:ext>
            </a:extLst>
          </p:cNvPr>
          <p:cNvSpPr/>
          <p:nvPr/>
        </p:nvSpPr>
        <p:spPr>
          <a:xfrm>
            <a:off x="8462091" y="1741581"/>
            <a:ext cx="3893196" cy="1717503"/>
          </a:xfrm>
          <a:prstGeom prst="roundRect">
            <a:avLst>
              <a:gd name="adj" fmla="val 1401"/>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FF0000"/>
                </a:solidFill>
                <a:latin typeface="Times New Roman" panose="02020603050405020304" pitchFamily="18" charset="0"/>
                <a:cs typeface="Times New Roman" panose="02020603050405020304" pitchFamily="18" charset="0"/>
              </a:rPr>
              <a:t>Research gap / Market Requirements </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IoT Connectivity</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Real Time Monitoring</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Power Load Management </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Grid Stability</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Integration &amp; Automation </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Cloud Data Storage</a:t>
            </a:r>
          </a:p>
        </p:txBody>
      </p:sp>
      <p:sp>
        <p:nvSpPr>
          <p:cNvPr id="50" name="Rectangle: Rounded Corners 49">
            <a:extLst>
              <a:ext uri="{FF2B5EF4-FFF2-40B4-BE49-F238E27FC236}">
                <a16:creationId xmlns:a16="http://schemas.microsoft.com/office/drawing/2014/main" id="{5A6CF87D-45A7-971E-F57B-648D380ECA78}"/>
              </a:ext>
            </a:extLst>
          </p:cNvPr>
          <p:cNvSpPr/>
          <p:nvPr/>
        </p:nvSpPr>
        <p:spPr>
          <a:xfrm>
            <a:off x="212269" y="4276365"/>
            <a:ext cx="5116287" cy="2133733"/>
          </a:xfrm>
          <a:prstGeom prst="roundRect">
            <a:avLst>
              <a:gd name="adj" fmla="val 1401"/>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FF0000"/>
                </a:solidFill>
                <a:latin typeface="Times New Roman" panose="02020603050405020304" pitchFamily="18" charset="0"/>
                <a:cs typeface="Times New Roman" panose="02020603050405020304" pitchFamily="18" charset="0"/>
              </a:rPr>
              <a:t>Proposed Methodology</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IOT Architecture for Battery charging management</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PCC integration and Automation</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Algorithms</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Designed Proposed Simulation Model in MATAB Simulation</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Integrated PCC –Fully Automated &amp; Logically connected</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Swapping Station and DC Fast Charging</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Central Monitoring Station</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Estimated Calculated Spread sheet of Cost and Energy</a:t>
            </a:r>
          </a:p>
        </p:txBody>
      </p:sp>
      <p:pic>
        <p:nvPicPr>
          <p:cNvPr id="51" name="Picture 2" descr="A EV Charging Station  66KV with grid and Load with 30nos EV Swapping Station and 4 Fast charging Station with vehicles. Image 3 of 4">
            <a:extLst>
              <a:ext uri="{FF2B5EF4-FFF2-40B4-BE49-F238E27FC236}">
                <a16:creationId xmlns:a16="http://schemas.microsoft.com/office/drawing/2014/main" id="{0A28BDD2-2615-7243-6841-D8D6E93F40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9295" y="3168507"/>
            <a:ext cx="1149993" cy="581154"/>
          </a:xfrm>
          <a:prstGeom prst="rect">
            <a:avLst/>
          </a:prstGeom>
          <a:noFill/>
          <a:extLst>
            <a:ext uri="{909E8E84-426E-40DD-AFC4-6F175D3DCCD1}">
              <a14:hiddenFill xmlns:a14="http://schemas.microsoft.com/office/drawing/2010/main">
                <a:solidFill>
                  <a:srgbClr val="FFFFFF"/>
                </a:solidFill>
              </a14:hiddenFill>
            </a:ext>
          </a:extLst>
        </p:spPr>
      </p:pic>
      <p:sp>
        <p:nvSpPr>
          <p:cNvPr id="52" name="Rectangle: Rounded Corners 51">
            <a:extLst>
              <a:ext uri="{FF2B5EF4-FFF2-40B4-BE49-F238E27FC236}">
                <a16:creationId xmlns:a16="http://schemas.microsoft.com/office/drawing/2014/main" id="{8B84F215-9D3C-AF9C-C028-8293AE7F787F}"/>
              </a:ext>
            </a:extLst>
          </p:cNvPr>
          <p:cNvSpPr/>
          <p:nvPr/>
        </p:nvSpPr>
        <p:spPr>
          <a:xfrm>
            <a:off x="6177246" y="4318608"/>
            <a:ext cx="3113316" cy="1836340"/>
          </a:xfrm>
          <a:prstGeom prst="roundRect">
            <a:avLst>
              <a:gd name="adj" fmla="val 1401"/>
            </a:avLst>
          </a:prstGeom>
          <a:solidFill>
            <a:srgbClr val="EBDBD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FF0000"/>
                </a:solidFill>
                <a:latin typeface="Times New Roman" panose="02020603050405020304" pitchFamily="18" charset="0"/>
                <a:cs typeface="Times New Roman" panose="02020603050405020304" pitchFamily="18" charset="0"/>
              </a:rPr>
              <a:t>Core work</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Integration of 3 Power Sources</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Automation on sources availability</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30 no’s of EV Swapping Station </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4 units of DC Charging station</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Remote monitoring with Node-red</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AWS Cloud Integration</a:t>
            </a:r>
          </a:p>
        </p:txBody>
      </p:sp>
      <p:sp>
        <p:nvSpPr>
          <p:cNvPr id="53" name="Rectangle: Rounded Corners 52">
            <a:extLst>
              <a:ext uri="{FF2B5EF4-FFF2-40B4-BE49-F238E27FC236}">
                <a16:creationId xmlns:a16="http://schemas.microsoft.com/office/drawing/2014/main" id="{AC9B9F16-B9D2-3E5C-9C86-620682B55BA2}"/>
              </a:ext>
            </a:extLst>
          </p:cNvPr>
          <p:cNvSpPr/>
          <p:nvPr/>
        </p:nvSpPr>
        <p:spPr>
          <a:xfrm>
            <a:off x="6276191" y="6616403"/>
            <a:ext cx="2915427" cy="927780"/>
          </a:xfrm>
          <a:prstGeom prst="roundRect">
            <a:avLst>
              <a:gd name="adj" fmla="val 1401"/>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FF0000"/>
                </a:solidFill>
                <a:latin typeface="Times New Roman" panose="02020603050405020304" pitchFamily="18" charset="0"/>
                <a:cs typeface="Times New Roman" panose="02020603050405020304" pitchFamily="18" charset="0"/>
              </a:rPr>
              <a:t>Outcomes</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Energy Saving – 88.6%</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Cost Saving – 88.5%</a:t>
            </a:r>
          </a:p>
        </p:txBody>
      </p:sp>
      <p:sp>
        <p:nvSpPr>
          <p:cNvPr id="54" name="Rectangle 53">
            <a:extLst>
              <a:ext uri="{FF2B5EF4-FFF2-40B4-BE49-F238E27FC236}">
                <a16:creationId xmlns:a16="http://schemas.microsoft.com/office/drawing/2014/main" id="{7589D526-0A69-5C8C-4C40-4368776EF62E}"/>
              </a:ext>
            </a:extLst>
          </p:cNvPr>
          <p:cNvSpPr/>
          <p:nvPr/>
        </p:nvSpPr>
        <p:spPr>
          <a:xfrm>
            <a:off x="10265229" y="5532015"/>
            <a:ext cx="18288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  -------------</a:t>
            </a:r>
          </a:p>
        </p:txBody>
      </p:sp>
      <p:sp>
        <p:nvSpPr>
          <p:cNvPr id="55" name="Rectangle 54">
            <a:extLst>
              <a:ext uri="{FF2B5EF4-FFF2-40B4-BE49-F238E27FC236}">
                <a16:creationId xmlns:a16="http://schemas.microsoft.com/office/drawing/2014/main" id="{2035B7FE-310B-1BEF-653B-B7E1B442B494}"/>
              </a:ext>
            </a:extLst>
          </p:cNvPr>
          <p:cNvSpPr/>
          <p:nvPr/>
        </p:nvSpPr>
        <p:spPr>
          <a:xfrm>
            <a:off x="10278061" y="6007413"/>
            <a:ext cx="1828800" cy="4889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err="1"/>
              <a:t>Anveshan</a:t>
            </a:r>
            <a:r>
              <a:rPr lang="en-US" dirty="0"/>
              <a:t> – Zonal Level</a:t>
            </a:r>
          </a:p>
        </p:txBody>
      </p:sp>
      <p:sp>
        <p:nvSpPr>
          <p:cNvPr id="56" name="Rectangle 55">
            <a:extLst>
              <a:ext uri="{FF2B5EF4-FFF2-40B4-BE49-F238E27FC236}">
                <a16:creationId xmlns:a16="http://schemas.microsoft.com/office/drawing/2014/main" id="{EBA4500D-F600-1E9D-7FAC-792E0603F6B8}"/>
              </a:ext>
            </a:extLst>
          </p:cNvPr>
          <p:cNvSpPr/>
          <p:nvPr/>
        </p:nvSpPr>
        <p:spPr>
          <a:xfrm>
            <a:off x="10278061" y="6628876"/>
            <a:ext cx="18288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Research Paper</a:t>
            </a:r>
          </a:p>
        </p:txBody>
      </p:sp>
      <p:sp>
        <p:nvSpPr>
          <p:cNvPr id="57" name="Rectangle 56">
            <a:extLst>
              <a:ext uri="{FF2B5EF4-FFF2-40B4-BE49-F238E27FC236}">
                <a16:creationId xmlns:a16="http://schemas.microsoft.com/office/drawing/2014/main" id="{F123EB27-E098-6776-E8A7-212921A7EA34}"/>
              </a:ext>
            </a:extLst>
          </p:cNvPr>
          <p:cNvSpPr/>
          <p:nvPr/>
        </p:nvSpPr>
        <p:spPr>
          <a:xfrm>
            <a:off x="10278061" y="7090238"/>
            <a:ext cx="1917832" cy="6144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H/W_ Prototype Implementation</a:t>
            </a:r>
          </a:p>
        </p:txBody>
      </p:sp>
      <p:sp>
        <p:nvSpPr>
          <p:cNvPr id="60" name="Rectangle 59">
            <a:extLst>
              <a:ext uri="{FF2B5EF4-FFF2-40B4-BE49-F238E27FC236}">
                <a16:creationId xmlns:a16="http://schemas.microsoft.com/office/drawing/2014/main" id="{766D8238-615A-A8BA-0F8A-3BC64AD3117D}"/>
              </a:ext>
            </a:extLst>
          </p:cNvPr>
          <p:cNvSpPr/>
          <p:nvPr/>
        </p:nvSpPr>
        <p:spPr>
          <a:xfrm>
            <a:off x="10042649" y="5343231"/>
            <a:ext cx="2416628" cy="252548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Arrow: Right 60">
            <a:extLst>
              <a:ext uri="{FF2B5EF4-FFF2-40B4-BE49-F238E27FC236}">
                <a16:creationId xmlns:a16="http://schemas.microsoft.com/office/drawing/2014/main" id="{4923337E-BC5F-1B42-1382-DE262A739CED}"/>
              </a:ext>
            </a:extLst>
          </p:cNvPr>
          <p:cNvSpPr/>
          <p:nvPr/>
        </p:nvSpPr>
        <p:spPr>
          <a:xfrm>
            <a:off x="3450771" y="2579914"/>
            <a:ext cx="851031" cy="250372"/>
          </a:xfrm>
          <a:prstGeom prst="rightArrow">
            <a:avLst/>
          </a:prstGeom>
          <a:solidFill>
            <a:schemeClr val="accent3">
              <a:lumMod val="75000"/>
            </a:schemeClr>
          </a:solidFill>
          <a:ln w="127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Arrow: Right 61">
            <a:extLst>
              <a:ext uri="{FF2B5EF4-FFF2-40B4-BE49-F238E27FC236}">
                <a16:creationId xmlns:a16="http://schemas.microsoft.com/office/drawing/2014/main" id="{7B59FEAB-1F24-7437-F110-93D6369FE5B1}"/>
              </a:ext>
            </a:extLst>
          </p:cNvPr>
          <p:cNvSpPr/>
          <p:nvPr/>
        </p:nvSpPr>
        <p:spPr>
          <a:xfrm>
            <a:off x="7611060" y="2567675"/>
            <a:ext cx="851031" cy="250372"/>
          </a:xfrm>
          <a:prstGeom prst="rightArrow">
            <a:avLst/>
          </a:prstGeom>
          <a:solidFill>
            <a:schemeClr val="accent3">
              <a:lumMod val="7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72" name="Connector: Elbow 3071">
            <a:extLst>
              <a:ext uri="{FF2B5EF4-FFF2-40B4-BE49-F238E27FC236}">
                <a16:creationId xmlns:a16="http://schemas.microsoft.com/office/drawing/2014/main" id="{8C9509F6-E9B9-75CF-E2BA-778CA9AB40AC}"/>
              </a:ext>
            </a:extLst>
          </p:cNvPr>
          <p:cNvCxnSpPr>
            <a:cxnSpLocks/>
          </p:cNvCxnSpPr>
          <p:nvPr/>
        </p:nvCxnSpPr>
        <p:spPr>
          <a:xfrm rot="5400000">
            <a:off x="6189276" y="54691"/>
            <a:ext cx="659061" cy="7709031"/>
          </a:xfrm>
          <a:prstGeom prst="bentConnector3">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3080" name="Arrow: Right 3079">
            <a:extLst>
              <a:ext uri="{FF2B5EF4-FFF2-40B4-BE49-F238E27FC236}">
                <a16:creationId xmlns:a16="http://schemas.microsoft.com/office/drawing/2014/main" id="{AB5D6697-C3EC-66DF-6A00-3C19D90E0EC8}"/>
              </a:ext>
            </a:extLst>
          </p:cNvPr>
          <p:cNvSpPr/>
          <p:nvPr/>
        </p:nvSpPr>
        <p:spPr>
          <a:xfrm>
            <a:off x="5334668" y="5197928"/>
            <a:ext cx="851031" cy="250372"/>
          </a:xfrm>
          <a:prstGeom prst="rightArrow">
            <a:avLst/>
          </a:prstGeom>
          <a:solidFill>
            <a:schemeClr val="accent3">
              <a:lumMod val="75000"/>
            </a:schemeClr>
          </a:solidFill>
          <a:ln w="127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Arrow: Right 3080">
            <a:extLst>
              <a:ext uri="{FF2B5EF4-FFF2-40B4-BE49-F238E27FC236}">
                <a16:creationId xmlns:a16="http://schemas.microsoft.com/office/drawing/2014/main" id="{5A384720-164A-A339-EF95-B0D9DCD99EA5}"/>
              </a:ext>
            </a:extLst>
          </p:cNvPr>
          <p:cNvSpPr/>
          <p:nvPr/>
        </p:nvSpPr>
        <p:spPr>
          <a:xfrm rot="5400000">
            <a:off x="7485582" y="6288762"/>
            <a:ext cx="453120" cy="202166"/>
          </a:xfrm>
          <a:prstGeom prst="rightArrow">
            <a:avLst/>
          </a:prstGeom>
          <a:solidFill>
            <a:schemeClr val="accent3">
              <a:lumMod val="75000"/>
            </a:schemeClr>
          </a:solidFill>
          <a:ln w="127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2" name="Arrow: Right 3081">
            <a:extLst>
              <a:ext uri="{FF2B5EF4-FFF2-40B4-BE49-F238E27FC236}">
                <a16:creationId xmlns:a16="http://schemas.microsoft.com/office/drawing/2014/main" id="{26D721FC-254C-837D-BB6E-B360DCA76179}"/>
              </a:ext>
            </a:extLst>
          </p:cNvPr>
          <p:cNvSpPr/>
          <p:nvPr/>
        </p:nvSpPr>
        <p:spPr>
          <a:xfrm>
            <a:off x="9191618" y="6808490"/>
            <a:ext cx="851031" cy="250372"/>
          </a:xfrm>
          <a:prstGeom prst="rightArrow">
            <a:avLst/>
          </a:prstGeom>
          <a:solidFill>
            <a:schemeClr val="accent3">
              <a:lumMod val="75000"/>
            </a:schemeClr>
          </a:solidFill>
          <a:ln w="127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8456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CE63E-D5BE-542F-31CD-2E02A02D06B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D8959E4-A0D1-0BD0-41C8-9DC5A4C58CD4}"/>
              </a:ext>
            </a:extLst>
          </p:cNvPr>
          <p:cNvSpPr txBox="1">
            <a:spLocks/>
          </p:cNvSpPr>
          <p:nvPr/>
        </p:nvSpPr>
        <p:spPr>
          <a:xfrm>
            <a:off x="148590" y="-98233"/>
            <a:ext cx="3460242" cy="685943"/>
          </a:xfrm>
          <a:prstGeom prst="rect">
            <a:avLst/>
          </a:prstGeom>
        </p:spPr>
        <p:txBody>
          <a:bodyPr vert="horz" lIns="91440" tIns="45720" rIns="91440" bIns="45720" rtlCol="0" anchor="ctr">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3200" b="1" dirty="0">
                <a:solidFill>
                  <a:srgbClr val="002060"/>
                </a:solidFill>
                <a:latin typeface="Times New Roman" panose="02020603050405020304" pitchFamily="18" charset="0"/>
                <a:cs typeface="Times New Roman" panose="02020603050405020304" pitchFamily="18" charset="0"/>
              </a:rPr>
              <a:t>Literature Review</a:t>
            </a:r>
          </a:p>
        </p:txBody>
      </p:sp>
      <p:sp>
        <p:nvSpPr>
          <p:cNvPr id="5" name="Title 1">
            <a:extLst>
              <a:ext uri="{FF2B5EF4-FFF2-40B4-BE49-F238E27FC236}">
                <a16:creationId xmlns:a16="http://schemas.microsoft.com/office/drawing/2014/main" id="{740E2379-1D2B-049B-FB8E-C78D5195862E}"/>
              </a:ext>
            </a:extLst>
          </p:cNvPr>
          <p:cNvSpPr txBox="1">
            <a:spLocks/>
          </p:cNvSpPr>
          <p:nvPr/>
        </p:nvSpPr>
        <p:spPr>
          <a:xfrm>
            <a:off x="9483090" y="13483"/>
            <a:ext cx="3169920" cy="685943"/>
          </a:xfrm>
          <a:prstGeom prst="rect">
            <a:avLst/>
          </a:prstGeom>
        </p:spPr>
        <p:txBody>
          <a:bodyPr vert="horz" lIns="91440" tIns="45720" rIns="91440" bIns="45720" rtlCol="0" anchor="ctr">
            <a:normAutofit fontScale="85000" lnSpcReduction="10000"/>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3200" b="1" dirty="0">
                <a:solidFill>
                  <a:srgbClr val="00B050"/>
                </a:solidFill>
                <a:latin typeface="Times New Roman" panose="02020603050405020304" pitchFamily="18" charset="0"/>
                <a:cs typeface="Times New Roman" panose="02020603050405020304" pitchFamily="18" charset="0"/>
              </a:rPr>
              <a:t>Industry Study case</a:t>
            </a:r>
          </a:p>
        </p:txBody>
      </p:sp>
      <p:sp>
        <p:nvSpPr>
          <p:cNvPr id="3" name="TextBox 2">
            <a:extLst>
              <a:ext uri="{FF2B5EF4-FFF2-40B4-BE49-F238E27FC236}">
                <a16:creationId xmlns:a16="http://schemas.microsoft.com/office/drawing/2014/main" id="{7B42BA9A-12D8-DB60-3194-1D210FB38669}"/>
              </a:ext>
            </a:extLst>
          </p:cNvPr>
          <p:cNvSpPr txBox="1"/>
          <p:nvPr/>
        </p:nvSpPr>
        <p:spPr>
          <a:xfrm>
            <a:off x="2350008" y="475993"/>
            <a:ext cx="10451592" cy="7109639"/>
          </a:xfrm>
          <a:prstGeom prst="rect">
            <a:avLst/>
          </a:prstGeom>
          <a:noFill/>
        </p:spPr>
        <p:txBody>
          <a:bodyPr wrap="square">
            <a:spAutoFit/>
          </a:bodyPr>
          <a:lstStyle/>
          <a:p>
            <a:pPr>
              <a:lnSpc>
                <a:spcPct val="100000"/>
              </a:lnSpc>
            </a:pPr>
            <a:r>
              <a:rPr lang="en-US" sz="2400" b="1" dirty="0" err="1">
                <a:solidFill>
                  <a:srgbClr val="C00000"/>
                </a:solidFill>
                <a:latin typeface="var(--font-fk-grotesk)"/>
              </a:rPr>
              <a:t>Akkodis</a:t>
            </a:r>
            <a:endParaRPr lang="en-US" sz="2400" b="1" dirty="0">
              <a:solidFill>
                <a:srgbClr val="C00000"/>
              </a:solidFill>
              <a:latin typeface="var(--font-fk-grotesk)"/>
            </a:endParaRPr>
          </a:p>
          <a:p>
            <a:pPr algn="l">
              <a:buFont typeface="+mj-lt"/>
              <a:buAutoNum type="arabicPeriod"/>
            </a:pPr>
            <a:r>
              <a:rPr lang="en-US" sz="2400" b="0" i="0" dirty="0">
                <a:effectLst/>
                <a:latin typeface="__fkGroteskNeue_598ab8"/>
              </a:rPr>
              <a:t>AI-based battery diagnosis</a:t>
            </a:r>
          </a:p>
          <a:p>
            <a:pPr algn="l">
              <a:buFont typeface="+mj-lt"/>
              <a:buAutoNum type="arabicPeriod"/>
            </a:pPr>
            <a:r>
              <a:rPr lang="en-US" sz="2400" b="0" i="0" dirty="0">
                <a:effectLst/>
                <a:latin typeface="__fkGroteskNeue_598ab8"/>
              </a:rPr>
              <a:t>Modular, interchangeable batteries with cloud-based BMS</a:t>
            </a:r>
          </a:p>
          <a:p>
            <a:pPr algn="l">
              <a:buFont typeface="+mj-lt"/>
              <a:buAutoNum type="arabicPeriod"/>
            </a:pPr>
            <a:r>
              <a:rPr lang="en-US" sz="2400" b="0" i="0" dirty="0">
                <a:effectLst/>
                <a:latin typeface="__fkGroteskNeue_598ab8"/>
              </a:rPr>
              <a:t>Predictive analytics for optimal charging and utilization</a:t>
            </a:r>
          </a:p>
          <a:p>
            <a:pPr algn="l">
              <a:buFont typeface="+mj-lt"/>
              <a:buAutoNum type="arabicPeriod"/>
            </a:pPr>
            <a:endParaRPr lang="en-US" sz="2400" b="0" i="0" dirty="0">
              <a:effectLst/>
              <a:latin typeface="__fkGroteskNeue_598ab8"/>
            </a:endParaRPr>
          </a:p>
          <a:p>
            <a:pPr>
              <a:lnSpc>
                <a:spcPct val="100000"/>
              </a:lnSpc>
            </a:pPr>
            <a:r>
              <a:rPr lang="en-US" sz="2400" b="1" dirty="0" err="1">
                <a:solidFill>
                  <a:srgbClr val="C00000"/>
                </a:solidFill>
                <a:latin typeface="var(--font-fk-grotesk)"/>
              </a:rPr>
              <a:t>Elmelin</a:t>
            </a:r>
            <a:endParaRPr lang="en-US" sz="2400" b="1" dirty="0">
              <a:solidFill>
                <a:srgbClr val="C00000"/>
              </a:solidFill>
              <a:latin typeface="var(--font-fk-grotesk)"/>
            </a:endParaRPr>
          </a:p>
          <a:p>
            <a:pPr algn="l">
              <a:buFont typeface="+mj-lt"/>
              <a:buAutoNum type="arabicPeriod"/>
            </a:pPr>
            <a:r>
              <a:rPr lang="en-US" sz="2400" b="0" i="0" dirty="0">
                <a:effectLst/>
                <a:latin typeface="__fkGroteskNeue_598ab8"/>
              </a:rPr>
              <a:t>IoT-enabled thermal management</a:t>
            </a:r>
          </a:p>
          <a:p>
            <a:pPr algn="l">
              <a:buFont typeface="+mj-lt"/>
              <a:buAutoNum type="arabicPeriod"/>
            </a:pPr>
            <a:r>
              <a:rPr lang="en-US" sz="2400" b="0" i="0" dirty="0">
                <a:effectLst/>
                <a:latin typeface="__fkGroteskNeue_598ab8"/>
              </a:rPr>
              <a:t>Real-time data analysis for proactive maintenance</a:t>
            </a:r>
          </a:p>
          <a:p>
            <a:pPr algn="l">
              <a:buFont typeface="+mj-lt"/>
              <a:buAutoNum type="arabicPeriod"/>
            </a:pPr>
            <a:r>
              <a:rPr lang="en-US" sz="2400" b="0" i="0" dirty="0">
                <a:effectLst/>
                <a:latin typeface="__fkGroteskNeue_598ab8"/>
              </a:rPr>
              <a:t>Integration with smart grids for bidirectional energy flow</a:t>
            </a:r>
          </a:p>
          <a:p>
            <a:pPr algn="l">
              <a:buFont typeface="+mj-lt"/>
              <a:buAutoNum type="arabicPeriod"/>
            </a:pPr>
            <a:endParaRPr lang="en-US" sz="2400" dirty="0">
              <a:latin typeface="__fkGroteskNeue_598ab8"/>
            </a:endParaRPr>
          </a:p>
          <a:p>
            <a:pPr algn="l"/>
            <a:r>
              <a:rPr lang="en-US" sz="2400" b="1" i="0" dirty="0" err="1">
                <a:solidFill>
                  <a:srgbClr val="C00000"/>
                </a:solidFill>
                <a:effectLst/>
                <a:latin typeface="var(--font-fk-grotesk)"/>
              </a:rPr>
              <a:t>Zypp</a:t>
            </a:r>
            <a:r>
              <a:rPr lang="en-US" sz="2400" b="1" i="0" dirty="0">
                <a:solidFill>
                  <a:srgbClr val="C00000"/>
                </a:solidFill>
                <a:effectLst/>
                <a:latin typeface="var(--font-fk-grotesk)"/>
              </a:rPr>
              <a:t> Electric</a:t>
            </a:r>
          </a:p>
          <a:p>
            <a:pPr algn="l">
              <a:buFont typeface="+mj-lt"/>
              <a:buAutoNum type="arabicPeriod"/>
            </a:pPr>
            <a:r>
              <a:rPr lang="en-US" sz="2400" b="0" i="0" dirty="0">
                <a:effectLst/>
                <a:latin typeface="__fkGroteskNeue_598ab8"/>
              </a:rPr>
              <a:t>Fleet management and charging infrastructure</a:t>
            </a:r>
          </a:p>
          <a:p>
            <a:pPr algn="l">
              <a:buFont typeface="+mj-lt"/>
              <a:buAutoNum type="arabicPeriod"/>
            </a:pPr>
            <a:r>
              <a:rPr lang="en-US" sz="2400" b="0" i="0" dirty="0">
                <a:effectLst/>
                <a:latin typeface="__fkGroteskNeue_598ab8"/>
              </a:rPr>
              <a:t>Sustainable charging with renewable energy integration</a:t>
            </a:r>
          </a:p>
          <a:p>
            <a:pPr algn="l">
              <a:buFont typeface="+mj-lt"/>
              <a:buAutoNum type="arabicPeriod"/>
            </a:pPr>
            <a:r>
              <a:rPr lang="en-US" sz="2400" b="0" i="0" dirty="0">
                <a:effectLst/>
                <a:latin typeface="__fkGroteskNeue_598ab8"/>
              </a:rPr>
              <a:t>User-friendly mobile apps for charging access and battery health</a:t>
            </a:r>
          </a:p>
          <a:p>
            <a:pPr algn="l">
              <a:buFont typeface="+mj-lt"/>
              <a:buAutoNum type="arabicPeriod"/>
            </a:pPr>
            <a:endParaRPr lang="en-US" sz="2400" b="0" i="0" dirty="0">
              <a:effectLst/>
              <a:latin typeface="__fkGroteskNeue_598ab8"/>
            </a:endParaRPr>
          </a:p>
          <a:p>
            <a:pPr>
              <a:lnSpc>
                <a:spcPct val="100000"/>
              </a:lnSpc>
            </a:pPr>
            <a:r>
              <a:rPr lang="en-US" sz="2400" b="1" dirty="0">
                <a:solidFill>
                  <a:srgbClr val="C00000"/>
                </a:solidFill>
                <a:latin typeface="var(--font-fk-grotesk)"/>
              </a:rPr>
              <a:t>E Drift</a:t>
            </a:r>
          </a:p>
          <a:p>
            <a:pPr algn="l">
              <a:buFont typeface="+mj-lt"/>
              <a:buAutoNum type="arabicPeriod"/>
            </a:pPr>
            <a:r>
              <a:rPr lang="en-US" sz="2400" b="0" i="0" dirty="0">
                <a:effectLst/>
                <a:latin typeface="__fkGroteskNeue_598ab8"/>
              </a:rPr>
              <a:t>Smart charging stations with IoT-based monitoring</a:t>
            </a:r>
          </a:p>
          <a:p>
            <a:pPr algn="l">
              <a:buFont typeface="+mj-lt"/>
              <a:buAutoNum type="arabicPeriod"/>
            </a:pPr>
            <a:r>
              <a:rPr lang="en-US" sz="2400" b="0" i="0" dirty="0">
                <a:effectLst/>
                <a:latin typeface="__fkGroteskNeue_598ab8"/>
              </a:rPr>
              <a:t>Data analytics for battery performance assessment and maintenance prediction</a:t>
            </a:r>
          </a:p>
          <a:p>
            <a:pPr algn="l">
              <a:buFont typeface="+mj-lt"/>
              <a:buAutoNum type="arabicPeriod"/>
            </a:pPr>
            <a:r>
              <a:rPr lang="en-US" sz="2400" b="0" i="0" dirty="0">
                <a:effectLst/>
                <a:latin typeface="__fkGroteskNeue_598ab8"/>
              </a:rPr>
              <a:t>Integration with mobility services for seamless user experiences</a:t>
            </a:r>
          </a:p>
        </p:txBody>
      </p:sp>
      <p:pic>
        <p:nvPicPr>
          <p:cNvPr id="6" name="Picture 2" descr="ER&amp;D and Digital Engineering Services">
            <a:extLst>
              <a:ext uri="{FF2B5EF4-FFF2-40B4-BE49-F238E27FC236}">
                <a16:creationId xmlns:a16="http://schemas.microsoft.com/office/drawing/2014/main" id="{C86538FF-9BA5-8D36-1BDE-2DCAD160E77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4624" b="24702"/>
          <a:stretch/>
        </p:blipFill>
        <p:spPr bwMode="auto">
          <a:xfrm>
            <a:off x="397981" y="928592"/>
            <a:ext cx="1542384" cy="68594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Elmelin - innovative microporous technology">
            <a:extLst>
              <a:ext uri="{FF2B5EF4-FFF2-40B4-BE49-F238E27FC236}">
                <a16:creationId xmlns:a16="http://schemas.microsoft.com/office/drawing/2014/main" id="{3F0B6073-24BD-FB70-0E8F-E6E5AE2581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385" y="2857798"/>
            <a:ext cx="1602490" cy="54849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Zypp Electric bags $25 Mn in Series B round">
            <a:extLst>
              <a:ext uri="{FF2B5EF4-FFF2-40B4-BE49-F238E27FC236}">
                <a16:creationId xmlns:a16="http://schemas.microsoft.com/office/drawing/2014/main" id="{E60ACDF2-0B16-FF58-CD41-BA05B3E675A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2147" t="7897" r="32796" b="18675"/>
          <a:stretch/>
        </p:blipFill>
        <p:spPr bwMode="auto">
          <a:xfrm>
            <a:off x="646177" y="4548671"/>
            <a:ext cx="1428116" cy="8829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eDrift electric | LinkedIn">
            <a:extLst>
              <a:ext uri="{FF2B5EF4-FFF2-40B4-BE49-F238E27FC236}">
                <a16:creationId xmlns:a16="http://schemas.microsoft.com/office/drawing/2014/main" id="{C62D5136-4696-A520-F4DA-93D3161970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4112" y="6351849"/>
            <a:ext cx="1087712" cy="1009592"/>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AC2050DA-4D41-2DF2-5897-F4A2B43458CB}"/>
              </a:ext>
            </a:extLst>
          </p:cNvPr>
          <p:cNvCxnSpPr>
            <a:cxnSpLocks/>
          </p:cNvCxnSpPr>
          <p:nvPr/>
        </p:nvCxnSpPr>
        <p:spPr>
          <a:xfrm>
            <a:off x="0" y="2243328"/>
            <a:ext cx="958291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D56F4B8-6AFD-A9CA-BB91-FEC81652BDB8}"/>
              </a:ext>
            </a:extLst>
          </p:cNvPr>
          <p:cNvCxnSpPr>
            <a:cxnSpLocks/>
          </p:cNvCxnSpPr>
          <p:nvPr/>
        </p:nvCxnSpPr>
        <p:spPr>
          <a:xfrm>
            <a:off x="0" y="5900928"/>
            <a:ext cx="958291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0DAE510-9FD7-5EC4-B09B-68DFBA3EE1F7}"/>
              </a:ext>
            </a:extLst>
          </p:cNvPr>
          <p:cNvCxnSpPr>
            <a:cxnSpLocks/>
          </p:cNvCxnSpPr>
          <p:nvPr/>
        </p:nvCxnSpPr>
        <p:spPr>
          <a:xfrm>
            <a:off x="0" y="4066032"/>
            <a:ext cx="9582912"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47449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EC2F3-A187-6F85-BB46-FDFB660A805F}"/>
              </a:ext>
            </a:extLst>
          </p:cNvPr>
          <p:cNvSpPr>
            <a:spLocks noGrp="1"/>
          </p:cNvSpPr>
          <p:nvPr>
            <p:ph type="title"/>
          </p:nvPr>
        </p:nvSpPr>
        <p:spPr>
          <a:xfrm>
            <a:off x="148590" y="0"/>
            <a:ext cx="3460242" cy="685943"/>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Literature Review</a:t>
            </a:r>
          </a:p>
        </p:txBody>
      </p:sp>
      <p:graphicFrame>
        <p:nvGraphicFramePr>
          <p:cNvPr id="5" name="Table 4">
            <a:extLst>
              <a:ext uri="{FF2B5EF4-FFF2-40B4-BE49-F238E27FC236}">
                <a16:creationId xmlns:a16="http://schemas.microsoft.com/office/drawing/2014/main" id="{98B3D850-6E9C-A1C6-BEC9-0484A3F88DE5}"/>
              </a:ext>
            </a:extLst>
          </p:cNvPr>
          <p:cNvGraphicFramePr>
            <a:graphicFrameLocks noGrp="1"/>
          </p:cNvGraphicFramePr>
          <p:nvPr>
            <p:extLst>
              <p:ext uri="{D42A27DB-BD31-4B8C-83A1-F6EECF244321}">
                <p14:modId xmlns:p14="http://schemas.microsoft.com/office/powerpoint/2010/main" val="2278240296"/>
              </p:ext>
            </p:extLst>
          </p:nvPr>
        </p:nvGraphicFramePr>
        <p:xfrm>
          <a:off x="148590" y="585217"/>
          <a:ext cx="12543282" cy="7356264"/>
        </p:xfrm>
        <a:graphic>
          <a:graphicData uri="http://schemas.openxmlformats.org/drawingml/2006/table">
            <a:tbl>
              <a:tblPr>
                <a:tableStyleId>{5C22544A-7EE6-4342-B048-85BDC9FD1C3A}</a:tableStyleId>
              </a:tblPr>
              <a:tblGrid>
                <a:gridCol w="3606546">
                  <a:extLst>
                    <a:ext uri="{9D8B030D-6E8A-4147-A177-3AD203B41FA5}">
                      <a16:colId xmlns:a16="http://schemas.microsoft.com/office/drawing/2014/main" val="3412813985"/>
                    </a:ext>
                  </a:extLst>
                </a:gridCol>
                <a:gridCol w="8936736">
                  <a:extLst>
                    <a:ext uri="{9D8B030D-6E8A-4147-A177-3AD203B41FA5}">
                      <a16:colId xmlns:a16="http://schemas.microsoft.com/office/drawing/2014/main" val="2455610396"/>
                    </a:ext>
                  </a:extLst>
                </a:gridCol>
              </a:tblGrid>
              <a:tr h="387355">
                <a:tc>
                  <a:txBody>
                    <a:bodyPr/>
                    <a:lstStyle/>
                    <a:p>
                      <a:pPr algn="ctr" fontAlgn="b"/>
                      <a:r>
                        <a:rPr lang="en-US" sz="2400" b="1" u="none" strike="noStrike">
                          <a:solidFill>
                            <a:srgbClr val="C00000"/>
                          </a:solidFill>
                          <a:effectLst/>
                          <a:latin typeface="Times New Roman" panose="02020603050405020304" pitchFamily="18" charset="0"/>
                          <a:cs typeface="Times New Roman" panose="02020603050405020304" pitchFamily="18" charset="0"/>
                        </a:rPr>
                        <a:t>Research Paper Title</a:t>
                      </a:r>
                      <a:endParaRPr lang="en-US" sz="2400" b="1" i="0" u="none" strike="noStrike">
                        <a:solidFill>
                          <a:srgbClr val="C00000"/>
                        </a:solidFill>
                        <a:effectLst/>
                        <a:latin typeface="Times New Roman" panose="02020603050405020304" pitchFamily="18" charset="0"/>
                        <a:cs typeface="Times New Roman" panose="02020603050405020304" pitchFamily="18" charset="0"/>
                      </a:endParaRPr>
                    </a:p>
                  </a:txBody>
                  <a:tcPr marL="4123" marR="4123" marT="4123" marB="0" anchor="b"/>
                </a:tc>
                <a:tc>
                  <a:txBody>
                    <a:bodyPr/>
                    <a:lstStyle/>
                    <a:p>
                      <a:pPr algn="ctr" fontAlgn="b"/>
                      <a:r>
                        <a:rPr lang="en-US" sz="2400" b="1" u="none" strike="noStrike" dirty="0">
                          <a:solidFill>
                            <a:srgbClr val="C00000"/>
                          </a:solidFill>
                          <a:effectLst/>
                          <a:latin typeface="Times New Roman" panose="02020603050405020304" pitchFamily="18" charset="0"/>
                          <a:cs typeface="Times New Roman" panose="02020603050405020304" pitchFamily="18" charset="0"/>
                        </a:rPr>
                        <a:t>Literature Review</a:t>
                      </a:r>
                      <a:endParaRPr lang="en-US" sz="2400" b="1" i="0" u="none" strike="noStrike" dirty="0">
                        <a:solidFill>
                          <a:srgbClr val="C00000"/>
                        </a:solidFill>
                        <a:effectLst/>
                        <a:latin typeface="Times New Roman" panose="02020603050405020304" pitchFamily="18" charset="0"/>
                        <a:cs typeface="Times New Roman" panose="02020603050405020304" pitchFamily="18" charset="0"/>
                      </a:endParaRPr>
                    </a:p>
                  </a:txBody>
                  <a:tcPr marL="4123" marR="4123" marT="4123" marB="0" anchor="b"/>
                </a:tc>
                <a:extLst>
                  <a:ext uri="{0D108BD9-81ED-4DB2-BD59-A6C34878D82A}">
                    <a16:rowId xmlns:a16="http://schemas.microsoft.com/office/drawing/2014/main" val="2652018125"/>
                  </a:ext>
                </a:extLst>
              </a:tr>
              <a:tr h="1655607">
                <a:tc>
                  <a:txBody>
                    <a:bodyPr/>
                    <a:lstStyle/>
                    <a:p>
                      <a:pPr algn="l" fontAlgn="ctr"/>
                      <a:r>
                        <a:rPr lang="en-US" sz="1400" b="1" u="none" strike="noStrike" dirty="0">
                          <a:effectLst/>
                          <a:latin typeface="Times New Roman" panose="02020603050405020304" pitchFamily="18" charset="0"/>
                          <a:cs typeface="Times New Roman" panose="02020603050405020304" pitchFamily="18" charset="0"/>
                        </a:rPr>
                        <a:t>IoT Solutions for Electric Vehicles (EV) Charging Stations: A Driving Force Towards EV Mass Adoption</a:t>
                      </a:r>
                    </a:p>
                    <a:p>
                      <a:pPr algn="l" fontAlgn="ct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ct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p>
                      <a:pPr marL="0" algn="l" defTabSz="960120" rtl="0" eaLnBrk="1" fontAlgn="ctr" latinLnBrk="0" hangingPunct="1"/>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rPr>
                        <a:t>Sayantika</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rPr>
                        <a:t>Sikdar</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Madhavi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rPr>
                        <a:t>Damle</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p>
                  </a:txBody>
                  <a:tcPr marL="4123" marR="4123" marT="4123" marB="0" anchor="ctr"/>
                </a:tc>
                <a:tc>
                  <a:txBody>
                    <a:bodyPr/>
                    <a:lstStyle/>
                    <a:p>
                      <a:pPr algn="l" fontAlgn="t"/>
                      <a:r>
                        <a:rPr lang="en-US" sz="1500" u="none" strike="noStrike" dirty="0">
                          <a:effectLst/>
                          <a:latin typeface="Times New Roman" panose="02020603050405020304" pitchFamily="18" charset="0"/>
                          <a:cs typeface="Times New Roman" panose="02020603050405020304" pitchFamily="18" charset="0"/>
                        </a:rPr>
                        <a:t>The paper discusses the growth of Electric Vehicles (EVs). </a:t>
                      </a:r>
                      <a:br>
                        <a:rPr lang="en-US" sz="1500" u="none" strike="noStrike" dirty="0">
                          <a:effectLst/>
                          <a:latin typeface="Times New Roman" panose="02020603050405020304" pitchFamily="18" charset="0"/>
                          <a:cs typeface="Times New Roman" panose="02020603050405020304" pitchFamily="18" charset="0"/>
                        </a:rPr>
                      </a:br>
                      <a:r>
                        <a:rPr lang="en-US" sz="1500" u="none" strike="noStrike" dirty="0">
                          <a:effectLst/>
                          <a:latin typeface="Times New Roman" panose="02020603050405020304" pitchFamily="18" charset="0"/>
                          <a:cs typeface="Times New Roman" panose="02020603050405020304" pitchFamily="18" charset="0"/>
                        </a:rPr>
                        <a:t>It highlights the need for more EV charging stations. </a:t>
                      </a:r>
                      <a:br>
                        <a:rPr lang="en-US" sz="1500" u="none" strike="noStrike" dirty="0">
                          <a:effectLst/>
                          <a:latin typeface="Times New Roman" panose="02020603050405020304" pitchFamily="18" charset="0"/>
                          <a:cs typeface="Times New Roman" panose="02020603050405020304" pitchFamily="18" charset="0"/>
                        </a:rPr>
                      </a:br>
                      <a:r>
                        <a:rPr lang="en-US" sz="1500" u="none" strike="noStrike" dirty="0">
                          <a:effectLst/>
                          <a:latin typeface="Times New Roman" panose="02020603050405020304" pitchFamily="18" charset="0"/>
                          <a:cs typeface="Times New Roman" panose="02020603050405020304" pitchFamily="18" charset="0"/>
                        </a:rPr>
                        <a:t>Range anxiety is a significant barrier to EV adoption. </a:t>
                      </a:r>
                      <a:br>
                        <a:rPr lang="en-US" sz="1500" u="none" strike="noStrike" dirty="0">
                          <a:effectLst/>
                          <a:latin typeface="Times New Roman" panose="02020603050405020304" pitchFamily="18" charset="0"/>
                          <a:cs typeface="Times New Roman" panose="02020603050405020304" pitchFamily="18" charset="0"/>
                        </a:rPr>
                      </a:br>
                      <a:r>
                        <a:rPr lang="en-US" sz="1500" u="none" strike="noStrike" dirty="0">
                          <a:effectLst/>
                          <a:latin typeface="Times New Roman" panose="02020603050405020304" pitchFamily="18" charset="0"/>
                          <a:cs typeface="Times New Roman" panose="02020603050405020304" pitchFamily="18" charset="0"/>
                        </a:rPr>
                        <a:t>IoT technology can enhance EV charging station development. </a:t>
                      </a:r>
                      <a:br>
                        <a:rPr lang="en-US" sz="1500" u="none" strike="noStrike" dirty="0">
                          <a:effectLst/>
                          <a:latin typeface="Times New Roman" panose="02020603050405020304" pitchFamily="18" charset="0"/>
                          <a:cs typeface="Times New Roman" panose="02020603050405020304" pitchFamily="18" charset="0"/>
                        </a:rPr>
                      </a:br>
                      <a:r>
                        <a:rPr lang="en-US" sz="1500" u="none" strike="noStrike" dirty="0">
                          <a:effectLst/>
                          <a:latin typeface="Times New Roman" panose="02020603050405020304" pitchFamily="18" charset="0"/>
                          <a:cs typeface="Times New Roman" panose="02020603050405020304" pitchFamily="18" charset="0"/>
                        </a:rPr>
                        <a:t>Continuous monitoring can prevent battery damage during charging. </a:t>
                      </a:r>
                      <a:br>
                        <a:rPr lang="en-US" sz="1500" u="none" strike="noStrike" dirty="0">
                          <a:effectLst/>
                          <a:latin typeface="Times New Roman" panose="02020603050405020304" pitchFamily="18" charset="0"/>
                          <a:cs typeface="Times New Roman" panose="02020603050405020304" pitchFamily="18" charset="0"/>
                        </a:rPr>
                      </a:br>
                      <a:r>
                        <a:rPr lang="en-US" sz="1500" u="none" strike="noStrike" dirty="0">
                          <a:effectLst/>
                          <a:latin typeface="Times New Roman" panose="02020603050405020304" pitchFamily="18" charset="0"/>
                          <a:cs typeface="Times New Roman" panose="02020603050405020304" pitchFamily="18" charset="0"/>
                        </a:rPr>
                        <a:t>Intelligent charging stations optimize EV admission and scheduling. </a:t>
                      </a:r>
                      <a:br>
                        <a:rPr lang="en-US" sz="1500" u="none" strike="noStrike" dirty="0">
                          <a:effectLst/>
                          <a:latin typeface="Times New Roman" panose="02020603050405020304" pitchFamily="18" charset="0"/>
                          <a:cs typeface="Times New Roman" panose="02020603050405020304" pitchFamily="18" charset="0"/>
                        </a:rPr>
                      </a:br>
                      <a:r>
                        <a:rPr lang="en-US" sz="1500" u="none" strike="noStrike" dirty="0">
                          <a:effectLst/>
                          <a:latin typeface="Times New Roman" panose="02020603050405020304" pitchFamily="18" charset="0"/>
                          <a:cs typeface="Times New Roman" panose="02020603050405020304" pitchFamily="18" charset="0"/>
                        </a:rPr>
                        <a:t>IoT solutions can improve security and theft management. </a:t>
                      </a: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123" marR="4123" marT="4123" marB="0"/>
                </a:tc>
                <a:extLst>
                  <a:ext uri="{0D108BD9-81ED-4DB2-BD59-A6C34878D82A}">
                    <a16:rowId xmlns:a16="http://schemas.microsoft.com/office/drawing/2014/main" val="1690324005"/>
                  </a:ext>
                </a:extLst>
              </a:tr>
              <a:tr h="1449155">
                <a:tc>
                  <a:txBody>
                    <a:bodyPr/>
                    <a:lstStyle/>
                    <a:p>
                      <a:pPr algn="l" fontAlgn="ctr"/>
                      <a:r>
                        <a:rPr lang="en-US" sz="1400" b="1" u="none" strike="noStrike" dirty="0">
                          <a:effectLst/>
                          <a:latin typeface="Times New Roman" panose="02020603050405020304" pitchFamily="18" charset="0"/>
                          <a:cs typeface="Times New Roman" panose="02020603050405020304" pitchFamily="18" charset="0"/>
                        </a:rPr>
                        <a:t>Power Quality Enhancement in Integrated Grid for EVs Charging Stations Using Active Filter</a:t>
                      </a:r>
                    </a:p>
                    <a:p>
                      <a:pPr algn="l" fontAlgn="ct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ct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p>
                      <a:pPr marL="0" algn="l" defTabSz="960120" rtl="0" eaLnBrk="1" fontAlgn="ctr" latinLnBrk="0" hangingPunct="1"/>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Ajay Kumar; O.P. Rahi; Ram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rPr>
                        <a:t>Niwash</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Mahia </a:t>
                      </a:r>
                    </a:p>
                  </a:txBody>
                  <a:tcPr marL="4123" marR="4123" marT="4123" marB="0" anchor="ctr"/>
                </a:tc>
                <a:tc>
                  <a:txBody>
                    <a:bodyPr/>
                    <a:lstStyle/>
                    <a:p>
                      <a:pPr algn="l" fontAlgn="t"/>
                      <a:r>
                        <a:rPr lang="en-US" sz="1500" u="none" strike="noStrike" dirty="0">
                          <a:effectLst/>
                          <a:latin typeface="Times New Roman" panose="02020603050405020304" pitchFamily="18" charset="0"/>
                          <a:cs typeface="Times New Roman" panose="02020603050405020304" pitchFamily="18" charset="0"/>
                        </a:rPr>
                        <a:t>The paper discusses electric vehicles' impact on power quality. </a:t>
                      </a:r>
                      <a:br>
                        <a:rPr lang="en-US" sz="1500" u="none" strike="noStrike" dirty="0">
                          <a:effectLst/>
                          <a:latin typeface="Times New Roman" panose="02020603050405020304" pitchFamily="18" charset="0"/>
                          <a:cs typeface="Times New Roman" panose="02020603050405020304" pitchFamily="18" charset="0"/>
                        </a:rPr>
                      </a:br>
                      <a:r>
                        <a:rPr lang="en-US" sz="1500" u="none" strike="noStrike" dirty="0">
                          <a:effectLst/>
                          <a:latin typeface="Times New Roman" panose="02020603050405020304" pitchFamily="18" charset="0"/>
                          <a:cs typeface="Times New Roman" panose="02020603050405020304" pitchFamily="18" charset="0"/>
                        </a:rPr>
                        <a:t>It examines harmonic distortion in voltage and current waveforms. </a:t>
                      </a:r>
                      <a:br>
                        <a:rPr lang="en-US" sz="1500" u="none" strike="noStrike" dirty="0">
                          <a:effectLst/>
                          <a:latin typeface="Times New Roman" panose="02020603050405020304" pitchFamily="18" charset="0"/>
                          <a:cs typeface="Times New Roman" panose="02020603050405020304" pitchFamily="18" charset="0"/>
                        </a:rPr>
                      </a:br>
                      <a:r>
                        <a:rPr lang="en-US" sz="1500" u="none" strike="noStrike" dirty="0">
                          <a:effectLst/>
                          <a:latin typeface="Times New Roman" panose="02020603050405020304" pitchFamily="18" charset="0"/>
                          <a:cs typeface="Times New Roman" panose="02020603050405020304" pitchFamily="18" charset="0"/>
                        </a:rPr>
                        <a:t>Active filters are proposed for mitigating total harmonic distortion. </a:t>
                      </a:r>
                      <a:br>
                        <a:rPr lang="en-US" sz="1500" u="none" strike="noStrike" dirty="0">
                          <a:effectLst/>
                          <a:latin typeface="Times New Roman" panose="02020603050405020304" pitchFamily="18" charset="0"/>
                          <a:cs typeface="Times New Roman" panose="02020603050405020304" pitchFamily="18" charset="0"/>
                        </a:rPr>
                      </a:br>
                      <a:r>
                        <a:rPr lang="en-US" sz="1500" u="none" strike="noStrike" dirty="0">
                          <a:effectLst/>
                          <a:latin typeface="Times New Roman" panose="02020603050405020304" pitchFamily="18" charset="0"/>
                          <a:cs typeface="Times New Roman" panose="02020603050405020304" pitchFamily="18" charset="0"/>
                        </a:rPr>
                        <a:t>The study emphasizes the need for effective power infrastructure. </a:t>
                      </a:r>
                      <a:br>
                        <a:rPr lang="en-US" sz="1500" u="none" strike="noStrike" dirty="0">
                          <a:effectLst/>
                          <a:latin typeface="Times New Roman" panose="02020603050405020304" pitchFamily="18" charset="0"/>
                          <a:cs typeface="Times New Roman" panose="02020603050405020304" pitchFamily="18" charset="0"/>
                        </a:rPr>
                      </a:br>
                      <a:r>
                        <a:rPr lang="en-US" sz="1500" u="none" strike="noStrike" dirty="0">
                          <a:effectLst/>
                          <a:latin typeface="Times New Roman" panose="02020603050405020304" pitchFamily="18" charset="0"/>
                          <a:cs typeface="Times New Roman" panose="02020603050405020304" pitchFamily="18" charset="0"/>
                        </a:rPr>
                        <a:t>MATLAB Simulink is used for simulation and analysis. </a:t>
                      </a:r>
                      <a:br>
                        <a:rPr lang="en-US" sz="1500" u="none" strike="noStrike" dirty="0">
                          <a:effectLst/>
                          <a:latin typeface="Times New Roman" panose="02020603050405020304" pitchFamily="18" charset="0"/>
                          <a:cs typeface="Times New Roman" panose="02020603050405020304" pitchFamily="18" charset="0"/>
                        </a:rPr>
                      </a:br>
                      <a:r>
                        <a:rPr lang="en-US" sz="1500" u="none" strike="noStrike" dirty="0">
                          <a:effectLst/>
                          <a:latin typeface="Times New Roman" panose="02020603050405020304" pitchFamily="18" charset="0"/>
                          <a:cs typeface="Times New Roman" panose="02020603050405020304" pitchFamily="18" charset="0"/>
                        </a:rPr>
                        <a:t>Results show significant THD reduction with active filters. </a:t>
                      </a: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123" marR="4123" marT="4123" marB="0"/>
                </a:tc>
                <a:extLst>
                  <a:ext uri="{0D108BD9-81ED-4DB2-BD59-A6C34878D82A}">
                    <a16:rowId xmlns:a16="http://schemas.microsoft.com/office/drawing/2014/main" val="2499538482"/>
                  </a:ext>
                </a:extLst>
              </a:tr>
              <a:tr h="2321916">
                <a:tc>
                  <a:txBody>
                    <a:bodyPr/>
                    <a:lstStyle/>
                    <a:p>
                      <a:pPr algn="l" fontAlgn="ctr"/>
                      <a:r>
                        <a:rPr lang="en-US" sz="1400" b="1" u="none" strike="noStrike" dirty="0">
                          <a:effectLst/>
                          <a:latin typeface="Times New Roman" panose="02020603050405020304" pitchFamily="18" charset="0"/>
                          <a:cs typeface="Times New Roman" panose="02020603050405020304" pitchFamily="18" charset="0"/>
                        </a:rPr>
                        <a:t>Residential Electric Vehicle Charging Station Using the Internet of Things</a:t>
                      </a:r>
                    </a:p>
                    <a:p>
                      <a:pPr algn="l" fontAlgn="ct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ct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p>
                      <a:pPr marL="0" algn="l" defTabSz="960120" rtl="0" eaLnBrk="1" fontAlgn="ctr" latinLnBrk="0" hangingPunct="1"/>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Ashutosh Vijay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rPr>
                        <a:t>Panchbhai</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Ramakrishnan Raman; Chintan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rPr>
                        <a:t>Bhupeshbhai</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Thacker</a:t>
                      </a:r>
                    </a:p>
                  </a:txBody>
                  <a:tcPr marL="4123" marR="4123" marT="4123" marB="0" anchor="ctr"/>
                </a:tc>
                <a:tc>
                  <a:txBody>
                    <a:bodyPr/>
                    <a:lstStyle/>
                    <a:p>
                      <a:pPr algn="l" fontAlgn="t"/>
                      <a:r>
                        <a:rPr lang="en-US" sz="1500" u="none" strike="noStrike" dirty="0">
                          <a:effectLst/>
                          <a:latin typeface="Times New Roman" panose="02020603050405020304" pitchFamily="18" charset="0"/>
                          <a:cs typeface="Times New Roman" panose="02020603050405020304" pitchFamily="18" charset="0"/>
                        </a:rPr>
                        <a:t>The literature review examines challenges in household EV charging infrastructure.</a:t>
                      </a:r>
                      <a:br>
                        <a:rPr lang="en-US" sz="1500" u="none" strike="noStrike" dirty="0">
                          <a:effectLst/>
                          <a:latin typeface="Times New Roman" panose="02020603050405020304" pitchFamily="18" charset="0"/>
                          <a:cs typeface="Times New Roman" panose="02020603050405020304" pitchFamily="18" charset="0"/>
                        </a:rPr>
                      </a:br>
                      <a:r>
                        <a:rPr lang="en-US" sz="1500" u="none" strike="noStrike" dirty="0">
                          <a:effectLst/>
                          <a:latin typeface="Times New Roman" panose="02020603050405020304" pitchFamily="18" charset="0"/>
                          <a:cs typeface="Times New Roman" panose="02020603050405020304" pitchFamily="18" charset="0"/>
                        </a:rPr>
                        <a:t>High installation costs hinder EV adoption in residential areas.</a:t>
                      </a:r>
                      <a:br>
                        <a:rPr lang="en-US" sz="1500" u="none" strike="noStrike" dirty="0">
                          <a:effectLst/>
                          <a:latin typeface="Times New Roman" panose="02020603050405020304" pitchFamily="18" charset="0"/>
                          <a:cs typeface="Times New Roman" panose="02020603050405020304" pitchFamily="18" charset="0"/>
                        </a:rPr>
                      </a:br>
                      <a:r>
                        <a:rPr lang="en-US" sz="1500" u="none" strike="noStrike" dirty="0">
                          <a:effectLst/>
                          <a:latin typeface="Times New Roman" panose="02020603050405020304" pitchFamily="18" charset="0"/>
                          <a:cs typeface="Times New Roman" panose="02020603050405020304" pitchFamily="18" charset="0"/>
                        </a:rPr>
                        <a:t>Scarcity of charging ports slows home EV adoption rates.</a:t>
                      </a:r>
                      <a:br>
                        <a:rPr lang="en-US" sz="1500" u="none" strike="noStrike" dirty="0">
                          <a:effectLst/>
                          <a:latin typeface="Times New Roman" panose="02020603050405020304" pitchFamily="18" charset="0"/>
                          <a:cs typeface="Times New Roman" panose="02020603050405020304" pitchFamily="18" charset="0"/>
                        </a:rPr>
                      </a:br>
                      <a:r>
                        <a:rPr lang="en-US" sz="1500" u="none" strike="noStrike" dirty="0">
                          <a:effectLst/>
                          <a:latin typeface="Times New Roman" panose="02020603050405020304" pitchFamily="18" charset="0"/>
                          <a:cs typeface="Times New Roman" panose="02020603050405020304" pitchFamily="18" charset="0"/>
                        </a:rPr>
                        <a:t>IoT technology enhances accessibility and efficiency of charging stations.</a:t>
                      </a:r>
                      <a:br>
                        <a:rPr lang="en-US" sz="1500" u="none" strike="noStrike" dirty="0">
                          <a:effectLst/>
                          <a:latin typeface="Times New Roman" panose="02020603050405020304" pitchFamily="18" charset="0"/>
                          <a:cs typeface="Times New Roman" panose="02020603050405020304" pitchFamily="18" charset="0"/>
                        </a:rPr>
                      </a:br>
                      <a:r>
                        <a:rPr lang="en-US" sz="1500" u="none" strike="noStrike" dirty="0">
                          <a:effectLst/>
                          <a:latin typeface="Times New Roman" panose="02020603050405020304" pitchFamily="18" charset="0"/>
                          <a:cs typeface="Times New Roman" panose="02020603050405020304" pitchFamily="18" charset="0"/>
                        </a:rPr>
                        <a:t>Intuitive interfaces improve user experience for EV owners.</a:t>
                      </a:r>
                      <a:br>
                        <a:rPr lang="en-US" sz="1500" u="none" strike="noStrike" dirty="0">
                          <a:effectLst/>
                          <a:latin typeface="Times New Roman" panose="02020603050405020304" pitchFamily="18" charset="0"/>
                          <a:cs typeface="Times New Roman" panose="02020603050405020304" pitchFamily="18" charset="0"/>
                        </a:rPr>
                      </a:br>
                      <a:r>
                        <a:rPr lang="en-US" sz="1500" u="none" strike="noStrike" dirty="0">
                          <a:effectLst/>
                          <a:latin typeface="Times New Roman" panose="02020603050405020304" pitchFamily="18" charset="0"/>
                          <a:cs typeface="Times New Roman" panose="02020603050405020304" pitchFamily="18" charset="0"/>
                        </a:rPr>
                        <a:t>Flexible deployment options are crucial for residential charging solutions.</a:t>
                      </a:r>
                      <a:br>
                        <a:rPr lang="en-US" sz="1500" u="none" strike="noStrike" dirty="0">
                          <a:effectLst/>
                          <a:latin typeface="Times New Roman" panose="02020603050405020304" pitchFamily="18" charset="0"/>
                          <a:cs typeface="Times New Roman" panose="02020603050405020304" pitchFamily="18" charset="0"/>
                        </a:rPr>
                      </a:br>
                      <a:r>
                        <a:rPr lang="en-US" sz="1500" u="none" strike="noStrike" dirty="0">
                          <a:effectLst/>
                          <a:latin typeface="Times New Roman" panose="02020603050405020304" pitchFamily="18" charset="0"/>
                          <a:cs typeface="Times New Roman" panose="02020603050405020304" pitchFamily="18" charset="0"/>
                        </a:rPr>
                        <a:t>Efficient payment processing systems are necessary for user convenience.</a:t>
                      </a:r>
                      <a:br>
                        <a:rPr lang="en-US" sz="1500" u="none" strike="noStrike" dirty="0">
                          <a:effectLst/>
                          <a:latin typeface="Times New Roman" panose="02020603050405020304" pitchFamily="18" charset="0"/>
                          <a:cs typeface="Times New Roman" panose="02020603050405020304" pitchFamily="18" charset="0"/>
                        </a:rPr>
                      </a:br>
                      <a:r>
                        <a:rPr lang="en-US" sz="1500" u="none" strike="noStrike" dirty="0">
                          <a:effectLst/>
                          <a:latin typeface="Times New Roman" panose="02020603050405020304" pitchFamily="18" charset="0"/>
                          <a:cs typeface="Times New Roman" panose="02020603050405020304" pitchFamily="18" charset="0"/>
                        </a:rPr>
                        <a:t>Previous research highlights barriers to widespread home charging station adoption.</a:t>
                      </a:r>
                      <a:br>
                        <a:rPr lang="en-US" sz="1500" u="none" strike="noStrike" dirty="0">
                          <a:effectLst/>
                          <a:latin typeface="Times New Roman" panose="02020603050405020304" pitchFamily="18" charset="0"/>
                          <a:cs typeface="Times New Roman" panose="02020603050405020304" pitchFamily="18" charset="0"/>
                        </a:rPr>
                      </a:br>
                      <a:r>
                        <a:rPr lang="en-US" sz="1500" u="none" strike="noStrike" dirty="0">
                          <a:effectLst/>
                          <a:latin typeface="Times New Roman" panose="02020603050405020304" pitchFamily="18" charset="0"/>
                          <a:cs typeface="Times New Roman" panose="02020603050405020304" pitchFamily="18" charset="0"/>
                        </a:rPr>
                        <a:t>The review supports a holistic approach to EV charging solutions.</a:t>
                      </a:r>
                      <a:br>
                        <a:rPr lang="en-US" sz="1500" u="none" strike="noStrike" dirty="0">
                          <a:effectLst/>
                          <a:latin typeface="Times New Roman" panose="02020603050405020304" pitchFamily="18" charset="0"/>
                          <a:cs typeface="Times New Roman" panose="02020603050405020304" pitchFamily="18" charset="0"/>
                        </a:rPr>
                      </a:br>
                      <a:r>
                        <a:rPr lang="en-US" sz="1500" u="none" strike="noStrike" dirty="0">
                          <a:effectLst/>
                          <a:latin typeface="Times New Roman" panose="02020603050405020304" pitchFamily="18" charset="0"/>
                          <a:cs typeface="Times New Roman" panose="02020603050405020304" pitchFamily="18" charset="0"/>
                        </a:rPr>
                        <a:t>The proposed system aims to address identified challenges effectively.</a:t>
                      </a: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123" marR="4123" marT="4123" marB="0"/>
                </a:tc>
                <a:extLst>
                  <a:ext uri="{0D108BD9-81ED-4DB2-BD59-A6C34878D82A}">
                    <a16:rowId xmlns:a16="http://schemas.microsoft.com/office/drawing/2014/main" val="932348396"/>
                  </a:ext>
                </a:extLst>
              </a:tr>
              <a:tr h="1542231">
                <a:tc>
                  <a:txBody>
                    <a:bodyPr/>
                    <a:lstStyle/>
                    <a:p>
                      <a:pPr algn="l" fontAlgn="ctr"/>
                      <a:r>
                        <a:rPr lang="en-US" sz="1400" b="1" u="none" strike="noStrike" dirty="0">
                          <a:effectLst/>
                          <a:latin typeface="Times New Roman" panose="02020603050405020304" pitchFamily="18" charset="0"/>
                          <a:cs typeface="Times New Roman" panose="02020603050405020304" pitchFamily="18" charset="0"/>
                        </a:rPr>
                        <a:t>IoT enabled E-Vehicle Charging System with Battery Monitoring and Charge Scheduling</a:t>
                      </a:r>
                    </a:p>
                    <a:p>
                      <a:pPr algn="l" fontAlgn="ct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ctr"/>
                      <a:endParaRPr lang="en-US" sz="1400" b="1" i="0" u="none" strike="noStrike" dirty="0">
                        <a:solidFill>
                          <a:srgbClr val="000000"/>
                        </a:solidFill>
                        <a:effectLst/>
                        <a:latin typeface="Times New Roman" panose="02020603050405020304" pitchFamily="18" charset="0"/>
                        <a:cs typeface="Times New Roman" panose="02020603050405020304" pitchFamily="18" charset="0"/>
                      </a:endParaRPr>
                    </a:p>
                    <a:p>
                      <a:pPr algn="l" fontAlgn="ctr"/>
                      <a:r>
                        <a:rPr lang="en-US" sz="1400" b="1" i="0" u="none" strike="noStrike" dirty="0">
                          <a:solidFill>
                            <a:srgbClr val="C00000"/>
                          </a:solidFill>
                          <a:effectLst/>
                          <a:latin typeface="Times New Roman" panose="02020603050405020304" pitchFamily="18" charset="0"/>
                          <a:cs typeface="Times New Roman" panose="02020603050405020304" pitchFamily="18" charset="0"/>
                        </a:rPr>
                        <a:t>S. </a:t>
                      </a:r>
                      <a:r>
                        <a:rPr lang="en-US" sz="1400" b="1" i="0" u="none" strike="noStrike" dirty="0" err="1">
                          <a:solidFill>
                            <a:srgbClr val="C00000"/>
                          </a:solidFill>
                          <a:effectLst/>
                          <a:latin typeface="Times New Roman" panose="02020603050405020304" pitchFamily="18" charset="0"/>
                          <a:cs typeface="Times New Roman" panose="02020603050405020304" pitchFamily="18" charset="0"/>
                        </a:rPr>
                        <a:t>Arulmozhi</a:t>
                      </a:r>
                      <a:r>
                        <a:rPr lang="en-US" sz="1400" b="1" i="0" u="none" strike="noStrike" dirty="0">
                          <a:solidFill>
                            <a:srgbClr val="C00000"/>
                          </a:solidFill>
                          <a:effectLst/>
                          <a:latin typeface="Times New Roman" panose="02020603050405020304" pitchFamily="18" charset="0"/>
                          <a:cs typeface="Times New Roman" panose="02020603050405020304" pitchFamily="18" charset="0"/>
                        </a:rPr>
                        <a:t>; M. </a:t>
                      </a:r>
                      <a:r>
                        <a:rPr lang="en-US" sz="1400" b="1" i="0" u="none" strike="noStrike" dirty="0" err="1">
                          <a:solidFill>
                            <a:srgbClr val="C00000"/>
                          </a:solidFill>
                          <a:effectLst/>
                          <a:latin typeface="Times New Roman" panose="02020603050405020304" pitchFamily="18" charset="0"/>
                          <a:cs typeface="Times New Roman" panose="02020603050405020304" pitchFamily="18" charset="0"/>
                        </a:rPr>
                        <a:t>Abiramavalli</a:t>
                      </a:r>
                      <a:r>
                        <a:rPr lang="en-US" sz="1400" b="1" i="0" u="none" strike="noStrike" dirty="0">
                          <a:solidFill>
                            <a:srgbClr val="C00000"/>
                          </a:solidFill>
                          <a:effectLst/>
                          <a:latin typeface="Times New Roman" panose="02020603050405020304" pitchFamily="18" charset="0"/>
                          <a:cs typeface="Times New Roman" panose="02020603050405020304" pitchFamily="18" charset="0"/>
                        </a:rPr>
                        <a:t>; </a:t>
                      </a:r>
                      <a:r>
                        <a:rPr lang="en-US" sz="1400" b="1" i="0" u="none" strike="noStrike" dirty="0" err="1">
                          <a:solidFill>
                            <a:srgbClr val="C00000"/>
                          </a:solidFill>
                          <a:effectLst/>
                          <a:latin typeface="Times New Roman" panose="02020603050405020304" pitchFamily="18" charset="0"/>
                          <a:cs typeface="Times New Roman" panose="02020603050405020304" pitchFamily="18" charset="0"/>
                        </a:rPr>
                        <a:t>M.B.Diviya</a:t>
                      </a:r>
                      <a:r>
                        <a:rPr lang="en-US" sz="1400" b="1" i="0" u="none" strike="noStrike" dirty="0">
                          <a:solidFill>
                            <a:srgbClr val="C00000"/>
                          </a:solidFill>
                          <a:effectLst/>
                          <a:latin typeface="Times New Roman" panose="02020603050405020304" pitchFamily="18" charset="0"/>
                          <a:cs typeface="Times New Roman" panose="02020603050405020304" pitchFamily="18" charset="0"/>
                        </a:rPr>
                        <a:t> </a:t>
                      </a:r>
                      <a:r>
                        <a:rPr lang="en-US" sz="1400" b="1" i="0" u="none" strike="noStrike" dirty="0" err="1">
                          <a:solidFill>
                            <a:srgbClr val="C00000"/>
                          </a:solidFill>
                          <a:effectLst/>
                          <a:latin typeface="Times New Roman" panose="02020603050405020304" pitchFamily="18" charset="0"/>
                          <a:cs typeface="Times New Roman" panose="02020603050405020304" pitchFamily="18" charset="0"/>
                        </a:rPr>
                        <a:t>Bhavaani</a:t>
                      </a:r>
                      <a:r>
                        <a:rPr lang="en-US" sz="1400" b="1" i="0" u="none" strike="noStrike" dirty="0">
                          <a:solidFill>
                            <a:srgbClr val="C00000"/>
                          </a:solidFill>
                          <a:effectLst/>
                          <a:latin typeface="Times New Roman" panose="02020603050405020304" pitchFamily="18" charset="0"/>
                          <a:cs typeface="Times New Roman" panose="02020603050405020304" pitchFamily="18" charset="0"/>
                        </a:rPr>
                        <a:t>; S. </a:t>
                      </a:r>
                      <a:r>
                        <a:rPr lang="en-US" sz="1400" b="1" i="0" u="none" strike="noStrike" dirty="0" err="1">
                          <a:solidFill>
                            <a:srgbClr val="C00000"/>
                          </a:solidFill>
                          <a:effectLst/>
                          <a:latin typeface="Times New Roman" panose="02020603050405020304" pitchFamily="18" charset="0"/>
                          <a:cs typeface="Times New Roman" panose="02020603050405020304" pitchFamily="18" charset="0"/>
                        </a:rPr>
                        <a:t>Loganayagi</a:t>
                      </a:r>
                      <a:endParaRPr lang="en-US" sz="1400" b="1" i="0" u="none" strike="noStrike" dirty="0">
                        <a:solidFill>
                          <a:srgbClr val="C00000"/>
                        </a:solidFill>
                        <a:effectLst/>
                        <a:latin typeface="Times New Roman" panose="02020603050405020304" pitchFamily="18" charset="0"/>
                        <a:cs typeface="Times New Roman" panose="02020603050405020304" pitchFamily="18" charset="0"/>
                      </a:endParaRPr>
                    </a:p>
                  </a:txBody>
                  <a:tcPr marL="4123" marR="4123" marT="4123" marB="0" anchor="ctr"/>
                </a:tc>
                <a:tc>
                  <a:txBody>
                    <a:bodyPr/>
                    <a:lstStyle/>
                    <a:p>
                      <a:pPr algn="l" fontAlgn="t"/>
                      <a:r>
                        <a:rPr lang="en-US" sz="1500" u="none" strike="noStrike" dirty="0">
                          <a:effectLst/>
                          <a:latin typeface="Times New Roman" panose="02020603050405020304" pitchFamily="18" charset="0"/>
                          <a:cs typeface="Times New Roman" panose="02020603050405020304" pitchFamily="18" charset="0"/>
                        </a:rPr>
                        <a:t>Energy management technologies are pivotal in optimizing energy efficiency within the renewable energy sector. These technologies encompass tasks such as energy information collection, economic analysis, and operational strategies, underscoring the importance of comprehensive energy management systems </a:t>
                      </a:r>
                      <a:br>
                        <a:rPr lang="en-US" sz="1500" u="none" strike="noStrike" dirty="0">
                          <a:effectLst/>
                          <a:latin typeface="Times New Roman" panose="02020603050405020304" pitchFamily="18" charset="0"/>
                          <a:cs typeface="Times New Roman" panose="02020603050405020304" pitchFamily="18" charset="0"/>
                        </a:rPr>
                      </a:br>
                      <a:r>
                        <a:rPr lang="en-US" sz="1500" u="none" strike="noStrike" dirty="0">
                          <a:effectLst/>
                          <a:latin typeface="Times New Roman" panose="02020603050405020304" pitchFamily="18" charset="0"/>
                          <a:cs typeface="Times New Roman" panose="02020603050405020304" pitchFamily="18" charset="0"/>
                        </a:rPr>
                        <a:t>When determining the optimal capacity for an Energy Storage System (ESS), it is crucial to consider various factors beyond numerical calculations. Factors such as ESS characteristics, lifespan, and operational considerations should be taken into account to make informed and cost-effective decisions regarding ESS capacity planning </a:t>
                      </a: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4123" marR="4123" marT="4123" marB="0"/>
                </a:tc>
                <a:extLst>
                  <a:ext uri="{0D108BD9-81ED-4DB2-BD59-A6C34878D82A}">
                    <a16:rowId xmlns:a16="http://schemas.microsoft.com/office/drawing/2014/main" val="2056336155"/>
                  </a:ext>
                </a:extLst>
              </a:tr>
            </a:tbl>
          </a:graphicData>
        </a:graphic>
      </p:graphicFrame>
      <p:sp>
        <p:nvSpPr>
          <p:cNvPr id="6" name="Title 1">
            <a:extLst>
              <a:ext uri="{FF2B5EF4-FFF2-40B4-BE49-F238E27FC236}">
                <a16:creationId xmlns:a16="http://schemas.microsoft.com/office/drawing/2014/main" id="{D87D1AA5-B841-74DD-E4C2-FD17D92B9779}"/>
              </a:ext>
            </a:extLst>
          </p:cNvPr>
          <p:cNvSpPr txBox="1">
            <a:spLocks/>
          </p:cNvSpPr>
          <p:nvPr/>
        </p:nvSpPr>
        <p:spPr>
          <a:xfrm>
            <a:off x="9483090" y="13483"/>
            <a:ext cx="3169920" cy="685943"/>
          </a:xfrm>
          <a:prstGeom prst="rect">
            <a:avLst/>
          </a:prstGeom>
        </p:spPr>
        <p:txBody>
          <a:bodyPr vert="horz" lIns="91440" tIns="45720" rIns="91440" bIns="45720" rtlCol="0" anchor="ctr">
            <a:normAutofit fontScale="92500"/>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3200" b="1" dirty="0">
                <a:solidFill>
                  <a:srgbClr val="00B050"/>
                </a:solidFill>
                <a:latin typeface="Times New Roman" panose="02020603050405020304" pitchFamily="18" charset="0"/>
                <a:cs typeface="Times New Roman" panose="02020603050405020304" pitchFamily="18" charset="0"/>
              </a:rPr>
              <a:t>Charging Station</a:t>
            </a:r>
          </a:p>
        </p:txBody>
      </p:sp>
    </p:spTree>
    <p:extLst>
      <p:ext uri="{BB962C8B-B14F-4D97-AF65-F5344CB8AC3E}">
        <p14:creationId xmlns:p14="http://schemas.microsoft.com/office/powerpoint/2010/main" val="1522385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2EE3026-1091-D3CC-41D8-AAC9EBB67331}"/>
              </a:ext>
            </a:extLst>
          </p:cNvPr>
          <p:cNvSpPr txBox="1">
            <a:spLocks/>
          </p:cNvSpPr>
          <p:nvPr/>
        </p:nvSpPr>
        <p:spPr>
          <a:xfrm>
            <a:off x="148590" y="244697"/>
            <a:ext cx="3460242" cy="685943"/>
          </a:xfrm>
          <a:prstGeom prst="rect">
            <a:avLst/>
          </a:prstGeom>
        </p:spPr>
        <p:txBody>
          <a:bodyPr vert="horz" lIns="91440" tIns="45720" rIns="91440" bIns="45720" rtlCol="0" anchor="ctr">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3200" b="1" dirty="0">
                <a:solidFill>
                  <a:srgbClr val="002060"/>
                </a:solidFill>
                <a:latin typeface="Times New Roman" panose="02020603050405020304" pitchFamily="18" charset="0"/>
                <a:cs typeface="Times New Roman" panose="02020603050405020304" pitchFamily="18" charset="0"/>
              </a:rPr>
              <a:t>Literature Review</a:t>
            </a:r>
          </a:p>
        </p:txBody>
      </p:sp>
      <p:sp>
        <p:nvSpPr>
          <p:cNvPr id="5" name="Title 1">
            <a:extLst>
              <a:ext uri="{FF2B5EF4-FFF2-40B4-BE49-F238E27FC236}">
                <a16:creationId xmlns:a16="http://schemas.microsoft.com/office/drawing/2014/main" id="{D5FF75C6-EF5A-2413-5B10-878DC351C942}"/>
              </a:ext>
            </a:extLst>
          </p:cNvPr>
          <p:cNvSpPr txBox="1">
            <a:spLocks/>
          </p:cNvSpPr>
          <p:nvPr/>
        </p:nvSpPr>
        <p:spPr>
          <a:xfrm>
            <a:off x="8802624" y="247259"/>
            <a:ext cx="3850386" cy="685943"/>
          </a:xfrm>
          <a:prstGeom prst="rect">
            <a:avLst/>
          </a:prstGeom>
        </p:spPr>
        <p:txBody>
          <a:bodyPr vert="horz" lIns="91440" tIns="45720" rIns="91440" bIns="45720" rtlCol="0" anchor="ctr">
            <a:normAutofit fontScale="85000" lnSpcReduction="10000"/>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3200" b="1" dirty="0">
                <a:solidFill>
                  <a:srgbClr val="00B050"/>
                </a:solidFill>
                <a:latin typeface="Times New Roman" panose="02020603050405020304" pitchFamily="18" charset="0"/>
                <a:cs typeface="Times New Roman" panose="02020603050405020304" pitchFamily="18" charset="0"/>
              </a:rPr>
              <a:t>Energy Storage Systems </a:t>
            </a:r>
          </a:p>
        </p:txBody>
      </p:sp>
      <p:graphicFrame>
        <p:nvGraphicFramePr>
          <p:cNvPr id="8" name="Table 7">
            <a:extLst>
              <a:ext uri="{FF2B5EF4-FFF2-40B4-BE49-F238E27FC236}">
                <a16:creationId xmlns:a16="http://schemas.microsoft.com/office/drawing/2014/main" id="{B624D755-08C1-7AF8-B547-3C968111D298}"/>
              </a:ext>
            </a:extLst>
          </p:cNvPr>
          <p:cNvGraphicFramePr>
            <a:graphicFrameLocks noGrp="1"/>
          </p:cNvGraphicFramePr>
          <p:nvPr>
            <p:extLst>
              <p:ext uri="{D42A27DB-BD31-4B8C-83A1-F6EECF244321}">
                <p14:modId xmlns:p14="http://schemas.microsoft.com/office/powerpoint/2010/main" val="3636236041"/>
              </p:ext>
            </p:extLst>
          </p:nvPr>
        </p:nvGraphicFramePr>
        <p:xfrm>
          <a:off x="148590" y="1049598"/>
          <a:ext cx="12504420" cy="1726563"/>
        </p:xfrm>
        <a:graphic>
          <a:graphicData uri="http://schemas.openxmlformats.org/drawingml/2006/table">
            <a:tbl>
              <a:tblPr>
                <a:tableStyleId>{5C22544A-7EE6-4342-B048-85BDC9FD1C3A}</a:tableStyleId>
              </a:tblPr>
              <a:tblGrid>
                <a:gridCol w="3153305">
                  <a:extLst>
                    <a:ext uri="{9D8B030D-6E8A-4147-A177-3AD203B41FA5}">
                      <a16:colId xmlns:a16="http://schemas.microsoft.com/office/drawing/2014/main" val="4145676724"/>
                    </a:ext>
                  </a:extLst>
                </a:gridCol>
                <a:gridCol w="9351115">
                  <a:extLst>
                    <a:ext uri="{9D8B030D-6E8A-4147-A177-3AD203B41FA5}">
                      <a16:colId xmlns:a16="http://schemas.microsoft.com/office/drawing/2014/main" val="2591528610"/>
                    </a:ext>
                  </a:extLst>
                </a:gridCol>
              </a:tblGrid>
              <a:tr h="440633">
                <a:tc>
                  <a:txBody>
                    <a:bodyPr/>
                    <a:lstStyle/>
                    <a:p>
                      <a:pPr algn="ctr" fontAlgn="b"/>
                      <a:r>
                        <a:rPr lang="en-US" sz="2400" b="1" u="none" strike="noStrike" kern="1200" dirty="0">
                          <a:solidFill>
                            <a:srgbClr val="C00000"/>
                          </a:solidFill>
                          <a:effectLst/>
                          <a:latin typeface="Times New Roman" panose="02020603050405020304" pitchFamily="18" charset="0"/>
                          <a:ea typeface="+mn-ea"/>
                          <a:cs typeface="Times New Roman" panose="02020603050405020304" pitchFamily="18" charset="0"/>
                        </a:rPr>
                        <a:t>Research Paper Title</a:t>
                      </a:r>
                    </a:p>
                  </a:txBody>
                  <a:tcPr marL="7620" marR="7620" marT="7620" marB="0" anchor="b"/>
                </a:tc>
                <a:tc>
                  <a:txBody>
                    <a:bodyPr/>
                    <a:lstStyle/>
                    <a:p>
                      <a:pPr algn="ctr" fontAlgn="b"/>
                      <a:r>
                        <a:rPr lang="en-US" sz="2400" b="1" u="none" strike="noStrike" kern="1200" dirty="0">
                          <a:solidFill>
                            <a:srgbClr val="C00000"/>
                          </a:solidFill>
                          <a:effectLst/>
                          <a:latin typeface="Times New Roman" panose="02020603050405020304" pitchFamily="18" charset="0"/>
                          <a:ea typeface="+mn-ea"/>
                          <a:cs typeface="Times New Roman" panose="02020603050405020304" pitchFamily="18" charset="0"/>
                        </a:rPr>
                        <a:t>Literature Review</a:t>
                      </a:r>
                    </a:p>
                  </a:txBody>
                  <a:tcPr marL="7620" marR="7620" marT="7620" marB="0" anchor="b"/>
                </a:tc>
                <a:extLst>
                  <a:ext uri="{0D108BD9-81ED-4DB2-BD59-A6C34878D82A}">
                    <a16:rowId xmlns:a16="http://schemas.microsoft.com/office/drawing/2014/main" val="3430090506"/>
                  </a:ext>
                </a:extLst>
              </a:tr>
              <a:tr h="1285930">
                <a:tc>
                  <a:txBody>
                    <a:bodyPr/>
                    <a:lstStyle/>
                    <a:p>
                      <a:pPr marL="0" algn="l" defTabSz="960120" rtl="0" eaLnBrk="1" fontAlgn="ctr" latinLnBrk="0" hangingPunct="1"/>
                      <a:r>
                        <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rPr>
                        <a:t>ESS Simulation based on PV Generation Prediction</a:t>
                      </a:r>
                      <a:endParaRPr lang="en-US" sz="1200" u="none" strike="noStrike" dirty="0">
                        <a:effectLst/>
                      </a:endParaRPr>
                    </a:p>
                    <a:p>
                      <a:pPr algn="l" fontAlgn="t"/>
                      <a:endParaRPr lang="en-US" sz="1200" u="none" strike="noStrike" dirty="0">
                        <a:effectLst/>
                      </a:endParaRPr>
                    </a:p>
                    <a:p>
                      <a:pPr algn="l" fontAlgn="t"/>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Tai-Yeon Ku; Wan-Ki Park; Hoon Choi</a:t>
                      </a:r>
                    </a:p>
                  </a:txBody>
                  <a:tcPr marL="7620" marR="7620" marT="7620" marB="0"/>
                </a:tc>
                <a:tc>
                  <a:txBody>
                    <a:bodyPr/>
                    <a:lstStyle/>
                    <a:p>
                      <a:pPr algn="l" fontAlgn="t"/>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Energy management technologies such as energy information collection, economic analysis, and operation play a crucial role in maximizing energy efficiency in the renewable energy business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To calculate the most economical Energy Storage System (ESS) capacity, it is essential to consider factors like ESS characteristics, lifespan, and operational aspects rather than just numerical calculations </a:t>
                      </a:r>
                      <a:br>
                        <a:rPr lang="en-US" sz="1100" u="none" strike="noStrike" dirty="0">
                          <a:effectLst/>
                        </a:rPr>
                      </a:br>
                      <a:endParaRPr lang="en-US" sz="1100" b="0" i="0" u="none" strike="noStrike" dirty="0">
                        <a:solidFill>
                          <a:srgbClr val="000000"/>
                        </a:solidFill>
                        <a:effectLst/>
                        <a:latin typeface="Calibri" panose="020F0502020204030204" pitchFamily="34" charset="0"/>
                      </a:endParaRPr>
                    </a:p>
                  </a:txBody>
                  <a:tcPr marL="7620" marR="7620" marT="7620" marB="0"/>
                </a:tc>
                <a:extLst>
                  <a:ext uri="{0D108BD9-81ED-4DB2-BD59-A6C34878D82A}">
                    <a16:rowId xmlns:a16="http://schemas.microsoft.com/office/drawing/2014/main" val="3910835515"/>
                  </a:ext>
                </a:extLst>
              </a:tr>
            </a:tbl>
          </a:graphicData>
        </a:graphic>
      </p:graphicFrame>
      <p:graphicFrame>
        <p:nvGraphicFramePr>
          <p:cNvPr id="9" name="Table 8">
            <a:extLst>
              <a:ext uri="{FF2B5EF4-FFF2-40B4-BE49-F238E27FC236}">
                <a16:creationId xmlns:a16="http://schemas.microsoft.com/office/drawing/2014/main" id="{C5C0C341-4D1D-1A46-DB9C-88B7D9599A34}"/>
              </a:ext>
            </a:extLst>
          </p:cNvPr>
          <p:cNvGraphicFramePr>
            <a:graphicFrameLocks noGrp="1"/>
          </p:cNvGraphicFramePr>
          <p:nvPr>
            <p:extLst>
              <p:ext uri="{D42A27DB-BD31-4B8C-83A1-F6EECF244321}">
                <p14:modId xmlns:p14="http://schemas.microsoft.com/office/powerpoint/2010/main" val="3867538507"/>
              </p:ext>
            </p:extLst>
          </p:nvPr>
        </p:nvGraphicFramePr>
        <p:xfrm>
          <a:off x="148590" y="3730752"/>
          <a:ext cx="12504420" cy="3976953"/>
        </p:xfrm>
        <a:graphic>
          <a:graphicData uri="http://schemas.openxmlformats.org/drawingml/2006/table">
            <a:tbl>
              <a:tblPr>
                <a:tableStyleId>{5C22544A-7EE6-4342-B048-85BDC9FD1C3A}</a:tableStyleId>
              </a:tblPr>
              <a:tblGrid>
                <a:gridCol w="3655314">
                  <a:extLst>
                    <a:ext uri="{9D8B030D-6E8A-4147-A177-3AD203B41FA5}">
                      <a16:colId xmlns:a16="http://schemas.microsoft.com/office/drawing/2014/main" val="3372713073"/>
                    </a:ext>
                  </a:extLst>
                </a:gridCol>
                <a:gridCol w="8849106">
                  <a:extLst>
                    <a:ext uri="{9D8B030D-6E8A-4147-A177-3AD203B41FA5}">
                      <a16:colId xmlns:a16="http://schemas.microsoft.com/office/drawing/2014/main" val="3411030868"/>
                    </a:ext>
                  </a:extLst>
                </a:gridCol>
              </a:tblGrid>
              <a:tr h="484275">
                <a:tc>
                  <a:txBody>
                    <a:bodyPr/>
                    <a:lstStyle/>
                    <a:p>
                      <a:pPr algn="ctr" fontAlgn="b"/>
                      <a:r>
                        <a:rPr lang="en-US" sz="2400" b="1" u="none" strike="noStrike" kern="1200">
                          <a:solidFill>
                            <a:srgbClr val="C00000"/>
                          </a:solidFill>
                          <a:effectLst/>
                          <a:latin typeface="Times New Roman" panose="02020603050405020304" pitchFamily="18" charset="0"/>
                          <a:ea typeface="+mn-ea"/>
                          <a:cs typeface="Times New Roman" panose="02020603050405020304" pitchFamily="18" charset="0"/>
                        </a:rPr>
                        <a:t>Research Paper Title</a:t>
                      </a:r>
                    </a:p>
                  </a:txBody>
                  <a:tcPr marL="7620" marR="7620" marT="7620" marB="0" anchor="b"/>
                </a:tc>
                <a:tc>
                  <a:txBody>
                    <a:bodyPr/>
                    <a:lstStyle/>
                    <a:p>
                      <a:pPr algn="ctr" fontAlgn="b"/>
                      <a:r>
                        <a:rPr lang="en-US" sz="2400" b="1" u="none" strike="noStrike" kern="1200" dirty="0">
                          <a:solidFill>
                            <a:srgbClr val="C00000"/>
                          </a:solidFill>
                          <a:effectLst/>
                          <a:latin typeface="Times New Roman" panose="02020603050405020304" pitchFamily="18" charset="0"/>
                          <a:ea typeface="+mn-ea"/>
                          <a:cs typeface="Times New Roman" panose="02020603050405020304" pitchFamily="18" charset="0"/>
                        </a:rPr>
                        <a:t>Literature Review</a:t>
                      </a:r>
                    </a:p>
                  </a:txBody>
                  <a:tcPr marL="7620" marR="7620" marT="7620" marB="0" anchor="b"/>
                </a:tc>
                <a:extLst>
                  <a:ext uri="{0D108BD9-81ED-4DB2-BD59-A6C34878D82A}">
                    <a16:rowId xmlns:a16="http://schemas.microsoft.com/office/drawing/2014/main" val="702896486"/>
                  </a:ext>
                </a:extLst>
              </a:tr>
              <a:tr h="1636004">
                <a:tc>
                  <a:txBody>
                    <a:bodyPr/>
                    <a:lstStyle/>
                    <a:p>
                      <a:pPr marL="0" algn="l" defTabSz="960120" rtl="0" eaLnBrk="1" fontAlgn="ctr" latinLnBrk="0" hangingPunct="1"/>
                      <a:r>
                        <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rPr>
                        <a:t>A Pitaya Dye-Sensitized Solar Cell Monitor for Environmental Sunlight Intensity Detection</a:t>
                      </a:r>
                    </a:p>
                    <a:p>
                      <a:pPr marL="0" algn="l" defTabSz="960120" rtl="0" eaLnBrk="1" fontAlgn="ctr" latinLnBrk="0" hangingPunct="1"/>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marL="0" algn="l" defTabSz="960120" rtl="0" eaLnBrk="1" fontAlgn="ctr" latinLnBrk="0" hangingPunct="1"/>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marL="0" algn="l" defTabSz="960120" rtl="0" eaLnBrk="1" fontAlgn="ctr" latinLnBrk="0" hangingPunct="1"/>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2">
                            <a:extLst>
                              <a:ext uri="{A12FA001-AC4F-418D-AE19-62706E023703}">
                                <ahyp:hlinkClr xmlns:ahyp="http://schemas.microsoft.com/office/drawing/2018/hyperlinkcolor" val="tx"/>
                              </a:ext>
                            </a:extLst>
                          </a:hlinkClick>
                        </a:rPr>
                        <a:t>Cheng-Ta Chiang</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Liang-Yu Chien</a:t>
                      </a:r>
                      <a:endPar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l" fontAlgn="b"/>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Energy management technologies are crucial for optimizing energy efficiency in the renewable energy sector. These technologies involve tasks such as energy information collection, economic analysis, and operational strategies, emphasizing the significance of comprehensive energy management systems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When determining the optimal capacity for an Energy Storage System (ESS), it is essential to consider various factors beyond numerical calculations. Factors like ESS characteristics, lifespan, and operational aspects should be taken into account to make informed and cost-effective decisions regarding ESS capacity planning </a:t>
                      </a:r>
                    </a:p>
                  </a:txBody>
                  <a:tcPr marL="7620" marR="7620" marT="7620" marB="0" anchor="b"/>
                </a:tc>
                <a:extLst>
                  <a:ext uri="{0D108BD9-81ED-4DB2-BD59-A6C34878D82A}">
                    <a16:rowId xmlns:a16="http://schemas.microsoft.com/office/drawing/2014/main" val="3154786443"/>
                  </a:ext>
                </a:extLst>
              </a:tr>
              <a:tr h="1856674">
                <a:tc>
                  <a:txBody>
                    <a:bodyPr/>
                    <a:lstStyle/>
                    <a:p>
                      <a:pPr marL="0" algn="l" defTabSz="960120" rtl="0" eaLnBrk="1" fontAlgn="ctr" latinLnBrk="0" hangingPunct="1"/>
                      <a:r>
                        <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rPr>
                        <a:t>Eternal-Thing: A Secure Aging-Aware Solar-Energy Harvester Thing for Sustainable IoT</a:t>
                      </a:r>
                    </a:p>
                    <a:p>
                      <a:pPr marL="0" algn="l" defTabSz="960120" rtl="0" eaLnBrk="1" fontAlgn="ctr" latinLnBrk="0" hangingPunct="1"/>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4">
                            <a:extLst>
                              <a:ext uri="{A12FA001-AC4F-418D-AE19-62706E023703}">
                                <ahyp:hlinkClr xmlns:ahyp="http://schemas.microsoft.com/office/drawing/2018/hyperlinkcolor" val="tx"/>
                              </a:ext>
                            </a:extLst>
                          </a:hlinkClick>
                        </a:rPr>
                        <a:t>Saswat</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4">
                            <a:extLst>
                              <a:ext uri="{A12FA001-AC4F-418D-AE19-62706E023703}">
                                <ahyp:hlinkClr xmlns:ahyp="http://schemas.microsoft.com/office/drawing/2018/hyperlinkcolor" val="tx"/>
                              </a:ext>
                            </a:extLst>
                          </a:hlinkClick>
                        </a:rPr>
                        <a:t> Kumar Ram</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5">
                            <a:extLst>
                              <a:ext uri="{A12FA001-AC4F-418D-AE19-62706E023703}">
                                <ahyp:hlinkClr xmlns:ahyp="http://schemas.microsoft.com/office/drawing/2018/hyperlinkcolor" val="tx"/>
                              </a:ext>
                            </a:extLst>
                          </a:hlinkClick>
                        </a:rPr>
                        <a:t>Sauvagya</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5">
                            <a:extLst>
                              <a:ext uri="{A12FA001-AC4F-418D-AE19-62706E023703}">
                                <ahyp:hlinkClr xmlns:ahyp="http://schemas.microsoft.com/office/drawing/2018/hyperlinkcolor" val="tx"/>
                              </a:ext>
                            </a:extLst>
                          </a:hlinkClick>
                        </a:rPr>
                        <a:t> Ranjan Sahoo</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6">
                            <a:extLst>
                              <a:ext uri="{A12FA001-AC4F-418D-AE19-62706E023703}">
                                <ahyp:hlinkClr xmlns:ahyp="http://schemas.microsoft.com/office/drawing/2018/hyperlinkcolor" val="tx"/>
                              </a:ext>
                            </a:extLst>
                          </a:hlinkClick>
                        </a:rPr>
                        <a:t>Banee</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6">
                            <a:extLst>
                              <a:ext uri="{A12FA001-AC4F-418D-AE19-62706E023703}">
                                <ahyp:hlinkClr xmlns:ahyp="http://schemas.microsoft.com/office/drawing/2018/hyperlinkcolor" val="tx"/>
                              </a:ext>
                            </a:extLst>
                          </a:hlinkClick>
                        </a:rPr>
                        <a:t> Bandana Das</a:t>
                      </a:r>
                      <a:endPar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endParaRPr>
                    </a:p>
                    <a:p>
                      <a:pPr marL="0" algn="l" defTabSz="960120" rtl="0" eaLnBrk="1" fontAlgn="ctr" latinLnBrk="0" hangingPunct="1"/>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l" fontAlgn="b"/>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The paper combines energy-awareness and security-awareness for IoT.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Existing literature focuses on either energy or security, not both.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Solar energy is advocated for ultra-low-power harvesting systems.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DC-DC converters and MPPT are essential for power conditioning.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Capacitor value modulation aids in impedance matching.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Aging analysis of secure EHS is necessary for long-term operation. </a:t>
                      </a:r>
                    </a:p>
                  </a:txBody>
                  <a:tcPr marL="7620" marR="7620" marT="7620" marB="0" anchor="b"/>
                </a:tc>
                <a:extLst>
                  <a:ext uri="{0D108BD9-81ED-4DB2-BD59-A6C34878D82A}">
                    <a16:rowId xmlns:a16="http://schemas.microsoft.com/office/drawing/2014/main" val="31311898"/>
                  </a:ext>
                </a:extLst>
              </a:tr>
            </a:tbl>
          </a:graphicData>
        </a:graphic>
      </p:graphicFrame>
      <p:sp>
        <p:nvSpPr>
          <p:cNvPr id="10" name="Title 1">
            <a:extLst>
              <a:ext uri="{FF2B5EF4-FFF2-40B4-BE49-F238E27FC236}">
                <a16:creationId xmlns:a16="http://schemas.microsoft.com/office/drawing/2014/main" id="{0E58AF19-917C-E62A-7744-9D70DBF08576}"/>
              </a:ext>
            </a:extLst>
          </p:cNvPr>
          <p:cNvSpPr txBox="1">
            <a:spLocks/>
          </p:cNvSpPr>
          <p:nvPr/>
        </p:nvSpPr>
        <p:spPr>
          <a:xfrm>
            <a:off x="11106912" y="2778724"/>
            <a:ext cx="1328928" cy="685943"/>
          </a:xfrm>
          <a:prstGeom prst="rect">
            <a:avLst/>
          </a:prstGeom>
        </p:spPr>
        <p:txBody>
          <a:bodyPr vert="horz" lIns="91440" tIns="45720" rIns="91440" bIns="45720" rtlCol="0" anchor="ctr">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3200" b="1" dirty="0">
                <a:solidFill>
                  <a:srgbClr val="00B050"/>
                </a:solidFill>
                <a:latin typeface="Times New Roman" panose="02020603050405020304" pitchFamily="18" charset="0"/>
                <a:cs typeface="Times New Roman" panose="02020603050405020304" pitchFamily="18" charset="0"/>
              </a:rPr>
              <a:t>Solar</a:t>
            </a:r>
          </a:p>
        </p:txBody>
      </p:sp>
    </p:spTree>
    <p:extLst>
      <p:ext uri="{BB962C8B-B14F-4D97-AF65-F5344CB8AC3E}">
        <p14:creationId xmlns:p14="http://schemas.microsoft.com/office/powerpoint/2010/main" val="227292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0CA611D-E648-851D-9FEA-0D87E61B9BF2}"/>
              </a:ext>
            </a:extLst>
          </p:cNvPr>
          <p:cNvSpPr txBox="1">
            <a:spLocks/>
          </p:cNvSpPr>
          <p:nvPr/>
        </p:nvSpPr>
        <p:spPr>
          <a:xfrm>
            <a:off x="0" y="856"/>
            <a:ext cx="3460242" cy="685943"/>
          </a:xfrm>
          <a:prstGeom prst="rect">
            <a:avLst/>
          </a:prstGeom>
        </p:spPr>
        <p:txBody>
          <a:bodyPr vert="horz" lIns="91440" tIns="45720" rIns="91440" bIns="45720" rtlCol="0" anchor="ctr">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3200" b="1" dirty="0">
                <a:solidFill>
                  <a:srgbClr val="002060"/>
                </a:solidFill>
                <a:latin typeface="Times New Roman" panose="02020603050405020304" pitchFamily="18" charset="0"/>
                <a:cs typeface="Times New Roman" panose="02020603050405020304" pitchFamily="18" charset="0"/>
              </a:rPr>
              <a:t>Literature Review</a:t>
            </a:r>
          </a:p>
        </p:txBody>
      </p:sp>
      <p:sp>
        <p:nvSpPr>
          <p:cNvPr id="5" name="Title 1">
            <a:extLst>
              <a:ext uri="{FF2B5EF4-FFF2-40B4-BE49-F238E27FC236}">
                <a16:creationId xmlns:a16="http://schemas.microsoft.com/office/drawing/2014/main" id="{1FE66BAE-B504-96CF-9384-881DD649CDF7}"/>
              </a:ext>
            </a:extLst>
          </p:cNvPr>
          <p:cNvSpPr txBox="1">
            <a:spLocks/>
          </p:cNvSpPr>
          <p:nvPr/>
        </p:nvSpPr>
        <p:spPr>
          <a:xfrm>
            <a:off x="11409426" y="856"/>
            <a:ext cx="1243584" cy="685943"/>
          </a:xfrm>
          <a:prstGeom prst="rect">
            <a:avLst/>
          </a:prstGeom>
        </p:spPr>
        <p:txBody>
          <a:bodyPr vert="horz" lIns="91440" tIns="45720" rIns="91440" bIns="45720" rtlCol="0" anchor="ctr">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3200" b="1" dirty="0">
                <a:solidFill>
                  <a:srgbClr val="00B050"/>
                </a:solidFill>
                <a:latin typeface="Times New Roman" panose="02020603050405020304" pitchFamily="18" charset="0"/>
                <a:cs typeface="Times New Roman" panose="02020603050405020304" pitchFamily="18" charset="0"/>
              </a:rPr>
              <a:t>Grid</a:t>
            </a:r>
          </a:p>
        </p:txBody>
      </p:sp>
      <p:graphicFrame>
        <p:nvGraphicFramePr>
          <p:cNvPr id="6" name="Table 5">
            <a:extLst>
              <a:ext uri="{FF2B5EF4-FFF2-40B4-BE49-F238E27FC236}">
                <a16:creationId xmlns:a16="http://schemas.microsoft.com/office/drawing/2014/main" id="{C4C743F5-52EA-A901-32DB-C521577EE7B6}"/>
              </a:ext>
            </a:extLst>
          </p:cNvPr>
          <p:cNvGraphicFramePr>
            <a:graphicFrameLocks noGrp="1"/>
          </p:cNvGraphicFramePr>
          <p:nvPr>
            <p:extLst>
              <p:ext uri="{D42A27DB-BD31-4B8C-83A1-F6EECF244321}">
                <p14:modId xmlns:p14="http://schemas.microsoft.com/office/powerpoint/2010/main" val="351052688"/>
              </p:ext>
            </p:extLst>
          </p:nvPr>
        </p:nvGraphicFramePr>
        <p:xfrm>
          <a:off x="148590" y="754983"/>
          <a:ext cx="12504420" cy="7267381"/>
        </p:xfrm>
        <a:graphic>
          <a:graphicData uri="http://schemas.openxmlformats.org/drawingml/2006/table">
            <a:tbl>
              <a:tblPr>
                <a:tableStyleId>{5C22544A-7EE6-4342-B048-85BDC9FD1C3A}</a:tableStyleId>
              </a:tblPr>
              <a:tblGrid>
                <a:gridCol w="4679442">
                  <a:extLst>
                    <a:ext uri="{9D8B030D-6E8A-4147-A177-3AD203B41FA5}">
                      <a16:colId xmlns:a16="http://schemas.microsoft.com/office/drawing/2014/main" val="3449231370"/>
                    </a:ext>
                  </a:extLst>
                </a:gridCol>
                <a:gridCol w="7824978">
                  <a:extLst>
                    <a:ext uri="{9D8B030D-6E8A-4147-A177-3AD203B41FA5}">
                      <a16:colId xmlns:a16="http://schemas.microsoft.com/office/drawing/2014/main" val="2739356569"/>
                    </a:ext>
                  </a:extLst>
                </a:gridCol>
              </a:tblGrid>
              <a:tr h="384407">
                <a:tc>
                  <a:txBody>
                    <a:bodyPr/>
                    <a:lstStyle/>
                    <a:p>
                      <a:pPr marL="0" algn="ctr" defTabSz="960120" rtl="0" eaLnBrk="1" fontAlgn="b" latinLnBrk="0" hangingPunct="1"/>
                      <a:r>
                        <a:rPr lang="en-US" sz="2400" b="1" u="none" strike="noStrike" kern="1200" dirty="0">
                          <a:solidFill>
                            <a:srgbClr val="C00000"/>
                          </a:solidFill>
                          <a:effectLst/>
                          <a:latin typeface="Times New Roman" panose="02020603050405020304" pitchFamily="18" charset="0"/>
                          <a:ea typeface="+mn-ea"/>
                          <a:cs typeface="Times New Roman" panose="02020603050405020304" pitchFamily="18" charset="0"/>
                        </a:rPr>
                        <a:t>Research Paper Title</a:t>
                      </a:r>
                    </a:p>
                  </a:txBody>
                  <a:tcPr marL="5534" marR="5534" marT="5534" marB="0" anchor="b"/>
                </a:tc>
                <a:tc>
                  <a:txBody>
                    <a:bodyPr/>
                    <a:lstStyle/>
                    <a:p>
                      <a:pPr marL="0" algn="ctr" defTabSz="960120" rtl="0" eaLnBrk="1" fontAlgn="b" latinLnBrk="0" hangingPunct="1"/>
                      <a:r>
                        <a:rPr lang="en-US" sz="2400" b="1" u="none" strike="noStrike" kern="1200" dirty="0">
                          <a:solidFill>
                            <a:srgbClr val="C00000"/>
                          </a:solidFill>
                          <a:effectLst/>
                          <a:latin typeface="Times New Roman" panose="02020603050405020304" pitchFamily="18" charset="0"/>
                          <a:ea typeface="+mn-ea"/>
                          <a:cs typeface="Times New Roman" panose="02020603050405020304" pitchFamily="18" charset="0"/>
                        </a:rPr>
                        <a:t>Literature Review</a:t>
                      </a:r>
                    </a:p>
                  </a:txBody>
                  <a:tcPr marL="5534" marR="5534" marT="5534" marB="0" anchor="b"/>
                </a:tc>
                <a:extLst>
                  <a:ext uri="{0D108BD9-81ED-4DB2-BD59-A6C34878D82A}">
                    <a16:rowId xmlns:a16="http://schemas.microsoft.com/office/drawing/2014/main" val="411306"/>
                  </a:ext>
                </a:extLst>
              </a:tr>
              <a:tr h="1348459">
                <a:tc>
                  <a:txBody>
                    <a:bodyPr/>
                    <a:lstStyle/>
                    <a:p>
                      <a:pPr algn="l" fontAlgn="ctr"/>
                      <a:r>
                        <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rPr>
                        <a:t>IoT-based optimization of microgrid operation</a:t>
                      </a:r>
                    </a:p>
                    <a:p>
                      <a:pPr algn="l" fontAlgn="ctr"/>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algn="l" fontAlgn="ctr"/>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algn="l" fontAlgn="ct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2">
                            <a:extLst>
                              <a:ext uri="{A12FA001-AC4F-418D-AE19-62706E023703}">
                                <ahyp:hlinkClr xmlns:ahyp="http://schemas.microsoft.com/office/drawing/2018/hyperlinkcolor" val="tx"/>
                              </a:ext>
                            </a:extLst>
                          </a:hlinkClick>
                        </a:rPr>
                        <a:t>Abdelrahman Ahmed</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Sobhy Abdelkader</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4">
                            <a:extLst>
                              <a:ext uri="{A12FA001-AC4F-418D-AE19-62706E023703}">
                                <ahyp:hlinkClr xmlns:ahyp="http://schemas.microsoft.com/office/drawing/2018/hyperlinkcolor" val="tx"/>
                              </a:ext>
                            </a:extLst>
                          </a:hlinkClick>
                        </a:rPr>
                        <a:t>Ehab Ayman</a:t>
                      </a:r>
                      <a:endPar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endParaRPr>
                    </a:p>
                  </a:txBody>
                  <a:tcPr marL="5534" marR="5534" marT="5534" marB="0" anchor="ctr"/>
                </a:tc>
                <a:tc>
                  <a:txBody>
                    <a:bodyPr/>
                    <a:lstStyle/>
                    <a:p>
                      <a:pPr algn="l" fontAlgn="b"/>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Energy management technologies are crucial for maximizing energy efficiency in the renewable energy sector. These technologies involve aspects such as energy information collection, economic analysis, and operational strategies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When determining the optimal capacity for an Energy Storage System (ESS), it is important to consider various factors beyond numerical calculations. Factors such as ESS characteristics, lifespan, and operational considerations should be taken into account for cost-effective decisions </a:t>
                      </a:r>
                    </a:p>
                  </a:txBody>
                  <a:tcPr marL="5534" marR="5534" marT="5534" marB="0" anchor="b"/>
                </a:tc>
                <a:extLst>
                  <a:ext uri="{0D108BD9-81ED-4DB2-BD59-A6C34878D82A}">
                    <a16:rowId xmlns:a16="http://schemas.microsoft.com/office/drawing/2014/main" val="1849414495"/>
                  </a:ext>
                </a:extLst>
              </a:tr>
              <a:tr h="1572299">
                <a:tc>
                  <a:txBody>
                    <a:bodyPr/>
                    <a:lstStyle/>
                    <a:p>
                      <a:pPr algn="l" fontAlgn="ctr"/>
                      <a:r>
                        <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rPr>
                        <a:t>An Efficient LoRa-Enabled Smart Fault Detection and Monitoring Platform for the Power Distribution System Using Self-Powered IoT Devices</a:t>
                      </a:r>
                    </a:p>
                    <a:p>
                      <a:pPr algn="l" fontAlgn="ctr"/>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marL="0" algn="l" defTabSz="960120" rtl="0" eaLnBrk="1" fontAlgn="ctr" latinLnBrk="0" hangingPunct="1"/>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5">
                            <a:extLst>
                              <a:ext uri="{A12FA001-AC4F-418D-AE19-62706E023703}">
                                <ahyp:hlinkClr xmlns:ahyp="http://schemas.microsoft.com/office/drawing/2018/hyperlinkcolor" val="tx"/>
                              </a:ext>
                            </a:extLst>
                          </a:hlinkClick>
                        </a:rPr>
                        <a:t>Isa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5">
                            <a:extLst>
                              <a:ext uri="{A12FA001-AC4F-418D-AE19-62706E023703}">
                                <ahyp:hlinkClr xmlns:ahyp="http://schemas.microsoft.com/office/drawing/2018/hyperlinkcolor" val="tx"/>
                              </a:ext>
                            </a:extLst>
                          </a:hlinkClick>
                        </a:rPr>
                        <a:t>Hafidz</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6">
                            <a:extLst>
                              <a:ext uri="{A12FA001-AC4F-418D-AE19-62706E023703}">
                                <ahyp:hlinkClr xmlns:ahyp="http://schemas.microsoft.com/office/drawing/2018/hyperlinkcolor" val="tx"/>
                              </a:ext>
                            </a:extLst>
                          </a:hlinkClick>
                        </a:rPr>
                        <a:t>Ardyono</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6">
                            <a:extLst>
                              <a:ext uri="{A12FA001-AC4F-418D-AE19-62706E023703}">
                                <ahyp:hlinkClr xmlns:ahyp="http://schemas.microsoft.com/office/drawing/2018/hyperlinkcolor" val="tx"/>
                              </a:ext>
                            </a:extLst>
                          </a:hlinkClick>
                        </a:rPr>
                        <a:t>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6">
                            <a:extLst>
                              <a:ext uri="{A12FA001-AC4F-418D-AE19-62706E023703}">
                                <ahyp:hlinkClr xmlns:ahyp="http://schemas.microsoft.com/office/drawing/2018/hyperlinkcolor" val="tx"/>
                              </a:ext>
                            </a:extLst>
                          </a:hlinkClick>
                        </a:rPr>
                        <a:t>Priyadi</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7">
                            <a:extLst>
                              <a:ext uri="{A12FA001-AC4F-418D-AE19-62706E023703}">
                                <ahyp:hlinkClr xmlns:ahyp="http://schemas.microsoft.com/office/drawing/2018/hyperlinkcolor" val="tx"/>
                              </a:ext>
                            </a:extLst>
                          </a:hlinkClick>
                        </a:rPr>
                        <a:t>Margo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7">
                            <a:extLst>
                              <a:ext uri="{A12FA001-AC4F-418D-AE19-62706E023703}">
                                <ahyp:hlinkClr xmlns:ahyp="http://schemas.microsoft.com/office/drawing/2018/hyperlinkcolor" val="tx"/>
                              </a:ext>
                            </a:extLst>
                          </a:hlinkClick>
                        </a:rPr>
                        <a:t>Pujiantara</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8">
                            <a:extLst>
                              <a:ext uri="{A12FA001-AC4F-418D-AE19-62706E023703}">
                                <ahyp:hlinkClr xmlns:ahyp="http://schemas.microsoft.com/office/drawing/2018/hyperlinkcolor" val="tx"/>
                              </a:ext>
                            </a:extLst>
                          </a:hlinkClick>
                        </a:rPr>
                        <a:t>Dimas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8">
                            <a:extLst>
                              <a:ext uri="{A12FA001-AC4F-418D-AE19-62706E023703}">
                                <ahyp:hlinkClr xmlns:ahyp="http://schemas.microsoft.com/office/drawing/2018/hyperlinkcolor" val="tx"/>
                              </a:ext>
                            </a:extLst>
                          </a:hlinkClick>
                        </a:rPr>
                        <a:t>Okky</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8">
                            <a:extLst>
                              <a:ext uri="{A12FA001-AC4F-418D-AE19-62706E023703}">
                                <ahyp:hlinkClr xmlns:ahyp="http://schemas.microsoft.com/office/drawing/2018/hyperlinkcolor" val="tx"/>
                              </a:ext>
                            </a:extLst>
                          </a:hlinkClick>
                        </a:rPr>
                        <a:t>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8">
                            <a:extLst>
                              <a:ext uri="{A12FA001-AC4F-418D-AE19-62706E023703}">
                                <ahyp:hlinkClr xmlns:ahyp="http://schemas.microsoft.com/office/drawing/2018/hyperlinkcolor" val="tx"/>
                              </a:ext>
                            </a:extLst>
                          </a:hlinkClick>
                        </a:rPr>
                        <a:t>Anggriawan</a:t>
                      </a:r>
                      <a:endPar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endParaRPr>
                    </a:p>
                  </a:txBody>
                  <a:tcPr marL="5534" marR="5534" marT="5534" marB="0" anchor="ctr"/>
                </a:tc>
                <a:tc>
                  <a:txBody>
                    <a:bodyPr/>
                    <a:lstStyle/>
                    <a:p>
                      <a:pPr algn="l" fontAlgn="b"/>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The literature review covers fault monitoring in power distribution systems.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Various approaches include Petri nets, fuzzy methods, and neural networks.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Expert systems face challenges in maintaining knowledge bases.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Neural networks struggle with interpreting reasoning results.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Fuzzy theory is susceptible to subjective tendencies.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Petri-based methods have poor adaptability and online modeling issues.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Previous studies focused on IoT's role in power maintenance. </a:t>
                      </a:r>
                    </a:p>
                  </a:txBody>
                  <a:tcPr marL="5534" marR="5534" marT="5534" marB="0" anchor="b"/>
                </a:tc>
                <a:extLst>
                  <a:ext uri="{0D108BD9-81ED-4DB2-BD59-A6C34878D82A}">
                    <a16:rowId xmlns:a16="http://schemas.microsoft.com/office/drawing/2014/main" val="1900172610"/>
                  </a:ext>
                </a:extLst>
              </a:tr>
              <a:tr h="1328718">
                <a:tc>
                  <a:txBody>
                    <a:bodyPr/>
                    <a:lstStyle/>
                    <a:p>
                      <a:pPr algn="l" fontAlgn="ctr"/>
                      <a:r>
                        <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rPr>
                        <a:t>Development of IoT-Based Portable Power Quality Monitoring on Microgrids by Enhancing Protection Features</a:t>
                      </a:r>
                    </a:p>
                    <a:p>
                      <a:pPr algn="l" fontAlgn="ctr"/>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marL="0" algn="l" defTabSz="960120" rtl="0" eaLnBrk="1" fontAlgn="ctr" latinLnBrk="0" hangingPunct="1"/>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9">
                            <a:extLst>
                              <a:ext uri="{A12FA001-AC4F-418D-AE19-62706E023703}">
                                <ahyp:hlinkClr xmlns:ahyp="http://schemas.microsoft.com/office/drawing/2018/hyperlinkcolor" val="tx"/>
                              </a:ext>
                            </a:extLst>
                          </a:hlinkClick>
                        </a:rPr>
                        <a:t>Tianxin</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9">
                            <a:extLst>
                              <a:ext uri="{A12FA001-AC4F-418D-AE19-62706E023703}">
                                <ahyp:hlinkClr xmlns:ahyp="http://schemas.microsoft.com/office/drawing/2018/hyperlinkcolor" val="tx"/>
                              </a:ext>
                            </a:extLst>
                          </a:hlinkClick>
                        </a:rPr>
                        <a:t> Zhuang</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0">
                            <a:extLst>
                              <a:ext uri="{A12FA001-AC4F-418D-AE19-62706E023703}">
                                <ahyp:hlinkClr xmlns:ahyp="http://schemas.microsoft.com/office/drawing/2018/hyperlinkcolor" val="tx"/>
                              </a:ext>
                            </a:extLst>
                          </a:hlinkClick>
                        </a:rPr>
                        <a:t>Ming Ren</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11">
                            <a:extLst>
                              <a:ext uri="{A12FA001-AC4F-418D-AE19-62706E023703}">
                                <ahyp:hlinkClr xmlns:ahyp="http://schemas.microsoft.com/office/drawing/2018/hyperlinkcolor" val="tx"/>
                              </a:ext>
                            </a:extLst>
                          </a:hlinkClick>
                        </a:rPr>
                        <a:t>Xuze</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1">
                            <a:extLst>
                              <a:ext uri="{A12FA001-AC4F-418D-AE19-62706E023703}">
                                <ahyp:hlinkClr xmlns:ahyp="http://schemas.microsoft.com/office/drawing/2018/hyperlinkcolor" val="tx"/>
                              </a:ext>
                            </a:extLst>
                          </a:hlinkClick>
                        </a:rPr>
                        <a:t> Gao</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2">
                            <a:extLst>
                              <a:ext uri="{A12FA001-AC4F-418D-AE19-62706E023703}">
                                <ahyp:hlinkClr xmlns:ahyp="http://schemas.microsoft.com/office/drawing/2018/hyperlinkcolor" val="tx"/>
                              </a:ext>
                            </a:extLst>
                          </a:hlinkClick>
                        </a:rPr>
                        <a:t>Ming Dong</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13">
                            <a:extLst>
                              <a:ext uri="{A12FA001-AC4F-418D-AE19-62706E023703}">
                                <ahyp:hlinkClr xmlns:ahyp="http://schemas.microsoft.com/office/drawing/2018/hyperlinkcolor" val="tx"/>
                              </a:ext>
                            </a:extLst>
                          </a:hlinkClick>
                        </a:rPr>
                        <a:t>Wenguang</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3">
                            <a:extLst>
                              <a:ext uri="{A12FA001-AC4F-418D-AE19-62706E023703}">
                                <ahyp:hlinkClr xmlns:ahyp="http://schemas.microsoft.com/office/drawing/2018/hyperlinkcolor" val="tx"/>
                              </a:ext>
                            </a:extLst>
                          </a:hlinkClick>
                        </a:rPr>
                        <a:t> Huang</a:t>
                      </a:r>
                      <a:endPar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endParaRPr>
                    </a:p>
                  </a:txBody>
                  <a:tcPr marL="5534" marR="5534" marT="5534" marB="0" anchor="ctr"/>
                </a:tc>
                <a:tc>
                  <a:txBody>
                    <a:bodyPr/>
                    <a:lstStyle/>
                    <a:p>
                      <a:pPr algn="l" fontAlgn="b"/>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The paper explores power quality and protection features in microgrids.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It discusses challenges in microcontroller-based microgrid protection schemes.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Coordination schemes for non-standard tripping characteristics are developed.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The impact of renewable energy on network architecture is analyzed.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Power quality issues affecting equipment life and costs are highlighted. </a:t>
                      </a:r>
                    </a:p>
                  </a:txBody>
                  <a:tcPr marL="5534" marR="5534" marT="5534" marB="0" anchor="b"/>
                </a:tc>
                <a:extLst>
                  <a:ext uri="{0D108BD9-81ED-4DB2-BD59-A6C34878D82A}">
                    <a16:rowId xmlns:a16="http://schemas.microsoft.com/office/drawing/2014/main" val="214610679"/>
                  </a:ext>
                </a:extLst>
              </a:tr>
              <a:tr h="1258923">
                <a:tc>
                  <a:txBody>
                    <a:bodyPr/>
                    <a:lstStyle/>
                    <a:p>
                      <a:pPr algn="l" fontAlgn="ctr"/>
                      <a:r>
                        <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rPr>
                        <a:t>Insulation Condition Monitoring in Distribution Power Grid via IoT-Based Sensing Network</a:t>
                      </a:r>
                    </a:p>
                    <a:p>
                      <a:pPr algn="l" fontAlgn="ctr"/>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algn="l" fontAlgn="ctr"/>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marL="0" algn="l" defTabSz="960120" rtl="0" eaLnBrk="1" fontAlgn="ctr" latinLnBrk="0" hangingPunct="1"/>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9">
                            <a:extLst>
                              <a:ext uri="{A12FA001-AC4F-418D-AE19-62706E023703}">
                                <ahyp:hlinkClr xmlns:ahyp="http://schemas.microsoft.com/office/drawing/2018/hyperlinkcolor" val="tx"/>
                              </a:ext>
                            </a:extLst>
                          </a:hlinkClick>
                        </a:rPr>
                        <a:t>Tianxin</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9">
                            <a:extLst>
                              <a:ext uri="{A12FA001-AC4F-418D-AE19-62706E023703}">
                                <ahyp:hlinkClr xmlns:ahyp="http://schemas.microsoft.com/office/drawing/2018/hyperlinkcolor" val="tx"/>
                              </a:ext>
                            </a:extLst>
                          </a:hlinkClick>
                        </a:rPr>
                        <a:t> Zhuang</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0">
                            <a:extLst>
                              <a:ext uri="{A12FA001-AC4F-418D-AE19-62706E023703}">
                                <ahyp:hlinkClr xmlns:ahyp="http://schemas.microsoft.com/office/drawing/2018/hyperlinkcolor" val="tx"/>
                              </a:ext>
                            </a:extLst>
                          </a:hlinkClick>
                        </a:rPr>
                        <a:t>Ming Ren</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11">
                            <a:extLst>
                              <a:ext uri="{A12FA001-AC4F-418D-AE19-62706E023703}">
                                <ahyp:hlinkClr xmlns:ahyp="http://schemas.microsoft.com/office/drawing/2018/hyperlinkcolor" val="tx"/>
                              </a:ext>
                            </a:extLst>
                          </a:hlinkClick>
                        </a:rPr>
                        <a:t>Xuze</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1">
                            <a:extLst>
                              <a:ext uri="{A12FA001-AC4F-418D-AE19-62706E023703}">
                                <ahyp:hlinkClr xmlns:ahyp="http://schemas.microsoft.com/office/drawing/2018/hyperlinkcolor" val="tx"/>
                              </a:ext>
                            </a:extLst>
                          </a:hlinkClick>
                        </a:rPr>
                        <a:t> Gao</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2">
                            <a:extLst>
                              <a:ext uri="{A12FA001-AC4F-418D-AE19-62706E023703}">
                                <ahyp:hlinkClr xmlns:ahyp="http://schemas.microsoft.com/office/drawing/2018/hyperlinkcolor" val="tx"/>
                              </a:ext>
                            </a:extLst>
                          </a:hlinkClick>
                        </a:rPr>
                        <a:t>Ming Dong</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13">
                            <a:extLst>
                              <a:ext uri="{A12FA001-AC4F-418D-AE19-62706E023703}">
                                <ahyp:hlinkClr xmlns:ahyp="http://schemas.microsoft.com/office/drawing/2018/hyperlinkcolor" val="tx"/>
                              </a:ext>
                            </a:extLst>
                          </a:hlinkClick>
                        </a:rPr>
                        <a:t>Wenguang</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3">
                            <a:extLst>
                              <a:ext uri="{A12FA001-AC4F-418D-AE19-62706E023703}">
                                <ahyp:hlinkClr xmlns:ahyp="http://schemas.microsoft.com/office/drawing/2018/hyperlinkcolor" val="tx"/>
                              </a:ext>
                            </a:extLst>
                          </a:hlinkClick>
                        </a:rPr>
                        <a:t> Huang</a:t>
                      </a:r>
                      <a:endPar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endParaRPr>
                    </a:p>
                  </a:txBody>
                  <a:tcPr marL="5534" marR="5534" marT="5534" marB="0" anchor="ctr"/>
                </a:tc>
                <a:tc>
                  <a:txBody>
                    <a:bodyPr/>
                    <a:lstStyle/>
                    <a:p>
                      <a:pPr algn="l" fontAlgn="b"/>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Energy management technologies such as energy information collection, economic analysis, and operation play a crucial role in maximizing energy efficiency in the renewable energy business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To calculate the most economical Energy Storage System (ESS) capacity, it is essential to consider factors like ESS characteristics, lifespan, and operational aspects rather than just numerical calculations </a:t>
                      </a:r>
                    </a:p>
                  </a:txBody>
                  <a:tcPr marL="5534" marR="5534" marT="5534" marB="0" anchor="b"/>
                </a:tc>
                <a:extLst>
                  <a:ext uri="{0D108BD9-81ED-4DB2-BD59-A6C34878D82A}">
                    <a16:rowId xmlns:a16="http://schemas.microsoft.com/office/drawing/2014/main" val="453411154"/>
                  </a:ext>
                </a:extLst>
              </a:tr>
              <a:tr h="1258923">
                <a:tc>
                  <a:txBody>
                    <a:bodyPr/>
                    <a:lstStyle/>
                    <a:p>
                      <a:pPr algn="l" fontAlgn="ctr"/>
                      <a:r>
                        <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rPr>
                        <a:t>Internet of Things-Aided Smart Grid: Technologies, Architectures, Applications, Prototypes, and Future Research Directions</a:t>
                      </a:r>
                    </a:p>
                    <a:p>
                      <a:pPr algn="l" fontAlgn="ctr"/>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algn="l" fontAlgn="ct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4">
                            <a:extLst>
                              <a:ext uri="{A12FA001-AC4F-418D-AE19-62706E023703}">
                                <ahyp:hlinkClr xmlns:ahyp="http://schemas.microsoft.com/office/drawing/2018/hyperlinkcolor" val="tx"/>
                              </a:ext>
                            </a:extLst>
                          </a:hlinkClick>
                        </a:rPr>
                        <a:t>Yasir Saleem</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5">
                            <a:extLst>
                              <a:ext uri="{A12FA001-AC4F-418D-AE19-62706E023703}">
                                <ahyp:hlinkClr xmlns:ahyp="http://schemas.microsoft.com/office/drawing/2018/hyperlinkcolor" val="tx"/>
                              </a:ext>
                            </a:extLst>
                          </a:hlinkClick>
                        </a:rPr>
                        <a:t>Noel Crespi</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6">
                            <a:extLst>
                              <a:ext uri="{A12FA001-AC4F-418D-AE19-62706E023703}">
                                <ahyp:hlinkClr xmlns:ahyp="http://schemas.microsoft.com/office/drawing/2018/hyperlinkcolor" val="tx"/>
                              </a:ext>
                            </a:extLst>
                          </a:hlinkClick>
                        </a:rPr>
                        <a:t>Mubashir Husain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16">
                            <a:extLst>
                              <a:ext uri="{A12FA001-AC4F-418D-AE19-62706E023703}">
                                <ahyp:hlinkClr xmlns:ahyp="http://schemas.microsoft.com/office/drawing/2018/hyperlinkcolor" val="tx"/>
                              </a:ext>
                            </a:extLst>
                          </a:hlinkClick>
                        </a:rPr>
                        <a:t>Rehmani</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7">
                            <a:extLst>
                              <a:ext uri="{A12FA001-AC4F-418D-AE19-62706E023703}">
                                <ahyp:hlinkClr xmlns:ahyp="http://schemas.microsoft.com/office/drawing/2018/hyperlinkcolor" val="tx"/>
                              </a:ext>
                            </a:extLst>
                          </a:hlinkClick>
                        </a:rPr>
                        <a:t>Rebecca Copeland</a:t>
                      </a:r>
                      <a:endPar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endParaRPr>
                    </a:p>
                  </a:txBody>
                  <a:tcPr marL="5534" marR="5534" marT="5534" marB="0" anchor="ctr"/>
                </a:tc>
                <a:tc>
                  <a:txBody>
                    <a:bodyPr/>
                    <a:lstStyle/>
                    <a:p>
                      <a:pPr algn="l" fontAlgn="b"/>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The survey covers IoT-aided smart grid systems comprehensively.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It discusses existing architectures for IoT-aided smart grids.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Applications of IoT-aided smart grids are detailed in the literature.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Previous surveys on IoT and smart grids are reviewed.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The paper identifies gaps in literature on IoT-aided smart grids. </a:t>
                      </a:r>
                    </a:p>
                  </a:txBody>
                  <a:tcPr marL="5534" marR="5534" marT="5534" marB="0" anchor="b"/>
                </a:tc>
                <a:extLst>
                  <a:ext uri="{0D108BD9-81ED-4DB2-BD59-A6C34878D82A}">
                    <a16:rowId xmlns:a16="http://schemas.microsoft.com/office/drawing/2014/main" val="117386070"/>
                  </a:ext>
                </a:extLst>
              </a:tr>
            </a:tbl>
          </a:graphicData>
        </a:graphic>
      </p:graphicFrame>
    </p:spTree>
    <p:extLst>
      <p:ext uri="{BB962C8B-B14F-4D97-AF65-F5344CB8AC3E}">
        <p14:creationId xmlns:p14="http://schemas.microsoft.com/office/powerpoint/2010/main" val="964769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2949E0C-B578-C868-FF42-AD02546AA2A2}"/>
              </a:ext>
            </a:extLst>
          </p:cNvPr>
          <p:cNvGraphicFramePr>
            <a:graphicFrameLocks noGrp="1"/>
          </p:cNvGraphicFramePr>
          <p:nvPr>
            <p:extLst>
              <p:ext uri="{D42A27DB-BD31-4B8C-83A1-F6EECF244321}">
                <p14:modId xmlns:p14="http://schemas.microsoft.com/office/powerpoint/2010/main" val="3290131188"/>
              </p:ext>
            </p:extLst>
          </p:nvPr>
        </p:nvGraphicFramePr>
        <p:xfrm>
          <a:off x="146304" y="685943"/>
          <a:ext cx="12508992" cy="5284935"/>
        </p:xfrm>
        <a:graphic>
          <a:graphicData uri="http://schemas.openxmlformats.org/drawingml/2006/table">
            <a:tbl>
              <a:tblPr>
                <a:tableStyleId>{5C22544A-7EE6-4342-B048-85BDC9FD1C3A}</a:tableStyleId>
              </a:tblPr>
              <a:tblGrid>
                <a:gridCol w="3586322">
                  <a:extLst>
                    <a:ext uri="{9D8B030D-6E8A-4147-A177-3AD203B41FA5}">
                      <a16:colId xmlns:a16="http://schemas.microsoft.com/office/drawing/2014/main" val="3309718551"/>
                    </a:ext>
                  </a:extLst>
                </a:gridCol>
                <a:gridCol w="8922670">
                  <a:extLst>
                    <a:ext uri="{9D8B030D-6E8A-4147-A177-3AD203B41FA5}">
                      <a16:colId xmlns:a16="http://schemas.microsoft.com/office/drawing/2014/main" val="3419713008"/>
                    </a:ext>
                  </a:extLst>
                </a:gridCol>
              </a:tblGrid>
              <a:tr h="347243">
                <a:tc>
                  <a:txBody>
                    <a:bodyPr/>
                    <a:lstStyle/>
                    <a:p>
                      <a:pPr algn="ctr" fontAlgn="b"/>
                      <a:r>
                        <a:rPr lang="en-US" sz="2400" b="1" u="none" strike="noStrike" kern="1200">
                          <a:solidFill>
                            <a:srgbClr val="C00000"/>
                          </a:solidFill>
                          <a:effectLst/>
                          <a:latin typeface="Times New Roman" panose="02020603050405020304" pitchFamily="18" charset="0"/>
                          <a:ea typeface="+mn-ea"/>
                          <a:cs typeface="Times New Roman" panose="02020603050405020304" pitchFamily="18" charset="0"/>
                        </a:rPr>
                        <a:t>Research Paper Title</a:t>
                      </a:r>
                    </a:p>
                  </a:txBody>
                  <a:tcPr marL="4381" marR="4381" marT="4381" marB="0" anchor="b"/>
                </a:tc>
                <a:tc>
                  <a:txBody>
                    <a:bodyPr/>
                    <a:lstStyle/>
                    <a:p>
                      <a:pPr algn="ctr" fontAlgn="b"/>
                      <a:r>
                        <a:rPr lang="en-US" sz="2400" b="1" u="none" strike="noStrike" kern="1200" dirty="0">
                          <a:solidFill>
                            <a:srgbClr val="C00000"/>
                          </a:solidFill>
                          <a:effectLst/>
                          <a:latin typeface="Times New Roman" panose="02020603050405020304" pitchFamily="18" charset="0"/>
                          <a:ea typeface="+mn-ea"/>
                          <a:cs typeface="Times New Roman" panose="02020603050405020304" pitchFamily="18" charset="0"/>
                        </a:rPr>
                        <a:t>Literature Review</a:t>
                      </a:r>
                    </a:p>
                  </a:txBody>
                  <a:tcPr marL="4381" marR="4381" marT="4381" marB="0" anchor="b"/>
                </a:tc>
                <a:extLst>
                  <a:ext uri="{0D108BD9-81ED-4DB2-BD59-A6C34878D82A}">
                    <a16:rowId xmlns:a16="http://schemas.microsoft.com/office/drawing/2014/main" val="1676016210"/>
                  </a:ext>
                </a:extLst>
              </a:tr>
              <a:tr h="1290858">
                <a:tc>
                  <a:txBody>
                    <a:bodyPr/>
                    <a:lstStyle/>
                    <a:p>
                      <a:pPr algn="l" fontAlgn="ctr"/>
                      <a:r>
                        <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rPr>
                        <a:t>Design of an Industrial IoT-Based Monitoring System for Power Substations</a:t>
                      </a:r>
                    </a:p>
                    <a:p>
                      <a:pPr algn="l" fontAlgn="ctr"/>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algn="l" fontAlgn="ctr"/>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algn="l" fontAlgn="ct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2">
                            <a:extLst>
                              <a:ext uri="{A12FA001-AC4F-418D-AE19-62706E023703}">
                                <ahyp:hlinkClr xmlns:ahyp="http://schemas.microsoft.com/office/drawing/2018/hyperlinkcolor" val="tx"/>
                              </a:ext>
                            </a:extLst>
                          </a:hlinkClick>
                        </a:rPr>
                        <a:t>Long Zhao</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Igor Brandao Machado Matsuo</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4">
                            <a:extLst>
                              <a:ext uri="{A12FA001-AC4F-418D-AE19-62706E023703}">
                                <ahyp:hlinkClr xmlns:ahyp="http://schemas.microsoft.com/office/drawing/2018/hyperlinkcolor" val="tx"/>
                              </a:ext>
                            </a:extLst>
                          </a:hlinkClick>
                        </a:rPr>
                        <a:t>Yuhao</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4">
                            <a:extLst>
                              <a:ext uri="{A12FA001-AC4F-418D-AE19-62706E023703}">
                                <ahyp:hlinkClr xmlns:ahyp="http://schemas.microsoft.com/office/drawing/2018/hyperlinkcolor" val="tx"/>
                              </a:ext>
                            </a:extLst>
                          </a:hlinkClick>
                        </a:rPr>
                        <a:t> Zhou</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5">
                            <a:extLst>
                              <a:ext uri="{A12FA001-AC4F-418D-AE19-62706E023703}">
                                <ahyp:hlinkClr xmlns:ahyp="http://schemas.microsoft.com/office/drawing/2018/hyperlinkcolor" val="tx"/>
                              </a:ext>
                            </a:extLst>
                          </a:hlinkClick>
                        </a:rPr>
                        <a:t>Wei-Jen Lee</a:t>
                      </a:r>
                      <a:endPar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endParaRPr>
                    </a:p>
                  </a:txBody>
                  <a:tcPr marL="4381" marR="4381" marT="4381" marB="0" anchor="ctr"/>
                </a:tc>
                <a:tc>
                  <a:txBody>
                    <a:bodyPr/>
                    <a:lstStyle/>
                    <a:p>
                      <a:pPr algn="l" fontAlgn="b"/>
                      <a:r>
                        <a:rPr lang="en-US" sz="1500" u="none" strike="noStrike" kern="1200">
                          <a:solidFill>
                            <a:schemeClr val="dk1"/>
                          </a:solidFill>
                          <a:effectLst/>
                          <a:latin typeface="Times New Roman" panose="02020603050405020304" pitchFamily="18" charset="0"/>
                          <a:ea typeface="+mn-ea"/>
                          <a:cs typeface="Times New Roman" panose="02020603050405020304" pitchFamily="18" charset="0"/>
                        </a:rPr>
                        <a:t>The paper discusses IoT's application in various monitoring systems. </a:t>
                      </a:r>
                      <a:br>
                        <a:rPr lang="en-US" sz="1500" u="none" strike="noStrike" kern="120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a:solidFill>
                            <a:schemeClr val="dk1"/>
                          </a:solidFill>
                          <a:effectLst/>
                          <a:latin typeface="Times New Roman" panose="02020603050405020304" pitchFamily="18" charset="0"/>
                          <a:ea typeface="+mn-ea"/>
                          <a:cs typeface="Times New Roman" panose="02020603050405020304" pitchFamily="18" charset="0"/>
                        </a:rPr>
                        <a:t>IIoT enhances data collection and analysis in power systems. </a:t>
                      </a:r>
                      <a:br>
                        <a:rPr lang="en-US" sz="1500" u="none" strike="noStrike" kern="120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a:solidFill>
                            <a:schemeClr val="dk1"/>
                          </a:solidFill>
                          <a:effectLst/>
                          <a:latin typeface="Times New Roman" panose="02020603050405020304" pitchFamily="18" charset="0"/>
                          <a:ea typeface="+mn-ea"/>
                          <a:cs typeface="Times New Roman" panose="02020603050405020304" pitchFamily="18" charset="0"/>
                        </a:rPr>
                        <a:t>Real-time monitoring is critical for power system operations. </a:t>
                      </a:r>
                      <a:br>
                        <a:rPr lang="en-US" sz="1500" u="none" strike="noStrike" kern="120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a:solidFill>
                            <a:schemeClr val="dk1"/>
                          </a:solidFill>
                          <a:effectLst/>
                          <a:latin typeface="Times New Roman" panose="02020603050405020304" pitchFamily="18" charset="0"/>
                          <a:ea typeface="+mn-ea"/>
                          <a:cs typeface="Times New Roman" panose="02020603050405020304" pitchFamily="18" charset="0"/>
                        </a:rPr>
                        <a:t>Previous studies highlight IoT's role in smart grid applications. </a:t>
                      </a:r>
                      <a:br>
                        <a:rPr lang="en-US" sz="1500" u="none" strike="noStrike" kern="120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a:solidFill>
                            <a:schemeClr val="dk1"/>
                          </a:solidFill>
                          <a:effectLst/>
                          <a:latin typeface="Times New Roman" panose="02020603050405020304" pitchFamily="18" charset="0"/>
                          <a:ea typeface="+mn-ea"/>
                          <a:cs typeface="Times New Roman" panose="02020603050405020304" pitchFamily="18" charset="0"/>
                        </a:rPr>
                        <a:t>Cybersecurity is essential in IoT-based monitoring systems. </a:t>
                      </a:r>
                      <a:br>
                        <a:rPr lang="en-US" sz="1500" u="none" strike="noStrike" kern="1200">
                          <a:solidFill>
                            <a:schemeClr val="dk1"/>
                          </a:solidFill>
                          <a:effectLst/>
                          <a:latin typeface="Times New Roman" panose="02020603050405020304" pitchFamily="18" charset="0"/>
                          <a:ea typeface="+mn-ea"/>
                          <a:cs typeface="Times New Roman" panose="02020603050405020304" pitchFamily="18" charset="0"/>
                        </a:rPr>
                      </a:br>
                      <a:endParaRPr lang="en-US" sz="1500" u="none" strike="noStrike" kern="1200">
                        <a:solidFill>
                          <a:schemeClr val="dk1"/>
                        </a:solidFill>
                        <a:effectLst/>
                        <a:latin typeface="Times New Roman" panose="02020603050405020304" pitchFamily="18" charset="0"/>
                        <a:ea typeface="+mn-ea"/>
                        <a:cs typeface="Times New Roman" panose="02020603050405020304" pitchFamily="18" charset="0"/>
                      </a:endParaRPr>
                    </a:p>
                  </a:txBody>
                  <a:tcPr marL="4381" marR="4381" marT="4381" marB="0" anchor="b"/>
                </a:tc>
                <a:extLst>
                  <a:ext uri="{0D108BD9-81ED-4DB2-BD59-A6C34878D82A}">
                    <a16:rowId xmlns:a16="http://schemas.microsoft.com/office/drawing/2014/main" val="2821076044"/>
                  </a:ext>
                </a:extLst>
              </a:tr>
              <a:tr h="1934232">
                <a:tc>
                  <a:txBody>
                    <a:bodyPr/>
                    <a:lstStyle/>
                    <a:p>
                      <a:pPr algn="l" fontAlgn="ctr"/>
                      <a:r>
                        <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rPr>
                        <a:t>A Novel Sensor Placement Strategy for an IoT-Based Power Grid Monitoring System</a:t>
                      </a:r>
                    </a:p>
                    <a:p>
                      <a:pPr algn="l" fontAlgn="ctr"/>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algn="l" fontAlgn="ctr"/>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marL="0" algn="l" defTabSz="960120" rtl="0" eaLnBrk="1" fontAlgn="ctr" latinLnBrk="0" hangingPunct="1"/>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6">
                            <a:extLst>
                              <a:ext uri="{A12FA001-AC4F-418D-AE19-62706E023703}">
                                <ahyp:hlinkClr xmlns:ahyp="http://schemas.microsoft.com/office/drawing/2018/hyperlinkcolor" val="tx"/>
                              </a:ext>
                            </a:extLst>
                          </a:hlinkClick>
                        </a:rPr>
                        <a:t>Joe-Air Jiang</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7">
                            <a:extLst>
                              <a:ext uri="{A12FA001-AC4F-418D-AE19-62706E023703}">
                                <ahyp:hlinkClr xmlns:ahyp="http://schemas.microsoft.com/office/drawing/2018/hyperlinkcolor" val="tx"/>
                              </a:ext>
                            </a:extLst>
                          </a:hlinkClick>
                        </a:rPr>
                        <a:t>Jen-Cheng Wang</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8">
                            <a:extLst>
                              <a:ext uri="{A12FA001-AC4F-418D-AE19-62706E023703}">
                                <ahyp:hlinkClr xmlns:ahyp="http://schemas.microsoft.com/office/drawing/2018/hyperlinkcolor" val="tx"/>
                              </a:ext>
                            </a:extLst>
                          </a:hlinkClick>
                        </a:rPr>
                        <a:t>Hung-Shuo Wu</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9">
                            <a:extLst>
                              <a:ext uri="{A12FA001-AC4F-418D-AE19-62706E023703}">
                                <ahyp:hlinkClr xmlns:ahyp="http://schemas.microsoft.com/office/drawing/2018/hyperlinkcolor" val="tx"/>
                              </a:ext>
                            </a:extLst>
                          </a:hlinkClick>
                        </a:rPr>
                        <a:t>Chien-Hsing Lee</a:t>
                      </a:r>
                      <a:endPar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endParaRPr>
                    </a:p>
                  </a:txBody>
                  <a:tcPr marL="4381" marR="4381" marT="4381" marB="0" anchor="ctr"/>
                </a:tc>
                <a:tc>
                  <a:txBody>
                    <a:bodyPr/>
                    <a:lstStyle/>
                    <a:p>
                      <a:pPr algn="l" fontAlgn="b"/>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Energy management technologies play a vital role in enhancing energy efficiency within the renewable energy sector. These technologies encompass tasks such as energy information collection, economic analysis, and operational strategies, highlighting the importance of comprehensive energy management systems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When determining the optimal capacity for an Energy Storage System (ESS), it is imperative to consider various factors beyond numerical calculations. Factors such as ESS characteristics, lifespan, and operational considerations should be taken into account to make informed and cost-effective decisions regarding ESS capacity planning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endPar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4381" marR="4381" marT="4381" marB="0" anchor="b"/>
                </a:tc>
                <a:extLst>
                  <a:ext uri="{0D108BD9-81ED-4DB2-BD59-A6C34878D82A}">
                    <a16:rowId xmlns:a16="http://schemas.microsoft.com/office/drawing/2014/main" val="1775101344"/>
                  </a:ext>
                </a:extLst>
              </a:tr>
              <a:tr h="1505316">
                <a:tc>
                  <a:txBody>
                    <a:bodyPr/>
                    <a:lstStyle/>
                    <a:p>
                      <a:pPr algn="l" fontAlgn="ctr"/>
                      <a:r>
                        <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rPr>
                        <a:t>State-of-Charge Equalizations Comparison in a Multi-prosumer Environment Based on Real-Time Energy Management Systems with IoT-Support</a:t>
                      </a:r>
                    </a:p>
                    <a:p>
                      <a:pPr marL="0" algn="l" defTabSz="960120" rtl="0" eaLnBrk="1" fontAlgn="ctr" latinLnBrk="0" hangingPunct="1"/>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0">
                            <a:extLst>
                              <a:ext uri="{A12FA001-AC4F-418D-AE19-62706E023703}">
                                <ahyp:hlinkClr xmlns:ahyp="http://schemas.microsoft.com/office/drawing/2018/hyperlinkcolor" val="tx"/>
                              </a:ext>
                            </a:extLst>
                          </a:hlinkClick>
                        </a:rPr>
                        <a:t>Enrique A. Sanabria-Torres</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1">
                            <a:extLst>
                              <a:ext uri="{A12FA001-AC4F-418D-AE19-62706E023703}">
                                <ahyp:hlinkClr xmlns:ahyp="http://schemas.microsoft.com/office/drawing/2018/hyperlinkcolor" val="tx"/>
                              </a:ext>
                            </a:extLst>
                          </a:hlinkClick>
                        </a:rPr>
                        <a:t>Adriana C. Luna</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2">
                            <a:extLst>
                              <a:ext uri="{A12FA001-AC4F-418D-AE19-62706E023703}">
                                <ahyp:hlinkClr xmlns:ahyp="http://schemas.microsoft.com/office/drawing/2018/hyperlinkcolor" val="tx"/>
                              </a:ext>
                            </a:extLst>
                          </a:hlinkClick>
                        </a:rPr>
                        <a:t>Nelson L. Diaz</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3">
                            <a:extLst>
                              <a:ext uri="{A12FA001-AC4F-418D-AE19-62706E023703}">
                                <ahyp:hlinkClr xmlns:ahyp="http://schemas.microsoft.com/office/drawing/2018/hyperlinkcolor" val="tx"/>
                              </a:ext>
                            </a:extLst>
                          </a:hlinkClick>
                        </a:rPr>
                        <a:t>Fabio Andrade-Rengifo</a:t>
                      </a:r>
                      <a:endPar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endParaRPr>
                    </a:p>
                  </a:txBody>
                  <a:tcPr marL="4381" marR="4381" marT="4381" marB="0" anchor="ctr"/>
                </a:tc>
                <a:tc>
                  <a:txBody>
                    <a:bodyPr/>
                    <a:lstStyle/>
                    <a:p>
                      <a:pPr algn="l" fontAlgn="b"/>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Energy management technologies are essential for optimizing energy efficiency in the renewable energy sector. These technologies encompass tasks such as energy information collection, economic analysis, and operational strategies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When determining the optimal capacity for an Energy Storage System (ESS), it is crucial to consider various factors beyond mere numerical calculations. Factors like ESS characteristics, lifespan, and operational aspects should be taken into consideration for making cost-effective decisions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endPar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4381" marR="4381" marT="4381" marB="0" anchor="b"/>
                </a:tc>
                <a:extLst>
                  <a:ext uri="{0D108BD9-81ED-4DB2-BD59-A6C34878D82A}">
                    <a16:rowId xmlns:a16="http://schemas.microsoft.com/office/drawing/2014/main" val="1291820030"/>
                  </a:ext>
                </a:extLst>
              </a:tr>
            </a:tbl>
          </a:graphicData>
        </a:graphic>
      </p:graphicFrame>
      <p:sp>
        <p:nvSpPr>
          <p:cNvPr id="5" name="Title 1">
            <a:extLst>
              <a:ext uri="{FF2B5EF4-FFF2-40B4-BE49-F238E27FC236}">
                <a16:creationId xmlns:a16="http://schemas.microsoft.com/office/drawing/2014/main" id="{8C132A20-2E4F-31BA-784E-535480DA7A2B}"/>
              </a:ext>
            </a:extLst>
          </p:cNvPr>
          <p:cNvSpPr txBox="1">
            <a:spLocks/>
          </p:cNvSpPr>
          <p:nvPr/>
        </p:nvSpPr>
        <p:spPr>
          <a:xfrm>
            <a:off x="146304" y="0"/>
            <a:ext cx="3460242" cy="685943"/>
          </a:xfrm>
          <a:prstGeom prst="rect">
            <a:avLst/>
          </a:prstGeom>
        </p:spPr>
        <p:txBody>
          <a:bodyPr vert="horz" lIns="91440" tIns="45720" rIns="91440" bIns="45720" rtlCol="0" anchor="ctr">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3200" b="1" dirty="0">
                <a:solidFill>
                  <a:srgbClr val="002060"/>
                </a:solidFill>
                <a:latin typeface="Times New Roman" panose="02020603050405020304" pitchFamily="18" charset="0"/>
                <a:cs typeface="Times New Roman" panose="02020603050405020304" pitchFamily="18" charset="0"/>
              </a:rPr>
              <a:t>Literature Review</a:t>
            </a:r>
          </a:p>
        </p:txBody>
      </p:sp>
      <p:sp>
        <p:nvSpPr>
          <p:cNvPr id="6" name="Title 1">
            <a:extLst>
              <a:ext uri="{FF2B5EF4-FFF2-40B4-BE49-F238E27FC236}">
                <a16:creationId xmlns:a16="http://schemas.microsoft.com/office/drawing/2014/main" id="{A4DC8469-76ED-4CF1-8185-B19518558194}"/>
              </a:ext>
            </a:extLst>
          </p:cNvPr>
          <p:cNvSpPr txBox="1">
            <a:spLocks/>
          </p:cNvSpPr>
          <p:nvPr/>
        </p:nvSpPr>
        <p:spPr>
          <a:xfrm>
            <a:off x="8924544" y="0"/>
            <a:ext cx="3874770" cy="685943"/>
          </a:xfrm>
          <a:prstGeom prst="rect">
            <a:avLst/>
          </a:prstGeom>
        </p:spPr>
        <p:txBody>
          <a:bodyPr vert="horz" lIns="91440" tIns="45720" rIns="91440" bIns="45720" rtlCol="0" anchor="ctr">
            <a:normAutofit fontScale="85000" lnSpcReduction="10000"/>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3200" b="1" dirty="0">
                <a:solidFill>
                  <a:srgbClr val="00B050"/>
                </a:solidFill>
                <a:latin typeface="Times New Roman" panose="02020603050405020304" pitchFamily="18" charset="0"/>
                <a:cs typeface="Times New Roman" panose="02020603050405020304" pitchFamily="18" charset="0"/>
              </a:rPr>
              <a:t>Management Monitoring</a:t>
            </a:r>
          </a:p>
        </p:txBody>
      </p:sp>
      <p:graphicFrame>
        <p:nvGraphicFramePr>
          <p:cNvPr id="7" name="Table 6">
            <a:extLst>
              <a:ext uri="{FF2B5EF4-FFF2-40B4-BE49-F238E27FC236}">
                <a16:creationId xmlns:a16="http://schemas.microsoft.com/office/drawing/2014/main" id="{BE268544-0355-8F16-D526-E33830DAB1E4}"/>
              </a:ext>
            </a:extLst>
          </p:cNvPr>
          <p:cNvGraphicFramePr>
            <a:graphicFrameLocks noGrp="1"/>
          </p:cNvGraphicFramePr>
          <p:nvPr>
            <p:extLst>
              <p:ext uri="{D42A27DB-BD31-4B8C-83A1-F6EECF244321}">
                <p14:modId xmlns:p14="http://schemas.microsoft.com/office/powerpoint/2010/main" val="2587372289"/>
              </p:ext>
            </p:extLst>
          </p:nvPr>
        </p:nvGraphicFramePr>
        <p:xfrm>
          <a:off x="146304" y="5970878"/>
          <a:ext cx="12508992" cy="1375981"/>
        </p:xfrm>
        <a:graphic>
          <a:graphicData uri="http://schemas.openxmlformats.org/drawingml/2006/table">
            <a:tbl>
              <a:tblPr>
                <a:tableStyleId>{5C22544A-7EE6-4342-B048-85BDC9FD1C3A}</a:tableStyleId>
              </a:tblPr>
              <a:tblGrid>
                <a:gridCol w="3586322">
                  <a:extLst>
                    <a:ext uri="{9D8B030D-6E8A-4147-A177-3AD203B41FA5}">
                      <a16:colId xmlns:a16="http://schemas.microsoft.com/office/drawing/2014/main" val="1416831678"/>
                    </a:ext>
                  </a:extLst>
                </a:gridCol>
                <a:gridCol w="8922670">
                  <a:extLst>
                    <a:ext uri="{9D8B030D-6E8A-4147-A177-3AD203B41FA5}">
                      <a16:colId xmlns:a16="http://schemas.microsoft.com/office/drawing/2014/main" val="3008222085"/>
                    </a:ext>
                  </a:extLst>
                </a:gridCol>
              </a:tblGrid>
              <a:tr h="1153323">
                <a:tc>
                  <a:txBody>
                    <a:bodyPr/>
                    <a:lstStyle/>
                    <a:p>
                      <a:pPr algn="l" fontAlgn="ctr"/>
                      <a:r>
                        <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rPr>
                        <a:t>Intelligent IOT-based BMS for Integrated Solar with AC grid Fast Charging Systems in Electric Vehicles</a:t>
                      </a:r>
                    </a:p>
                    <a:p>
                      <a:pPr algn="l" fontAlgn="ctr"/>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marL="0" algn="l" defTabSz="960120" rtl="0" eaLnBrk="1" fontAlgn="ctr" latinLnBrk="0" hangingPunct="1"/>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4">
                            <a:extLst>
                              <a:ext uri="{A12FA001-AC4F-418D-AE19-62706E023703}">
                                <ahyp:hlinkClr xmlns:ahyp="http://schemas.microsoft.com/office/drawing/2018/hyperlinkcolor" val="tx"/>
                              </a:ext>
                            </a:extLst>
                          </a:hlinkClick>
                        </a:rPr>
                        <a:t>Shreyas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14">
                            <a:extLst>
                              <a:ext uri="{A12FA001-AC4F-418D-AE19-62706E023703}">
                                <ahyp:hlinkClr xmlns:ahyp="http://schemas.microsoft.com/office/drawing/2018/hyperlinkcolor" val="tx"/>
                              </a:ext>
                            </a:extLst>
                          </a:hlinkClick>
                        </a:rPr>
                        <a:t>Thombare</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15">
                            <a:extLst>
                              <a:ext uri="{A12FA001-AC4F-418D-AE19-62706E023703}">
                                <ahyp:hlinkClr xmlns:ahyp="http://schemas.microsoft.com/office/drawing/2018/hyperlinkcolor" val="tx"/>
                              </a:ext>
                            </a:extLst>
                          </a:hlinkClick>
                        </a:rPr>
                        <a:t>Pankai</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5">
                            <a:extLst>
                              <a:ext uri="{A12FA001-AC4F-418D-AE19-62706E023703}">
                                <ahyp:hlinkClr xmlns:ahyp="http://schemas.microsoft.com/office/drawing/2018/hyperlinkcolor" val="tx"/>
                              </a:ext>
                            </a:extLst>
                          </a:hlinkClick>
                        </a:rPr>
                        <a:t> Kumar</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16">
                            <a:extLst>
                              <a:ext uri="{A12FA001-AC4F-418D-AE19-62706E023703}">
                                <ahyp:hlinkClr xmlns:ahyp="http://schemas.microsoft.com/office/drawing/2018/hyperlinkcolor" val="tx"/>
                              </a:ext>
                            </a:extLst>
                          </a:hlinkClick>
                        </a:rPr>
                        <a:t>Raiashree</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6">
                            <a:extLst>
                              <a:ext uri="{A12FA001-AC4F-418D-AE19-62706E023703}">
                                <ahyp:hlinkClr xmlns:ahyp="http://schemas.microsoft.com/office/drawing/2018/hyperlinkcolor" val="tx"/>
                              </a:ext>
                            </a:extLst>
                          </a:hlinkClick>
                        </a:rPr>
                        <a:t>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16">
                            <a:extLst>
                              <a:ext uri="{A12FA001-AC4F-418D-AE19-62706E023703}">
                                <ahyp:hlinkClr xmlns:ahyp="http://schemas.microsoft.com/office/drawing/2018/hyperlinkcolor" val="tx"/>
                              </a:ext>
                            </a:extLst>
                          </a:hlinkClick>
                        </a:rPr>
                        <a:t>Bhokare</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7">
                            <a:extLst>
                              <a:ext uri="{A12FA001-AC4F-418D-AE19-62706E023703}">
                                <ahyp:hlinkClr xmlns:ahyp="http://schemas.microsoft.com/office/drawing/2018/hyperlinkcolor" val="tx"/>
                              </a:ext>
                            </a:extLst>
                          </a:hlinkClick>
                        </a:rPr>
                        <a:t>Sachin Jadhav</a:t>
                      </a:r>
                      <a:endPar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endParaRPr>
                    </a:p>
                  </a:txBody>
                  <a:tcPr marL="4381" marR="4381" marT="4381" marB="0" anchor="ctr"/>
                </a:tc>
                <a:tc>
                  <a:txBody>
                    <a:bodyPr/>
                    <a:lstStyle/>
                    <a:p>
                      <a:pPr algn="l" fontAlgn="b"/>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The paper reviews fast charging systems for electric vehicles.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It discusses limitations of existing charging technologies.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Various advanced battery management techniques are highlighted.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Previous studies on supercapacitor charging systems are mentioned.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Future aspects of electric vehicle charging are explored.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endPar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4381" marR="4381" marT="4381" marB="0" anchor="b"/>
                </a:tc>
                <a:extLst>
                  <a:ext uri="{0D108BD9-81ED-4DB2-BD59-A6C34878D82A}">
                    <a16:rowId xmlns:a16="http://schemas.microsoft.com/office/drawing/2014/main" val="1248710766"/>
                  </a:ext>
                </a:extLst>
              </a:tr>
            </a:tbl>
          </a:graphicData>
        </a:graphic>
      </p:graphicFrame>
    </p:spTree>
    <p:extLst>
      <p:ext uri="{BB962C8B-B14F-4D97-AF65-F5344CB8AC3E}">
        <p14:creationId xmlns:p14="http://schemas.microsoft.com/office/powerpoint/2010/main" val="3354604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1A9F8D0E-E1D6-29A9-EE91-216F54008712}"/>
              </a:ext>
            </a:extLst>
          </p:cNvPr>
          <p:cNvGraphicFramePr>
            <a:graphicFrameLocks noGrp="1"/>
          </p:cNvGraphicFramePr>
          <p:nvPr>
            <p:ph idx="1"/>
            <p:extLst>
              <p:ext uri="{D42A27DB-BD31-4B8C-83A1-F6EECF244321}">
                <p14:modId xmlns:p14="http://schemas.microsoft.com/office/powerpoint/2010/main" val="1999110838"/>
              </p:ext>
            </p:extLst>
          </p:nvPr>
        </p:nvGraphicFramePr>
        <p:xfrm>
          <a:off x="144018" y="884533"/>
          <a:ext cx="12508992" cy="3011107"/>
        </p:xfrm>
        <a:graphic>
          <a:graphicData uri="http://schemas.openxmlformats.org/drawingml/2006/table">
            <a:tbl>
              <a:tblPr>
                <a:tableStyleId>{5C22544A-7EE6-4342-B048-85BDC9FD1C3A}</a:tableStyleId>
              </a:tblPr>
              <a:tblGrid>
                <a:gridCol w="3586322">
                  <a:extLst>
                    <a:ext uri="{9D8B030D-6E8A-4147-A177-3AD203B41FA5}">
                      <a16:colId xmlns:a16="http://schemas.microsoft.com/office/drawing/2014/main" val="835690021"/>
                    </a:ext>
                  </a:extLst>
                </a:gridCol>
                <a:gridCol w="8922670">
                  <a:extLst>
                    <a:ext uri="{9D8B030D-6E8A-4147-A177-3AD203B41FA5}">
                      <a16:colId xmlns:a16="http://schemas.microsoft.com/office/drawing/2014/main" val="1864280964"/>
                    </a:ext>
                  </a:extLst>
                </a:gridCol>
              </a:tblGrid>
              <a:tr h="1863726">
                <a:tc>
                  <a:txBody>
                    <a:bodyPr/>
                    <a:lstStyle/>
                    <a:p>
                      <a:pPr algn="l" fontAlgn="ctr"/>
                      <a:r>
                        <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rPr>
                        <a:t>IoT Based Electrical Vehicle Battery Management System with Charge Monitor  and Fire Protection</a:t>
                      </a:r>
                    </a:p>
                    <a:p>
                      <a:pPr algn="l" fontAlgn="ctr"/>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algn="l" fontAlgn="ct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2">
                            <a:extLst>
                              <a:ext uri="{A12FA001-AC4F-418D-AE19-62706E023703}">
                                <ahyp:hlinkClr xmlns:ahyp="http://schemas.microsoft.com/office/drawing/2018/hyperlinkcolor" val="tx"/>
                              </a:ext>
                            </a:extLst>
                          </a:hlinkClick>
                        </a:rPr>
                        <a:t>Santosh Kumar Tripathi</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Swati Maurya</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4">
                            <a:extLst>
                              <a:ext uri="{A12FA001-AC4F-418D-AE19-62706E023703}">
                                <ahyp:hlinkClr xmlns:ahyp="http://schemas.microsoft.com/office/drawing/2018/hyperlinkcolor" val="tx"/>
                              </a:ext>
                            </a:extLst>
                          </a:hlinkClick>
                        </a:rPr>
                        <a:t>Aditi Dubey</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5">
                            <a:extLst>
                              <a:ext uri="{A12FA001-AC4F-418D-AE19-62706E023703}">
                                <ahyp:hlinkClr xmlns:ahyp="http://schemas.microsoft.com/office/drawing/2018/hyperlinkcolor" val="tx"/>
                              </a:ext>
                            </a:extLst>
                          </a:hlinkClick>
                        </a:rPr>
                        <a:t>Prakhar Pal</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6">
                            <a:extLst>
                              <a:ext uri="{A12FA001-AC4F-418D-AE19-62706E023703}">
                                <ahyp:hlinkClr xmlns:ahyp="http://schemas.microsoft.com/office/drawing/2018/hyperlinkcolor" val="tx"/>
                              </a:ext>
                            </a:extLst>
                          </a:hlinkClick>
                        </a:rPr>
                        <a:t>Aparna Tiwari</a:t>
                      </a:r>
                      <a:endPar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endParaRPr>
                    </a:p>
                  </a:txBody>
                  <a:tcPr marL="4381" marR="4381" marT="4381" marB="0" anchor="ctr"/>
                </a:tc>
                <a:tc>
                  <a:txBody>
                    <a:bodyPr/>
                    <a:lstStyle/>
                    <a:p>
                      <a:pPr algn="l" fontAlgn="b"/>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Focuses on large scale Li-ion battery management systems.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Discusses cloud computing algorithms for battery management systems.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Covers real-time monitoring of voltage, current, and temperature.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Proposes IoT solutions for Li-ion battery venting.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Highlights network impact from electric vehicles during charging.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Describes wireless battery monitoring system for SOC estimation.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Evaluates adaptive SOC estimation methods for battery management.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Reviews advantages of Li-ion batteries for electric vehicles. </a:t>
                      </a:r>
                    </a:p>
                  </a:txBody>
                  <a:tcPr marL="4381" marR="4381" marT="4381" marB="0" anchor="b"/>
                </a:tc>
                <a:extLst>
                  <a:ext uri="{0D108BD9-81ED-4DB2-BD59-A6C34878D82A}">
                    <a16:rowId xmlns:a16="http://schemas.microsoft.com/office/drawing/2014/main" val="3453269713"/>
                  </a:ext>
                </a:extLst>
              </a:tr>
              <a:tr h="1084984">
                <a:tc>
                  <a:txBody>
                    <a:bodyPr/>
                    <a:lstStyle/>
                    <a:p>
                      <a:pPr algn="l" fontAlgn="ctr"/>
                      <a:r>
                        <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rPr>
                        <a:t>An IoT -based Power Management System   for EV Chargers</a:t>
                      </a:r>
                    </a:p>
                    <a:p>
                      <a:pPr algn="l" fontAlgn="ctr"/>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marL="0" algn="l" defTabSz="960120" rtl="0" eaLnBrk="1" fontAlgn="ctr" latinLnBrk="0" hangingPunct="1"/>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7">
                            <a:extLst>
                              <a:ext uri="{A12FA001-AC4F-418D-AE19-62706E023703}">
                                <ahyp:hlinkClr xmlns:ahyp="http://schemas.microsoft.com/office/drawing/2018/hyperlinkcolor" val="tx"/>
                              </a:ext>
                            </a:extLst>
                          </a:hlinkClick>
                        </a:rPr>
                        <a:t>Vimalarani</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7">
                            <a:extLst>
                              <a:ext uri="{A12FA001-AC4F-418D-AE19-62706E023703}">
                                <ahyp:hlinkClr xmlns:ahyp="http://schemas.microsoft.com/office/drawing/2018/hyperlinkcolor" val="tx"/>
                              </a:ext>
                            </a:extLst>
                          </a:hlinkClick>
                        </a:rPr>
                        <a:t> G</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8">
                            <a:extLst>
                              <a:ext uri="{A12FA001-AC4F-418D-AE19-62706E023703}">
                                <ahyp:hlinkClr xmlns:ahyp="http://schemas.microsoft.com/office/drawing/2018/hyperlinkcolor" val="tx"/>
                              </a:ext>
                            </a:extLst>
                          </a:hlinkClick>
                        </a:rPr>
                        <a:t>Kavitha B C</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9">
                            <a:extLst>
                              <a:ext uri="{A12FA001-AC4F-418D-AE19-62706E023703}">
                                <ahyp:hlinkClr xmlns:ahyp="http://schemas.microsoft.com/office/drawing/2018/hyperlinkcolor" val="tx"/>
                              </a:ext>
                            </a:extLst>
                          </a:hlinkClick>
                        </a:rPr>
                        <a:t>Shaik Nihal</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0">
                            <a:extLst>
                              <a:ext uri="{A12FA001-AC4F-418D-AE19-62706E023703}">
                                <ahyp:hlinkClr xmlns:ahyp="http://schemas.microsoft.com/office/drawing/2018/hyperlinkcolor" val="tx"/>
                              </a:ext>
                            </a:extLst>
                          </a:hlinkClick>
                        </a:rPr>
                        <a:t>K Rakesh</a:t>
                      </a:r>
                      <a:endPar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endParaRPr>
                    </a:p>
                  </a:txBody>
                  <a:tcPr marL="4381" marR="4381" marT="4381" marB="0" anchor="ctr"/>
                </a:tc>
                <a:tc>
                  <a:txBody>
                    <a:bodyPr/>
                    <a:lstStyle/>
                    <a:p>
                      <a:pPr algn="l" fontAlgn="b"/>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Current transformer sensor extracts current details via Arduino.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T. </a:t>
                      </a:r>
                      <a:r>
                        <a:rPr lang="en-US" sz="1500" u="none" strike="noStrike" kern="1200" dirty="0" err="1">
                          <a:solidFill>
                            <a:schemeClr val="dk1"/>
                          </a:solidFill>
                          <a:effectLst/>
                          <a:latin typeface="Times New Roman" panose="02020603050405020304" pitchFamily="18" charset="0"/>
                          <a:ea typeface="+mn-ea"/>
                          <a:cs typeface="Times New Roman" panose="02020603050405020304" pitchFamily="18" charset="0"/>
                        </a:rPr>
                        <a:t>Juhana</a:t>
                      </a: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 et al. displayed voltage and power using </a:t>
                      </a:r>
                      <a:r>
                        <a:rPr lang="en-US" sz="1500" u="none" strike="noStrike" kern="1200" dirty="0" err="1">
                          <a:solidFill>
                            <a:schemeClr val="dk1"/>
                          </a:solidFill>
                          <a:effectLst/>
                          <a:latin typeface="Times New Roman" panose="02020603050405020304" pitchFamily="18" charset="0"/>
                          <a:ea typeface="+mn-ea"/>
                          <a:cs typeface="Times New Roman" panose="02020603050405020304" pitchFamily="18" charset="0"/>
                        </a:rPr>
                        <a:t>Bluno</a:t>
                      </a: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S. Ren et al. discussed voltage display via LCCR meter.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S. E. </a:t>
                      </a:r>
                      <a:r>
                        <a:rPr lang="en-US" sz="1500" u="none" strike="noStrike" kern="1200" dirty="0" err="1">
                          <a:solidFill>
                            <a:schemeClr val="dk1"/>
                          </a:solidFill>
                          <a:effectLst/>
                          <a:latin typeface="Times New Roman" panose="02020603050405020304" pitchFamily="18" charset="0"/>
                          <a:ea typeface="+mn-ea"/>
                          <a:cs typeface="Times New Roman" panose="02020603050405020304" pitchFamily="18" charset="0"/>
                        </a:rPr>
                        <a:t>Princy</a:t>
                      </a: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 et al. transferred data between Arduino and Raspberry Pi.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endPar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4381" marR="4381" marT="4381" marB="0" anchor="b"/>
                </a:tc>
                <a:extLst>
                  <a:ext uri="{0D108BD9-81ED-4DB2-BD59-A6C34878D82A}">
                    <a16:rowId xmlns:a16="http://schemas.microsoft.com/office/drawing/2014/main" val="2326669285"/>
                  </a:ext>
                </a:extLst>
              </a:tr>
            </a:tbl>
          </a:graphicData>
        </a:graphic>
      </p:graphicFrame>
      <p:graphicFrame>
        <p:nvGraphicFramePr>
          <p:cNvPr id="5" name="Table 4">
            <a:extLst>
              <a:ext uri="{FF2B5EF4-FFF2-40B4-BE49-F238E27FC236}">
                <a16:creationId xmlns:a16="http://schemas.microsoft.com/office/drawing/2014/main" id="{5BE65E7D-9FD7-58D1-7993-FFE1B0445ACA}"/>
              </a:ext>
            </a:extLst>
          </p:cNvPr>
          <p:cNvGraphicFramePr>
            <a:graphicFrameLocks noGrp="1"/>
          </p:cNvGraphicFramePr>
          <p:nvPr>
            <p:extLst>
              <p:ext uri="{D42A27DB-BD31-4B8C-83A1-F6EECF244321}">
                <p14:modId xmlns:p14="http://schemas.microsoft.com/office/powerpoint/2010/main" val="2593066285"/>
              </p:ext>
            </p:extLst>
          </p:nvPr>
        </p:nvGraphicFramePr>
        <p:xfrm>
          <a:off x="144018" y="537590"/>
          <a:ext cx="12508992" cy="370141"/>
        </p:xfrm>
        <a:graphic>
          <a:graphicData uri="http://schemas.openxmlformats.org/drawingml/2006/table">
            <a:tbl>
              <a:tblPr>
                <a:tableStyleId>{5C22544A-7EE6-4342-B048-85BDC9FD1C3A}</a:tableStyleId>
              </a:tblPr>
              <a:tblGrid>
                <a:gridCol w="3586322">
                  <a:extLst>
                    <a:ext uri="{9D8B030D-6E8A-4147-A177-3AD203B41FA5}">
                      <a16:colId xmlns:a16="http://schemas.microsoft.com/office/drawing/2014/main" val="291102947"/>
                    </a:ext>
                  </a:extLst>
                </a:gridCol>
                <a:gridCol w="8922670">
                  <a:extLst>
                    <a:ext uri="{9D8B030D-6E8A-4147-A177-3AD203B41FA5}">
                      <a16:colId xmlns:a16="http://schemas.microsoft.com/office/drawing/2014/main" val="3523084475"/>
                    </a:ext>
                  </a:extLst>
                </a:gridCol>
              </a:tblGrid>
              <a:tr h="347243">
                <a:tc>
                  <a:txBody>
                    <a:bodyPr/>
                    <a:lstStyle/>
                    <a:p>
                      <a:pPr algn="ctr" fontAlgn="b"/>
                      <a:r>
                        <a:rPr lang="en-US" sz="2400" b="1" u="none" strike="noStrike" kern="1200" dirty="0">
                          <a:solidFill>
                            <a:srgbClr val="C00000"/>
                          </a:solidFill>
                          <a:effectLst/>
                          <a:latin typeface="Times New Roman" panose="02020603050405020304" pitchFamily="18" charset="0"/>
                          <a:ea typeface="+mn-ea"/>
                          <a:cs typeface="Times New Roman" panose="02020603050405020304" pitchFamily="18" charset="0"/>
                        </a:rPr>
                        <a:t>Research Paper Title</a:t>
                      </a:r>
                    </a:p>
                  </a:txBody>
                  <a:tcPr marL="4381" marR="4381" marT="4381" marB="0" anchor="b"/>
                </a:tc>
                <a:tc>
                  <a:txBody>
                    <a:bodyPr/>
                    <a:lstStyle/>
                    <a:p>
                      <a:pPr algn="ctr" fontAlgn="b"/>
                      <a:r>
                        <a:rPr lang="en-US" sz="2400" b="1" u="none" strike="noStrike" kern="1200" dirty="0">
                          <a:solidFill>
                            <a:srgbClr val="C00000"/>
                          </a:solidFill>
                          <a:effectLst/>
                          <a:latin typeface="Times New Roman" panose="02020603050405020304" pitchFamily="18" charset="0"/>
                          <a:ea typeface="+mn-ea"/>
                          <a:cs typeface="Times New Roman" panose="02020603050405020304" pitchFamily="18" charset="0"/>
                        </a:rPr>
                        <a:t>Literature Review</a:t>
                      </a:r>
                    </a:p>
                  </a:txBody>
                  <a:tcPr marL="4381" marR="4381" marT="4381" marB="0" anchor="b"/>
                </a:tc>
                <a:extLst>
                  <a:ext uri="{0D108BD9-81ED-4DB2-BD59-A6C34878D82A}">
                    <a16:rowId xmlns:a16="http://schemas.microsoft.com/office/drawing/2014/main" val="2568182929"/>
                  </a:ext>
                </a:extLst>
              </a:tr>
            </a:tbl>
          </a:graphicData>
        </a:graphic>
      </p:graphicFrame>
      <p:sp>
        <p:nvSpPr>
          <p:cNvPr id="6" name="Title 1">
            <a:extLst>
              <a:ext uri="{FF2B5EF4-FFF2-40B4-BE49-F238E27FC236}">
                <a16:creationId xmlns:a16="http://schemas.microsoft.com/office/drawing/2014/main" id="{45967357-5486-D9AF-839D-4F6105172A97}"/>
              </a:ext>
            </a:extLst>
          </p:cNvPr>
          <p:cNvSpPr txBox="1">
            <a:spLocks/>
          </p:cNvSpPr>
          <p:nvPr/>
        </p:nvSpPr>
        <p:spPr>
          <a:xfrm>
            <a:off x="0" y="856"/>
            <a:ext cx="3460242" cy="685943"/>
          </a:xfrm>
          <a:prstGeom prst="rect">
            <a:avLst/>
          </a:prstGeom>
        </p:spPr>
        <p:txBody>
          <a:bodyPr vert="horz" lIns="91440" tIns="45720" rIns="91440" bIns="45720" rtlCol="0" anchor="ctr">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3200" b="1" dirty="0">
                <a:solidFill>
                  <a:srgbClr val="002060"/>
                </a:solidFill>
                <a:latin typeface="Times New Roman" panose="02020603050405020304" pitchFamily="18" charset="0"/>
                <a:cs typeface="Times New Roman" panose="02020603050405020304" pitchFamily="18" charset="0"/>
              </a:rPr>
              <a:t>Literature Review</a:t>
            </a:r>
          </a:p>
        </p:txBody>
      </p:sp>
      <p:sp>
        <p:nvSpPr>
          <p:cNvPr id="8" name="Title 1">
            <a:extLst>
              <a:ext uri="{FF2B5EF4-FFF2-40B4-BE49-F238E27FC236}">
                <a16:creationId xmlns:a16="http://schemas.microsoft.com/office/drawing/2014/main" id="{ACB01487-7BC2-39C8-74AF-7B11D60055F7}"/>
              </a:ext>
            </a:extLst>
          </p:cNvPr>
          <p:cNvSpPr txBox="1">
            <a:spLocks/>
          </p:cNvSpPr>
          <p:nvPr/>
        </p:nvSpPr>
        <p:spPr>
          <a:xfrm>
            <a:off x="8778240" y="0"/>
            <a:ext cx="3874770" cy="685943"/>
          </a:xfrm>
          <a:prstGeom prst="rect">
            <a:avLst/>
          </a:prstGeom>
        </p:spPr>
        <p:txBody>
          <a:bodyPr vert="horz" lIns="91440" tIns="45720" rIns="91440" bIns="45720" rtlCol="0" anchor="ctr">
            <a:normAutofit fontScale="85000" lnSpcReduction="10000"/>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3200" b="1" dirty="0">
                <a:solidFill>
                  <a:srgbClr val="00B050"/>
                </a:solidFill>
                <a:latin typeface="Times New Roman" panose="02020603050405020304" pitchFamily="18" charset="0"/>
                <a:cs typeface="Times New Roman" panose="02020603050405020304" pitchFamily="18" charset="0"/>
              </a:rPr>
              <a:t>Management Monitoring</a:t>
            </a:r>
          </a:p>
        </p:txBody>
      </p:sp>
      <p:graphicFrame>
        <p:nvGraphicFramePr>
          <p:cNvPr id="9" name="Table 8">
            <a:extLst>
              <a:ext uri="{FF2B5EF4-FFF2-40B4-BE49-F238E27FC236}">
                <a16:creationId xmlns:a16="http://schemas.microsoft.com/office/drawing/2014/main" id="{144F1AC0-C561-E2ED-ED45-344D5E32C9B1}"/>
              </a:ext>
            </a:extLst>
          </p:cNvPr>
          <p:cNvGraphicFramePr>
            <a:graphicFrameLocks noGrp="1"/>
          </p:cNvGraphicFramePr>
          <p:nvPr>
            <p:extLst>
              <p:ext uri="{D42A27DB-BD31-4B8C-83A1-F6EECF244321}">
                <p14:modId xmlns:p14="http://schemas.microsoft.com/office/powerpoint/2010/main" val="2427979614"/>
              </p:ext>
            </p:extLst>
          </p:nvPr>
        </p:nvGraphicFramePr>
        <p:xfrm>
          <a:off x="144019" y="3888966"/>
          <a:ext cx="12508991" cy="4040524"/>
        </p:xfrm>
        <a:graphic>
          <a:graphicData uri="http://schemas.openxmlformats.org/drawingml/2006/table">
            <a:tbl>
              <a:tblPr>
                <a:tableStyleId>{5C22544A-7EE6-4342-B048-85BDC9FD1C3A}</a:tableStyleId>
              </a:tblPr>
              <a:tblGrid>
                <a:gridCol w="3850807">
                  <a:extLst>
                    <a:ext uri="{9D8B030D-6E8A-4147-A177-3AD203B41FA5}">
                      <a16:colId xmlns:a16="http://schemas.microsoft.com/office/drawing/2014/main" val="3433161473"/>
                    </a:ext>
                  </a:extLst>
                </a:gridCol>
                <a:gridCol w="8658184">
                  <a:extLst>
                    <a:ext uri="{9D8B030D-6E8A-4147-A177-3AD203B41FA5}">
                      <a16:colId xmlns:a16="http://schemas.microsoft.com/office/drawing/2014/main" val="2540849198"/>
                    </a:ext>
                  </a:extLst>
                </a:gridCol>
              </a:tblGrid>
              <a:tr h="298404">
                <a:tc>
                  <a:txBody>
                    <a:bodyPr/>
                    <a:lstStyle/>
                    <a:p>
                      <a:pPr algn="ctr" fontAlgn="b"/>
                      <a:r>
                        <a:rPr lang="en-US" sz="2400" b="1" u="none" strike="noStrike" kern="1200" dirty="0">
                          <a:solidFill>
                            <a:srgbClr val="C00000"/>
                          </a:solidFill>
                          <a:effectLst/>
                          <a:latin typeface="Times New Roman" panose="02020603050405020304" pitchFamily="18" charset="0"/>
                          <a:ea typeface="+mn-ea"/>
                          <a:cs typeface="Times New Roman" panose="02020603050405020304" pitchFamily="18" charset="0"/>
                        </a:rPr>
                        <a:t>Research Paper Title</a:t>
                      </a:r>
                    </a:p>
                  </a:txBody>
                  <a:tcPr marL="4291" marR="4291" marT="4291" marB="0" anchor="b"/>
                </a:tc>
                <a:tc>
                  <a:txBody>
                    <a:bodyPr/>
                    <a:lstStyle/>
                    <a:p>
                      <a:pPr algn="ctr" fontAlgn="b"/>
                      <a:r>
                        <a:rPr lang="en-US" sz="2400" b="1" u="none" strike="noStrike" kern="1200" dirty="0">
                          <a:solidFill>
                            <a:srgbClr val="C00000"/>
                          </a:solidFill>
                          <a:effectLst/>
                          <a:latin typeface="Times New Roman" panose="02020603050405020304" pitchFamily="18" charset="0"/>
                          <a:ea typeface="+mn-ea"/>
                          <a:cs typeface="Times New Roman" panose="02020603050405020304" pitchFamily="18" charset="0"/>
                        </a:rPr>
                        <a:t>Literature Review</a:t>
                      </a:r>
                    </a:p>
                  </a:txBody>
                  <a:tcPr marL="4291" marR="4291" marT="4291" marB="0" anchor="b"/>
                </a:tc>
                <a:extLst>
                  <a:ext uri="{0D108BD9-81ED-4DB2-BD59-A6C34878D82A}">
                    <a16:rowId xmlns:a16="http://schemas.microsoft.com/office/drawing/2014/main" val="3798100076"/>
                  </a:ext>
                </a:extLst>
              </a:tr>
              <a:tr h="925159">
                <a:tc>
                  <a:txBody>
                    <a:bodyPr/>
                    <a:lstStyle/>
                    <a:p>
                      <a:pPr marL="0" algn="l" defTabSz="960120" rtl="0" eaLnBrk="1" fontAlgn="ctr" latinLnBrk="0" hangingPunct="1"/>
                      <a:r>
                        <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rPr>
                        <a:t>Optimal Planning of Battery Swapping and Charging Stations for the Urban Cities</a:t>
                      </a:r>
                    </a:p>
                    <a:p>
                      <a:pPr marL="0" algn="l" defTabSz="960120" rtl="0" eaLnBrk="1" fontAlgn="ctr" latinLnBrk="0" hangingPunct="1"/>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marL="0" algn="l" defTabSz="960120" rtl="0" eaLnBrk="1" fontAlgn="ctr" latinLnBrk="0" hangingPunct="1"/>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1">
                            <a:extLst>
                              <a:ext uri="{A12FA001-AC4F-418D-AE19-62706E023703}">
                                <ahyp:hlinkClr xmlns:ahyp="http://schemas.microsoft.com/office/drawing/2018/hyperlinkcolor" val="tx"/>
                              </a:ext>
                            </a:extLst>
                          </a:hlinkClick>
                        </a:rPr>
                        <a:t>Sachin Shivaji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11">
                            <a:extLst>
                              <a:ext uri="{A12FA001-AC4F-418D-AE19-62706E023703}">
                                <ahyp:hlinkClr xmlns:ahyp="http://schemas.microsoft.com/office/drawing/2018/hyperlinkcolor" val="tx"/>
                              </a:ext>
                            </a:extLst>
                          </a:hlinkClick>
                        </a:rPr>
                        <a:t>Kumbhar</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12">
                            <a:extLst>
                              <a:ext uri="{A12FA001-AC4F-418D-AE19-62706E023703}">
                                <ahyp:hlinkClr xmlns:ahyp="http://schemas.microsoft.com/office/drawing/2018/hyperlinkcolor" val="tx"/>
                              </a:ext>
                            </a:extLst>
                          </a:hlinkClick>
                        </a:rPr>
                        <a:t>Vaiju</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2">
                            <a:extLst>
                              <a:ext uri="{A12FA001-AC4F-418D-AE19-62706E023703}">
                                <ahyp:hlinkClr xmlns:ahyp="http://schemas.microsoft.com/office/drawing/2018/hyperlinkcolor" val="tx"/>
                              </a:ext>
                            </a:extLst>
                          </a:hlinkClick>
                        </a:rPr>
                        <a:t> N.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12">
                            <a:extLst>
                              <a:ext uri="{A12FA001-AC4F-418D-AE19-62706E023703}">
                                <ahyp:hlinkClr xmlns:ahyp="http://schemas.microsoft.com/office/drawing/2018/hyperlinkcolor" val="tx"/>
                              </a:ext>
                            </a:extLst>
                          </a:hlinkClick>
                        </a:rPr>
                        <a:t>Kalkhambkar</a:t>
                      </a:r>
                      <a:endPar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endParaRPr>
                    </a:p>
                  </a:txBody>
                  <a:tcPr marL="4291" marR="4291" marT="4291" marB="0" anchor="ctr"/>
                </a:tc>
                <a:tc>
                  <a:txBody>
                    <a:bodyPr/>
                    <a:lstStyle/>
                    <a:p>
                      <a:pPr algn="l" fontAlgn="b"/>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Previous research focused on battery swapping or charging stations separately.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Integration of both battery swapping and charging stations is necessary.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Optimal placement of battery swapping stations has been explored.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Mixed-integer nonlinear programming has been used for sizing and location.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Government initiatives are promoting the use of battery electric buses. </a:t>
                      </a:r>
                    </a:p>
                  </a:txBody>
                  <a:tcPr marL="4291" marR="4291" marT="4291" marB="0" anchor="b"/>
                </a:tc>
                <a:extLst>
                  <a:ext uri="{0D108BD9-81ED-4DB2-BD59-A6C34878D82A}">
                    <a16:rowId xmlns:a16="http://schemas.microsoft.com/office/drawing/2014/main" val="2934561570"/>
                  </a:ext>
                </a:extLst>
              </a:tr>
              <a:tr h="925159">
                <a:tc>
                  <a:txBody>
                    <a:bodyPr/>
                    <a:lstStyle/>
                    <a:p>
                      <a:pPr marL="0" algn="l" defTabSz="960120" rtl="0" eaLnBrk="1" fontAlgn="ctr" latinLnBrk="0" hangingPunct="1"/>
                      <a:r>
                        <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rPr>
                        <a:t>Combining data centers with electric vehicle battery swapping stations for grid regulation</a:t>
                      </a:r>
                    </a:p>
                    <a:p>
                      <a:pPr marL="0" algn="l" defTabSz="960120" rtl="0" eaLnBrk="1" fontAlgn="ctr" latinLnBrk="0" hangingPunct="1"/>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marL="0" algn="l" defTabSz="960120" rtl="0" eaLnBrk="1" fontAlgn="ctr" latinLnBrk="0" hangingPunct="1"/>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3">
                            <a:extLst>
                              <a:ext uri="{A12FA001-AC4F-418D-AE19-62706E023703}">
                                <ahyp:hlinkClr xmlns:ahyp="http://schemas.microsoft.com/office/drawing/2018/hyperlinkcolor" val="tx"/>
                              </a:ext>
                            </a:extLst>
                          </a:hlinkClick>
                        </a:rPr>
                        <a:t>Shan Zhang</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14">
                            <a:extLst>
                              <a:ext uri="{A12FA001-AC4F-418D-AE19-62706E023703}">
                                <ahyp:hlinkClr xmlns:ahyp="http://schemas.microsoft.com/office/drawing/2018/hyperlinkcolor" val="tx"/>
                              </a:ext>
                            </a:extLst>
                          </a:hlinkClick>
                        </a:rPr>
                        <a:t>Xiaoshan</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4">
                            <a:extLst>
                              <a:ext uri="{A12FA001-AC4F-418D-AE19-62706E023703}">
                                <ahyp:hlinkClr xmlns:ahyp="http://schemas.microsoft.com/office/drawing/2018/hyperlinkcolor" val="tx"/>
                              </a:ext>
                            </a:extLst>
                          </a:hlinkClick>
                        </a:rPr>
                        <a:t> Sun</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15">
                            <a:extLst>
                              <a:ext uri="{A12FA001-AC4F-418D-AE19-62706E023703}">
                                <ahyp:hlinkClr xmlns:ahyp="http://schemas.microsoft.com/office/drawing/2018/hyperlinkcolor" val="tx"/>
                              </a:ext>
                            </a:extLst>
                          </a:hlinkClick>
                        </a:rPr>
                        <a:t>Hengchang</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5">
                            <a:extLst>
                              <a:ext uri="{A12FA001-AC4F-418D-AE19-62706E023703}">
                                <ahyp:hlinkClr xmlns:ahyp="http://schemas.microsoft.com/office/drawing/2018/hyperlinkcolor" val="tx"/>
                              </a:ext>
                            </a:extLst>
                          </a:hlinkClick>
                        </a:rPr>
                        <a:t> Liu</a:t>
                      </a:r>
                      <a:endPar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endParaRPr>
                    </a:p>
                  </a:txBody>
                  <a:tcPr marL="4291" marR="4291" marT="4291" marB="0" anchor="ctr"/>
                </a:tc>
                <a:tc>
                  <a:txBody>
                    <a:bodyPr/>
                    <a:lstStyle/>
                    <a:p>
                      <a:pPr algn="l" fontAlgn="b"/>
                      <a:r>
                        <a:rPr lang="en-US" sz="1500" u="none" strike="noStrike" kern="1200">
                          <a:solidFill>
                            <a:schemeClr val="dk1"/>
                          </a:solidFill>
                          <a:effectLst/>
                          <a:latin typeface="Times New Roman" panose="02020603050405020304" pitchFamily="18" charset="0"/>
                          <a:ea typeface="+mn-ea"/>
                          <a:cs typeface="Times New Roman" panose="02020603050405020304" pitchFamily="18" charset="0"/>
                        </a:rPr>
                        <a:t>The paper combines data centers with EV battery swapping stations. </a:t>
                      </a:r>
                      <a:br>
                        <a:rPr lang="en-US" sz="1500" u="none" strike="noStrike" kern="120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a:solidFill>
                            <a:schemeClr val="dk1"/>
                          </a:solidFill>
                          <a:effectLst/>
                          <a:latin typeface="Times New Roman" panose="02020603050405020304" pitchFamily="18" charset="0"/>
                          <a:ea typeface="+mn-ea"/>
                          <a:cs typeface="Times New Roman" panose="02020603050405020304" pitchFamily="18" charset="0"/>
                        </a:rPr>
                        <a:t>It focuses on grid regulation using battery swapping stations. </a:t>
                      </a:r>
                      <a:br>
                        <a:rPr lang="en-US" sz="1500" u="none" strike="noStrike" kern="120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a:solidFill>
                            <a:schemeClr val="dk1"/>
                          </a:solidFill>
                          <a:effectLst/>
                          <a:latin typeface="Times New Roman" panose="02020603050405020304" pitchFamily="18" charset="0"/>
                          <a:ea typeface="+mn-ea"/>
                          <a:cs typeface="Times New Roman" panose="02020603050405020304" pitchFamily="18" charset="0"/>
                        </a:rPr>
                        <a:t>Previous solutions emphasized charging stations, neglecting battery swapping. </a:t>
                      </a:r>
                      <a:br>
                        <a:rPr lang="en-US" sz="1500" u="none" strike="noStrike" kern="120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a:solidFill>
                            <a:schemeClr val="dk1"/>
                          </a:solidFill>
                          <a:effectLst/>
                          <a:latin typeface="Times New Roman" panose="02020603050405020304" pitchFamily="18" charset="0"/>
                          <a:ea typeface="+mn-ea"/>
                          <a:cs typeface="Times New Roman" panose="02020603050405020304" pitchFamily="18" charset="0"/>
                        </a:rPr>
                        <a:t>The study proposes novel algorithms for decision-making. </a:t>
                      </a:r>
                      <a:br>
                        <a:rPr lang="en-US" sz="1500" u="none" strike="noStrike" kern="120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a:solidFill>
                            <a:schemeClr val="dk1"/>
                          </a:solidFill>
                          <a:effectLst/>
                          <a:latin typeface="Times New Roman" panose="02020603050405020304" pitchFamily="18" charset="0"/>
                          <a:ea typeface="+mn-ea"/>
                          <a:cs typeface="Times New Roman" panose="02020603050405020304" pitchFamily="18" charset="0"/>
                        </a:rPr>
                        <a:t>Simulation results show significant grid imbalance reduction. </a:t>
                      </a:r>
                    </a:p>
                  </a:txBody>
                  <a:tcPr marL="4291" marR="4291" marT="4291" marB="0" anchor="b"/>
                </a:tc>
                <a:extLst>
                  <a:ext uri="{0D108BD9-81ED-4DB2-BD59-A6C34878D82A}">
                    <a16:rowId xmlns:a16="http://schemas.microsoft.com/office/drawing/2014/main" val="3219898171"/>
                  </a:ext>
                </a:extLst>
              </a:tr>
              <a:tr h="1109499">
                <a:tc>
                  <a:txBody>
                    <a:bodyPr/>
                    <a:lstStyle/>
                    <a:p>
                      <a:pPr marL="0" algn="l" defTabSz="960120" rtl="0" eaLnBrk="1" fontAlgn="ctr" latinLnBrk="0" hangingPunct="1"/>
                      <a:r>
                        <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rPr>
                        <a:t>Battery Swapping Mobile Service Station for Electric Vehicles Application</a:t>
                      </a:r>
                    </a:p>
                    <a:p>
                      <a:pPr marL="0" algn="l" defTabSz="960120" rtl="0" eaLnBrk="1" fontAlgn="ctr" latinLnBrk="0" hangingPunct="1"/>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marL="0" algn="l" defTabSz="960120" rtl="0" eaLnBrk="1" fontAlgn="ctr" latinLnBrk="0" hangingPunct="1"/>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6">
                            <a:extLst>
                              <a:ext uri="{A12FA001-AC4F-418D-AE19-62706E023703}">
                                <ahyp:hlinkClr xmlns:ahyp="http://schemas.microsoft.com/office/drawing/2018/hyperlinkcolor" val="tx"/>
                              </a:ext>
                            </a:extLst>
                          </a:hlinkClick>
                        </a:rPr>
                        <a:t>Bansilal Bairwa</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7">
                            <a:extLst>
                              <a:ext uri="{A12FA001-AC4F-418D-AE19-62706E023703}">
                                <ahyp:hlinkClr xmlns:ahyp="http://schemas.microsoft.com/office/drawing/2018/hyperlinkcolor" val="tx"/>
                              </a:ext>
                            </a:extLst>
                          </a:hlinkClick>
                        </a:rPr>
                        <a:t>Mrinal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17">
                            <a:extLst>
                              <a:ext uri="{A12FA001-AC4F-418D-AE19-62706E023703}">
                                <ahyp:hlinkClr xmlns:ahyp="http://schemas.microsoft.com/office/drawing/2018/hyperlinkcolor" val="tx"/>
                              </a:ext>
                            </a:extLst>
                          </a:hlinkClick>
                        </a:rPr>
                        <a:t>Sarvagya</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18">
                            <a:extLst>
                              <a:ext uri="{A12FA001-AC4F-418D-AE19-62706E023703}">
                                <ahyp:hlinkClr xmlns:ahyp="http://schemas.microsoft.com/office/drawing/2018/hyperlinkcolor" val="tx"/>
                              </a:ext>
                            </a:extLst>
                          </a:hlinkClick>
                        </a:rPr>
                        <a:t>Sanjeeva</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8">
                            <a:extLst>
                              <a:ext uri="{A12FA001-AC4F-418D-AE19-62706E023703}">
                                <ahyp:hlinkClr xmlns:ahyp="http://schemas.microsoft.com/office/drawing/2018/hyperlinkcolor" val="tx"/>
                              </a:ext>
                            </a:extLst>
                          </a:hlinkClick>
                        </a:rPr>
                        <a:t> Kumar</a:t>
                      </a:r>
                      <a:endPar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endParaRPr>
                    </a:p>
                  </a:txBody>
                  <a:tcPr marL="4291" marR="4291" marT="4291" marB="0" anchor="ctr"/>
                </a:tc>
                <a:tc>
                  <a:txBody>
                    <a:bodyPr/>
                    <a:lstStyle/>
                    <a:p>
                      <a:pPr algn="l" fontAlgn="b"/>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The paper presents a novel battery swapping service approach.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It establishes structural architecture for efficient swapping services.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It differentiates between charging stations and swapping stations.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It describes the mobile swapping unit's working mechanism.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It outlines user communication via a mobile application.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It analyzes power consumption and runtime of the swapping unit. </a:t>
                      </a:r>
                    </a:p>
                  </a:txBody>
                  <a:tcPr marL="4291" marR="4291" marT="4291" marB="0" anchor="b"/>
                </a:tc>
                <a:extLst>
                  <a:ext uri="{0D108BD9-81ED-4DB2-BD59-A6C34878D82A}">
                    <a16:rowId xmlns:a16="http://schemas.microsoft.com/office/drawing/2014/main" val="1293957904"/>
                  </a:ext>
                </a:extLst>
              </a:tr>
            </a:tbl>
          </a:graphicData>
        </a:graphic>
      </p:graphicFrame>
      <p:sp>
        <p:nvSpPr>
          <p:cNvPr id="10" name="Title 1">
            <a:extLst>
              <a:ext uri="{FF2B5EF4-FFF2-40B4-BE49-F238E27FC236}">
                <a16:creationId xmlns:a16="http://schemas.microsoft.com/office/drawing/2014/main" id="{D1CDE4CF-53B8-9397-1AD7-B0990ADF97DC}"/>
              </a:ext>
            </a:extLst>
          </p:cNvPr>
          <p:cNvSpPr txBox="1">
            <a:spLocks/>
          </p:cNvSpPr>
          <p:nvPr/>
        </p:nvSpPr>
        <p:spPr>
          <a:xfrm>
            <a:off x="10243568" y="3716351"/>
            <a:ext cx="3252976" cy="685943"/>
          </a:xfrm>
          <a:prstGeom prst="rect">
            <a:avLst/>
          </a:prstGeom>
        </p:spPr>
        <p:txBody>
          <a:bodyPr vert="horz" lIns="91440" tIns="45720" rIns="91440" bIns="45720" rtlCol="0" anchor="ctr">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2400" b="1" dirty="0">
                <a:solidFill>
                  <a:srgbClr val="00B050"/>
                </a:solidFill>
                <a:latin typeface="Times New Roman" panose="02020603050405020304" pitchFamily="18" charset="0"/>
                <a:cs typeface="Times New Roman" panose="02020603050405020304" pitchFamily="18" charset="0"/>
              </a:rPr>
              <a:t>Swapping Station</a:t>
            </a:r>
          </a:p>
        </p:txBody>
      </p:sp>
      <p:cxnSp>
        <p:nvCxnSpPr>
          <p:cNvPr id="12" name="Straight Connector 11">
            <a:extLst>
              <a:ext uri="{FF2B5EF4-FFF2-40B4-BE49-F238E27FC236}">
                <a16:creationId xmlns:a16="http://schemas.microsoft.com/office/drawing/2014/main" id="{F6C16380-A02D-FB08-D17F-137BE5F485DC}"/>
              </a:ext>
            </a:extLst>
          </p:cNvPr>
          <p:cNvCxnSpPr/>
          <p:nvPr/>
        </p:nvCxnSpPr>
        <p:spPr>
          <a:xfrm flipV="1">
            <a:off x="144018" y="3888966"/>
            <a:ext cx="12508992" cy="6674"/>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5563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7284FB7-E7BE-219E-7BFD-7D309CE87385}"/>
              </a:ext>
            </a:extLst>
          </p:cNvPr>
          <p:cNvGraphicFramePr>
            <a:graphicFrameLocks noGrp="1"/>
          </p:cNvGraphicFramePr>
          <p:nvPr>
            <p:extLst>
              <p:ext uri="{D42A27DB-BD31-4B8C-83A1-F6EECF244321}">
                <p14:modId xmlns:p14="http://schemas.microsoft.com/office/powerpoint/2010/main" val="2216728831"/>
              </p:ext>
            </p:extLst>
          </p:nvPr>
        </p:nvGraphicFramePr>
        <p:xfrm>
          <a:off x="146303" y="1390496"/>
          <a:ext cx="12508991" cy="5956473"/>
        </p:xfrm>
        <a:graphic>
          <a:graphicData uri="http://schemas.openxmlformats.org/drawingml/2006/table">
            <a:tbl>
              <a:tblPr>
                <a:tableStyleId>{5C22544A-7EE6-4342-B048-85BDC9FD1C3A}</a:tableStyleId>
              </a:tblPr>
              <a:tblGrid>
                <a:gridCol w="3850807">
                  <a:extLst>
                    <a:ext uri="{9D8B030D-6E8A-4147-A177-3AD203B41FA5}">
                      <a16:colId xmlns:a16="http://schemas.microsoft.com/office/drawing/2014/main" val="2671779753"/>
                    </a:ext>
                  </a:extLst>
                </a:gridCol>
                <a:gridCol w="8658184">
                  <a:extLst>
                    <a:ext uri="{9D8B030D-6E8A-4147-A177-3AD203B41FA5}">
                      <a16:colId xmlns:a16="http://schemas.microsoft.com/office/drawing/2014/main" val="3218470655"/>
                    </a:ext>
                  </a:extLst>
                </a:gridCol>
              </a:tblGrid>
              <a:tr h="617959">
                <a:tc>
                  <a:txBody>
                    <a:bodyPr/>
                    <a:lstStyle/>
                    <a:p>
                      <a:pPr algn="l" fontAlgn="ctr"/>
                      <a:r>
                        <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rPr>
                        <a:t>Optimal dispatch of electric vehicle batteries between battery swapping stations and charging stations</a:t>
                      </a:r>
                    </a:p>
                    <a:p>
                      <a:pPr marL="0" algn="l" defTabSz="960120" rtl="0" eaLnBrk="1" fontAlgn="ctr" latinLnBrk="0" hangingPunct="1"/>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2">
                            <a:extLst>
                              <a:ext uri="{A12FA001-AC4F-418D-AE19-62706E023703}">
                                <ahyp:hlinkClr xmlns:ahyp="http://schemas.microsoft.com/office/drawing/2018/hyperlinkcolor" val="tx"/>
                              </a:ext>
                            </a:extLst>
                          </a:hlinkClick>
                        </a:rPr>
                        <a:t>Xian Zhang</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Guibin</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 Wang</a:t>
                      </a:r>
                      <a:endPar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endParaRPr>
                    </a:p>
                  </a:txBody>
                  <a:tcPr marL="4291" marR="4291" marT="4291" marB="0" anchor="ctr"/>
                </a:tc>
                <a:tc>
                  <a:txBody>
                    <a:bodyPr/>
                    <a:lstStyle/>
                    <a:p>
                      <a:pPr algn="l" fontAlgn="b"/>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Research on battery swapping stations (BSS) is underdeveloped.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Existing studies treat BSS as common load, ignoring unique characteristics.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Battery logistics between BSS and battery charging stations (BCS) is urgent.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EV charging demand impacts power system operation negatively.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Long charging times reduce consumer willingness to buy EVs.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endPar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4291" marR="4291" marT="4291" marB="0" anchor="b"/>
                </a:tc>
                <a:extLst>
                  <a:ext uri="{0D108BD9-81ED-4DB2-BD59-A6C34878D82A}">
                    <a16:rowId xmlns:a16="http://schemas.microsoft.com/office/drawing/2014/main" val="3191786013"/>
                  </a:ext>
                </a:extLst>
              </a:tr>
              <a:tr h="1235917">
                <a:tc>
                  <a:txBody>
                    <a:bodyPr/>
                    <a:lstStyle/>
                    <a:p>
                      <a:pPr algn="l" fontAlgn="ctr"/>
                      <a:r>
                        <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rPr>
                        <a:t>Integration of Battery Swapping Station into Microgrid: A Review</a:t>
                      </a:r>
                    </a:p>
                    <a:p>
                      <a:pPr algn="l" fontAlgn="ctr"/>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marL="0" algn="l" defTabSz="960120" rtl="0" eaLnBrk="1" fontAlgn="ctr" latinLnBrk="0" hangingPunct="1"/>
                      <a:r>
                        <a:rPr lang="pl-PL"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4">
                            <a:extLst>
                              <a:ext uri="{A12FA001-AC4F-418D-AE19-62706E023703}">
                                <ahyp:hlinkClr xmlns:ahyp="http://schemas.microsoft.com/office/drawing/2018/hyperlinkcolor" val="tx"/>
                              </a:ext>
                            </a:extLst>
                          </a:hlinkClick>
                        </a:rPr>
                        <a:t>Prasanta Kumar Mohanty</a:t>
                      </a:r>
                      <a:r>
                        <a:rPr lang="pl-PL"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pl-PL"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5">
                            <a:extLst>
                              <a:ext uri="{A12FA001-AC4F-418D-AE19-62706E023703}">
                                <ahyp:hlinkClr xmlns:ahyp="http://schemas.microsoft.com/office/drawing/2018/hyperlinkcolor" val="tx"/>
                              </a:ext>
                            </a:extLst>
                          </a:hlinkClick>
                        </a:rPr>
                        <a:t>Premalata Jena</a:t>
                      </a:r>
                      <a:r>
                        <a:rPr lang="pl-PL"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pl-PL"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6">
                            <a:extLst>
                              <a:ext uri="{A12FA001-AC4F-418D-AE19-62706E023703}">
                                <ahyp:hlinkClr xmlns:ahyp="http://schemas.microsoft.com/office/drawing/2018/hyperlinkcolor" val="tx"/>
                              </a:ext>
                            </a:extLst>
                          </a:hlinkClick>
                        </a:rPr>
                        <a:t>Narayana Prasad Padhy</a:t>
                      </a:r>
                      <a:endPar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endParaRPr>
                    </a:p>
                  </a:txBody>
                  <a:tcPr marL="4291" marR="4291" marT="4291" marB="0" anchor="ctr"/>
                </a:tc>
                <a:tc>
                  <a:txBody>
                    <a:bodyPr/>
                    <a:lstStyle/>
                    <a:p>
                      <a:pPr algn="l" fontAlgn="b"/>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Monte Carlo simulation compares BSS and EV charging stations.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Generalized Benders decomposition minimizes charging costs for EV demand.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Battery standardization and deployment discussed during planning stages.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BSS locations selected using GPS data and clustering techniques.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Multi-objective optimization techniques optimize cost and economic aspects.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PV-based BSS systems verify day-ahead scheduling for cost minimization.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Optimal routing and scheduling of BSS for e-buses analyzed.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BSS can act as an Energy Storage System for microgrids.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Challenges in BSS implementation and optimization models are discussed.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Recent research highlights advantages of BSS over conventional charging methods.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endPar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4291" marR="4291" marT="4291" marB="0" anchor="b"/>
                </a:tc>
                <a:extLst>
                  <a:ext uri="{0D108BD9-81ED-4DB2-BD59-A6C34878D82A}">
                    <a16:rowId xmlns:a16="http://schemas.microsoft.com/office/drawing/2014/main" val="3797990165"/>
                  </a:ext>
                </a:extLst>
              </a:tr>
              <a:tr h="1235917">
                <a:tc>
                  <a:txBody>
                    <a:bodyPr/>
                    <a:lstStyle/>
                    <a:p>
                      <a:pPr algn="l" fontAlgn="ctr"/>
                      <a:r>
                        <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rPr>
                        <a:t>Location Decision of Battery Swapping Stations Combined with Battery Swapping Warehouses</a:t>
                      </a:r>
                    </a:p>
                    <a:p>
                      <a:pPr algn="l" fontAlgn="ctr"/>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marL="0" algn="l" defTabSz="960120" rtl="0" eaLnBrk="1" fontAlgn="ctr" latinLnBrk="0" hangingPunct="1"/>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7">
                            <a:extLst>
                              <a:ext uri="{A12FA001-AC4F-418D-AE19-62706E023703}">
                                <ahyp:hlinkClr xmlns:ahyp="http://schemas.microsoft.com/office/drawing/2018/hyperlinkcolor" val="tx"/>
                              </a:ext>
                            </a:extLst>
                          </a:hlinkClick>
                        </a:rPr>
                        <a:t>Qinxuan</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7">
                            <a:extLst>
                              <a:ext uri="{A12FA001-AC4F-418D-AE19-62706E023703}">
                                <ahyp:hlinkClr xmlns:ahyp="http://schemas.microsoft.com/office/drawing/2018/hyperlinkcolor" val="tx"/>
                              </a:ext>
                            </a:extLst>
                          </a:hlinkClick>
                        </a:rPr>
                        <a:t> Huang</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8">
                            <a:extLst>
                              <a:ext uri="{A12FA001-AC4F-418D-AE19-62706E023703}">
                                <ahyp:hlinkClr xmlns:ahyp="http://schemas.microsoft.com/office/drawing/2018/hyperlinkcolor" val="tx"/>
                              </a:ext>
                            </a:extLst>
                          </a:hlinkClick>
                        </a:rPr>
                        <a:t>Xuan Zhang</a:t>
                      </a:r>
                      <a:endPar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endParaRPr>
                    </a:p>
                  </a:txBody>
                  <a:tcPr marL="4291" marR="4291" marT="4291" marB="0" anchor="ctr"/>
                </a:tc>
                <a:tc>
                  <a:txBody>
                    <a:bodyPr/>
                    <a:lstStyle/>
                    <a:p>
                      <a:pPr algn="l" fontAlgn="b"/>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Energy management technologies are pivotal in optimizing energy efficiency within the renewable energy sector. These technologies encompass tasks such as energy information collection, economic analysis, and operational strategies, underscoring the importance of comprehensive energy management systems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When determining the optimal capacity for an Energy Storage System (ESS), it is crucial to consider various factors beyond numerical calculations. Factors such as ESS characteristics, lifespan, and operational considerations should be taken into account to make informed and cost-effective decisions regarding ESS capacity planning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endPar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4291" marR="4291" marT="4291" marB="0" anchor="b"/>
                </a:tc>
                <a:extLst>
                  <a:ext uri="{0D108BD9-81ED-4DB2-BD59-A6C34878D82A}">
                    <a16:rowId xmlns:a16="http://schemas.microsoft.com/office/drawing/2014/main" val="2657734920"/>
                  </a:ext>
                </a:extLst>
              </a:tr>
            </a:tbl>
          </a:graphicData>
        </a:graphic>
      </p:graphicFrame>
      <p:graphicFrame>
        <p:nvGraphicFramePr>
          <p:cNvPr id="5" name="Table 4">
            <a:extLst>
              <a:ext uri="{FF2B5EF4-FFF2-40B4-BE49-F238E27FC236}">
                <a16:creationId xmlns:a16="http://schemas.microsoft.com/office/drawing/2014/main" id="{5871EB40-A418-7338-4FDB-90CA0E69FFA6}"/>
              </a:ext>
            </a:extLst>
          </p:cNvPr>
          <p:cNvGraphicFramePr>
            <a:graphicFrameLocks noGrp="1"/>
          </p:cNvGraphicFramePr>
          <p:nvPr>
            <p:extLst>
              <p:ext uri="{D42A27DB-BD31-4B8C-83A1-F6EECF244321}">
                <p14:modId xmlns:p14="http://schemas.microsoft.com/office/powerpoint/2010/main" val="216757401"/>
              </p:ext>
            </p:extLst>
          </p:nvPr>
        </p:nvGraphicFramePr>
        <p:xfrm>
          <a:off x="146303" y="1020445"/>
          <a:ext cx="12508991" cy="370051"/>
        </p:xfrm>
        <a:graphic>
          <a:graphicData uri="http://schemas.openxmlformats.org/drawingml/2006/table">
            <a:tbl>
              <a:tblPr>
                <a:tableStyleId>{5C22544A-7EE6-4342-B048-85BDC9FD1C3A}</a:tableStyleId>
              </a:tblPr>
              <a:tblGrid>
                <a:gridCol w="3850807">
                  <a:extLst>
                    <a:ext uri="{9D8B030D-6E8A-4147-A177-3AD203B41FA5}">
                      <a16:colId xmlns:a16="http://schemas.microsoft.com/office/drawing/2014/main" val="1750587941"/>
                    </a:ext>
                  </a:extLst>
                </a:gridCol>
                <a:gridCol w="8658184">
                  <a:extLst>
                    <a:ext uri="{9D8B030D-6E8A-4147-A177-3AD203B41FA5}">
                      <a16:colId xmlns:a16="http://schemas.microsoft.com/office/drawing/2014/main" val="719476780"/>
                    </a:ext>
                  </a:extLst>
                </a:gridCol>
              </a:tblGrid>
              <a:tr h="298404">
                <a:tc>
                  <a:txBody>
                    <a:bodyPr/>
                    <a:lstStyle/>
                    <a:p>
                      <a:pPr algn="ctr" fontAlgn="b"/>
                      <a:r>
                        <a:rPr lang="en-US" sz="2400" b="1" u="none" strike="noStrike" kern="1200" dirty="0">
                          <a:solidFill>
                            <a:srgbClr val="C00000"/>
                          </a:solidFill>
                          <a:effectLst/>
                          <a:latin typeface="Times New Roman" panose="02020603050405020304" pitchFamily="18" charset="0"/>
                          <a:ea typeface="+mn-ea"/>
                          <a:cs typeface="Times New Roman" panose="02020603050405020304" pitchFamily="18" charset="0"/>
                        </a:rPr>
                        <a:t>Research Paper Title</a:t>
                      </a:r>
                    </a:p>
                  </a:txBody>
                  <a:tcPr marL="4291" marR="4291" marT="4291" marB="0" anchor="b"/>
                </a:tc>
                <a:tc>
                  <a:txBody>
                    <a:bodyPr/>
                    <a:lstStyle/>
                    <a:p>
                      <a:pPr algn="ctr" fontAlgn="b"/>
                      <a:r>
                        <a:rPr lang="en-US" sz="2400" b="1" u="none" strike="noStrike" kern="1200" dirty="0">
                          <a:solidFill>
                            <a:srgbClr val="C00000"/>
                          </a:solidFill>
                          <a:effectLst/>
                          <a:latin typeface="Times New Roman" panose="02020603050405020304" pitchFamily="18" charset="0"/>
                          <a:ea typeface="+mn-ea"/>
                          <a:cs typeface="Times New Roman" panose="02020603050405020304" pitchFamily="18" charset="0"/>
                        </a:rPr>
                        <a:t>Literature Review</a:t>
                      </a:r>
                    </a:p>
                  </a:txBody>
                  <a:tcPr marL="4291" marR="4291" marT="4291" marB="0" anchor="b"/>
                </a:tc>
                <a:extLst>
                  <a:ext uri="{0D108BD9-81ED-4DB2-BD59-A6C34878D82A}">
                    <a16:rowId xmlns:a16="http://schemas.microsoft.com/office/drawing/2014/main" val="1750788686"/>
                  </a:ext>
                </a:extLst>
              </a:tr>
            </a:tbl>
          </a:graphicData>
        </a:graphic>
      </p:graphicFrame>
      <p:sp>
        <p:nvSpPr>
          <p:cNvPr id="6" name="Title 1">
            <a:extLst>
              <a:ext uri="{FF2B5EF4-FFF2-40B4-BE49-F238E27FC236}">
                <a16:creationId xmlns:a16="http://schemas.microsoft.com/office/drawing/2014/main" id="{B857A23E-02A0-CE0D-CF6C-A827B268CEA1}"/>
              </a:ext>
            </a:extLst>
          </p:cNvPr>
          <p:cNvSpPr txBox="1">
            <a:spLocks/>
          </p:cNvSpPr>
          <p:nvPr/>
        </p:nvSpPr>
        <p:spPr>
          <a:xfrm>
            <a:off x="146303" y="113990"/>
            <a:ext cx="3460242" cy="685943"/>
          </a:xfrm>
          <a:prstGeom prst="rect">
            <a:avLst/>
          </a:prstGeom>
        </p:spPr>
        <p:txBody>
          <a:bodyPr vert="horz" lIns="91440" tIns="45720" rIns="91440" bIns="45720" rtlCol="0" anchor="ctr">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3200" b="1" dirty="0">
                <a:solidFill>
                  <a:srgbClr val="002060"/>
                </a:solidFill>
                <a:latin typeface="Times New Roman" panose="02020603050405020304" pitchFamily="18" charset="0"/>
                <a:cs typeface="Times New Roman" panose="02020603050405020304" pitchFamily="18" charset="0"/>
              </a:rPr>
              <a:t>Literature Review</a:t>
            </a:r>
          </a:p>
        </p:txBody>
      </p:sp>
      <p:sp>
        <p:nvSpPr>
          <p:cNvPr id="7" name="Title 1">
            <a:extLst>
              <a:ext uri="{FF2B5EF4-FFF2-40B4-BE49-F238E27FC236}">
                <a16:creationId xmlns:a16="http://schemas.microsoft.com/office/drawing/2014/main" id="{387890B6-A10B-A875-AA9F-986845833173}"/>
              </a:ext>
            </a:extLst>
          </p:cNvPr>
          <p:cNvSpPr txBox="1">
            <a:spLocks/>
          </p:cNvSpPr>
          <p:nvPr/>
        </p:nvSpPr>
        <p:spPr>
          <a:xfrm>
            <a:off x="9938768" y="149476"/>
            <a:ext cx="3252976" cy="685943"/>
          </a:xfrm>
          <a:prstGeom prst="rect">
            <a:avLst/>
          </a:prstGeom>
        </p:spPr>
        <p:txBody>
          <a:bodyPr vert="horz" lIns="91440" tIns="45720" rIns="91440" bIns="45720" rtlCol="0" anchor="ctr">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2400" b="1" dirty="0">
                <a:solidFill>
                  <a:srgbClr val="00B050"/>
                </a:solidFill>
                <a:latin typeface="Times New Roman" panose="02020603050405020304" pitchFamily="18" charset="0"/>
                <a:cs typeface="Times New Roman" panose="02020603050405020304" pitchFamily="18" charset="0"/>
              </a:rPr>
              <a:t>Swapping Station</a:t>
            </a:r>
          </a:p>
        </p:txBody>
      </p:sp>
    </p:spTree>
    <p:extLst>
      <p:ext uri="{BB962C8B-B14F-4D97-AF65-F5344CB8AC3E}">
        <p14:creationId xmlns:p14="http://schemas.microsoft.com/office/powerpoint/2010/main" val="255203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AAF6B70-D1CB-9E31-F702-2E5BA163FDE0}"/>
              </a:ext>
            </a:extLst>
          </p:cNvPr>
          <p:cNvGraphicFramePr>
            <a:graphicFrameLocks noGrp="1"/>
          </p:cNvGraphicFramePr>
          <p:nvPr>
            <p:extLst>
              <p:ext uri="{D42A27DB-BD31-4B8C-83A1-F6EECF244321}">
                <p14:modId xmlns:p14="http://schemas.microsoft.com/office/powerpoint/2010/main" val="2505576786"/>
              </p:ext>
            </p:extLst>
          </p:nvPr>
        </p:nvGraphicFramePr>
        <p:xfrm>
          <a:off x="146302" y="1039050"/>
          <a:ext cx="12472417" cy="6344729"/>
        </p:xfrm>
        <a:graphic>
          <a:graphicData uri="http://schemas.openxmlformats.org/drawingml/2006/table">
            <a:tbl>
              <a:tblPr>
                <a:tableStyleId>{5C22544A-7EE6-4342-B048-85BDC9FD1C3A}</a:tableStyleId>
              </a:tblPr>
              <a:tblGrid>
                <a:gridCol w="3954971">
                  <a:extLst>
                    <a:ext uri="{9D8B030D-6E8A-4147-A177-3AD203B41FA5}">
                      <a16:colId xmlns:a16="http://schemas.microsoft.com/office/drawing/2014/main" val="1635325234"/>
                    </a:ext>
                  </a:extLst>
                </a:gridCol>
                <a:gridCol w="8517446">
                  <a:extLst>
                    <a:ext uri="{9D8B030D-6E8A-4147-A177-3AD203B41FA5}">
                      <a16:colId xmlns:a16="http://schemas.microsoft.com/office/drawing/2014/main" val="858158608"/>
                    </a:ext>
                  </a:extLst>
                </a:gridCol>
              </a:tblGrid>
              <a:tr h="475026">
                <a:tc>
                  <a:txBody>
                    <a:bodyPr/>
                    <a:lstStyle/>
                    <a:p>
                      <a:pPr marL="0" algn="ctr" defTabSz="960120" rtl="0" eaLnBrk="1" fontAlgn="b" latinLnBrk="0" hangingPunct="1"/>
                      <a:r>
                        <a:rPr lang="en-US" sz="2400" b="1" u="none" strike="noStrike" kern="1200">
                          <a:solidFill>
                            <a:srgbClr val="C00000"/>
                          </a:solidFill>
                          <a:effectLst/>
                          <a:latin typeface="Times New Roman" panose="02020603050405020304" pitchFamily="18" charset="0"/>
                          <a:ea typeface="+mn-ea"/>
                          <a:cs typeface="Times New Roman" panose="02020603050405020304" pitchFamily="18" charset="0"/>
                        </a:rPr>
                        <a:t>Research Paper Title</a:t>
                      </a:r>
                    </a:p>
                  </a:txBody>
                  <a:tcPr marL="7620" marR="7620" marT="7620" marB="0" anchor="b"/>
                </a:tc>
                <a:tc>
                  <a:txBody>
                    <a:bodyPr/>
                    <a:lstStyle/>
                    <a:p>
                      <a:pPr marL="0" algn="ctr" defTabSz="960120" rtl="0" eaLnBrk="1" fontAlgn="b" latinLnBrk="0" hangingPunct="1"/>
                      <a:r>
                        <a:rPr lang="en-US" sz="2400" b="1" u="none" strike="noStrike" kern="1200" dirty="0">
                          <a:solidFill>
                            <a:srgbClr val="C00000"/>
                          </a:solidFill>
                          <a:effectLst/>
                          <a:latin typeface="Times New Roman" panose="02020603050405020304" pitchFamily="18" charset="0"/>
                          <a:ea typeface="+mn-ea"/>
                          <a:cs typeface="Times New Roman" panose="02020603050405020304" pitchFamily="18" charset="0"/>
                        </a:rPr>
                        <a:t>Literature Review</a:t>
                      </a:r>
                    </a:p>
                  </a:txBody>
                  <a:tcPr marL="7620" marR="7620" marT="7620" marB="0" anchor="b"/>
                </a:tc>
                <a:extLst>
                  <a:ext uri="{0D108BD9-81ED-4DB2-BD59-A6C34878D82A}">
                    <a16:rowId xmlns:a16="http://schemas.microsoft.com/office/drawing/2014/main" val="3854647018"/>
                  </a:ext>
                </a:extLst>
              </a:tr>
              <a:tr h="1784462">
                <a:tc>
                  <a:txBody>
                    <a:bodyPr/>
                    <a:lstStyle/>
                    <a:p>
                      <a:pPr algn="l" fontAlgn="ctr"/>
                      <a:r>
                        <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rPr>
                        <a:t>Machine_Learning-Based_Method_for_Remaining_Range_Prediction_of_Electric_Vehicles</a:t>
                      </a:r>
                    </a:p>
                    <a:p>
                      <a:pPr algn="l" fontAlgn="ctr"/>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2">
                            <a:extLst>
                              <a:ext uri="{A12FA001-AC4F-418D-AE19-62706E023703}">
                                <ahyp:hlinkClr xmlns:ahyp="http://schemas.microsoft.com/office/drawing/2018/hyperlinkcolor" val="tx"/>
                              </a:ext>
                            </a:extLst>
                          </a:hlinkClick>
                        </a:rPr>
                        <a:t>Liang Zhao</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Wei Yao</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4">
                            <a:extLst>
                              <a:ext uri="{A12FA001-AC4F-418D-AE19-62706E023703}">
                                <ahyp:hlinkClr xmlns:ahyp="http://schemas.microsoft.com/office/drawing/2018/hyperlinkcolor" val="tx"/>
                              </a:ext>
                            </a:extLst>
                          </a:hlinkClick>
                        </a:rPr>
                        <a:t>Yu Wang</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5">
                            <a:extLst>
                              <a:ext uri="{A12FA001-AC4F-418D-AE19-62706E023703}">
                                <ahyp:hlinkClr xmlns:ahyp="http://schemas.microsoft.com/office/drawing/2018/hyperlinkcolor" val="tx"/>
                              </a:ext>
                            </a:extLst>
                          </a:hlinkClick>
                        </a:rPr>
                        <a:t>Jie Hu</a:t>
                      </a:r>
                      <a:endPar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endParaRPr>
                    </a:p>
                    <a:p>
                      <a:br>
                        <a:rPr lang="en-US" sz="1400" dirty="0"/>
                      </a:br>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l" fontAlgn="b"/>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There is no common dataset for range prediction.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Previous works lacked benchmarks like those in computer vision.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Tests in prior studies were iterative and varied.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Cell inconsistency affects state of health (SOH) estimation.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Manufacturing variations lead to battery performance inconsistencies. Range anxiety is a concern for electric vehicle drivers. </a:t>
                      </a:r>
                    </a:p>
                  </a:txBody>
                  <a:tcPr marL="7620" marR="7620" marT="7620" marB="0" anchor="b"/>
                </a:tc>
                <a:extLst>
                  <a:ext uri="{0D108BD9-81ED-4DB2-BD59-A6C34878D82A}">
                    <a16:rowId xmlns:a16="http://schemas.microsoft.com/office/drawing/2014/main" val="1083375931"/>
                  </a:ext>
                </a:extLst>
              </a:tr>
              <a:tr h="2173964">
                <a:tc>
                  <a:txBody>
                    <a:bodyPr/>
                    <a:lstStyle/>
                    <a:p>
                      <a:pPr algn="l" fontAlgn="ctr"/>
                      <a:r>
                        <a:rPr lang="en-US" sz="1400" b="1" u="none" strike="noStrike" kern="1200" dirty="0" err="1">
                          <a:solidFill>
                            <a:schemeClr val="dk1"/>
                          </a:solidFill>
                          <a:effectLst/>
                          <a:latin typeface="Times New Roman" panose="02020603050405020304" pitchFamily="18" charset="0"/>
                          <a:ea typeface="+mn-ea"/>
                          <a:cs typeface="Times New Roman" panose="02020603050405020304" pitchFamily="18" charset="0"/>
                        </a:rPr>
                        <a:t>Prediction_of_EV_Charging_Behavior_Using</a:t>
                      </a:r>
                      <a:r>
                        <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rPr>
                        <a:t>_  </a:t>
                      </a:r>
                      <a:r>
                        <a:rPr lang="en-US" sz="1400" b="1" u="none" strike="noStrike" kern="1200" dirty="0" err="1">
                          <a:solidFill>
                            <a:schemeClr val="dk1"/>
                          </a:solidFill>
                          <a:effectLst/>
                          <a:latin typeface="Times New Roman" panose="02020603050405020304" pitchFamily="18" charset="0"/>
                          <a:ea typeface="+mn-ea"/>
                          <a:cs typeface="Times New Roman" panose="02020603050405020304" pitchFamily="18" charset="0"/>
                        </a:rPr>
                        <a:t>Machine_Learning</a:t>
                      </a:r>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algn="l" fontAlgn="ctr"/>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marL="0" algn="l" defTabSz="960120" rtl="0" eaLnBrk="1" fontAlgn="ctr" latinLnBrk="0" hangingPunct="1"/>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6">
                            <a:extLst>
                              <a:ext uri="{A12FA001-AC4F-418D-AE19-62706E023703}">
                                <ahyp:hlinkClr xmlns:ahyp="http://schemas.microsoft.com/office/drawing/2018/hyperlinkcolor" val="tx"/>
                              </a:ext>
                            </a:extLst>
                          </a:hlinkClick>
                        </a:rPr>
                        <a:t>Sakib</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6">
                            <a:extLst>
                              <a:ext uri="{A12FA001-AC4F-418D-AE19-62706E023703}">
                                <ahyp:hlinkClr xmlns:ahyp="http://schemas.microsoft.com/office/drawing/2018/hyperlinkcolor" val="tx"/>
                              </a:ext>
                            </a:extLst>
                          </a:hlinkClick>
                        </a:rPr>
                        <a:t> Shahriar</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7">
                            <a:extLst>
                              <a:ext uri="{A12FA001-AC4F-418D-AE19-62706E023703}">
                                <ahyp:hlinkClr xmlns:ahyp="http://schemas.microsoft.com/office/drawing/2018/hyperlinkcolor" val="tx"/>
                              </a:ext>
                            </a:extLst>
                          </a:hlinkClick>
                        </a:rPr>
                        <a:t>A. R. Al-Ali</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8">
                            <a:extLst>
                              <a:ext uri="{A12FA001-AC4F-418D-AE19-62706E023703}">
                                <ahyp:hlinkClr xmlns:ahyp="http://schemas.microsoft.com/office/drawing/2018/hyperlinkcolor" val="tx"/>
                              </a:ext>
                            </a:extLst>
                          </a:hlinkClick>
                        </a:rPr>
                        <a:t>Ahmed H. Osman</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t>; </a:t>
                      </a:r>
                      <a:r>
                        <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9">
                            <a:extLst>
                              <a:ext uri="{A12FA001-AC4F-418D-AE19-62706E023703}">
                                <ahyp:hlinkClr xmlns:ahyp="http://schemas.microsoft.com/office/drawing/2018/hyperlinkcolor" val="tx"/>
                              </a:ext>
                            </a:extLst>
                          </a:hlinkClick>
                        </a:rPr>
                        <a:t>Salam </a:t>
                      </a:r>
                      <a:r>
                        <a:rPr lang="en-US" sz="1400" b="1" i="0" u="none" strike="noStrike" kern="1200" dirty="0" err="1">
                          <a:solidFill>
                            <a:srgbClr val="C00000"/>
                          </a:solidFill>
                          <a:effectLst/>
                          <a:latin typeface="Times New Roman" panose="02020603050405020304" pitchFamily="18" charset="0"/>
                          <a:ea typeface="+mn-ea"/>
                          <a:cs typeface="Times New Roman" panose="02020603050405020304" pitchFamily="18" charset="0"/>
                          <a:hlinkClick r:id="rId9">
                            <a:extLst>
                              <a:ext uri="{A12FA001-AC4F-418D-AE19-62706E023703}">
                                <ahyp:hlinkClr xmlns:ahyp="http://schemas.microsoft.com/office/drawing/2018/hyperlinkcolor" val="tx"/>
                              </a:ext>
                            </a:extLst>
                          </a:hlinkClick>
                        </a:rPr>
                        <a:t>Dhou</a:t>
                      </a:r>
                      <a:endPar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l" fontAlgn="b"/>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Energy management technologies play a crucial role in enhancing energy efficiency in the renewable energy sector. These technologies involve tasks such as energy information collection, economic analysis, and operational strategies, highlighting the importance of comprehensive energy management systems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When determining the optimal capacity for an Energy Storage System (ESS), it is essential to consider various factors beyond numerical calculations. Factors such as ESS characteristics, lifespan, and operational aspects should be taken into account to make informed and cost-effective decisions regarding ESS capacity planning </a:t>
                      </a:r>
                    </a:p>
                  </a:txBody>
                  <a:tcPr marL="7620" marR="7620" marT="7620" marB="0" anchor="b"/>
                </a:tc>
                <a:extLst>
                  <a:ext uri="{0D108BD9-81ED-4DB2-BD59-A6C34878D82A}">
                    <a16:rowId xmlns:a16="http://schemas.microsoft.com/office/drawing/2014/main" val="284067827"/>
                  </a:ext>
                </a:extLst>
              </a:tr>
              <a:tr h="1911277">
                <a:tc>
                  <a:txBody>
                    <a:bodyPr/>
                    <a:lstStyle/>
                    <a:p>
                      <a:pPr algn="l" fontAlgn="ctr"/>
                      <a:r>
                        <a:rPr lang="en-US" sz="1400" b="1" u="none" strike="noStrike" kern="1200" dirty="0" err="1">
                          <a:solidFill>
                            <a:schemeClr val="dk1"/>
                          </a:solidFill>
                          <a:effectLst/>
                          <a:latin typeface="Times New Roman" panose="02020603050405020304" pitchFamily="18" charset="0"/>
                          <a:ea typeface="+mn-ea"/>
                          <a:cs typeface="Times New Roman" panose="02020603050405020304" pitchFamily="18" charset="0"/>
                        </a:rPr>
                        <a:t>Reinforcement_Learning_Based_EV_Charging</a:t>
                      </a:r>
                      <a:r>
                        <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rPr>
                        <a:t>_ </a:t>
                      </a:r>
                      <a:r>
                        <a:rPr lang="en-US" sz="1400" b="1" u="none" strike="noStrike" kern="1200" dirty="0" err="1">
                          <a:solidFill>
                            <a:schemeClr val="dk1"/>
                          </a:solidFill>
                          <a:effectLst/>
                          <a:latin typeface="Times New Roman" panose="02020603050405020304" pitchFamily="18" charset="0"/>
                          <a:ea typeface="+mn-ea"/>
                          <a:cs typeface="Times New Roman" panose="02020603050405020304" pitchFamily="18" charset="0"/>
                        </a:rPr>
                        <a:t>Management_SystemsA_Review</a:t>
                      </a:r>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algn="l" fontAlgn="ctr"/>
                      <a:endParaRPr lang="en-US" sz="1400" b="1"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p>
                      <a:pPr marL="0" algn="l" defTabSz="960120" rtl="0" eaLnBrk="1" fontAlgn="ctr" latinLnBrk="0" hangingPunct="1"/>
                      <a:r>
                        <a:rPr lang="sv-SE"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0">
                            <a:extLst>
                              <a:ext uri="{A12FA001-AC4F-418D-AE19-62706E023703}">
                                <ahyp:hlinkClr xmlns:ahyp="http://schemas.microsoft.com/office/drawing/2018/hyperlinkcolor" val="tx"/>
                              </a:ext>
                            </a:extLst>
                          </a:hlinkClick>
                        </a:rPr>
                        <a:t>Abdullah, Heba M.</a:t>
                      </a:r>
                      <a:br>
                        <a:rPr lang="sv-SE"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br>
                      <a:r>
                        <a:rPr lang="sv-SE"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1">
                            <a:extLst>
                              <a:ext uri="{A12FA001-AC4F-418D-AE19-62706E023703}">
                                <ahyp:hlinkClr xmlns:ahyp="http://schemas.microsoft.com/office/drawing/2018/hyperlinkcolor" val="tx"/>
                              </a:ext>
                            </a:extLst>
                          </a:hlinkClick>
                        </a:rPr>
                        <a:t>Gastli, Adel</a:t>
                      </a:r>
                      <a:br>
                        <a:rPr lang="sv-SE"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rPr>
                      </a:br>
                      <a:r>
                        <a:rPr lang="sv-SE"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hlinkClick r:id="rId12">
                            <a:extLst>
                              <a:ext uri="{A12FA001-AC4F-418D-AE19-62706E023703}">
                                <ahyp:hlinkClr xmlns:ahyp="http://schemas.microsoft.com/office/drawing/2018/hyperlinkcolor" val="tx"/>
                              </a:ext>
                            </a:extLst>
                          </a:hlinkClick>
                        </a:rPr>
                        <a:t>Ben-Brahim, Lazhar</a:t>
                      </a:r>
                      <a:endParaRPr lang="en-US" sz="1400" b="1" i="0" u="none" strike="noStrike" kern="1200" dirty="0">
                        <a:solidFill>
                          <a:srgbClr val="C00000"/>
                        </a:solidFill>
                        <a:effectLst/>
                        <a:latin typeface="Times New Roman" panose="02020603050405020304" pitchFamily="18" charset="0"/>
                        <a:ea typeface="+mn-ea"/>
                        <a:cs typeface="Times New Roman" panose="02020603050405020304" pitchFamily="18" charset="0"/>
                      </a:endParaRPr>
                    </a:p>
                  </a:txBody>
                  <a:tcPr marL="7620" marR="7620" marT="7620" marB="0" anchor="ctr"/>
                </a:tc>
                <a:tc>
                  <a:txBody>
                    <a:bodyPr/>
                    <a:lstStyle/>
                    <a:p>
                      <a:pPr algn="l" fontAlgn="b"/>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The review includes journal articles, conference papers, and dissertations.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Contributions primarily come from China, the US, and Canada.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China leads in global EV market shares and sales.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Studies focus on EV charging coordination using RL techniques.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Uncertainties in EV load demand challenge scheduling approaches.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t>A local optimal scheduling scheme is proposed for EVs. </a:t>
                      </a:r>
                      <a:br>
                        <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rPr>
                      </a:br>
                      <a:endParaRPr lang="en-US" sz="1500" u="none" strike="noStrike" kern="1200" dirty="0">
                        <a:solidFill>
                          <a:schemeClr val="dk1"/>
                        </a:solidFill>
                        <a:effectLst/>
                        <a:latin typeface="Times New Roman" panose="02020603050405020304" pitchFamily="18" charset="0"/>
                        <a:ea typeface="+mn-ea"/>
                        <a:cs typeface="Times New Roman" panose="02020603050405020304" pitchFamily="18" charset="0"/>
                      </a:endParaRPr>
                    </a:p>
                  </a:txBody>
                  <a:tcPr marL="7620" marR="7620" marT="7620" marB="0" anchor="b"/>
                </a:tc>
                <a:extLst>
                  <a:ext uri="{0D108BD9-81ED-4DB2-BD59-A6C34878D82A}">
                    <a16:rowId xmlns:a16="http://schemas.microsoft.com/office/drawing/2014/main" val="4130573758"/>
                  </a:ext>
                </a:extLst>
              </a:tr>
            </a:tbl>
          </a:graphicData>
        </a:graphic>
      </p:graphicFrame>
      <p:sp>
        <p:nvSpPr>
          <p:cNvPr id="5" name="Title 1">
            <a:extLst>
              <a:ext uri="{FF2B5EF4-FFF2-40B4-BE49-F238E27FC236}">
                <a16:creationId xmlns:a16="http://schemas.microsoft.com/office/drawing/2014/main" id="{F0ACCD05-2154-855E-876F-378F29CAA0F2}"/>
              </a:ext>
            </a:extLst>
          </p:cNvPr>
          <p:cNvSpPr txBox="1">
            <a:spLocks/>
          </p:cNvSpPr>
          <p:nvPr/>
        </p:nvSpPr>
        <p:spPr>
          <a:xfrm>
            <a:off x="146303" y="113990"/>
            <a:ext cx="3460242" cy="685943"/>
          </a:xfrm>
          <a:prstGeom prst="rect">
            <a:avLst/>
          </a:prstGeom>
        </p:spPr>
        <p:txBody>
          <a:bodyPr vert="horz" lIns="91440" tIns="45720" rIns="91440" bIns="45720" rtlCol="0" anchor="ctr">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3200" b="1" dirty="0">
                <a:solidFill>
                  <a:srgbClr val="002060"/>
                </a:solidFill>
                <a:latin typeface="Times New Roman" panose="02020603050405020304" pitchFamily="18" charset="0"/>
                <a:cs typeface="Times New Roman" panose="02020603050405020304" pitchFamily="18" charset="0"/>
              </a:rPr>
              <a:t>Literature Review</a:t>
            </a:r>
          </a:p>
        </p:txBody>
      </p:sp>
      <p:sp>
        <p:nvSpPr>
          <p:cNvPr id="6" name="Title 1">
            <a:extLst>
              <a:ext uri="{FF2B5EF4-FFF2-40B4-BE49-F238E27FC236}">
                <a16:creationId xmlns:a16="http://schemas.microsoft.com/office/drawing/2014/main" id="{574BA1F8-C1C2-E187-3F9B-9D343E5438B3}"/>
              </a:ext>
            </a:extLst>
          </p:cNvPr>
          <p:cNvSpPr txBox="1">
            <a:spLocks/>
          </p:cNvSpPr>
          <p:nvPr/>
        </p:nvSpPr>
        <p:spPr>
          <a:xfrm>
            <a:off x="10072880" y="0"/>
            <a:ext cx="3252976" cy="685943"/>
          </a:xfrm>
          <a:prstGeom prst="rect">
            <a:avLst/>
          </a:prstGeom>
        </p:spPr>
        <p:txBody>
          <a:bodyPr vert="horz" lIns="91440" tIns="45720" rIns="91440" bIns="45720" rtlCol="0" anchor="ctr">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2400" b="1" dirty="0">
                <a:solidFill>
                  <a:srgbClr val="00B050"/>
                </a:solidFill>
                <a:latin typeface="Times New Roman" panose="02020603050405020304" pitchFamily="18" charset="0"/>
                <a:cs typeface="Times New Roman" panose="02020603050405020304" pitchFamily="18" charset="0"/>
              </a:rPr>
              <a:t>Machine Learning</a:t>
            </a:r>
          </a:p>
        </p:txBody>
      </p:sp>
    </p:spTree>
    <p:extLst>
      <p:ext uri="{BB962C8B-B14F-4D97-AF65-F5344CB8AC3E}">
        <p14:creationId xmlns:p14="http://schemas.microsoft.com/office/powerpoint/2010/main" val="925104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2">
            <a:extLst>
              <a:ext uri="{FF2B5EF4-FFF2-40B4-BE49-F238E27FC236}">
                <a16:creationId xmlns:a16="http://schemas.microsoft.com/office/drawing/2014/main" id="{9BFED394-427A-C7F3-5539-F54FE07E08AD}"/>
              </a:ext>
            </a:extLst>
          </p:cNvPr>
          <p:cNvGraphicFramePr>
            <a:graphicFrameLocks noGrp="1"/>
          </p:cNvGraphicFramePr>
          <p:nvPr>
            <p:ph idx="1"/>
            <p:extLst>
              <p:ext uri="{D42A27DB-BD31-4B8C-83A1-F6EECF244321}">
                <p14:modId xmlns:p14="http://schemas.microsoft.com/office/powerpoint/2010/main" val="1011724968"/>
              </p:ext>
            </p:extLst>
          </p:nvPr>
        </p:nvGraphicFramePr>
        <p:xfrm>
          <a:off x="6602046" y="902654"/>
          <a:ext cx="6101685" cy="72580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7" name="Group 6">
            <a:extLst>
              <a:ext uri="{FF2B5EF4-FFF2-40B4-BE49-F238E27FC236}">
                <a16:creationId xmlns:a16="http://schemas.microsoft.com/office/drawing/2014/main" id="{5B69377A-268F-85EB-4555-FB1163AEFFF6}"/>
              </a:ext>
            </a:extLst>
          </p:cNvPr>
          <p:cNvGrpSpPr/>
          <p:nvPr/>
        </p:nvGrpSpPr>
        <p:grpSpPr>
          <a:xfrm>
            <a:off x="282221" y="1534113"/>
            <a:ext cx="6101685" cy="1295075"/>
            <a:chOff x="0" y="396798"/>
            <a:chExt cx="6101685" cy="528412"/>
          </a:xfrm>
        </p:grpSpPr>
        <p:sp>
          <p:nvSpPr>
            <p:cNvPr id="24" name="Rectangle 23">
              <a:extLst>
                <a:ext uri="{FF2B5EF4-FFF2-40B4-BE49-F238E27FC236}">
                  <a16:creationId xmlns:a16="http://schemas.microsoft.com/office/drawing/2014/main" id="{521FD246-8F92-0462-7DDD-4829E91335A4}"/>
                </a:ext>
              </a:extLst>
            </p:cNvPr>
            <p:cNvSpPr/>
            <p:nvPr/>
          </p:nvSpPr>
          <p:spPr>
            <a:xfrm>
              <a:off x="0" y="396798"/>
              <a:ext cx="6101685" cy="528412"/>
            </a:xfrm>
            <a:prstGeom prst="rect">
              <a:avLst/>
            </a:prstGeom>
          </p:spPr>
          <p:style>
            <a:lnRef idx="2">
              <a:schemeClr val="accent2">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sz="190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656AAF62-4D3D-BA81-4419-3FBDE6AE7F27}"/>
                </a:ext>
              </a:extLst>
            </p:cNvPr>
            <p:cNvSpPr txBox="1"/>
            <p:nvPr/>
          </p:nvSpPr>
          <p:spPr>
            <a:xfrm>
              <a:off x="0" y="396798"/>
              <a:ext cx="6101685" cy="52841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0480" tIns="20320" rIns="30480" bIns="20320" numCol="1" spcCol="1270" anchor="ctr" anchorCtr="0">
              <a:noAutofit/>
            </a:bodyPr>
            <a:lstStyle/>
            <a:p>
              <a:pPr marL="0" lvl="1" algn="l" defTabSz="488950">
                <a:lnSpc>
                  <a:spcPct val="90000"/>
                </a:lnSpc>
                <a:spcBef>
                  <a:spcPct val="0"/>
                </a:spcBef>
                <a:spcAft>
                  <a:spcPct val="15000"/>
                </a:spcAft>
              </a:pPr>
              <a:r>
                <a:rPr lang="en-US" sz="1900" dirty="0">
                  <a:latin typeface="Times New Roman" panose="02020603050405020304" pitchFamily="18" charset="0"/>
                  <a:cs typeface="Times New Roman" panose="02020603050405020304" pitchFamily="18" charset="0"/>
                </a:rPr>
                <a:t> </a:t>
              </a:r>
            </a:p>
            <a:p>
              <a:pPr marL="57150" lvl="1" indent="-57150" algn="l" defTabSz="488950">
                <a:lnSpc>
                  <a:spcPct val="90000"/>
                </a:lnSpc>
                <a:spcBef>
                  <a:spcPct val="0"/>
                </a:spcBef>
                <a:spcAft>
                  <a:spcPct val="15000"/>
                </a:spcAft>
                <a:buChar char="•"/>
              </a:pPr>
              <a:r>
                <a:rPr lang="en-US" sz="1900" dirty="0">
                  <a:latin typeface="Times New Roman" panose="02020603050405020304" pitchFamily="18" charset="0"/>
                  <a:cs typeface="Times New Roman" panose="02020603050405020304" pitchFamily="18" charset="0"/>
                </a:rPr>
                <a:t>Need of Renewable energy sources Integrations</a:t>
              </a:r>
            </a:p>
            <a:p>
              <a:pPr marL="57150" lvl="1" indent="-57150" algn="l" defTabSz="488950">
                <a:lnSpc>
                  <a:spcPct val="90000"/>
                </a:lnSpc>
                <a:spcBef>
                  <a:spcPct val="0"/>
                </a:spcBef>
                <a:spcAft>
                  <a:spcPct val="15000"/>
                </a:spcAft>
                <a:buChar char="•"/>
              </a:pPr>
              <a:r>
                <a:rPr lang="en-US" sz="1900" b="0" i="0" kern="1200" dirty="0">
                  <a:latin typeface="Times New Roman" panose="02020603050405020304" pitchFamily="18" charset="0"/>
                  <a:cs typeface="Times New Roman" panose="02020603050405020304" pitchFamily="18" charset="0"/>
                </a:rPr>
                <a:t>Automation on Sources availability bases</a:t>
              </a:r>
            </a:p>
            <a:p>
              <a:pPr marL="57150" lvl="1" indent="-57150" algn="l" defTabSz="488950">
                <a:lnSpc>
                  <a:spcPct val="90000"/>
                </a:lnSpc>
                <a:spcBef>
                  <a:spcPct val="0"/>
                </a:spcBef>
                <a:spcAft>
                  <a:spcPct val="15000"/>
                </a:spcAft>
                <a:buChar char="•"/>
              </a:pPr>
              <a:r>
                <a:rPr lang="en-US" sz="1900" b="0" i="0" kern="1200" dirty="0">
                  <a:latin typeface="Times New Roman" panose="02020603050405020304" pitchFamily="18" charset="0"/>
                  <a:cs typeface="Times New Roman" panose="02020603050405020304" pitchFamily="18" charset="0"/>
                </a:rPr>
                <a:t>Optimization of scheduling and admission</a:t>
              </a:r>
              <a:endParaRPr lang="en-US" sz="1900" kern="1200" dirty="0">
                <a:latin typeface="Times New Roman" panose="02020603050405020304" pitchFamily="18" charset="0"/>
                <a:cs typeface="Times New Roman" panose="02020603050405020304" pitchFamily="18" charset="0"/>
              </a:endParaRPr>
            </a:p>
            <a:p>
              <a:pPr marL="57150" lvl="1" indent="-57150" algn="l" defTabSz="488950">
                <a:lnSpc>
                  <a:spcPct val="90000"/>
                </a:lnSpc>
                <a:spcBef>
                  <a:spcPct val="0"/>
                </a:spcBef>
                <a:spcAft>
                  <a:spcPct val="15000"/>
                </a:spcAft>
                <a:buChar char="•"/>
              </a:pPr>
              <a:endParaRPr lang="en-US" sz="1900" b="0" i="0" kern="1200" dirty="0">
                <a:latin typeface="Times New Roman" panose="02020603050405020304" pitchFamily="18" charset="0"/>
                <a:cs typeface="Times New Roman" panose="02020603050405020304" pitchFamily="18" charset="0"/>
              </a:endParaRPr>
            </a:p>
          </p:txBody>
        </p:sp>
      </p:grpSp>
      <p:grpSp>
        <p:nvGrpSpPr>
          <p:cNvPr id="9" name="Group 8">
            <a:extLst>
              <a:ext uri="{FF2B5EF4-FFF2-40B4-BE49-F238E27FC236}">
                <a16:creationId xmlns:a16="http://schemas.microsoft.com/office/drawing/2014/main" id="{1CDE1E98-0CAC-70D8-F3E7-6D8BF049556E}"/>
              </a:ext>
            </a:extLst>
          </p:cNvPr>
          <p:cNvGrpSpPr/>
          <p:nvPr/>
        </p:nvGrpSpPr>
        <p:grpSpPr>
          <a:xfrm>
            <a:off x="537162" y="1176369"/>
            <a:ext cx="4271179" cy="528411"/>
            <a:chOff x="270792" y="108706"/>
            <a:chExt cx="4271179" cy="324720"/>
          </a:xfrm>
        </p:grpSpPr>
        <p:sp>
          <p:nvSpPr>
            <p:cNvPr id="22" name="Rectangle: Rounded Corners 21">
              <a:extLst>
                <a:ext uri="{FF2B5EF4-FFF2-40B4-BE49-F238E27FC236}">
                  <a16:creationId xmlns:a16="http://schemas.microsoft.com/office/drawing/2014/main" id="{481BA5AD-F2FD-420B-0659-E7304D8DE32D}"/>
                </a:ext>
              </a:extLst>
            </p:cNvPr>
            <p:cNvSpPr/>
            <p:nvPr/>
          </p:nvSpPr>
          <p:spPr>
            <a:xfrm>
              <a:off x="270792" y="108706"/>
              <a:ext cx="4271179" cy="324720"/>
            </a:xfrm>
            <a:prstGeom prst="round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US" sz="1900">
                <a:latin typeface="Times New Roman" panose="02020603050405020304" pitchFamily="18" charset="0"/>
                <a:cs typeface="Times New Roman" panose="02020603050405020304" pitchFamily="18" charset="0"/>
              </a:endParaRPr>
            </a:p>
          </p:txBody>
        </p:sp>
        <p:sp>
          <p:nvSpPr>
            <p:cNvPr id="23" name="Rectangle: Rounded Corners 6">
              <a:extLst>
                <a:ext uri="{FF2B5EF4-FFF2-40B4-BE49-F238E27FC236}">
                  <a16:creationId xmlns:a16="http://schemas.microsoft.com/office/drawing/2014/main" id="{DE02A177-C36B-6452-1250-F4BBF31567B1}"/>
                </a:ext>
              </a:extLst>
            </p:cNvPr>
            <p:cNvSpPr txBox="1"/>
            <p:nvPr/>
          </p:nvSpPr>
          <p:spPr>
            <a:xfrm>
              <a:off x="286644" y="124558"/>
              <a:ext cx="4239475" cy="29301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1440" tIns="0" rIns="161440" bIns="0" numCol="1" spcCol="1270" anchor="ctr" anchorCtr="0">
              <a:noAutofit/>
            </a:bodyPr>
            <a:lstStyle/>
            <a:p>
              <a:pPr marL="0" lvl="0" indent="0" algn="l" defTabSz="488950">
                <a:lnSpc>
                  <a:spcPct val="90000"/>
                </a:lnSpc>
                <a:spcBef>
                  <a:spcPct val="0"/>
                </a:spcBef>
                <a:spcAft>
                  <a:spcPct val="35000"/>
                </a:spcAft>
                <a:buNone/>
              </a:pPr>
              <a:r>
                <a:rPr lang="en-US" sz="1900" b="1" i="0" kern="1200">
                  <a:latin typeface="Times New Roman" panose="02020603050405020304" pitchFamily="18" charset="0"/>
                  <a:cs typeface="Times New Roman" panose="02020603050405020304" pitchFamily="18" charset="0"/>
                </a:rPr>
                <a:t>Charging Station</a:t>
              </a:r>
              <a:endParaRPr lang="en-US" sz="1900" kern="1200">
                <a:latin typeface="Times New Roman" panose="02020603050405020304" pitchFamily="18" charset="0"/>
                <a:cs typeface="Times New Roman" panose="02020603050405020304" pitchFamily="18" charset="0"/>
              </a:endParaRPr>
            </a:p>
          </p:txBody>
        </p:sp>
      </p:grpSp>
      <p:grpSp>
        <p:nvGrpSpPr>
          <p:cNvPr id="10" name="Group 9">
            <a:extLst>
              <a:ext uri="{FF2B5EF4-FFF2-40B4-BE49-F238E27FC236}">
                <a16:creationId xmlns:a16="http://schemas.microsoft.com/office/drawing/2014/main" id="{408E3083-AE9F-43EE-B829-87F6D46D5CA5}"/>
              </a:ext>
            </a:extLst>
          </p:cNvPr>
          <p:cNvGrpSpPr/>
          <p:nvPr/>
        </p:nvGrpSpPr>
        <p:grpSpPr>
          <a:xfrm>
            <a:off x="282220" y="3216367"/>
            <a:ext cx="6101685" cy="1612492"/>
            <a:chOff x="0" y="1146970"/>
            <a:chExt cx="6101685" cy="831600"/>
          </a:xfrm>
        </p:grpSpPr>
        <p:sp>
          <p:nvSpPr>
            <p:cNvPr id="20" name="Rectangle 19">
              <a:extLst>
                <a:ext uri="{FF2B5EF4-FFF2-40B4-BE49-F238E27FC236}">
                  <a16:creationId xmlns:a16="http://schemas.microsoft.com/office/drawing/2014/main" id="{AD9F2512-4BD3-A07E-3833-011D6F2EB5A0}"/>
                </a:ext>
              </a:extLst>
            </p:cNvPr>
            <p:cNvSpPr/>
            <p:nvPr/>
          </p:nvSpPr>
          <p:spPr>
            <a:xfrm>
              <a:off x="0" y="1146970"/>
              <a:ext cx="6101685" cy="831600"/>
            </a:xfrm>
            <a:prstGeom prst="rect">
              <a:avLst/>
            </a:prstGeom>
          </p:spPr>
          <p:style>
            <a:lnRef idx="2">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sz="190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3F76A391-093D-6D6F-2468-38C78221A263}"/>
                </a:ext>
              </a:extLst>
            </p:cNvPr>
            <p:cNvSpPr txBox="1"/>
            <p:nvPr/>
          </p:nvSpPr>
          <p:spPr>
            <a:xfrm>
              <a:off x="0" y="1146970"/>
              <a:ext cx="6101685" cy="83160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473559" tIns="229108" rIns="473559" bIns="78232" numCol="1" spcCol="1270" anchor="t" anchorCtr="0">
              <a:noAutofit/>
            </a:bodyPr>
            <a:lstStyle/>
            <a:p>
              <a:pPr marL="57150" lvl="1" indent="-57150" algn="l" defTabSz="488950">
                <a:lnSpc>
                  <a:spcPct val="90000"/>
                </a:lnSpc>
                <a:spcBef>
                  <a:spcPct val="0"/>
                </a:spcBef>
                <a:spcAft>
                  <a:spcPct val="15000"/>
                </a:spcAft>
                <a:buChar char="•"/>
              </a:pPr>
              <a:r>
                <a:rPr lang="en-US" sz="1900" dirty="0">
                  <a:latin typeface="Times New Roman" panose="02020603050405020304" pitchFamily="18" charset="0"/>
                  <a:cs typeface="Times New Roman" panose="02020603050405020304" pitchFamily="18" charset="0"/>
                </a:rPr>
                <a:t>A</a:t>
              </a:r>
              <a:r>
                <a:rPr lang="en-US" sz="1900" b="0" i="0" kern="1200" dirty="0">
                  <a:latin typeface="Times New Roman" panose="02020603050405020304" pitchFamily="18" charset="0"/>
                  <a:cs typeface="Times New Roman" panose="02020603050405020304" pitchFamily="18" charset="0"/>
                </a:rPr>
                <a:t>wareness in solar energy harvesting</a:t>
              </a:r>
              <a:endParaRPr lang="en-US" sz="1900" kern="1200" dirty="0">
                <a:latin typeface="Times New Roman" panose="02020603050405020304" pitchFamily="18" charset="0"/>
                <a:cs typeface="Times New Roman" panose="02020603050405020304" pitchFamily="18" charset="0"/>
              </a:endParaRPr>
            </a:p>
            <a:p>
              <a:pPr marL="57150" lvl="1" indent="-57150" algn="l" defTabSz="488950">
                <a:lnSpc>
                  <a:spcPct val="90000"/>
                </a:lnSpc>
                <a:spcBef>
                  <a:spcPct val="0"/>
                </a:spcBef>
                <a:spcAft>
                  <a:spcPct val="15000"/>
                </a:spcAft>
                <a:buChar char="•"/>
              </a:pPr>
              <a:r>
                <a:rPr lang="en-US" sz="1900" b="0" i="0" kern="1200" dirty="0">
                  <a:latin typeface="Times New Roman" panose="02020603050405020304" pitchFamily="18" charset="0"/>
                  <a:cs typeface="Times New Roman" panose="02020603050405020304" pitchFamily="18" charset="0"/>
                </a:rPr>
                <a:t>Need for DC-DC converters</a:t>
              </a:r>
              <a:endParaRPr lang="en-US" sz="1900" kern="1200" dirty="0">
                <a:latin typeface="Times New Roman" panose="02020603050405020304" pitchFamily="18" charset="0"/>
                <a:cs typeface="Times New Roman" panose="02020603050405020304" pitchFamily="18" charset="0"/>
              </a:endParaRPr>
            </a:p>
            <a:p>
              <a:pPr marL="57150" lvl="1" indent="-57150" algn="l" defTabSz="488950">
                <a:lnSpc>
                  <a:spcPct val="90000"/>
                </a:lnSpc>
                <a:spcBef>
                  <a:spcPct val="0"/>
                </a:spcBef>
                <a:spcAft>
                  <a:spcPct val="15000"/>
                </a:spcAft>
                <a:buChar char="•"/>
              </a:pPr>
              <a:r>
                <a:rPr lang="en-US" sz="1900" b="0" i="0" kern="1200" dirty="0">
                  <a:latin typeface="Times New Roman" panose="02020603050405020304" pitchFamily="18" charset="0"/>
                  <a:cs typeface="Times New Roman" panose="02020603050405020304" pitchFamily="18" charset="0"/>
                </a:rPr>
                <a:t>Importance of MPPT for solar optimization</a:t>
              </a:r>
              <a:endParaRPr lang="en-US" sz="1900" kern="1200" dirty="0">
                <a:latin typeface="Times New Roman" panose="02020603050405020304" pitchFamily="18" charset="0"/>
                <a:cs typeface="Times New Roman" panose="02020603050405020304" pitchFamily="18" charset="0"/>
              </a:endParaRPr>
            </a:p>
          </p:txBody>
        </p:sp>
      </p:grpSp>
      <p:grpSp>
        <p:nvGrpSpPr>
          <p:cNvPr id="11" name="Group 10">
            <a:extLst>
              <a:ext uri="{FF2B5EF4-FFF2-40B4-BE49-F238E27FC236}">
                <a16:creationId xmlns:a16="http://schemas.microsoft.com/office/drawing/2014/main" id="{F1157B7B-5B94-39EF-A150-1B1D5A761336}"/>
              </a:ext>
            </a:extLst>
          </p:cNvPr>
          <p:cNvGrpSpPr/>
          <p:nvPr/>
        </p:nvGrpSpPr>
        <p:grpSpPr>
          <a:xfrm>
            <a:off x="587306" y="2993511"/>
            <a:ext cx="4271179" cy="447345"/>
            <a:chOff x="305084" y="984610"/>
            <a:chExt cx="4271179" cy="324720"/>
          </a:xfrm>
        </p:grpSpPr>
        <p:sp>
          <p:nvSpPr>
            <p:cNvPr id="18" name="Rectangle: Rounded Corners 17">
              <a:extLst>
                <a:ext uri="{FF2B5EF4-FFF2-40B4-BE49-F238E27FC236}">
                  <a16:creationId xmlns:a16="http://schemas.microsoft.com/office/drawing/2014/main" id="{0B6A1BA3-FF7B-0C41-635D-DA3B23522F1C}"/>
                </a:ext>
              </a:extLst>
            </p:cNvPr>
            <p:cNvSpPr/>
            <p:nvPr/>
          </p:nvSpPr>
          <p:spPr>
            <a:xfrm>
              <a:off x="305084" y="984610"/>
              <a:ext cx="4271179" cy="324720"/>
            </a:xfrm>
            <a:prstGeom prst="roundRect">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US" sz="1900">
                <a:latin typeface="Times New Roman" panose="02020603050405020304" pitchFamily="18" charset="0"/>
                <a:cs typeface="Times New Roman" panose="02020603050405020304" pitchFamily="18" charset="0"/>
              </a:endParaRPr>
            </a:p>
          </p:txBody>
        </p:sp>
        <p:sp>
          <p:nvSpPr>
            <p:cNvPr id="19" name="Rectangle: Rounded Corners 10">
              <a:extLst>
                <a:ext uri="{FF2B5EF4-FFF2-40B4-BE49-F238E27FC236}">
                  <a16:creationId xmlns:a16="http://schemas.microsoft.com/office/drawing/2014/main" id="{09572F62-1470-53CF-0625-7985B160512D}"/>
                </a:ext>
              </a:extLst>
            </p:cNvPr>
            <p:cNvSpPr txBox="1"/>
            <p:nvPr/>
          </p:nvSpPr>
          <p:spPr>
            <a:xfrm>
              <a:off x="320936" y="1000462"/>
              <a:ext cx="4239475" cy="29301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1440" tIns="0" rIns="161440" bIns="0" numCol="1" spcCol="1270" anchor="ctr" anchorCtr="0">
              <a:noAutofit/>
            </a:bodyPr>
            <a:lstStyle/>
            <a:p>
              <a:pPr marL="0" lvl="0" indent="0" algn="l" defTabSz="488950">
                <a:lnSpc>
                  <a:spcPct val="90000"/>
                </a:lnSpc>
                <a:spcBef>
                  <a:spcPct val="0"/>
                </a:spcBef>
                <a:spcAft>
                  <a:spcPct val="35000"/>
                </a:spcAft>
                <a:buNone/>
              </a:pPr>
              <a:r>
                <a:rPr lang="en-US" sz="1900" b="1" i="0" kern="1200" dirty="0">
                  <a:latin typeface="Times New Roman" panose="02020603050405020304" pitchFamily="18" charset="0"/>
                  <a:cs typeface="Times New Roman" panose="02020603050405020304" pitchFamily="18" charset="0"/>
                </a:rPr>
                <a:t>Solar Integration</a:t>
              </a:r>
              <a:endParaRPr lang="en-US" sz="1900" kern="1200" dirty="0">
                <a:latin typeface="Times New Roman" panose="02020603050405020304" pitchFamily="18" charset="0"/>
                <a:cs typeface="Times New Roman" panose="02020603050405020304" pitchFamily="18" charset="0"/>
              </a:endParaRPr>
            </a:p>
          </p:txBody>
        </p:sp>
      </p:grpSp>
      <p:grpSp>
        <p:nvGrpSpPr>
          <p:cNvPr id="12" name="Group 11">
            <a:extLst>
              <a:ext uri="{FF2B5EF4-FFF2-40B4-BE49-F238E27FC236}">
                <a16:creationId xmlns:a16="http://schemas.microsoft.com/office/drawing/2014/main" id="{FF3EB682-3BEF-8953-6950-432571BF553A}"/>
              </a:ext>
            </a:extLst>
          </p:cNvPr>
          <p:cNvGrpSpPr/>
          <p:nvPr/>
        </p:nvGrpSpPr>
        <p:grpSpPr>
          <a:xfrm>
            <a:off x="299115" y="5353356"/>
            <a:ext cx="6101685" cy="1612492"/>
            <a:chOff x="0" y="2200330"/>
            <a:chExt cx="6101685" cy="796950"/>
          </a:xfrm>
        </p:grpSpPr>
        <p:sp>
          <p:nvSpPr>
            <p:cNvPr id="16" name="Rectangle 15">
              <a:extLst>
                <a:ext uri="{FF2B5EF4-FFF2-40B4-BE49-F238E27FC236}">
                  <a16:creationId xmlns:a16="http://schemas.microsoft.com/office/drawing/2014/main" id="{E8231C7B-5BAB-4088-B49C-20AC02349906}"/>
                </a:ext>
              </a:extLst>
            </p:cNvPr>
            <p:cNvSpPr/>
            <p:nvPr/>
          </p:nvSpPr>
          <p:spPr>
            <a:xfrm>
              <a:off x="0" y="2200330"/>
              <a:ext cx="6101685" cy="796950"/>
            </a:xfrm>
            <a:prstGeom prst="rect">
              <a:avLst/>
            </a:prstGeom>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lang="en-US" sz="190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B93369B4-C4EE-6F6F-8907-D58D41A5597B}"/>
                </a:ext>
              </a:extLst>
            </p:cNvPr>
            <p:cNvSpPr txBox="1"/>
            <p:nvPr/>
          </p:nvSpPr>
          <p:spPr>
            <a:xfrm>
              <a:off x="0" y="2200330"/>
              <a:ext cx="6101685" cy="79695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473559" tIns="229108" rIns="473559" bIns="78232" numCol="1" spcCol="1270" anchor="t" anchorCtr="0">
              <a:noAutofit/>
            </a:bodyPr>
            <a:lstStyle/>
            <a:p>
              <a:pPr marL="57150" lvl="1" indent="-57150" algn="l" defTabSz="488950">
                <a:lnSpc>
                  <a:spcPct val="90000"/>
                </a:lnSpc>
                <a:spcBef>
                  <a:spcPct val="0"/>
                </a:spcBef>
                <a:spcAft>
                  <a:spcPct val="15000"/>
                </a:spcAft>
                <a:buChar char="•"/>
              </a:pPr>
              <a:r>
                <a:rPr lang="en-US" sz="1900" b="0" i="0" kern="1200">
                  <a:latin typeface="Times New Roman" panose="02020603050405020304" pitchFamily="18" charset="0"/>
                  <a:cs typeface="Times New Roman" panose="02020603050405020304" pitchFamily="18" charset="0"/>
                </a:rPr>
                <a:t>ESS characteristics and lifespan considerations</a:t>
              </a:r>
              <a:endParaRPr lang="en-US" sz="1900" kern="1200">
                <a:latin typeface="Times New Roman" panose="02020603050405020304" pitchFamily="18" charset="0"/>
                <a:cs typeface="Times New Roman" panose="02020603050405020304" pitchFamily="18" charset="0"/>
              </a:endParaRPr>
            </a:p>
            <a:p>
              <a:pPr marL="57150" lvl="1" indent="-57150" algn="l" defTabSz="488950">
                <a:lnSpc>
                  <a:spcPct val="90000"/>
                </a:lnSpc>
                <a:spcBef>
                  <a:spcPct val="0"/>
                </a:spcBef>
                <a:spcAft>
                  <a:spcPct val="15000"/>
                </a:spcAft>
                <a:buChar char="•"/>
              </a:pPr>
              <a:r>
                <a:rPr lang="en-US" sz="1900" b="0" i="0" kern="1200">
                  <a:latin typeface="Times New Roman" panose="02020603050405020304" pitchFamily="18" charset="0"/>
                  <a:cs typeface="Times New Roman" panose="02020603050405020304" pitchFamily="18" charset="0"/>
                </a:rPr>
                <a:t>Operational aspects</a:t>
              </a:r>
              <a:endParaRPr lang="en-US" sz="1900" kern="1200">
                <a:latin typeface="Times New Roman" panose="02020603050405020304" pitchFamily="18" charset="0"/>
                <a:cs typeface="Times New Roman" panose="02020603050405020304" pitchFamily="18" charset="0"/>
              </a:endParaRPr>
            </a:p>
            <a:p>
              <a:pPr marL="57150" lvl="1" indent="-57150" algn="l" defTabSz="488950">
                <a:lnSpc>
                  <a:spcPct val="90000"/>
                </a:lnSpc>
                <a:spcBef>
                  <a:spcPct val="0"/>
                </a:spcBef>
                <a:spcAft>
                  <a:spcPct val="15000"/>
                </a:spcAft>
                <a:buChar char="•"/>
              </a:pPr>
              <a:r>
                <a:rPr lang="en-US" sz="1900" b="0" i="0" kern="1200">
                  <a:latin typeface="Times New Roman" panose="02020603050405020304" pitchFamily="18" charset="0"/>
                  <a:cs typeface="Times New Roman" panose="02020603050405020304" pitchFamily="18" charset="0"/>
                </a:rPr>
                <a:t>Economic analysis</a:t>
              </a:r>
              <a:endParaRPr lang="en-US" sz="1900" b="0" kern="1200">
                <a:latin typeface="Times New Roman" panose="02020603050405020304" pitchFamily="18" charset="0"/>
                <a:cs typeface="Times New Roman" panose="02020603050405020304" pitchFamily="18" charset="0"/>
              </a:endParaRPr>
            </a:p>
          </p:txBody>
        </p:sp>
      </p:grpSp>
      <p:grpSp>
        <p:nvGrpSpPr>
          <p:cNvPr id="13" name="Group 12">
            <a:extLst>
              <a:ext uri="{FF2B5EF4-FFF2-40B4-BE49-F238E27FC236}">
                <a16:creationId xmlns:a16="http://schemas.microsoft.com/office/drawing/2014/main" id="{EA0528B1-FCE8-FDE0-7A20-FD0179474CA1}"/>
              </a:ext>
            </a:extLst>
          </p:cNvPr>
          <p:cNvGrpSpPr/>
          <p:nvPr/>
        </p:nvGrpSpPr>
        <p:grpSpPr>
          <a:xfrm>
            <a:off x="537161" y="4941269"/>
            <a:ext cx="4271179" cy="549538"/>
            <a:chOff x="305084" y="2037970"/>
            <a:chExt cx="4271179" cy="324720"/>
          </a:xfrm>
        </p:grpSpPr>
        <p:sp>
          <p:nvSpPr>
            <p:cNvPr id="14" name="Rectangle: Rounded Corners 13">
              <a:extLst>
                <a:ext uri="{FF2B5EF4-FFF2-40B4-BE49-F238E27FC236}">
                  <a16:creationId xmlns:a16="http://schemas.microsoft.com/office/drawing/2014/main" id="{EEE27076-10C7-E490-D5C5-8AF7A19AC71F}"/>
                </a:ext>
              </a:extLst>
            </p:cNvPr>
            <p:cNvSpPr/>
            <p:nvPr/>
          </p:nvSpPr>
          <p:spPr>
            <a:xfrm>
              <a:off x="305084" y="2037970"/>
              <a:ext cx="4271179" cy="324720"/>
            </a:xfrm>
            <a:prstGeom prst="roundRect">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endParaRPr lang="en-US" sz="1900">
                <a:latin typeface="Times New Roman" panose="02020603050405020304" pitchFamily="18" charset="0"/>
                <a:cs typeface="Times New Roman" panose="02020603050405020304" pitchFamily="18" charset="0"/>
              </a:endParaRPr>
            </a:p>
          </p:txBody>
        </p:sp>
        <p:sp>
          <p:nvSpPr>
            <p:cNvPr id="15" name="Rectangle: Rounded Corners 14">
              <a:extLst>
                <a:ext uri="{FF2B5EF4-FFF2-40B4-BE49-F238E27FC236}">
                  <a16:creationId xmlns:a16="http://schemas.microsoft.com/office/drawing/2014/main" id="{B32E918A-19F5-607F-F04B-D30047C0D685}"/>
                </a:ext>
              </a:extLst>
            </p:cNvPr>
            <p:cNvSpPr txBox="1"/>
            <p:nvPr/>
          </p:nvSpPr>
          <p:spPr>
            <a:xfrm>
              <a:off x="320936" y="2053822"/>
              <a:ext cx="4239475" cy="29301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1440" tIns="0" rIns="161440" bIns="0" numCol="1" spcCol="1270" anchor="ctr" anchorCtr="0">
              <a:noAutofit/>
            </a:bodyPr>
            <a:lstStyle/>
            <a:p>
              <a:pPr marL="0" lvl="0" indent="0" algn="l" defTabSz="488950">
                <a:lnSpc>
                  <a:spcPct val="90000"/>
                </a:lnSpc>
                <a:spcBef>
                  <a:spcPct val="0"/>
                </a:spcBef>
                <a:spcAft>
                  <a:spcPct val="35000"/>
                </a:spcAft>
                <a:buNone/>
              </a:pPr>
              <a:r>
                <a:rPr lang="en-US" sz="1900" b="1" i="0" kern="1200" dirty="0">
                  <a:latin typeface="Times New Roman" panose="02020603050405020304" pitchFamily="18" charset="0"/>
                  <a:cs typeface="Times New Roman" panose="02020603050405020304" pitchFamily="18" charset="0"/>
                </a:rPr>
                <a:t>Energy Storage Systems</a:t>
              </a:r>
              <a:endParaRPr lang="en-US" sz="1900" kern="1200" dirty="0">
                <a:latin typeface="Times New Roman" panose="02020603050405020304" pitchFamily="18" charset="0"/>
                <a:cs typeface="Times New Roman" panose="02020603050405020304" pitchFamily="18" charset="0"/>
              </a:endParaRPr>
            </a:p>
          </p:txBody>
        </p:sp>
      </p:grpSp>
      <p:sp>
        <p:nvSpPr>
          <p:cNvPr id="26" name="Title 1">
            <a:extLst>
              <a:ext uri="{FF2B5EF4-FFF2-40B4-BE49-F238E27FC236}">
                <a16:creationId xmlns:a16="http://schemas.microsoft.com/office/drawing/2014/main" id="{50E062B9-29C6-F3E5-513A-D0A30001235B}"/>
              </a:ext>
            </a:extLst>
          </p:cNvPr>
          <p:cNvSpPr txBox="1">
            <a:spLocks/>
          </p:cNvSpPr>
          <p:nvPr/>
        </p:nvSpPr>
        <p:spPr>
          <a:xfrm>
            <a:off x="146302" y="113990"/>
            <a:ext cx="6814567" cy="685943"/>
          </a:xfrm>
          <a:prstGeom prst="rect">
            <a:avLst/>
          </a:prstGeom>
        </p:spPr>
        <p:txBody>
          <a:bodyPr vert="horz" lIns="91440" tIns="45720" rIns="91440" bIns="45720" rtlCol="0" anchor="ctr">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3200" b="1" dirty="0">
                <a:solidFill>
                  <a:srgbClr val="002060"/>
                </a:solidFill>
                <a:latin typeface="Times New Roman" panose="02020603050405020304" pitchFamily="18" charset="0"/>
                <a:cs typeface="Times New Roman" panose="02020603050405020304" pitchFamily="18" charset="0"/>
              </a:rPr>
              <a:t>Literature Review _ Research gaps</a:t>
            </a:r>
          </a:p>
        </p:txBody>
      </p:sp>
    </p:spTree>
    <p:extLst>
      <p:ext uri="{BB962C8B-B14F-4D97-AF65-F5344CB8AC3E}">
        <p14:creationId xmlns:p14="http://schemas.microsoft.com/office/powerpoint/2010/main" val="374638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C831674-8F76-AA7F-AE40-918362C720C2}"/>
              </a:ext>
            </a:extLst>
          </p:cNvPr>
          <p:cNvSpPr/>
          <p:nvPr/>
        </p:nvSpPr>
        <p:spPr>
          <a:xfrm>
            <a:off x="57150" y="698649"/>
            <a:ext cx="6286500" cy="4343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Times New Roman" panose="02020603050405020304" pitchFamily="18" charset="0"/>
                <a:cs typeface="Times New Roman" panose="02020603050405020304" pitchFamily="18" charset="0"/>
              </a:rPr>
              <a:t>1. IoT Architecture for Battery Charging Management</a:t>
            </a:r>
          </a:p>
        </p:txBody>
      </p:sp>
      <p:sp>
        <p:nvSpPr>
          <p:cNvPr id="5" name="Rectangle: Rounded Corners 4">
            <a:extLst>
              <a:ext uri="{FF2B5EF4-FFF2-40B4-BE49-F238E27FC236}">
                <a16:creationId xmlns:a16="http://schemas.microsoft.com/office/drawing/2014/main" id="{87EC70B8-2F3C-67B7-C3A7-14C28897FD4F}"/>
              </a:ext>
            </a:extLst>
          </p:cNvPr>
          <p:cNvSpPr/>
          <p:nvPr/>
        </p:nvSpPr>
        <p:spPr>
          <a:xfrm>
            <a:off x="149733" y="1580036"/>
            <a:ext cx="6057900" cy="1720308"/>
          </a:xfrm>
          <a:prstGeom prst="roundRect">
            <a:avLst>
              <a:gd name="adj" fmla="val 626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l"/>
            <a:r>
              <a:rPr lang="en-US" sz="2000" b="1" dirty="0">
                <a:solidFill>
                  <a:srgbClr val="FFFF00"/>
                </a:solidFill>
                <a:latin typeface="Times New Roman" panose="02020603050405020304" pitchFamily="18" charset="0"/>
                <a:cs typeface="Times New Roman" panose="02020603050405020304" pitchFamily="18" charset="0"/>
              </a:rPr>
              <a:t>Research Gap:</a:t>
            </a:r>
          </a:p>
          <a:p>
            <a:pPr lvl="0" algn="l"/>
            <a:endParaRPr lang="en-US" sz="1800"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Existing systems lack integrated monitoring across charging infrastructure</a:t>
            </a:r>
          </a:p>
          <a:p>
            <a:pPr marL="285750" lvl="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Limited real-time decision making for power source switching</a:t>
            </a:r>
          </a:p>
        </p:txBody>
      </p:sp>
      <p:sp>
        <p:nvSpPr>
          <p:cNvPr id="6" name="Rectangle: Rounded Corners 5">
            <a:extLst>
              <a:ext uri="{FF2B5EF4-FFF2-40B4-BE49-F238E27FC236}">
                <a16:creationId xmlns:a16="http://schemas.microsoft.com/office/drawing/2014/main" id="{BBBE8D0F-91BB-26F3-0A45-619D6CA6AD36}"/>
              </a:ext>
            </a:extLst>
          </p:cNvPr>
          <p:cNvSpPr/>
          <p:nvPr/>
        </p:nvSpPr>
        <p:spPr>
          <a:xfrm>
            <a:off x="185166" y="3604240"/>
            <a:ext cx="6023755" cy="1902602"/>
          </a:xfrm>
          <a:prstGeom prst="roundRect">
            <a:avLst>
              <a:gd name="adj" fmla="val 523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l"/>
            <a:r>
              <a:rPr lang="en-US" sz="2000" b="1" dirty="0">
                <a:solidFill>
                  <a:srgbClr val="FFFF00"/>
                </a:solidFill>
                <a:latin typeface="Times New Roman" panose="02020603050405020304" pitchFamily="18" charset="0"/>
                <a:cs typeface="Times New Roman" panose="02020603050405020304" pitchFamily="18" charset="0"/>
              </a:rPr>
              <a:t>Improvements:</a:t>
            </a:r>
          </a:p>
          <a:p>
            <a:pPr lvl="0" algn="l"/>
            <a:endParaRPr lang="en-US" sz="1800"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5-layered IoT architecture with device, network, edge, cloud, and application layers</a:t>
            </a:r>
          </a:p>
          <a:p>
            <a:pPr marL="285750" lvl="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Real-time automation with 5 specific switching conditions</a:t>
            </a:r>
          </a:p>
          <a:p>
            <a:pPr marL="285750" lvl="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Cloud connectivity through AWS and Node-red visualization</a:t>
            </a:r>
          </a:p>
        </p:txBody>
      </p:sp>
      <p:sp>
        <p:nvSpPr>
          <p:cNvPr id="7" name="Rectangle: Rounded Corners 6">
            <a:extLst>
              <a:ext uri="{FF2B5EF4-FFF2-40B4-BE49-F238E27FC236}">
                <a16:creationId xmlns:a16="http://schemas.microsoft.com/office/drawing/2014/main" id="{62102C1B-75E9-F806-4E41-B86CE5C22402}"/>
              </a:ext>
            </a:extLst>
          </p:cNvPr>
          <p:cNvSpPr/>
          <p:nvPr/>
        </p:nvSpPr>
        <p:spPr>
          <a:xfrm>
            <a:off x="149733" y="5825828"/>
            <a:ext cx="6057900" cy="1497599"/>
          </a:xfrm>
          <a:prstGeom prst="roundRect">
            <a:avLst>
              <a:gd name="adj" fmla="val 708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l"/>
            <a:r>
              <a:rPr lang="en-US" sz="2000" b="1" dirty="0">
                <a:solidFill>
                  <a:srgbClr val="FFFF00"/>
                </a:solidFill>
                <a:latin typeface="Times New Roman" panose="02020603050405020304" pitchFamily="18" charset="0"/>
                <a:cs typeface="Times New Roman" panose="02020603050405020304" pitchFamily="18" charset="0"/>
              </a:rPr>
              <a:t>Current Limitations:</a:t>
            </a:r>
          </a:p>
          <a:p>
            <a:pPr lvl="0" algn="l"/>
            <a:endParaRPr lang="en-US" sz="1800"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Cybersecurity considerations need strengthening</a:t>
            </a:r>
          </a:p>
          <a:p>
            <a:pPr marL="285750" lvl="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Dependency on internet connectivity for cloud features</a:t>
            </a:r>
          </a:p>
        </p:txBody>
      </p:sp>
      <p:sp>
        <p:nvSpPr>
          <p:cNvPr id="8" name="Title 1">
            <a:extLst>
              <a:ext uri="{FF2B5EF4-FFF2-40B4-BE49-F238E27FC236}">
                <a16:creationId xmlns:a16="http://schemas.microsoft.com/office/drawing/2014/main" id="{E59BCD63-48BD-E2F3-4AD8-16644DA1965B}"/>
              </a:ext>
            </a:extLst>
          </p:cNvPr>
          <p:cNvSpPr txBox="1">
            <a:spLocks/>
          </p:cNvSpPr>
          <p:nvPr/>
        </p:nvSpPr>
        <p:spPr>
          <a:xfrm>
            <a:off x="0" y="0"/>
            <a:ext cx="6566765" cy="685943"/>
          </a:xfrm>
          <a:prstGeom prst="rect">
            <a:avLst/>
          </a:prstGeom>
        </p:spPr>
        <p:txBody>
          <a:bodyPr vert="horz" lIns="91440" tIns="45720" rIns="91440" bIns="45720" rtlCol="0" anchor="ctr">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3200" b="1" dirty="0">
                <a:solidFill>
                  <a:srgbClr val="002060"/>
                </a:solidFill>
                <a:latin typeface="Times New Roman" panose="02020603050405020304" pitchFamily="18" charset="0"/>
                <a:cs typeface="Times New Roman" panose="02020603050405020304" pitchFamily="18" charset="0"/>
              </a:rPr>
              <a:t>Research Gap  -- 6</a:t>
            </a:r>
          </a:p>
        </p:txBody>
      </p:sp>
      <p:cxnSp>
        <p:nvCxnSpPr>
          <p:cNvPr id="10" name="Straight Connector 9">
            <a:extLst>
              <a:ext uri="{FF2B5EF4-FFF2-40B4-BE49-F238E27FC236}">
                <a16:creationId xmlns:a16="http://schemas.microsoft.com/office/drawing/2014/main" id="{34653847-F511-934F-34A9-C6A663208415}"/>
              </a:ext>
            </a:extLst>
          </p:cNvPr>
          <p:cNvCxnSpPr>
            <a:cxnSpLocks/>
          </p:cNvCxnSpPr>
          <p:nvPr/>
        </p:nvCxnSpPr>
        <p:spPr>
          <a:xfrm>
            <a:off x="6400800" y="685943"/>
            <a:ext cx="0" cy="6846427"/>
          </a:xfrm>
          <a:prstGeom prst="line">
            <a:avLst/>
          </a:prstGeom>
          <a:ln w="38100"/>
        </p:spPr>
        <p:style>
          <a:lnRef idx="1">
            <a:schemeClr val="accent6"/>
          </a:lnRef>
          <a:fillRef idx="0">
            <a:schemeClr val="accent6"/>
          </a:fillRef>
          <a:effectRef idx="0">
            <a:schemeClr val="accent6"/>
          </a:effectRef>
          <a:fontRef idx="minor">
            <a:schemeClr val="tx1"/>
          </a:fontRef>
        </p:style>
      </p:cxnSp>
      <p:sp>
        <p:nvSpPr>
          <p:cNvPr id="14" name="Rectangle: Rounded Corners 13">
            <a:extLst>
              <a:ext uri="{FF2B5EF4-FFF2-40B4-BE49-F238E27FC236}">
                <a16:creationId xmlns:a16="http://schemas.microsoft.com/office/drawing/2014/main" id="{2B44F73E-64ED-DE4B-3174-10839ADD5D61}"/>
              </a:ext>
            </a:extLst>
          </p:cNvPr>
          <p:cNvSpPr/>
          <p:nvPr/>
        </p:nvSpPr>
        <p:spPr>
          <a:xfrm>
            <a:off x="6593967" y="5785927"/>
            <a:ext cx="6057900" cy="1497599"/>
          </a:xfrm>
          <a:prstGeom prst="roundRect">
            <a:avLst>
              <a:gd name="adj" fmla="val 708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l"/>
            <a:r>
              <a:rPr lang="en-US" sz="2000" b="1" dirty="0">
                <a:solidFill>
                  <a:srgbClr val="FFFF00"/>
                </a:solidFill>
                <a:latin typeface="Times New Roman" panose="02020603050405020304" pitchFamily="18" charset="0"/>
                <a:cs typeface="Times New Roman" panose="02020603050405020304" pitchFamily="18" charset="0"/>
              </a:rPr>
              <a:t>Current Limitations:</a:t>
            </a:r>
          </a:p>
          <a:p>
            <a:pPr lvl="0" algn="l"/>
            <a:endParaRPr lang="en-US" sz="1800" dirty="0">
              <a:latin typeface="Times New Roman" panose="02020603050405020304" pitchFamily="18" charset="0"/>
              <a:cs typeface="Times New Roman" panose="02020603050405020304" pitchFamily="18" charset="0"/>
            </a:endParaRPr>
          </a:p>
          <a:p>
            <a:pPr marL="285750" lvl="0" indent="-285750" algn="l">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Weather dependency for solar generation</a:t>
            </a:r>
          </a:p>
          <a:p>
            <a:pPr marL="285750" lvl="0" indent="-285750" algn="l">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Initial setup costs for multiple power sources</a:t>
            </a:r>
          </a:p>
        </p:txBody>
      </p:sp>
      <p:sp>
        <p:nvSpPr>
          <p:cNvPr id="17" name="Rectangle: Rounded Corners 16">
            <a:extLst>
              <a:ext uri="{FF2B5EF4-FFF2-40B4-BE49-F238E27FC236}">
                <a16:creationId xmlns:a16="http://schemas.microsoft.com/office/drawing/2014/main" id="{7F17ECD3-F874-3562-D239-EC3FE831FA0C}"/>
              </a:ext>
            </a:extLst>
          </p:cNvPr>
          <p:cNvSpPr/>
          <p:nvPr/>
        </p:nvSpPr>
        <p:spPr>
          <a:xfrm>
            <a:off x="6557246" y="685943"/>
            <a:ext cx="6057900" cy="4343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Times New Roman" panose="02020603050405020304" pitchFamily="18" charset="0"/>
                <a:cs typeface="Times New Roman" panose="02020603050405020304" pitchFamily="18" charset="0"/>
              </a:rPr>
              <a:t>2. Multi-Source Power Integration</a:t>
            </a:r>
          </a:p>
        </p:txBody>
      </p:sp>
      <p:sp>
        <p:nvSpPr>
          <p:cNvPr id="18" name="Rectangle: Rounded Corners 17">
            <a:extLst>
              <a:ext uri="{FF2B5EF4-FFF2-40B4-BE49-F238E27FC236}">
                <a16:creationId xmlns:a16="http://schemas.microsoft.com/office/drawing/2014/main" id="{E8A4B984-D96F-06B9-6075-AB17F5354C51}"/>
              </a:ext>
            </a:extLst>
          </p:cNvPr>
          <p:cNvSpPr/>
          <p:nvPr/>
        </p:nvSpPr>
        <p:spPr>
          <a:xfrm>
            <a:off x="6592679" y="1685832"/>
            <a:ext cx="6057900" cy="1614512"/>
          </a:xfrm>
          <a:prstGeom prst="roundRect">
            <a:avLst>
              <a:gd name="adj" fmla="val 626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l"/>
            <a:r>
              <a:rPr lang="en-US" sz="2000" b="1" dirty="0">
                <a:solidFill>
                  <a:srgbClr val="FFFF00"/>
                </a:solidFill>
                <a:latin typeface="Times New Roman" panose="02020603050405020304" pitchFamily="18" charset="0"/>
                <a:cs typeface="Times New Roman" panose="02020603050405020304" pitchFamily="18" charset="0"/>
              </a:rPr>
              <a:t>Research Gap:</a:t>
            </a:r>
          </a:p>
          <a:p>
            <a:pPr lvl="0" algn="l"/>
            <a:endParaRPr lang="en-US" sz="1800" dirty="0">
              <a:latin typeface="Times New Roman" panose="02020603050405020304" pitchFamily="18" charset="0"/>
              <a:cs typeface="Times New Roman" panose="02020603050405020304" pitchFamily="18" charset="0"/>
            </a:endParaRPr>
          </a:p>
          <a:p>
            <a:pPr marL="285750" lvl="0" indent="-285750" algn="l">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Most systems rely heavily on grid power</a:t>
            </a:r>
          </a:p>
          <a:p>
            <a:pPr marL="285750" lvl="0" indent="-285750" algn="l">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Limited integration of renewable sources</a:t>
            </a:r>
          </a:p>
        </p:txBody>
      </p:sp>
      <p:sp>
        <p:nvSpPr>
          <p:cNvPr id="19" name="Rectangle: Rounded Corners 18">
            <a:extLst>
              <a:ext uri="{FF2B5EF4-FFF2-40B4-BE49-F238E27FC236}">
                <a16:creationId xmlns:a16="http://schemas.microsoft.com/office/drawing/2014/main" id="{A166BBAC-A34D-A26E-35A4-5E7EE79ABBD8}"/>
              </a:ext>
            </a:extLst>
          </p:cNvPr>
          <p:cNvSpPr/>
          <p:nvPr/>
        </p:nvSpPr>
        <p:spPr>
          <a:xfrm>
            <a:off x="6628112" y="3592810"/>
            <a:ext cx="6023755" cy="1902602"/>
          </a:xfrm>
          <a:prstGeom prst="roundRect">
            <a:avLst>
              <a:gd name="adj" fmla="val 523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l"/>
            <a:r>
              <a:rPr lang="en-US" sz="2000" b="1" dirty="0">
                <a:solidFill>
                  <a:srgbClr val="FFFF00"/>
                </a:solidFill>
                <a:latin typeface="Times New Roman" panose="02020603050405020304" pitchFamily="18" charset="0"/>
                <a:cs typeface="Times New Roman" panose="02020603050405020304" pitchFamily="18" charset="0"/>
              </a:rPr>
              <a:t>Improvements</a:t>
            </a:r>
            <a:r>
              <a:rPr lang="en-US" sz="1800" dirty="0">
                <a:solidFill>
                  <a:srgbClr val="FFFF00"/>
                </a:solidFill>
                <a:latin typeface="Times New Roman" panose="02020603050405020304" pitchFamily="18" charset="0"/>
                <a:cs typeface="Times New Roman" panose="02020603050405020304" pitchFamily="18" charset="0"/>
              </a:rPr>
              <a:t>:</a:t>
            </a:r>
          </a:p>
          <a:p>
            <a:pPr lvl="0" algn="l"/>
            <a:endParaRPr lang="en-US" sz="1800" dirty="0">
              <a:latin typeface="Times New Roman" panose="02020603050405020304" pitchFamily="18" charset="0"/>
              <a:cs typeface="Times New Roman" panose="02020603050405020304" pitchFamily="18" charset="0"/>
            </a:endParaRPr>
          </a:p>
          <a:p>
            <a:pPr marL="285750" lvl="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Precise power distribution: Solar (56.8%), ESS (31.7%), Grid (11.5%)</a:t>
            </a:r>
          </a:p>
          <a:p>
            <a:pPr marL="285750" lvl="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Automated source switching based on conditions</a:t>
            </a:r>
          </a:p>
          <a:p>
            <a:pPr marL="285750" lvl="0" indent="-285750" algn="just">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High renewable energy utilization (88.6% efficiency)</a:t>
            </a:r>
          </a:p>
        </p:txBody>
      </p:sp>
    </p:spTree>
    <p:extLst>
      <p:ext uri="{BB962C8B-B14F-4D97-AF65-F5344CB8AC3E}">
        <p14:creationId xmlns:p14="http://schemas.microsoft.com/office/powerpoint/2010/main" val="2604498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9B611-B15C-3FC9-346D-8BE170E1DBD9}"/>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ABF55A2-CF7F-CF30-B9F6-99DC28026FCD}"/>
              </a:ext>
            </a:extLst>
          </p:cNvPr>
          <p:cNvSpPr/>
          <p:nvPr/>
        </p:nvSpPr>
        <p:spPr>
          <a:xfrm>
            <a:off x="57150" y="698649"/>
            <a:ext cx="6286500" cy="434340"/>
          </a:xfrm>
          <a:prstGeom prst="round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Times New Roman" panose="02020603050405020304" pitchFamily="18" charset="0"/>
                <a:cs typeface="Times New Roman" panose="02020603050405020304" pitchFamily="18" charset="0"/>
              </a:rPr>
              <a:t>3.Charging Infrastructure Design</a:t>
            </a:r>
          </a:p>
        </p:txBody>
      </p:sp>
      <p:sp>
        <p:nvSpPr>
          <p:cNvPr id="5" name="Rectangle: Rounded Corners 4">
            <a:extLst>
              <a:ext uri="{FF2B5EF4-FFF2-40B4-BE49-F238E27FC236}">
                <a16:creationId xmlns:a16="http://schemas.microsoft.com/office/drawing/2014/main" id="{388BB60C-B384-8FD8-54BD-9042211F893F}"/>
              </a:ext>
            </a:extLst>
          </p:cNvPr>
          <p:cNvSpPr/>
          <p:nvPr/>
        </p:nvSpPr>
        <p:spPr>
          <a:xfrm>
            <a:off x="149733" y="1580036"/>
            <a:ext cx="6057900" cy="1720308"/>
          </a:xfrm>
          <a:prstGeom prst="roundRect">
            <a:avLst>
              <a:gd name="adj" fmla="val 6266"/>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l"/>
            <a:r>
              <a:rPr lang="en-US" sz="2000" b="1" dirty="0">
                <a:solidFill>
                  <a:srgbClr val="FFFF00"/>
                </a:solidFill>
                <a:latin typeface="Times New Roman" panose="02020603050405020304" pitchFamily="18" charset="0"/>
                <a:cs typeface="Times New Roman" panose="02020603050405020304" pitchFamily="18" charset="0"/>
              </a:rPr>
              <a:t>Research Gap:</a:t>
            </a:r>
          </a:p>
          <a:p>
            <a:pPr lvl="0" algn="l"/>
            <a:endParaRPr lang="en-US" sz="2000" b="1" dirty="0">
              <a:solidFill>
                <a:srgbClr val="FFFF00"/>
              </a:solidFill>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Most solutions focus on either swapping or charging</a:t>
            </a:r>
          </a:p>
          <a:p>
            <a:pPr marL="342900" lvl="0" indent="-342900" algn="just">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Poor load management between different charging methods</a:t>
            </a:r>
            <a:endParaRPr lang="en-US" sz="1800" dirty="0">
              <a:solidFill>
                <a:schemeClr val="bg1"/>
              </a:solidFill>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5EF0CC3B-5389-C807-EC5F-616E46CD84A0}"/>
              </a:ext>
            </a:extLst>
          </p:cNvPr>
          <p:cNvSpPr/>
          <p:nvPr/>
        </p:nvSpPr>
        <p:spPr>
          <a:xfrm>
            <a:off x="185166" y="3474720"/>
            <a:ext cx="6023755" cy="2160270"/>
          </a:xfrm>
          <a:prstGeom prst="roundRect">
            <a:avLst>
              <a:gd name="adj" fmla="val 5238"/>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l"/>
            <a:r>
              <a:rPr lang="en-US" sz="2000" b="1" dirty="0">
                <a:solidFill>
                  <a:srgbClr val="FFFF00"/>
                </a:solidFill>
                <a:latin typeface="Times New Roman" panose="02020603050405020304" pitchFamily="18" charset="0"/>
                <a:cs typeface="Times New Roman" panose="02020603050405020304" pitchFamily="18" charset="0"/>
              </a:rPr>
              <a:t>Improvements:</a:t>
            </a:r>
          </a:p>
          <a:p>
            <a:pPr lvl="0" algn="l"/>
            <a:endParaRPr lang="en-US" sz="2000" dirty="0">
              <a:solidFill>
                <a:srgbClr val="FFFF00"/>
              </a:solidFill>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Combined BSS (30 stations) and DC fast charging  (4 stations)</a:t>
            </a:r>
          </a:p>
          <a:p>
            <a:pPr marL="342900" lvl="0" indent="-342900" algn="just">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Standardized charging parameters for different vehicles</a:t>
            </a:r>
          </a:p>
          <a:p>
            <a:pPr marL="342900" lvl="0" indent="-342900" algn="just">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Balanced load distribution system</a:t>
            </a:r>
            <a:endParaRPr lang="en-US" sz="1800" dirty="0">
              <a:solidFill>
                <a:schemeClr val="bg1"/>
              </a:solidFill>
              <a:latin typeface="Times New Roman" panose="02020603050405020304" pitchFamily="18" charset="0"/>
              <a:cs typeface="Times New Roman" panose="02020603050405020304" pitchFamily="18" charset="0"/>
            </a:endParaRPr>
          </a:p>
        </p:txBody>
      </p:sp>
      <p:sp>
        <p:nvSpPr>
          <p:cNvPr id="7" name="Rectangle: Rounded Corners 6">
            <a:extLst>
              <a:ext uri="{FF2B5EF4-FFF2-40B4-BE49-F238E27FC236}">
                <a16:creationId xmlns:a16="http://schemas.microsoft.com/office/drawing/2014/main" id="{7B9DD295-EB51-CE62-E3F6-5B6B76B6B0C9}"/>
              </a:ext>
            </a:extLst>
          </p:cNvPr>
          <p:cNvSpPr/>
          <p:nvPr/>
        </p:nvSpPr>
        <p:spPr>
          <a:xfrm>
            <a:off x="149733" y="5825828"/>
            <a:ext cx="6057900" cy="1497599"/>
          </a:xfrm>
          <a:prstGeom prst="roundRect">
            <a:avLst>
              <a:gd name="adj" fmla="val 7085"/>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l"/>
            <a:r>
              <a:rPr lang="en-US" sz="2000" b="1" dirty="0">
                <a:solidFill>
                  <a:srgbClr val="FFFF00"/>
                </a:solidFill>
                <a:latin typeface="Times New Roman" panose="02020603050405020304" pitchFamily="18" charset="0"/>
                <a:cs typeface="Times New Roman" panose="02020603050405020304" pitchFamily="18" charset="0"/>
              </a:rPr>
              <a:t>Current Limitations:</a:t>
            </a:r>
          </a:p>
          <a:p>
            <a:pPr lvl="0" algn="l"/>
            <a:endParaRPr lang="en-US" sz="2000" dirty="0">
              <a:solidFill>
                <a:srgbClr val="FFFF00"/>
              </a:solidFill>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Limited number of simultaneous charging sessions</a:t>
            </a:r>
          </a:p>
          <a:p>
            <a:pPr marL="342900" lvl="0" indent="-342900" algn="just">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Battery standardization challenges</a:t>
            </a:r>
            <a:endParaRPr lang="en-US" sz="1800" dirty="0">
              <a:solidFill>
                <a:schemeClr val="bg1"/>
              </a:solidFill>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9AE07DFA-4692-95DA-9D0D-339A9D84ECA8}"/>
              </a:ext>
            </a:extLst>
          </p:cNvPr>
          <p:cNvSpPr txBox="1">
            <a:spLocks/>
          </p:cNvSpPr>
          <p:nvPr/>
        </p:nvSpPr>
        <p:spPr>
          <a:xfrm>
            <a:off x="0" y="0"/>
            <a:ext cx="6566765" cy="685943"/>
          </a:xfrm>
          <a:prstGeom prst="rect">
            <a:avLst/>
          </a:prstGeom>
        </p:spPr>
        <p:txBody>
          <a:bodyPr vert="horz" lIns="91440" tIns="45720" rIns="91440" bIns="45720" rtlCol="0" anchor="ctr">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3200" b="1" dirty="0">
                <a:solidFill>
                  <a:srgbClr val="002060"/>
                </a:solidFill>
                <a:latin typeface="Times New Roman" panose="02020603050405020304" pitchFamily="18" charset="0"/>
                <a:cs typeface="Times New Roman" panose="02020603050405020304" pitchFamily="18" charset="0"/>
              </a:rPr>
              <a:t>Research Gap</a:t>
            </a:r>
          </a:p>
        </p:txBody>
      </p:sp>
      <p:cxnSp>
        <p:nvCxnSpPr>
          <p:cNvPr id="10" name="Straight Connector 9">
            <a:extLst>
              <a:ext uri="{FF2B5EF4-FFF2-40B4-BE49-F238E27FC236}">
                <a16:creationId xmlns:a16="http://schemas.microsoft.com/office/drawing/2014/main" id="{AB184F67-73FD-77DA-3D3B-51D7EEDAAED3}"/>
              </a:ext>
            </a:extLst>
          </p:cNvPr>
          <p:cNvCxnSpPr>
            <a:cxnSpLocks/>
          </p:cNvCxnSpPr>
          <p:nvPr/>
        </p:nvCxnSpPr>
        <p:spPr>
          <a:xfrm>
            <a:off x="6400800" y="685943"/>
            <a:ext cx="0" cy="6846427"/>
          </a:xfrm>
          <a:prstGeom prst="line">
            <a:avLst/>
          </a:prstGeom>
          <a:ln w="38100"/>
        </p:spPr>
        <p:style>
          <a:lnRef idx="1">
            <a:schemeClr val="accent6"/>
          </a:lnRef>
          <a:fillRef idx="0">
            <a:schemeClr val="accent6"/>
          </a:fillRef>
          <a:effectRef idx="0">
            <a:schemeClr val="accent6"/>
          </a:effectRef>
          <a:fontRef idx="minor">
            <a:schemeClr val="tx1"/>
          </a:fontRef>
        </p:style>
      </p:cxnSp>
      <p:sp>
        <p:nvSpPr>
          <p:cNvPr id="14" name="Rectangle: Rounded Corners 13">
            <a:extLst>
              <a:ext uri="{FF2B5EF4-FFF2-40B4-BE49-F238E27FC236}">
                <a16:creationId xmlns:a16="http://schemas.microsoft.com/office/drawing/2014/main" id="{73EF98F0-F584-43FA-D250-7DF08244EACA}"/>
              </a:ext>
            </a:extLst>
          </p:cNvPr>
          <p:cNvSpPr/>
          <p:nvPr/>
        </p:nvSpPr>
        <p:spPr>
          <a:xfrm>
            <a:off x="6593967" y="5785927"/>
            <a:ext cx="6057900" cy="1497599"/>
          </a:xfrm>
          <a:prstGeom prst="roundRect">
            <a:avLst>
              <a:gd name="adj" fmla="val 7085"/>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l"/>
            <a:r>
              <a:rPr lang="en-US" sz="2000" b="1" dirty="0">
                <a:solidFill>
                  <a:srgbClr val="FFFF00"/>
                </a:solidFill>
                <a:latin typeface="Times New Roman" panose="02020603050405020304" pitchFamily="18" charset="0"/>
                <a:cs typeface="Times New Roman" panose="02020603050405020304" pitchFamily="18" charset="0"/>
              </a:rPr>
              <a:t>Current Limitations:</a:t>
            </a:r>
          </a:p>
          <a:p>
            <a:pPr marL="342900" lvl="0" indent="-342900" algn="just">
              <a:buFont typeface="Arial" panose="020B0604020202020204" pitchFamily="34" charset="0"/>
              <a:buChar char="•"/>
            </a:pPr>
            <a:endParaRPr lang="en-US" sz="2000" dirty="0">
              <a:solidFill>
                <a:schemeClr val="bg1"/>
              </a:solidFill>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Initial infrastructure investment requirements</a:t>
            </a:r>
          </a:p>
          <a:p>
            <a:pPr marL="342900" lvl="0" indent="-342900" algn="just">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Maintenance costs for multiple systems</a:t>
            </a:r>
            <a:endParaRPr lang="en-US" sz="1800" dirty="0">
              <a:solidFill>
                <a:schemeClr val="bg1"/>
              </a:solidFill>
              <a:latin typeface="Times New Roman" panose="02020603050405020304" pitchFamily="18" charset="0"/>
              <a:cs typeface="Times New Roman" panose="02020603050405020304" pitchFamily="18" charset="0"/>
            </a:endParaRPr>
          </a:p>
        </p:txBody>
      </p:sp>
      <p:sp>
        <p:nvSpPr>
          <p:cNvPr id="17" name="Rectangle: Rounded Corners 16">
            <a:extLst>
              <a:ext uri="{FF2B5EF4-FFF2-40B4-BE49-F238E27FC236}">
                <a16:creationId xmlns:a16="http://schemas.microsoft.com/office/drawing/2014/main" id="{DDBE8BA4-F448-A9A4-8068-D27131ED136A}"/>
              </a:ext>
            </a:extLst>
          </p:cNvPr>
          <p:cNvSpPr/>
          <p:nvPr/>
        </p:nvSpPr>
        <p:spPr>
          <a:xfrm>
            <a:off x="6557246" y="685943"/>
            <a:ext cx="6057900" cy="434340"/>
          </a:xfrm>
          <a:prstGeom prst="round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Times New Roman" panose="02020603050405020304" pitchFamily="18" charset="0"/>
                <a:cs typeface="Times New Roman" panose="02020603050405020304" pitchFamily="18" charset="0"/>
              </a:rPr>
              <a:t>4. Cost Efficiency Model</a:t>
            </a:r>
          </a:p>
        </p:txBody>
      </p:sp>
      <p:sp>
        <p:nvSpPr>
          <p:cNvPr id="18" name="Rectangle: Rounded Corners 17">
            <a:extLst>
              <a:ext uri="{FF2B5EF4-FFF2-40B4-BE49-F238E27FC236}">
                <a16:creationId xmlns:a16="http://schemas.microsoft.com/office/drawing/2014/main" id="{CD19BBA8-92DD-A3AA-FC14-49646D3C86AE}"/>
              </a:ext>
            </a:extLst>
          </p:cNvPr>
          <p:cNvSpPr/>
          <p:nvPr/>
        </p:nvSpPr>
        <p:spPr>
          <a:xfrm>
            <a:off x="6592679" y="1685832"/>
            <a:ext cx="6057900" cy="1614512"/>
          </a:xfrm>
          <a:prstGeom prst="roundRect">
            <a:avLst>
              <a:gd name="adj" fmla="val 6266"/>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l"/>
            <a:r>
              <a:rPr lang="en-US" sz="2000" b="1" dirty="0">
                <a:solidFill>
                  <a:srgbClr val="FFFF00"/>
                </a:solidFill>
                <a:latin typeface="Times New Roman" panose="02020603050405020304" pitchFamily="18" charset="0"/>
                <a:cs typeface="Times New Roman" panose="02020603050405020304" pitchFamily="18" charset="0"/>
              </a:rPr>
              <a:t>Research Gap:</a:t>
            </a:r>
          </a:p>
          <a:p>
            <a:pPr lvl="0" algn="l"/>
            <a:endParaRPr lang="en-US" sz="2000" b="1" dirty="0">
              <a:solidFill>
                <a:srgbClr val="FFFF00"/>
              </a:solidFill>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Lack of clear economic viability in existing systems</a:t>
            </a:r>
          </a:p>
          <a:p>
            <a:pPr marL="342900" lvl="0" indent="-342900" algn="just">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High operational costs affecting adoption</a:t>
            </a:r>
            <a:endParaRPr lang="en-US" sz="1800" dirty="0">
              <a:solidFill>
                <a:schemeClr val="bg1"/>
              </a:solidFill>
              <a:latin typeface="Times New Roman" panose="02020603050405020304" pitchFamily="18" charset="0"/>
              <a:cs typeface="Times New Roman" panose="02020603050405020304" pitchFamily="18" charset="0"/>
            </a:endParaRPr>
          </a:p>
        </p:txBody>
      </p:sp>
      <p:sp>
        <p:nvSpPr>
          <p:cNvPr id="19" name="Rectangle: Rounded Corners 18">
            <a:extLst>
              <a:ext uri="{FF2B5EF4-FFF2-40B4-BE49-F238E27FC236}">
                <a16:creationId xmlns:a16="http://schemas.microsoft.com/office/drawing/2014/main" id="{9EA9D282-494D-DACB-3FBE-175DEF8D433C}"/>
              </a:ext>
            </a:extLst>
          </p:cNvPr>
          <p:cNvSpPr/>
          <p:nvPr/>
        </p:nvSpPr>
        <p:spPr>
          <a:xfrm>
            <a:off x="6628112" y="3592810"/>
            <a:ext cx="6023755" cy="1902602"/>
          </a:xfrm>
          <a:prstGeom prst="roundRect">
            <a:avLst>
              <a:gd name="adj" fmla="val 5238"/>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l"/>
            <a:r>
              <a:rPr lang="en-US" sz="2000" b="1" dirty="0">
                <a:solidFill>
                  <a:srgbClr val="FFFF00"/>
                </a:solidFill>
                <a:latin typeface="Times New Roman" panose="02020603050405020304" pitchFamily="18" charset="0"/>
                <a:cs typeface="Times New Roman" panose="02020603050405020304" pitchFamily="18" charset="0"/>
              </a:rPr>
              <a:t>Improvements:</a:t>
            </a:r>
          </a:p>
          <a:p>
            <a:pPr lvl="0" algn="l"/>
            <a:endParaRPr lang="en-US" sz="2000" b="1" dirty="0">
              <a:solidFill>
                <a:srgbClr val="FFFF00"/>
              </a:solidFill>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88.5% cost saving efficiency</a:t>
            </a:r>
          </a:p>
          <a:p>
            <a:pPr marL="342900" lvl="0" indent="-342900" algn="just">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Clear revenue model: Rs 29,494/day</a:t>
            </a:r>
          </a:p>
          <a:p>
            <a:pPr marL="342900" lvl="0" indent="-342900" algn="just">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Reduced grid dependency cutting operational costs</a:t>
            </a:r>
            <a:endParaRPr lang="en-US" sz="18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7834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3C91D-09BD-8D26-D1E1-FA6BAB0E366F}"/>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7524D45-FEF1-EBC0-1D54-45D1FBC1C397}"/>
              </a:ext>
            </a:extLst>
          </p:cNvPr>
          <p:cNvSpPr/>
          <p:nvPr/>
        </p:nvSpPr>
        <p:spPr>
          <a:xfrm>
            <a:off x="185166" y="698649"/>
            <a:ext cx="6022465" cy="434340"/>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Times New Roman" panose="02020603050405020304" pitchFamily="18" charset="0"/>
                <a:cs typeface="Times New Roman" panose="02020603050405020304" pitchFamily="18" charset="0"/>
              </a:rPr>
              <a:t>5. System Scalability</a:t>
            </a:r>
          </a:p>
        </p:txBody>
      </p:sp>
      <p:sp>
        <p:nvSpPr>
          <p:cNvPr id="5" name="Rectangle: Rounded Corners 4">
            <a:extLst>
              <a:ext uri="{FF2B5EF4-FFF2-40B4-BE49-F238E27FC236}">
                <a16:creationId xmlns:a16="http://schemas.microsoft.com/office/drawing/2014/main" id="{EF29CAAA-7424-2E33-BDCE-E0FB46280A40}"/>
              </a:ext>
            </a:extLst>
          </p:cNvPr>
          <p:cNvSpPr/>
          <p:nvPr/>
        </p:nvSpPr>
        <p:spPr>
          <a:xfrm>
            <a:off x="149733" y="1580036"/>
            <a:ext cx="6057900" cy="1720308"/>
          </a:xfrm>
          <a:prstGeom prst="roundRect">
            <a:avLst>
              <a:gd name="adj" fmla="val 6266"/>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l"/>
            <a:r>
              <a:rPr lang="en-US" sz="2000" b="1" dirty="0">
                <a:solidFill>
                  <a:srgbClr val="FFFF00"/>
                </a:solidFill>
                <a:latin typeface="Times New Roman" panose="02020603050405020304" pitchFamily="18" charset="0"/>
                <a:cs typeface="Times New Roman" panose="02020603050405020304" pitchFamily="18" charset="0"/>
              </a:rPr>
              <a:t>Research Gap:</a:t>
            </a:r>
          </a:p>
          <a:p>
            <a:pPr lvl="0" algn="l"/>
            <a:endParaRPr lang="en-US" sz="2000" b="1" dirty="0">
              <a:solidFill>
                <a:srgbClr val="FFFF00"/>
              </a:solidFill>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Limited flexibility in existing charging infrastructures</a:t>
            </a:r>
          </a:p>
          <a:p>
            <a:pPr marL="342900" lvl="0" indent="-342900" algn="just">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Difficulty in adapting to growing demand</a:t>
            </a:r>
            <a:endParaRPr lang="en-US" sz="1800" dirty="0">
              <a:solidFill>
                <a:schemeClr val="bg1"/>
              </a:solidFill>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6320E7F6-080F-4DAB-22D1-85D7992AA400}"/>
              </a:ext>
            </a:extLst>
          </p:cNvPr>
          <p:cNvSpPr/>
          <p:nvPr/>
        </p:nvSpPr>
        <p:spPr>
          <a:xfrm>
            <a:off x="185166" y="3604240"/>
            <a:ext cx="6023755" cy="1902602"/>
          </a:xfrm>
          <a:prstGeom prst="roundRect">
            <a:avLst>
              <a:gd name="adj" fmla="val 5238"/>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l"/>
            <a:r>
              <a:rPr lang="en-US" sz="2000" b="1" dirty="0">
                <a:solidFill>
                  <a:srgbClr val="FFFF00"/>
                </a:solidFill>
                <a:latin typeface="Times New Roman" panose="02020603050405020304" pitchFamily="18" charset="0"/>
                <a:cs typeface="Times New Roman" panose="02020603050405020304" pitchFamily="18" charset="0"/>
              </a:rPr>
              <a:t>Improvements:</a:t>
            </a:r>
          </a:p>
          <a:p>
            <a:pPr lvl="0" algn="l"/>
            <a:endParaRPr lang="en-US" sz="2000" b="1" dirty="0">
              <a:solidFill>
                <a:srgbClr val="FFFF00"/>
              </a:solidFill>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Modular architecture allowing easy expansion</a:t>
            </a:r>
          </a:p>
          <a:p>
            <a:pPr marL="342900" lvl="0" indent="-342900" algn="just">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Cloud-based management system</a:t>
            </a:r>
          </a:p>
          <a:p>
            <a:pPr marL="342900" lvl="0" indent="-342900" algn="just">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Standardized protocols for future integration</a:t>
            </a:r>
            <a:endParaRPr lang="en-US" sz="1800" dirty="0">
              <a:solidFill>
                <a:schemeClr val="bg1"/>
              </a:solidFill>
              <a:latin typeface="Times New Roman" panose="02020603050405020304" pitchFamily="18" charset="0"/>
              <a:cs typeface="Times New Roman" panose="02020603050405020304" pitchFamily="18" charset="0"/>
            </a:endParaRPr>
          </a:p>
        </p:txBody>
      </p:sp>
      <p:sp>
        <p:nvSpPr>
          <p:cNvPr id="7" name="Rectangle: Rounded Corners 6">
            <a:extLst>
              <a:ext uri="{FF2B5EF4-FFF2-40B4-BE49-F238E27FC236}">
                <a16:creationId xmlns:a16="http://schemas.microsoft.com/office/drawing/2014/main" id="{4E4D08BB-8CB3-66FE-FC27-CF1BE42C1F18}"/>
              </a:ext>
            </a:extLst>
          </p:cNvPr>
          <p:cNvSpPr/>
          <p:nvPr/>
        </p:nvSpPr>
        <p:spPr>
          <a:xfrm>
            <a:off x="149733" y="5785927"/>
            <a:ext cx="6057900" cy="1720308"/>
          </a:xfrm>
          <a:prstGeom prst="roundRect">
            <a:avLst>
              <a:gd name="adj" fmla="val 7085"/>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l"/>
            <a:endParaRPr lang="en-US" sz="2000" b="1" dirty="0">
              <a:solidFill>
                <a:srgbClr val="FFFF00"/>
              </a:solidFill>
              <a:latin typeface="Times New Roman" panose="02020603050405020304" pitchFamily="18" charset="0"/>
              <a:cs typeface="Times New Roman" panose="02020603050405020304" pitchFamily="18" charset="0"/>
            </a:endParaRPr>
          </a:p>
          <a:p>
            <a:pPr lvl="0" algn="l"/>
            <a:r>
              <a:rPr lang="en-US" sz="2000" b="1" dirty="0">
                <a:solidFill>
                  <a:srgbClr val="FFFF00"/>
                </a:solidFill>
                <a:latin typeface="Times New Roman" panose="02020603050405020304" pitchFamily="18" charset="0"/>
                <a:cs typeface="Times New Roman" panose="02020603050405020304" pitchFamily="18" charset="0"/>
              </a:rPr>
              <a:t>Current Limitations:</a:t>
            </a:r>
          </a:p>
          <a:p>
            <a:pPr lvl="0" algn="l"/>
            <a:endParaRPr lang="en-US" sz="2000" b="1" dirty="0">
              <a:solidFill>
                <a:srgbClr val="FFFF00"/>
              </a:solidFill>
              <a:latin typeface="Times New Roman" panose="02020603050405020304" pitchFamily="18" charset="0"/>
              <a:cs typeface="Times New Roman" panose="02020603050405020304" pitchFamily="18" charset="0"/>
            </a:endParaRPr>
          </a:p>
          <a:p>
            <a:pPr marL="342900" lvl="0" indent="-342900" algn="just">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Physical space requirements for expansion</a:t>
            </a:r>
          </a:p>
          <a:p>
            <a:pPr marL="342900" lvl="0" indent="-342900" algn="just">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Grid capacity constraints in some areas</a:t>
            </a:r>
            <a:endParaRPr lang="en-US" sz="1800" dirty="0">
              <a:solidFill>
                <a:schemeClr val="bg1"/>
              </a:solidFill>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338E39DF-9FEA-C3F0-53F1-5A776A6648C9}"/>
              </a:ext>
            </a:extLst>
          </p:cNvPr>
          <p:cNvSpPr txBox="1">
            <a:spLocks/>
          </p:cNvSpPr>
          <p:nvPr/>
        </p:nvSpPr>
        <p:spPr>
          <a:xfrm>
            <a:off x="0" y="0"/>
            <a:ext cx="6566765" cy="685943"/>
          </a:xfrm>
          <a:prstGeom prst="rect">
            <a:avLst/>
          </a:prstGeom>
        </p:spPr>
        <p:txBody>
          <a:bodyPr vert="horz" lIns="91440" tIns="45720" rIns="91440" bIns="45720" rtlCol="0" anchor="ctr">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3200" b="1" dirty="0">
                <a:solidFill>
                  <a:srgbClr val="002060"/>
                </a:solidFill>
                <a:latin typeface="Times New Roman" panose="02020603050405020304" pitchFamily="18" charset="0"/>
                <a:cs typeface="Times New Roman" panose="02020603050405020304" pitchFamily="18" charset="0"/>
              </a:rPr>
              <a:t>Research Gap</a:t>
            </a:r>
          </a:p>
        </p:txBody>
      </p:sp>
      <p:cxnSp>
        <p:nvCxnSpPr>
          <p:cNvPr id="10" name="Straight Connector 9">
            <a:extLst>
              <a:ext uri="{FF2B5EF4-FFF2-40B4-BE49-F238E27FC236}">
                <a16:creationId xmlns:a16="http://schemas.microsoft.com/office/drawing/2014/main" id="{8CC5A43C-AF24-46F1-0540-B877B2501812}"/>
              </a:ext>
            </a:extLst>
          </p:cNvPr>
          <p:cNvCxnSpPr>
            <a:cxnSpLocks/>
          </p:cNvCxnSpPr>
          <p:nvPr/>
        </p:nvCxnSpPr>
        <p:spPr>
          <a:xfrm>
            <a:off x="6400800" y="685943"/>
            <a:ext cx="0" cy="6846427"/>
          </a:xfrm>
          <a:prstGeom prst="line">
            <a:avLst/>
          </a:prstGeom>
          <a:ln w="38100"/>
        </p:spPr>
        <p:style>
          <a:lnRef idx="1">
            <a:schemeClr val="accent6"/>
          </a:lnRef>
          <a:fillRef idx="0">
            <a:schemeClr val="accent6"/>
          </a:fillRef>
          <a:effectRef idx="0">
            <a:schemeClr val="accent6"/>
          </a:effectRef>
          <a:fontRef idx="minor">
            <a:schemeClr val="tx1"/>
          </a:fontRef>
        </p:style>
      </p:cxnSp>
      <p:sp>
        <p:nvSpPr>
          <p:cNvPr id="14" name="Rectangle: Rounded Corners 13">
            <a:extLst>
              <a:ext uri="{FF2B5EF4-FFF2-40B4-BE49-F238E27FC236}">
                <a16:creationId xmlns:a16="http://schemas.microsoft.com/office/drawing/2014/main" id="{7B541DD2-A292-73A5-B19A-EAA5E9EA3F5F}"/>
              </a:ext>
            </a:extLst>
          </p:cNvPr>
          <p:cNvSpPr/>
          <p:nvPr/>
        </p:nvSpPr>
        <p:spPr>
          <a:xfrm>
            <a:off x="6628112" y="5869081"/>
            <a:ext cx="6057900" cy="1497599"/>
          </a:xfrm>
          <a:prstGeom prst="roundRect">
            <a:avLst>
              <a:gd name="adj" fmla="val 7085"/>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rgbClr val="FFFF00"/>
                </a:solidFill>
                <a:latin typeface="Times New Roman" panose="02020603050405020304" pitchFamily="18" charset="0"/>
                <a:cs typeface="Times New Roman" panose="02020603050405020304" pitchFamily="18" charset="0"/>
              </a:rPr>
              <a:t>Current Limitations: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Potential latency in cloud-dependent operations.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Dependency on stable internet connectivity for seamless data transfer.</a:t>
            </a:r>
          </a:p>
        </p:txBody>
      </p:sp>
      <p:sp>
        <p:nvSpPr>
          <p:cNvPr id="17" name="Rectangle: Rounded Corners 16">
            <a:extLst>
              <a:ext uri="{FF2B5EF4-FFF2-40B4-BE49-F238E27FC236}">
                <a16:creationId xmlns:a16="http://schemas.microsoft.com/office/drawing/2014/main" id="{C0822586-4CAF-F4C1-2248-5DB8AFF257AB}"/>
              </a:ext>
            </a:extLst>
          </p:cNvPr>
          <p:cNvSpPr/>
          <p:nvPr/>
        </p:nvSpPr>
        <p:spPr>
          <a:xfrm>
            <a:off x="6557246" y="685943"/>
            <a:ext cx="6057900" cy="434340"/>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Times New Roman" panose="02020603050405020304" pitchFamily="18" charset="0"/>
                <a:cs typeface="Times New Roman" panose="02020603050405020304" pitchFamily="18" charset="0"/>
              </a:rPr>
              <a:t>6. Cloud AWS Integration</a:t>
            </a:r>
          </a:p>
        </p:txBody>
      </p:sp>
      <p:sp>
        <p:nvSpPr>
          <p:cNvPr id="18" name="Rectangle: Rounded Corners 17">
            <a:extLst>
              <a:ext uri="{FF2B5EF4-FFF2-40B4-BE49-F238E27FC236}">
                <a16:creationId xmlns:a16="http://schemas.microsoft.com/office/drawing/2014/main" id="{3EC99A7C-FC4E-B913-BCAA-E589ACA6CC8F}"/>
              </a:ext>
            </a:extLst>
          </p:cNvPr>
          <p:cNvSpPr/>
          <p:nvPr/>
        </p:nvSpPr>
        <p:spPr>
          <a:xfrm>
            <a:off x="6592679" y="1474470"/>
            <a:ext cx="6057900" cy="1825874"/>
          </a:xfrm>
          <a:prstGeom prst="roundRect">
            <a:avLst>
              <a:gd name="adj" fmla="val 6266"/>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rgbClr val="FFFF00"/>
                </a:solidFill>
                <a:latin typeface="Times New Roman" panose="02020603050405020304" pitchFamily="18" charset="0"/>
                <a:cs typeface="Times New Roman" panose="02020603050405020304" pitchFamily="18" charset="0"/>
              </a:rPr>
              <a:t>Research Gap:</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Existing systems have inefficient data handling and lack real-time event-driven alerts.</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Limited use of cloud resources for secure and scalable data storage.</a:t>
            </a:r>
          </a:p>
        </p:txBody>
      </p:sp>
      <p:sp>
        <p:nvSpPr>
          <p:cNvPr id="19" name="Rectangle: Rounded Corners 18">
            <a:extLst>
              <a:ext uri="{FF2B5EF4-FFF2-40B4-BE49-F238E27FC236}">
                <a16:creationId xmlns:a16="http://schemas.microsoft.com/office/drawing/2014/main" id="{73D4FC0C-D4F9-9227-A05A-F02B24951DA1}"/>
              </a:ext>
            </a:extLst>
          </p:cNvPr>
          <p:cNvSpPr/>
          <p:nvPr/>
        </p:nvSpPr>
        <p:spPr>
          <a:xfrm>
            <a:off x="6628112" y="3474203"/>
            <a:ext cx="6023755" cy="2047859"/>
          </a:xfrm>
          <a:prstGeom prst="roundRect">
            <a:avLst>
              <a:gd name="adj" fmla="val 5238"/>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000" dirty="0">
              <a:latin typeface="Times New Roman" panose="02020603050405020304" pitchFamily="18" charset="0"/>
              <a:cs typeface="Times New Roman" panose="02020603050405020304" pitchFamily="18" charset="0"/>
            </a:endParaRPr>
          </a:p>
          <a:p>
            <a:r>
              <a:rPr lang="en-US" sz="2000" b="1" dirty="0">
                <a:solidFill>
                  <a:srgbClr val="FFFF00"/>
                </a:solidFill>
                <a:latin typeface="Times New Roman" panose="02020603050405020304" pitchFamily="18" charset="0"/>
                <a:cs typeface="Times New Roman" panose="02020603050405020304" pitchFamily="18" charset="0"/>
              </a:rPr>
              <a:t>Improvements:</a:t>
            </a:r>
          </a:p>
          <a:p>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Lightweight real-time communication via MQTT.</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AWS S3 for scalable data logging and analytics.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Email notifications for anomalies and system events</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AWS </a:t>
            </a:r>
            <a:r>
              <a:rPr lang="en-US" sz="2000" dirty="0" err="1">
                <a:latin typeface="Times New Roman" panose="02020603050405020304" pitchFamily="18" charset="0"/>
                <a:cs typeface="Times New Roman" panose="02020603050405020304" pitchFamily="18" charset="0"/>
              </a:rPr>
              <a:t>Quickslights</a:t>
            </a:r>
            <a:r>
              <a:rPr lang="en-US" sz="2000" dirty="0">
                <a:latin typeface="Times New Roman" panose="02020603050405020304" pitchFamily="18" charset="0"/>
                <a:cs typeface="Times New Roman" panose="02020603050405020304" pitchFamily="18" charset="0"/>
              </a:rPr>
              <a:t> for Data visualization.</a:t>
            </a:r>
          </a:p>
        </p:txBody>
      </p:sp>
    </p:spTree>
    <p:extLst>
      <p:ext uri="{BB962C8B-B14F-4D97-AF65-F5344CB8AC3E}">
        <p14:creationId xmlns:p14="http://schemas.microsoft.com/office/powerpoint/2010/main" val="41169129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F2D8D82-F834-45B3-4ACB-40D7038C209B}"/>
              </a:ext>
            </a:extLst>
          </p:cNvPr>
          <p:cNvSpPr/>
          <p:nvPr/>
        </p:nvSpPr>
        <p:spPr>
          <a:xfrm>
            <a:off x="162306" y="757242"/>
            <a:ext cx="3495294" cy="434340"/>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t>Problem Statement</a:t>
            </a:r>
            <a:endParaRPr lang="en-US" sz="2000" b="1" dirty="0">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7B2E31D3-48E5-26DF-2F24-DF6BFF2CE9A3}"/>
              </a:ext>
            </a:extLst>
          </p:cNvPr>
          <p:cNvSpPr/>
          <p:nvPr/>
        </p:nvSpPr>
        <p:spPr>
          <a:xfrm>
            <a:off x="162306" y="1295169"/>
            <a:ext cx="10033255" cy="2383642"/>
          </a:xfrm>
          <a:prstGeom prst="roundRect">
            <a:avLst>
              <a:gd name="adj" fmla="val 4971"/>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Growing EV adoption is causing grid instability and poor power quality.</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High operational costs and inefficient load management in charging stations.</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Lack of real-time monitoring and seamless integration of multiple power sources.</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Limited use of renewable energy, increasing reliance on the grid.</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Cybersecurity risks in cloud-connected charging infrastructure </a:t>
            </a:r>
          </a:p>
        </p:txBody>
      </p:sp>
      <p:sp>
        <p:nvSpPr>
          <p:cNvPr id="8" name="Rectangle: Rounded Corners 7">
            <a:extLst>
              <a:ext uri="{FF2B5EF4-FFF2-40B4-BE49-F238E27FC236}">
                <a16:creationId xmlns:a16="http://schemas.microsoft.com/office/drawing/2014/main" id="{EFBE409F-1496-C29A-559A-80CD425F6C9A}"/>
              </a:ext>
            </a:extLst>
          </p:cNvPr>
          <p:cNvSpPr/>
          <p:nvPr/>
        </p:nvSpPr>
        <p:spPr>
          <a:xfrm>
            <a:off x="176708" y="4288037"/>
            <a:ext cx="3255264" cy="434340"/>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t>Project Objectives</a:t>
            </a:r>
            <a:endParaRPr lang="en-US" sz="2000" dirty="0"/>
          </a:p>
        </p:txBody>
      </p:sp>
      <p:sp>
        <p:nvSpPr>
          <p:cNvPr id="9" name="Rectangle: Rounded Corners 8">
            <a:extLst>
              <a:ext uri="{FF2B5EF4-FFF2-40B4-BE49-F238E27FC236}">
                <a16:creationId xmlns:a16="http://schemas.microsoft.com/office/drawing/2014/main" id="{162885A9-A713-8AE5-C2A4-3D92D8196B7D}"/>
              </a:ext>
            </a:extLst>
          </p:cNvPr>
          <p:cNvSpPr/>
          <p:nvPr/>
        </p:nvSpPr>
        <p:spPr>
          <a:xfrm>
            <a:off x="162306" y="4868228"/>
            <a:ext cx="12090654" cy="2858452"/>
          </a:xfrm>
          <a:prstGeom prst="roundRect">
            <a:avLst>
              <a:gd name="adj" fmla="val 4971"/>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Design a 5-layer IoT architecture combining solar (56.8%), ESS (31.7%), and grid (11.5%).</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Enable automated power switching and real-time monitoring.</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Improve cost efficiency by 88.5% with a mix of Battery Swapping Stations (BSS) and DC fast charging.</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Enhance energy utilization with smart load balancing.</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Reduce grid dependency and operational costs. </a:t>
            </a:r>
          </a:p>
        </p:txBody>
      </p:sp>
      <p:sp>
        <p:nvSpPr>
          <p:cNvPr id="11" name="Title 1">
            <a:extLst>
              <a:ext uri="{FF2B5EF4-FFF2-40B4-BE49-F238E27FC236}">
                <a16:creationId xmlns:a16="http://schemas.microsoft.com/office/drawing/2014/main" id="{4BB61F34-73FE-11AE-7CB6-0F6007898929}"/>
              </a:ext>
            </a:extLst>
          </p:cNvPr>
          <p:cNvSpPr txBox="1">
            <a:spLocks/>
          </p:cNvSpPr>
          <p:nvPr/>
        </p:nvSpPr>
        <p:spPr>
          <a:xfrm>
            <a:off x="0" y="0"/>
            <a:ext cx="6566765" cy="685943"/>
          </a:xfrm>
          <a:prstGeom prst="rect">
            <a:avLst/>
          </a:prstGeom>
        </p:spPr>
        <p:txBody>
          <a:bodyPr vert="horz" lIns="91440" tIns="45720" rIns="91440" bIns="45720" rtlCol="0" anchor="ctr">
            <a:normAutofit fontScale="85000" lnSpcReduction="10000"/>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3200" b="1" dirty="0">
                <a:solidFill>
                  <a:srgbClr val="002060"/>
                </a:solidFill>
                <a:latin typeface="Times New Roman" panose="02020603050405020304" pitchFamily="18" charset="0"/>
                <a:cs typeface="Times New Roman" panose="02020603050405020304" pitchFamily="18" charset="0"/>
              </a:rPr>
              <a:t>Problem statement and Project Objectives</a:t>
            </a:r>
          </a:p>
        </p:txBody>
      </p:sp>
    </p:spTree>
    <p:extLst>
      <p:ext uri="{BB962C8B-B14F-4D97-AF65-F5344CB8AC3E}">
        <p14:creationId xmlns:p14="http://schemas.microsoft.com/office/powerpoint/2010/main" val="891897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DF265BC-AFFA-E642-217E-358B9EBB9B20}"/>
              </a:ext>
            </a:extLst>
          </p:cNvPr>
          <p:cNvSpPr txBox="1">
            <a:spLocks/>
          </p:cNvSpPr>
          <p:nvPr/>
        </p:nvSpPr>
        <p:spPr>
          <a:xfrm>
            <a:off x="102870" y="0"/>
            <a:ext cx="6566765" cy="685943"/>
          </a:xfrm>
          <a:prstGeom prst="rect">
            <a:avLst/>
          </a:prstGeom>
        </p:spPr>
        <p:txBody>
          <a:bodyPr vert="horz" lIns="91440" tIns="45720" rIns="91440" bIns="45720" rtlCol="0" anchor="ctr">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3200" b="1" dirty="0">
                <a:solidFill>
                  <a:srgbClr val="002060"/>
                </a:solidFill>
                <a:latin typeface="Times New Roman" panose="02020603050405020304" pitchFamily="18" charset="0"/>
                <a:cs typeface="Times New Roman" panose="02020603050405020304" pitchFamily="18" charset="0"/>
              </a:rPr>
              <a:t>Proposed Methodology  </a:t>
            </a:r>
          </a:p>
        </p:txBody>
      </p:sp>
      <p:sp>
        <p:nvSpPr>
          <p:cNvPr id="5" name="Rectangle: Rounded Corners 4">
            <a:extLst>
              <a:ext uri="{FF2B5EF4-FFF2-40B4-BE49-F238E27FC236}">
                <a16:creationId xmlns:a16="http://schemas.microsoft.com/office/drawing/2014/main" id="{9E3B4FA1-F041-E1A2-4302-44BD1C113EC9}"/>
              </a:ext>
            </a:extLst>
          </p:cNvPr>
          <p:cNvSpPr/>
          <p:nvPr/>
        </p:nvSpPr>
        <p:spPr>
          <a:xfrm>
            <a:off x="253746" y="975503"/>
            <a:ext cx="8330184" cy="1257157"/>
          </a:xfrm>
          <a:prstGeom prst="roundRect">
            <a:avLst>
              <a:gd name="adj" fmla="val 4971"/>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2000" b="1" i="0" dirty="0">
                <a:effectLst/>
                <a:latin typeface="fkGroteskNeue"/>
              </a:rPr>
              <a:t>Integration of Energy </a:t>
            </a:r>
          </a:p>
          <a:p>
            <a:pPr algn="l">
              <a:buFont typeface="Arial" panose="020B0604020202020204" pitchFamily="34" charset="0"/>
              <a:buChar char="•"/>
            </a:pPr>
            <a:r>
              <a:rPr lang="en-US" sz="2000" b="0" i="0" dirty="0">
                <a:effectLst/>
                <a:latin typeface="fkGroteskNeue"/>
              </a:rPr>
              <a:t>Sources Combine renewable (solar) and non-renewable (grid) energy sources.</a:t>
            </a:r>
          </a:p>
          <a:p>
            <a:pPr algn="l">
              <a:buFont typeface="Arial" panose="020B0604020202020204" pitchFamily="34" charset="0"/>
              <a:buChar char="•"/>
            </a:pPr>
            <a:r>
              <a:rPr lang="en-US" sz="2000" b="0" i="0" dirty="0">
                <a:effectLst/>
                <a:latin typeface="fkGroteskNeue"/>
              </a:rPr>
              <a:t>Utilize Energy Storage Systems (ESS) for balancing energy supply.</a:t>
            </a:r>
          </a:p>
        </p:txBody>
      </p:sp>
      <p:sp>
        <p:nvSpPr>
          <p:cNvPr id="6" name="Rectangle: Rounded Corners 5">
            <a:extLst>
              <a:ext uri="{FF2B5EF4-FFF2-40B4-BE49-F238E27FC236}">
                <a16:creationId xmlns:a16="http://schemas.microsoft.com/office/drawing/2014/main" id="{33870AD9-A0BF-3DE0-909D-DCCC0A00625D}"/>
              </a:ext>
            </a:extLst>
          </p:cNvPr>
          <p:cNvSpPr/>
          <p:nvPr/>
        </p:nvSpPr>
        <p:spPr>
          <a:xfrm>
            <a:off x="253746" y="2606183"/>
            <a:ext cx="6415889" cy="2476357"/>
          </a:xfrm>
          <a:prstGeom prst="roundRect">
            <a:avLst>
              <a:gd name="adj" fmla="val 4971"/>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2000" b="0" i="0" dirty="0">
                <a:effectLst/>
                <a:latin typeface="fkGroteskNeue"/>
              </a:rPr>
              <a:t>Automation Conditions</a:t>
            </a:r>
          </a:p>
          <a:p>
            <a:pPr marL="342900" indent="-342900" algn="l">
              <a:buFont typeface="Arial" panose="020B0604020202020204" pitchFamily="34" charset="0"/>
              <a:buChar char="•"/>
            </a:pPr>
            <a:r>
              <a:rPr lang="en-US" sz="2000" b="0" i="0" dirty="0">
                <a:effectLst/>
                <a:latin typeface="fkGroteskNeue"/>
              </a:rPr>
              <a:t>	Define operational conditions for energy management:</a:t>
            </a:r>
          </a:p>
          <a:p>
            <a:pPr marL="457200" indent="-457200" algn="l">
              <a:buFont typeface="+mj-lt"/>
              <a:buAutoNum type="arabicPeriod"/>
            </a:pPr>
            <a:r>
              <a:rPr lang="en-US" sz="2000" b="0" i="0" dirty="0">
                <a:effectLst/>
                <a:latin typeface="fkGroteskNeue"/>
              </a:rPr>
              <a:t>Solar ON, ESS charging, Grid OFF, Load ON.</a:t>
            </a:r>
          </a:p>
          <a:p>
            <a:pPr marL="457200" indent="-457200" algn="l">
              <a:buFont typeface="+mj-lt"/>
              <a:buAutoNum type="arabicPeriod"/>
            </a:pPr>
            <a:r>
              <a:rPr lang="en-US" sz="2000" b="0" i="0" dirty="0">
                <a:effectLst/>
                <a:latin typeface="fkGroteskNeue"/>
              </a:rPr>
              <a:t>Solar ON, ESS &gt;80%, Grid ON, Load ON.</a:t>
            </a:r>
          </a:p>
          <a:p>
            <a:pPr marL="457200" indent="-457200" algn="l">
              <a:buFont typeface="+mj-lt"/>
              <a:buAutoNum type="arabicPeriod"/>
            </a:pPr>
            <a:r>
              <a:rPr lang="en-US" sz="2000" b="0" i="0" dirty="0">
                <a:effectLst/>
                <a:latin typeface="fkGroteskNeue"/>
              </a:rPr>
              <a:t>Solar OFF, ESS ON, Grid OFF, Load ON.</a:t>
            </a:r>
          </a:p>
          <a:p>
            <a:pPr marL="457200" indent="-457200" algn="l">
              <a:buFont typeface="+mj-lt"/>
              <a:buAutoNum type="arabicPeriod"/>
            </a:pPr>
            <a:r>
              <a:rPr lang="en-US" sz="2000" b="0" i="0" dirty="0">
                <a:effectLst/>
                <a:latin typeface="fkGroteskNeue"/>
              </a:rPr>
              <a:t>Solar OFF, ESS &lt;20%, Grid ON, Load ON.</a:t>
            </a:r>
          </a:p>
          <a:p>
            <a:pPr marL="457200" indent="-457200" algn="l">
              <a:buFont typeface="+mj-lt"/>
              <a:buAutoNum type="arabicPeriod"/>
            </a:pPr>
            <a:r>
              <a:rPr lang="en-US" sz="2000" b="0" i="0" dirty="0">
                <a:effectLst/>
                <a:latin typeface="fkGroteskNeue"/>
              </a:rPr>
              <a:t>Solar OFF, ESS charging, Grid ON, Load OFF.</a:t>
            </a:r>
          </a:p>
        </p:txBody>
      </p:sp>
      <p:sp>
        <p:nvSpPr>
          <p:cNvPr id="7" name="Rectangle: Rounded Corners 6">
            <a:extLst>
              <a:ext uri="{FF2B5EF4-FFF2-40B4-BE49-F238E27FC236}">
                <a16:creationId xmlns:a16="http://schemas.microsoft.com/office/drawing/2014/main" id="{19A0B345-87F1-B024-A00A-DF51D3C549C3}"/>
              </a:ext>
            </a:extLst>
          </p:cNvPr>
          <p:cNvSpPr/>
          <p:nvPr/>
        </p:nvSpPr>
        <p:spPr>
          <a:xfrm>
            <a:off x="102870" y="5456063"/>
            <a:ext cx="7772400" cy="2053447"/>
          </a:xfrm>
          <a:prstGeom prst="roundRect">
            <a:avLst>
              <a:gd name="adj" fmla="val 4971"/>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2000" b="0" i="0" dirty="0">
                <a:effectLst/>
                <a:latin typeface="fkGroteskNeue"/>
              </a:rPr>
              <a:t>IoT -  5-layer Architecture Design </a:t>
            </a:r>
          </a:p>
          <a:p>
            <a:pPr marL="457200" indent="-457200" algn="l">
              <a:buFont typeface="+mj-lt"/>
              <a:buAutoNum type="arabicPeriod"/>
            </a:pPr>
            <a:r>
              <a:rPr lang="en-US" sz="2000" b="0" i="0" dirty="0">
                <a:effectLst/>
                <a:latin typeface="fkGroteskNeue"/>
              </a:rPr>
              <a:t>Device Layer: Integrate sensors and actuators at charging stations.</a:t>
            </a:r>
          </a:p>
          <a:p>
            <a:pPr marL="457200" indent="-457200" algn="l">
              <a:buFont typeface="+mj-lt"/>
              <a:buAutoNum type="arabicPeriod"/>
            </a:pPr>
            <a:r>
              <a:rPr lang="en-US" sz="2000" b="0" i="0" dirty="0">
                <a:effectLst/>
                <a:latin typeface="fkGroteskNeue"/>
              </a:rPr>
              <a:t>Network Layer: Select communication protocols (e.g., MQTT, HTTP).</a:t>
            </a:r>
          </a:p>
          <a:p>
            <a:pPr marL="457200" indent="-457200" algn="l">
              <a:buFont typeface="+mj-lt"/>
              <a:buAutoNum type="arabicPeriod"/>
            </a:pPr>
            <a:r>
              <a:rPr lang="en-US" sz="2000" b="0" i="0" dirty="0">
                <a:effectLst/>
                <a:latin typeface="fkGroteskNeue"/>
              </a:rPr>
              <a:t>Edge Computing Layer: processing for real-time data handling.</a:t>
            </a:r>
          </a:p>
          <a:p>
            <a:pPr marL="457200" indent="-457200" algn="l">
              <a:buFont typeface="+mj-lt"/>
              <a:buAutoNum type="arabicPeriod"/>
            </a:pPr>
            <a:r>
              <a:rPr lang="en-US" sz="2000" b="0" i="0" dirty="0">
                <a:effectLst/>
                <a:latin typeface="fkGroteskNeue"/>
              </a:rPr>
              <a:t>Cloud Layer: Utilize AWS for data storage and analytics.</a:t>
            </a:r>
          </a:p>
          <a:p>
            <a:pPr marL="457200" indent="-457200" algn="l">
              <a:buFont typeface="+mj-lt"/>
              <a:buAutoNum type="arabicPeriod"/>
            </a:pPr>
            <a:r>
              <a:rPr lang="en-US" sz="2000" b="0" i="0" dirty="0">
                <a:effectLst/>
                <a:latin typeface="fkGroteskNeue"/>
              </a:rPr>
              <a:t>Application Layer: user interfaces for monitoring and management.</a:t>
            </a:r>
          </a:p>
        </p:txBody>
      </p:sp>
      <p:pic>
        <p:nvPicPr>
          <p:cNvPr id="10" name="Picture 9" descr="A group of solar panels&#10;&#10;AI-generated content may be incorrect.">
            <a:extLst>
              <a:ext uri="{FF2B5EF4-FFF2-40B4-BE49-F238E27FC236}">
                <a16:creationId xmlns:a16="http://schemas.microsoft.com/office/drawing/2014/main" id="{F9C4DA08-4140-61A6-E17D-5C5BCE5E84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98230" y="1109813"/>
            <a:ext cx="1330016" cy="884828"/>
          </a:xfrm>
          <a:prstGeom prst="rect">
            <a:avLst/>
          </a:prstGeom>
        </p:spPr>
      </p:pic>
      <p:pic>
        <p:nvPicPr>
          <p:cNvPr id="12" name="Picture 11" descr="A white door with a clock&#10;&#10;AI-generated content may be incorrect.">
            <a:extLst>
              <a:ext uri="{FF2B5EF4-FFF2-40B4-BE49-F238E27FC236}">
                <a16:creationId xmlns:a16="http://schemas.microsoft.com/office/drawing/2014/main" id="{E3C15806-7BD4-57C3-FF81-86BB411471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42546" y="1109813"/>
            <a:ext cx="1218874" cy="884828"/>
          </a:xfrm>
          <a:prstGeom prst="rect">
            <a:avLst/>
          </a:prstGeom>
        </p:spPr>
      </p:pic>
      <p:pic>
        <p:nvPicPr>
          <p:cNvPr id="14" name="Picture 13" descr="A line of power lines&#10;&#10;AI-generated content may be incorrect.">
            <a:extLst>
              <a:ext uri="{FF2B5EF4-FFF2-40B4-BE49-F238E27FC236}">
                <a16:creationId xmlns:a16="http://schemas.microsoft.com/office/drawing/2014/main" id="{ABB25B24-F73D-9973-9E3A-9076D1E676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48436" y="1085025"/>
            <a:ext cx="934403" cy="934403"/>
          </a:xfrm>
          <a:prstGeom prst="rect">
            <a:avLst/>
          </a:prstGeom>
        </p:spPr>
      </p:pic>
      <p:pic>
        <p:nvPicPr>
          <p:cNvPr id="15" name="Picture 14">
            <a:extLst>
              <a:ext uri="{FF2B5EF4-FFF2-40B4-BE49-F238E27FC236}">
                <a16:creationId xmlns:a16="http://schemas.microsoft.com/office/drawing/2014/main" id="{2FC6BDD3-B3EF-54B5-00D6-55B8D9612FB8}"/>
              </a:ext>
            </a:extLst>
          </p:cNvPr>
          <p:cNvPicPr>
            <a:picLocks noChangeAspect="1"/>
          </p:cNvPicPr>
          <p:nvPr/>
        </p:nvPicPr>
        <p:blipFill>
          <a:blip r:embed="rId5"/>
          <a:stretch>
            <a:fillRect/>
          </a:stretch>
        </p:blipFill>
        <p:spPr>
          <a:xfrm>
            <a:off x="7888134" y="5413855"/>
            <a:ext cx="4913466" cy="2095655"/>
          </a:xfrm>
          <a:prstGeom prst="rect">
            <a:avLst/>
          </a:prstGeom>
        </p:spPr>
      </p:pic>
      <p:pic>
        <p:nvPicPr>
          <p:cNvPr id="16" name="Picture 15">
            <a:extLst>
              <a:ext uri="{FF2B5EF4-FFF2-40B4-BE49-F238E27FC236}">
                <a16:creationId xmlns:a16="http://schemas.microsoft.com/office/drawing/2014/main" id="{B170D248-8348-E1A7-E591-AA926F55147D}"/>
              </a:ext>
            </a:extLst>
          </p:cNvPr>
          <p:cNvPicPr>
            <a:picLocks noChangeAspect="1"/>
          </p:cNvPicPr>
          <p:nvPr/>
        </p:nvPicPr>
        <p:blipFill>
          <a:blip r:embed="rId6"/>
          <a:srcRect t="2296" b="3161"/>
          <a:stretch/>
        </p:blipFill>
        <p:spPr>
          <a:xfrm>
            <a:off x="7501713" y="2623898"/>
            <a:ext cx="5053066" cy="2095656"/>
          </a:xfrm>
          <a:prstGeom prst="rect">
            <a:avLst/>
          </a:prstGeom>
        </p:spPr>
      </p:pic>
      <p:cxnSp>
        <p:nvCxnSpPr>
          <p:cNvPr id="18" name="Straight Connector 17">
            <a:extLst>
              <a:ext uri="{FF2B5EF4-FFF2-40B4-BE49-F238E27FC236}">
                <a16:creationId xmlns:a16="http://schemas.microsoft.com/office/drawing/2014/main" id="{EF5E4AE8-957E-C778-CA74-2485B895A52E}"/>
              </a:ext>
            </a:extLst>
          </p:cNvPr>
          <p:cNvCxnSpPr/>
          <p:nvPr/>
        </p:nvCxnSpPr>
        <p:spPr>
          <a:xfrm>
            <a:off x="4418838" y="2423160"/>
            <a:ext cx="838276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CD494C51-01D8-001D-5D74-E1E9F615F92C}"/>
              </a:ext>
            </a:extLst>
          </p:cNvPr>
          <p:cNvCxnSpPr/>
          <p:nvPr/>
        </p:nvCxnSpPr>
        <p:spPr>
          <a:xfrm>
            <a:off x="4418838" y="5238750"/>
            <a:ext cx="8382762"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91505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4BC92062-F05B-E429-B607-385A0DEE07AB}"/>
              </a:ext>
            </a:extLst>
          </p:cNvPr>
          <p:cNvSpPr/>
          <p:nvPr/>
        </p:nvSpPr>
        <p:spPr>
          <a:xfrm>
            <a:off x="120396" y="1026177"/>
            <a:ext cx="8031861" cy="2071353"/>
          </a:xfrm>
          <a:prstGeom prst="roundRect">
            <a:avLst>
              <a:gd name="adj" fmla="val 4971"/>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2000" b="1" i="0" dirty="0">
                <a:effectLst/>
                <a:latin typeface="fkGroteskNeue"/>
              </a:rPr>
              <a:t>Algorithm Development</a:t>
            </a:r>
          </a:p>
          <a:p>
            <a:pPr marL="457200" indent="-457200" algn="l">
              <a:buFont typeface="+mj-lt"/>
              <a:buAutoNum type="arabicPeriod"/>
            </a:pPr>
            <a:r>
              <a:rPr lang="en-US" sz="2000" b="0" i="0" dirty="0">
                <a:effectLst/>
                <a:latin typeface="fkGroteskNeue"/>
              </a:rPr>
              <a:t>Solar Maximum Power Point Tracking (MPPT).</a:t>
            </a:r>
          </a:p>
          <a:p>
            <a:pPr marL="457200" indent="-457200" algn="l">
              <a:buFont typeface="+mj-lt"/>
              <a:buAutoNum type="arabicPeriod"/>
            </a:pPr>
            <a:r>
              <a:rPr lang="en-US" sz="2000" b="0" i="0" dirty="0">
                <a:effectLst/>
                <a:latin typeface="fkGroteskNeue"/>
              </a:rPr>
              <a:t>Battery swapping station charging control.</a:t>
            </a:r>
          </a:p>
          <a:p>
            <a:pPr marL="457200" indent="-457200" algn="l">
              <a:buFont typeface="+mj-lt"/>
              <a:buAutoNum type="arabicPeriod"/>
            </a:pPr>
            <a:r>
              <a:rPr lang="en-US" sz="2000" b="0" i="0" dirty="0">
                <a:effectLst/>
                <a:latin typeface="fkGroteskNeue"/>
              </a:rPr>
              <a:t>DC fast charging control calculations.</a:t>
            </a:r>
          </a:p>
          <a:p>
            <a:pPr marL="457200" indent="-457200" algn="l">
              <a:buFont typeface="+mj-lt"/>
              <a:buAutoNum type="arabicPeriod"/>
            </a:pPr>
            <a:r>
              <a:rPr lang="en-US" sz="2000" b="0" i="0" dirty="0">
                <a:effectLst/>
                <a:latin typeface="fkGroteskNeue"/>
              </a:rPr>
              <a:t>Real-time monitoring with sensors.</a:t>
            </a:r>
          </a:p>
        </p:txBody>
      </p:sp>
      <p:sp>
        <p:nvSpPr>
          <p:cNvPr id="5" name="Rectangle: Rounded Corners 4">
            <a:extLst>
              <a:ext uri="{FF2B5EF4-FFF2-40B4-BE49-F238E27FC236}">
                <a16:creationId xmlns:a16="http://schemas.microsoft.com/office/drawing/2014/main" id="{1E76ABB9-475E-3EFA-EFAC-2F5CF22F2092}"/>
              </a:ext>
            </a:extLst>
          </p:cNvPr>
          <p:cNvSpPr/>
          <p:nvPr/>
        </p:nvSpPr>
        <p:spPr>
          <a:xfrm>
            <a:off x="129159" y="3714576"/>
            <a:ext cx="8031861" cy="1874060"/>
          </a:xfrm>
          <a:prstGeom prst="roundRect">
            <a:avLst>
              <a:gd name="adj" fmla="val 4971"/>
            </a:avLst>
          </a:prstGeom>
          <a:solidFill>
            <a:schemeClr val="accent5">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2000" b="1" i="0" dirty="0">
                <a:effectLst/>
                <a:latin typeface="fkGroteskNeue"/>
              </a:rPr>
              <a:t>Data Visualization and Monitoring</a:t>
            </a:r>
          </a:p>
          <a:p>
            <a:pPr algn="l">
              <a:buFont typeface="Arial" panose="020B0604020202020204" pitchFamily="34" charset="0"/>
              <a:buChar char="•"/>
            </a:pPr>
            <a:r>
              <a:rPr lang="en-US" sz="2000" b="0" i="0" dirty="0">
                <a:effectLst/>
                <a:latin typeface="fkGroteskNeue"/>
              </a:rPr>
              <a:t>Use Node-RED for intranet central monitoring and data visualization dashboards.</a:t>
            </a:r>
          </a:p>
          <a:p>
            <a:pPr algn="l">
              <a:buFont typeface="Arial" panose="020B0604020202020204" pitchFamily="34" charset="0"/>
              <a:buChar char="•"/>
            </a:pPr>
            <a:r>
              <a:rPr lang="en-US" sz="2000" b="0" i="0" dirty="0">
                <a:effectLst/>
                <a:latin typeface="fkGroteskNeue"/>
              </a:rPr>
              <a:t>Establish AWS connectivity for data storage and analytics.</a:t>
            </a:r>
          </a:p>
          <a:p>
            <a:pPr algn="l">
              <a:buFont typeface="Arial" panose="020B0604020202020204" pitchFamily="34" charset="0"/>
              <a:buChar char="•"/>
            </a:pPr>
            <a:r>
              <a:rPr lang="en-US" sz="2000" b="0" i="0" dirty="0">
                <a:effectLst/>
                <a:latin typeface="fkGroteskNeue"/>
              </a:rPr>
              <a:t>Set up SNS service for email alerts regarding system status.</a:t>
            </a:r>
          </a:p>
        </p:txBody>
      </p:sp>
      <p:sp>
        <p:nvSpPr>
          <p:cNvPr id="6" name="Rectangle: Rounded Corners 5">
            <a:extLst>
              <a:ext uri="{FF2B5EF4-FFF2-40B4-BE49-F238E27FC236}">
                <a16:creationId xmlns:a16="http://schemas.microsoft.com/office/drawing/2014/main" id="{5498C2D4-F09D-1395-409F-8290745362AA}"/>
              </a:ext>
            </a:extLst>
          </p:cNvPr>
          <p:cNvSpPr/>
          <p:nvPr/>
        </p:nvSpPr>
        <p:spPr>
          <a:xfrm>
            <a:off x="102870" y="5977573"/>
            <a:ext cx="8058150" cy="1581007"/>
          </a:xfrm>
          <a:prstGeom prst="roundRect">
            <a:avLst>
              <a:gd name="adj" fmla="val 4971"/>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2000" b="1" i="0" dirty="0">
                <a:effectLst/>
                <a:latin typeface="fkGroteskNeue"/>
              </a:rPr>
              <a:t>Cost and Energy Efficiency Analysis</a:t>
            </a:r>
          </a:p>
          <a:p>
            <a:pPr algn="l">
              <a:buFont typeface="Arial" panose="020B0604020202020204" pitchFamily="34" charset="0"/>
              <a:buChar char="•"/>
            </a:pPr>
            <a:r>
              <a:rPr lang="en-US" sz="2000" b="0" i="0" dirty="0">
                <a:effectLst/>
                <a:latin typeface="fkGroteskNeue"/>
              </a:rPr>
              <a:t>Calculate daily energy generation from solar, ESS, and grid sources.</a:t>
            </a:r>
          </a:p>
          <a:p>
            <a:pPr algn="l">
              <a:buFont typeface="Arial" panose="020B0604020202020204" pitchFamily="34" charset="0"/>
              <a:buChar char="•"/>
            </a:pPr>
            <a:r>
              <a:rPr lang="en-US" sz="2000" b="0" i="0" dirty="0">
                <a:effectLst/>
                <a:latin typeface="fkGroteskNeue"/>
              </a:rPr>
              <a:t>energy saving efficiency &amp; cost saving efficiency based on renewable energy usage.</a:t>
            </a:r>
          </a:p>
        </p:txBody>
      </p:sp>
      <p:sp>
        <p:nvSpPr>
          <p:cNvPr id="7" name="Title 1">
            <a:extLst>
              <a:ext uri="{FF2B5EF4-FFF2-40B4-BE49-F238E27FC236}">
                <a16:creationId xmlns:a16="http://schemas.microsoft.com/office/drawing/2014/main" id="{731ABBA7-EA57-2B8E-77AA-91D8BE5E85B4}"/>
              </a:ext>
            </a:extLst>
          </p:cNvPr>
          <p:cNvSpPr txBox="1">
            <a:spLocks/>
          </p:cNvSpPr>
          <p:nvPr/>
        </p:nvSpPr>
        <p:spPr>
          <a:xfrm>
            <a:off x="102870" y="0"/>
            <a:ext cx="6566765" cy="685943"/>
          </a:xfrm>
          <a:prstGeom prst="rect">
            <a:avLst/>
          </a:prstGeom>
        </p:spPr>
        <p:txBody>
          <a:bodyPr vert="horz" lIns="91440" tIns="45720" rIns="91440" bIns="45720" rtlCol="0" anchor="ctr">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3200" b="1" dirty="0">
                <a:solidFill>
                  <a:srgbClr val="002060"/>
                </a:solidFill>
                <a:latin typeface="Times New Roman" panose="02020603050405020304" pitchFamily="18" charset="0"/>
                <a:cs typeface="Times New Roman" panose="02020603050405020304" pitchFamily="18" charset="0"/>
              </a:rPr>
              <a:t>Proposed Methodology  </a:t>
            </a:r>
          </a:p>
        </p:txBody>
      </p:sp>
      <p:pic>
        <p:nvPicPr>
          <p:cNvPr id="10" name="Picture 9">
            <a:extLst>
              <a:ext uri="{FF2B5EF4-FFF2-40B4-BE49-F238E27FC236}">
                <a16:creationId xmlns:a16="http://schemas.microsoft.com/office/drawing/2014/main" id="{0BE6B61B-4251-D11B-93C4-C1F574D1A798}"/>
              </a:ext>
            </a:extLst>
          </p:cNvPr>
          <p:cNvPicPr>
            <a:picLocks noChangeAspect="1"/>
          </p:cNvPicPr>
          <p:nvPr/>
        </p:nvPicPr>
        <p:blipFill>
          <a:blip r:embed="rId2"/>
          <a:stretch>
            <a:fillRect/>
          </a:stretch>
        </p:blipFill>
        <p:spPr>
          <a:xfrm>
            <a:off x="8366760" y="6001933"/>
            <a:ext cx="4331970" cy="1853705"/>
          </a:xfrm>
          <a:prstGeom prst="rect">
            <a:avLst/>
          </a:prstGeom>
        </p:spPr>
      </p:pic>
      <p:pic>
        <p:nvPicPr>
          <p:cNvPr id="11" name="Picture 10">
            <a:extLst>
              <a:ext uri="{FF2B5EF4-FFF2-40B4-BE49-F238E27FC236}">
                <a16:creationId xmlns:a16="http://schemas.microsoft.com/office/drawing/2014/main" id="{285CDB9B-9F81-EE14-5D03-5D8085F8E035}"/>
              </a:ext>
            </a:extLst>
          </p:cNvPr>
          <p:cNvPicPr>
            <a:picLocks noChangeAspect="1"/>
          </p:cNvPicPr>
          <p:nvPr/>
        </p:nvPicPr>
        <p:blipFill>
          <a:blip r:embed="rId3"/>
          <a:stretch>
            <a:fillRect/>
          </a:stretch>
        </p:blipFill>
        <p:spPr>
          <a:xfrm>
            <a:off x="8766810" y="4640580"/>
            <a:ext cx="3512688" cy="948056"/>
          </a:xfrm>
          <a:prstGeom prst="rect">
            <a:avLst/>
          </a:prstGeom>
        </p:spPr>
      </p:pic>
      <p:pic>
        <p:nvPicPr>
          <p:cNvPr id="12" name="Picture 11">
            <a:extLst>
              <a:ext uri="{FF2B5EF4-FFF2-40B4-BE49-F238E27FC236}">
                <a16:creationId xmlns:a16="http://schemas.microsoft.com/office/drawing/2014/main" id="{87D3BE72-8353-7F36-1584-550D37D0580B}"/>
              </a:ext>
            </a:extLst>
          </p:cNvPr>
          <p:cNvPicPr>
            <a:picLocks noChangeAspect="1"/>
          </p:cNvPicPr>
          <p:nvPr/>
        </p:nvPicPr>
        <p:blipFill>
          <a:blip r:embed="rId4"/>
          <a:stretch>
            <a:fillRect/>
          </a:stretch>
        </p:blipFill>
        <p:spPr>
          <a:xfrm>
            <a:off x="8766810" y="3703551"/>
            <a:ext cx="3512688" cy="948055"/>
          </a:xfrm>
          <a:prstGeom prst="rect">
            <a:avLst/>
          </a:prstGeom>
        </p:spPr>
      </p:pic>
      <p:pic>
        <p:nvPicPr>
          <p:cNvPr id="6146" name="Picture 2" descr="Algorithms I Stanford Online">
            <a:extLst>
              <a:ext uri="{FF2B5EF4-FFF2-40B4-BE49-F238E27FC236}">
                <a16:creationId xmlns:a16="http://schemas.microsoft.com/office/drawing/2014/main" id="{E75C6987-7DE7-7639-0CEA-41FFF041B9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61182" y="990290"/>
            <a:ext cx="2143125" cy="2143125"/>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2">
            <a:extLst>
              <a:ext uri="{FF2B5EF4-FFF2-40B4-BE49-F238E27FC236}">
                <a16:creationId xmlns:a16="http://schemas.microsoft.com/office/drawing/2014/main" id="{2CFA7493-02DE-5B59-0DB3-E1C643CDE3FA}"/>
              </a:ext>
            </a:extLst>
          </p:cNvPr>
          <p:cNvCxnSpPr/>
          <p:nvPr/>
        </p:nvCxnSpPr>
        <p:spPr>
          <a:xfrm>
            <a:off x="4418838" y="3257550"/>
            <a:ext cx="838276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F448FB0-932D-F717-52C9-379405657420}"/>
              </a:ext>
            </a:extLst>
          </p:cNvPr>
          <p:cNvCxnSpPr/>
          <p:nvPr/>
        </p:nvCxnSpPr>
        <p:spPr>
          <a:xfrm>
            <a:off x="4430268" y="5817870"/>
            <a:ext cx="8382762"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2461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136C0-7256-9C27-79B0-83E25D732BA4}"/>
              </a:ext>
            </a:extLst>
          </p:cNvPr>
          <p:cNvSpPr>
            <a:spLocks noGrp="1"/>
          </p:cNvSpPr>
          <p:nvPr>
            <p:ph type="title"/>
          </p:nvPr>
        </p:nvSpPr>
        <p:spPr>
          <a:xfrm>
            <a:off x="274320" y="116220"/>
            <a:ext cx="11041380" cy="673751"/>
          </a:xfrm>
        </p:spPr>
        <p:txBody>
          <a:bodyPr/>
          <a:lstStyle/>
          <a:p>
            <a:r>
              <a:rPr lang="en-US" sz="3200" b="1" dirty="0">
                <a:solidFill>
                  <a:srgbClr val="002060"/>
                </a:solidFill>
                <a:latin typeface="Times New Roman" panose="02020603050405020304" pitchFamily="18" charset="0"/>
                <a:cs typeface="Times New Roman" panose="02020603050405020304" pitchFamily="18" charset="0"/>
              </a:rPr>
              <a:t>Circuit Simulation Diagram</a:t>
            </a:r>
          </a:p>
        </p:txBody>
      </p:sp>
      <p:pic>
        <p:nvPicPr>
          <p:cNvPr id="4" name="Picture 3">
            <a:extLst>
              <a:ext uri="{FF2B5EF4-FFF2-40B4-BE49-F238E27FC236}">
                <a16:creationId xmlns:a16="http://schemas.microsoft.com/office/drawing/2014/main" id="{C5829CE9-1A96-142A-8FDA-80BA5337761A}"/>
              </a:ext>
            </a:extLst>
          </p:cNvPr>
          <p:cNvPicPr>
            <a:picLocks noChangeAspect="1"/>
          </p:cNvPicPr>
          <p:nvPr/>
        </p:nvPicPr>
        <p:blipFill>
          <a:blip r:embed="rId2"/>
          <a:stretch>
            <a:fillRect/>
          </a:stretch>
        </p:blipFill>
        <p:spPr>
          <a:xfrm>
            <a:off x="347650" y="1040130"/>
            <a:ext cx="12151967" cy="6057900"/>
          </a:xfrm>
          <a:prstGeom prst="rect">
            <a:avLst/>
          </a:prstGeom>
        </p:spPr>
      </p:pic>
    </p:spTree>
    <p:extLst>
      <p:ext uri="{BB962C8B-B14F-4D97-AF65-F5344CB8AC3E}">
        <p14:creationId xmlns:p14="http://schemas.microsoft.com/office/powerpoint/2010/main" val="42568892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FE442-167B-9E7B-60E2-210C26A1FB77}"/>
              </a:ext>
            </a:extLst>
          </p:cNvPr>
          <p:cNvSpPr>
            <a:spLocks noGrp="1"/>
          </p:cNvSpPr>
          <p:nvPr>
            <p:ph type="title"/>
          </p:nvPr>
        </p:nvSpPr>
        <p:spPr>
          <a:xfrm>
            <a:off x="0" y="53882"/>
            <a:ext cx="11041380" cy="624983"/>
          </a:xfrm>
        </p:spPr>
        <p:txBody>
          <a:bodyPr>
            <a:noAutofit/>
          </a:bodyPr>
          <a:lstStyle/>
          <a:p>
            <a:r>
              <a:rPr lang="en-US" sz="3200" b="1" dirty="0">
                <a:solidFill>
                  <a:srgbClr val="002060"/>
                </a:solidFill>
                <a:latin typeface="Times New Roman" panose="02020603050405020304" pitchFamily="18" charset="0"/>
                <a:cs typeface="Times New Roman" panose="02020603050405020304" pitchFamily="18" charset="0"/>
              </a:rPr>
              <a:t>Results and Discussion</a:t>
            </a:r>
            <a:endParaRPr lang="en-US" sz="3200" dirty="0"/>
          </a:p>
        </p:txBody>
      </p:sp>
      <p:pic>
        <p:nvPicPr>
          <p:cNvPr id="9" name="Picture 8">
            <a:extLst>
              <a:ext uri="{FF2B5EF4-FFF2-40B4-BE49-F238E27FC236}">
                <a16:creationId xmlns:a16="http://schemas.microsoft.com/office/drawing/2014/main" id="{28C6948C-5D47-A73B-2CD9-30FE16D1EDA4}"/>
              </a:ext>
            </a:extLst>
          </p:cNvPr>
          <p:cNvPicPr>
            <a:picLocks noChangeAspect="1"/>
          </p:cNvPicPr>
          <p:nvPr/>
        </p:nvPicPr>
        <p:blipFill>
          <a:blip r:embed="rId2"/>
          <a:stretch>
            <a:fillRect/>
          </a:stretch>
        </p:blipFill>
        <p:spPr>
          <a:xfrm>
            <a:off x="4583131" y="3288684"/>
            <a:ext cx="3804586" cy="1660447"/>
          </a:xfrm>
          <a:prstGeom prst="rect">
            <a:avLst/>
          </a:prstGeom>
        </p:spPr>
      </p:pic>
      <p:pic>
        <p:nvPicPr>
          <p:cNvPr id="4" name="Picture 3">
            <a:extLst>
              <a:ext uri="{FF2B5EF4-FFF2-40B4-BE49-F238E27FC236}">
                <a16:creationId xmlns:a16="http://schemas.microsoft.com/office/drawing/2014/main" id="{FC8B0CF5-C390-5FD6-3467-C4FAA658C775}"/>
              </a:ext>
            </a:extLst>
          </p:cNvPr>
          <p:cNvPicPr>
            <a:picLocks noChangeAspect="1"/>
          </p:cNvPicPr>
          <p:nvPr/>
        </p:nvPicPr>
        <p:blipFill>
          <a:blip r:embed="rId3"/>
          <a:stretch>
            <a:fillRect/>
          </a:stretch>
        </p:blipFill>
        <p:spPr>
          <a:xfrm>
            <a:off x="211303" y="2151828"/>
            <a:ext cx="3802935" cy="1362762"/>
          </a:xfrm>
          <a:prstGeom prst="rect">
            <a:avLst/>
          </a:prstGeom>
        </p:spPr>
      </p:pic>
      <p:pic>
        <p:nvPicPr>
          <p:cNvPr id="6" name="Picture 5">
            <a:extLst>
              <a:ext uri="{FF2B5EF4-FFF2-40B4-BE49-F238E27FC236}">
                <a16:creationId xmlns:a16="http://schemas.microsoft.com/office/drawing/2014/main" id="{CACAD8B8-940A-2C4E-266C-F53F61F3403E}"/>
              </a:ext>
            </a:extLst>
          </p:cNvPr>
          <p:cNvPicPr>
            <a:picLocks noChangeAspect="1"/>
          </p:cNvPicPr>
          <p:nvPr/>
        </p:nvPicPr>
        <p:blipFill>
          <a:blip r:embed="rId4"/>
          <a:stretch>
            <a:fillRect/>
          </a:stretch>
        </p:blipFill>
        <p:spPr>
          <a:xfrm>
            <a:off x="4364030" y="382774"/>
            <a:ext cx="3368120" cy="1828567"/>
          </a:xfrm>
          <a:prstGeom prst="rect">
            <a:avLst/>
          </a:prstGeom>
        </p:spPr>
      </p:pic>
      <p:pic>
        <p:nvPicPr>
          <p:cNvPr id="8" name="Picture 7">
            <a:extLst>
              <a:ext uri="{FF2B5EF4-FFF2-40B4-BE49-F238E27FC236}">
                <a16:creationId xmlns:a16="http://schemas.microsoft.com/office/drawing/2014/main" id="{CEEE5395-BDC9-7D1B-8C69-92260C8282A9}"/>
              </a:ext>
            </a:extLst>
          </p:cNvPr>
          <p:cNvPicPr>
            <a:picLocks noChangeAspect="1"/>
          </p:cNvPicPr>
          <p:nvPr/>
        </p:nvPicPr>
        <p:blipFill>
          <a:blip r:embed="rId5"/>
          <a:stretch>
            <a:fillRect/>
          </a:stretch>
        </p:blipFill>
        <p:spPr>
          <a:xfrm>
            <a:off x="7991107" y="212838"/>
            <a:ext cx="3368120" cy="2093696"/>
          </a:xfrm>
          <a:prstGeom prst="rect">
            <a:avLst/>
          </a:prstGeom>
        </p:spPr>
      </p:pic>
      <p:pic>
        <p:nvPicPr>
          <p:cNvPr id="11" name="Picture 10">
            <a:extLst>
              <a:ext uri="{FF2B5EF4-FFF2-40B4-BE49-F238E27FC236}">
                <a16:creationId xmlns:a16="http://schemas.microsoft.com/office/drawing/2014/main" id="{5FB2289B-A0E6-8076-CB22-F3796CC91C40}"/>
              </a:ext>
            </a:extLst>
          </p:cNvPr>
          <p:cNvPicPr>
            <a:picLocks noChangeAspect="1"/>
          </p:cNvPicPr>
          <p:nvPr/>
        </p:nvPicPr>
        <p:blipFill>
          <a:blip r:embed="rId6"/>
          <a:stretch>
            <a:fillRect/>
          </a:stretch>
        </p:blipFill>
        <p:spPr>
          <a:xfrm>
            <a:off x="9626035" y="2787230"/>
            <a:ext cx="2857971" cy="1468713"/>
          </a:xfrm>
          <a:prstGeom prst="rect">
            <a:avLst/>
          </a:prstGeom>
        </p:spPr>
      </p:pic>
      <p:pic>
        <p:nvPicPr>
          <p:cNvPr id="13" name="Picture 12">
            <a:extLst>
              <a:ext uri="{FF2B5EF4-FFF2-40B4-BE49-F238E27FC236}">
                <a16:creationId xmlns:a16="http://schemas.microsoft.com/office/drawing/2014/main" id="{E7A58006-FCD4-ADA4-2AC4-33042EEDD38B}"/>
              </a:ext>
            </a:extLst>
          </p:cNvPr>
          <p:cNvPicPr>
            <a:picLocks noChangeAspect="1"/>
          </p:cNvPicPr>
          <p:nvPr/>
        </p:nvPicPr>
        <p:blipFill>
          <a:blip r:embed="rId7"/>
          <a:stretch>
            <a:fillRect/>
          </a:stretch>
        </p:blipFill>
        <p:spPr>
          <a:xfrm>
            <a:off x="9099921" y="4915964"/>
            <a:ext cx="3457611" cy="1905566"/>
          </a:xfrm>
          <a:prstGeom prst="rect">
            <a:avLst/>
          </a:prstGeom>
        </p:spPr>
      </p:pic>
      <p:pic>
        <p:nvPicPr>
          <p:cNvPr id="15" name="Picture 14">
            <a:extLst>
              <a:ext uri="{FF2B5EF4-FFF2-40B4-BE49-F238E27FC236}">
                <a16:creationId xmlns:a16="http://schemas.microsoft.com/office/drawing/2014/main" id="{E7793EF0-4045-B009-FE8B-65266A4F09AF}"/>
              </a:ext>
            </a:extLst>
          </p:cNvPr>
          <p:cNvPicPr>
            <a:picLocks noChangeAspect="1"/>
          </p:cNvPicPr>
          <p:nvPr/>
        </p:nvPicPr>
        <p:blipFill>
          <a:blip r:embed="rId8"/>
          <a:stretch>
            <a:fillRect/>
          </a:stretch>
        </p:blipFill>
        <p:spPr>
          <a:xfrm>
            <a:off x="156314" y="4230426"/>
            <a:ext cx="3802936" cy="1899081"/>
          </a:xfrm>
          <a:prstGeom prst="rect">
            <a:avLst/>
          </a:prstGeom>
        </p:spPr>
      </p:pic>
      <p:pic>
        <p:nvPicPr>
          <p:cNvPr id="16" name="Picture 20" descr="Node-Red Dashboard 2.0 - Default start ...">
            <a:extLst>
              <a:ext uri="{FF2B5EF4-FFF2-40B4-BE49-F238E27FC236}">
                <a16:creationId xmlns:a16="http://schemas.microsoft.com/office/drawing/2014/main" id="{188BA3AE-C2AB-4A63-D06D-584FEADF4C9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91011" y="5940394"/>
            <a:ext cx="3168086" cy="176559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171D4981-52B9-4046-26EC-01FDDB6DF72C}"/>
              </a:ext>
            </a:extLst>
          </p:cNvPr>
          <p:cNvPicPr>
            <a:picLocks noChangeAspect="1"/>
          </p:cNvPicPr>
          <p:nvPr/>
        </p:nvPicPr>
        <p:blipFill>
          <a:blip r:embed="rId10"/>
          <a:stretch>
            <a:fillRect/>
          </a:stretch>
        </p:blipFill>
        <p:spPr>
          <a:xfrm>
            <a:off x="801493" y="6650003"/>
            <a:ext cx="3690417" cy="1073705"/>
          </a:xfrm>
          <a:prstGeom prst="rect">
            <a:avLst/>
          </a:prstGeom>
        </p:spPr>
      </p:pic>
      <p:sp>
        <p:nvSpPr>
          <p:cNvPr id="19" name="Rectangle 18">
            <a:extLst>
              <a:ext uri="{FF2B5EF4-FFF2-40B4-BE49-F238E27FC236}">
                <a16:creationId xmlns:a16="http://schemas.microsoft.com/office/drawing/2014/main" id="{19129329-C8CE-D6A5-39F4-9ADAC8C94446}"/>
              </a:ext>
            </a:extLst>
          </p:cNvPr>
          <p:cNvSpPr/>
          <p:nvPr/>
        </p:nvSpPr>
        <p:spPr>
          <a:xfrm>
            <a:off x="4506572" y="3085559"/>
            <a:ext cx="3957705" cy="1863572"/>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B19DC45-99BA-FA72-A52B-DFFBF36023E0}"/>
              </a:ext>
            </a:extLst>
          </p:cNvPr>
          <p:cNvSpPr/>
          <p:nvPr/>
        </p:nvSpPr>
        <p:spPr>
          <a:xfrm>
            <a:off x="4457060" y="382774"/>
            <a:ext cx="3368120" cy="1863572"/>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2D7D2AD-73EB-7819-5091-0DB62730CAE1}"/>
              </a:ext>
            </a:extLst>
          </p:cNvPr>
          <p:cNvSpPr/>
          <p:nvPr/>
        </p:nvSpPr>
        <p:spPr>
          <a:xfrm>
            <a:off x="8322962" y="127218"/>
            <a:ext cx="3036265" cy="2165039"/>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6B6C980-5BB8-B6F4-C28F-422AE62A1020}"/>
              </a:ext>
            </a:extLst>
          </p:cNvPr>
          <p:cNvSpPr/>
          <p:nvPr/>
        </p:nvSpPr>
        <p:spPr>
          <a:xfrm>
            <a:off x="9523247" y="2701611"/>
            <a:ext cx="3036265" cy="169970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39C4FD6-378B-3BBA-FD2D-7F072BF76A61}"/>
              </a:ext>
            </a:extLst>
          </p:cNvPr>
          <p:cNvSpPr/>
          <p:nvPr/>
        </p:nvSpPr>
        <p:spPr>
          <a:xfrm>
            <a:off x="9024057" y="4796389"/>
            <a:ext cx="3667815" cy="2158003"/>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D8C3766-AA56-6243-FDB3-4DDB4842FCA8}"/>
              </a:ext>
            </a:extLst>
          </p:cNvPr>
          <p:cNvSpPr/>
          <p:nvPr/>
        </p:nvSpPr>
        <p:spPr>
          <a:xfrm>
            <a:off x="5120640" y="5824649"/>
            <a:ext cx="3426212" cy="2014578"/>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ADCEA88-CCAB-1E17-CD95-BCE5133DAAE7}"/>
              </a:ext>
            </a:extLst>
          </p:cNvPr>
          <p:cNvSpPr/>
          <p:nvPr/>
        </p:nvSpPr>
        <p:spPr>
          <a:xfrm>
            <a:off x="743115" y="6650003"/>
            <a:ext cx="3802934" cy="1189224"/>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0610E37-6CEA-9C67-2B84-B8A3338B214B}"/>
              </a:ext>
            </a:extLst>
          </p:cNvPr>
          <p:cNvSpPr/>
          <p:nvPr/>
        </p:nvSpPr>
        <p:spPr>
          <a:xfrm>
            <a:off x="123295" y="4120203"/>
            <a:ext cx="3957705" cy="215248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AA38AA-12F5-F10F-2EEF-70711B58D6D5}"/>
              </a:ext>
            </a:extLst>
          </p:cNvPr>
          <p:cNvSpPr/>
          <p:nvPr/>
        </p:nvSpPr>
        <p:spPr>
          <a:xfrm>
            <a:off x="156313" y="2092928"/>
            <a:ext cx="3824745" cy="1585022"/>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Curved Down 27">
            <a:extLst>
              <a:ext uri="{FF2B5EF4-FFF2-40B4-BE49-F238E27FC236}">
                <a16:creationId xmlns:a16="http://schemas.microsoft.com/office/drawing/2014/main" id="{00B56EA8-F3C5-85D2-44B2-CB2327FE3B99}"/>
              </a:ext>
            </a:extLst>
          </p:cNvPr>
          <p:cNvSpPr/>
          <p:nvPr/>
        </p:nvSpPr>
        <p:spPr>
          <a:xfrm rot="19967961">
            <a:off x="1840885" y="999224"/>
            <a:ext cx="2653006" cy="411077"/>
          </a:xfrm>
          <a:prstGeom prst="curvedDown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Arrow: Striped Right 29">
            <a:extLst>
              <a:ext uri="{FF2B5EF4-FFF2-40B4-BE49-F238E27FC236}">
                <a16:creationId xmlns:a16="http://schemas.microsoft.com/office/drawing/2014/main" id="{77419274-6E5C-5F54-4F34-11EF8773E135}"/>
              </a:ext>
            </a:extLst>
          </p:cNvPr>
          <p:cNvSpPr/>
          <p:nvPr/>
        </p:nvSpPr>
        <p:spPr>
          <a:xfrm>
            <a:off x="7825180" y="1194816"/>
            <a:ext cx="476000" cy="158496"/>
          </a:xfrm>
          <a:prstGeom prst="stripedRigh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Curved Down 30">
            <a:extLst>
              <a:ext uri="{FF2B5EF4-FFF2-40B4-BE49-F238E27FC236}">
                <a16:creationId xmlns:a16="http://schemas.microsoft.com/office/drawing/2014/main" id="{6F507F98-4F8C-FB7B-B683-134602882A5E}"/>
              </a:ext>
            </a:extLst>
          </p:cNvPr>
          <p:cNvSpPr/>
          <p:nvPr/>
        </p:nvSpPr>
        <p:spPr>
          <a:xfrm rot="3899755">
            <a:off x="11145790" y="1380188"/>
            <a:ext cx="1932493" cy="686794"/>
          </a:xfrm>
          <a:prstGeom prst="curvedDownArrow">
            <a:avLst>
              <a:gd name="adj1" fmla="val 25000"/>
              <a:gd name="adj2" fmla="val 50000"/>
              <a:gd name="adj3" fmla="val 42603"/>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2" name="Arrow: Down 31">
            <a:extLst>
              <a:ext uri="{FF2B5EF4-FFF2-40B4-BE49-F238E27FC236}">
                <a16:creationId xmlns:a16="http://schemas.microsoft.com/office/drawing/2014/main" id="{20F93390-1549-9218-DFAC-9C68812F041A}"/>
              </a:ext>
            </a:extLst>
          </p:cNvPr>
          <p:cNvSpPr/>
          <p:nvPr/>
        </p:nvSpPr>
        <p:spPr>
          <a:xfrm>
            <a:off x="10857964" y="4448069"/>
            <a:ext cx="199645" cy="323735"/>
          </a:xfrm>
          <a:prstGeom prst="down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Arrow: Curved Down 32">
            <a:extLst>
              <a:ext uri="{FF2B5EF4-FFF2-40B4-BE49-F238E27FC236}">
                <a16:creationId xmlns:a16="http://schemas.microsoft.com/office/drawing/2014/main" id="{3B4D2F86-4FA0-8160-1F08-EA1A4FD5D120}"/>
              </a:ext>
            </a:extLst>
          </p:cNvPr>
          <p:cNvSpPr/>
          <p:nvPr/>
        </p:nvSpPr>
        <p:spPr>
          <a:xfrm rot="10171270">
            <a:off x="8560539" y="7220618"/>
            <a:ext cx="2364894" cy="486055"/>
          </a:xfrm>
          <a:prstGeom prst="curvedDownArrow">
            <a:avLst>
              <a:gd name="adj1" fmla="val 25000"/>
              <a:gd name="adj2" fmla="val 50000"/>
              <a:gd name="adj3" fmla="val 24828"/>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Arrow: Left 33">
            <a:extLst>
              <a:ext uri="{FF2B5EF4-FFF2-40B4-BE49-F238E27FC236}">
                <a16:creationId xmlns:a16="http://schemas.microsoft.com/office/drawing/2014/main" id="{48BD2E41-42C2-0CD4-EA6B-A5279B447D93}"/>
              </a:ext>
            </a:extLst>
          </p:cNvPr>
          <p:cNvSpPr/>
          <p:nvPr/>
        </p:nvSpPr>
        <p:spPr>
          <a:xfrm>
            <a:off x="4623011" y="7217664"/>
            <a:ext cx="409874" cy="170688"/>
          </a:xfrm>
          <a:prstGeom prst="left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Arrow: Up 34">
            <a:extLst>
              <a:ext uri="{FF2B5EF4-FFF2-40B4-BE49-F238E27FC236}">
                <a16:creationId xmlns:a16="http://schemas.microsoft.com/office/drawing/2014/main" id="{4F911963-81E1-B021-255E-AEB4473BB47E}"/>
              </a:ext>
            </a:extLst>
          </p:cNvPr>
          <p:cNvSpPr/>
          <p:nvPr/>
        </p:nvSpPr>
        <p:spPr>
          <a:xfrm>
            <a:off x="1893628" y="6272684"/>
            <a:ext cx="215588" cy="377319"/>
          </a:xfrm>
          <a:prstGeom prst="upArrow">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Arrow: Up 36">
            <a:extLst>
              <a:ext uri="{FF2B5EF4-FFF2-40B4-BE49-F238E27FC236}">
                <a16:creationId xmlns:a16="http://schemas.microsoft.com/office/drawing/2014/main" id="{947FB31B-54D6-82F6-8698-F601287C5626}"/>
              </a:ext>
            </a:extLst>
          </p:cNvPr>
          <p:cNvSpPr/>
          <p:nvPr/>
        </p:nvSpPr>
        <p:spPr>
          <a:xfrm>
            <a:off x="6266739" y="2309175"/>
            <a:ext cx="268121" cy="643148"/>
          </a:xfrm>
          <a:prstGeom prst="up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Arrow: Up 37">
            <a:extLst>
              <a:ext uri="{FF2B5EF4-FFF2-40B4-BE49-F238E27FC236}">
                <a16:creationId xmlns:a16="http://schemas.microsoft.com/office/drawing/2014/main" id="{DD568C59-C225-E01F-EDE0-04BC1B7D9F2A}"/>
              </a:ext>
            </a:extLst>
          </p:cNvPr>
          <p:cNvSpPr/>
          <p:nvPr/>
        </p:nvSpPr>
        <p:spPr>
          <a:xfrm rot="1883253">
            <a:off x="8512118" y="2391681"/>
            <a:ext cx="216475" cy="642808"/>
          </a:xfrm>
          <a:prstGeom prst="up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Arrow: Up 38">
            <a:extLst>
              <a:ext uri="{FF2B5EF4-FFF2-40B4-BE49-F238E27FC236}">
                <a16:creationId xmlns:a16="http://schemas.microsoft.com/office/drawing/2014/main" id="{071A0719-1E81-EA0E-CD1E-2360FE41D31B}"/>
              </a:ext>
            </a:extLst>
          </p:cNvPr>
          <p:cNvSpPr/>
          <p:nvPr/>
        </p:nvSpPr>
        <p:spPr>
          <a:xfrm rot="5400000">
            <a:off x="8903591" y="3217794"/>
            <a:ext cx="208065" cy="878125"/>
          </a:xfrm>
          <a:prstGeom prst="up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Arrow: Up 39">
            <a:extLst>
              <a:ext uri="{FF2B5EF4-FFF2-40B4-BE49-F238E27FC236}">
                <a16:creationId xmlns:a16="http://schemas.microsoft.com/office/drawing/2014/main" id="{F454B05B-E969-2F6E-3A5B-62895792405B}"/>
              </a:ext>
            </a:extLst>
          </p:cNvPr>
          <p:cNvSpPr/>
          <p:nvPr/>
        </p:nvSpPr>
        <p:spPr>
          <a:xfrm rot="6801591">
            <a:off x="8626814" y="4703851"/>
            <a:ext cx="246171" cy="459824"/>
          </a:xfrm>
          <a:prstGeom prst="up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Arrow: Up 40">
            <a:extLst>
              <a:ext uri="{FF2B5EF4-FFF2-40B4-BE49-F238E27FC236}">
                <a16:creationId xmlns:a16="http://schemas.microsoft.com/office/drawing/2014/main" id="{54F0E6DB-05BE-478E-F680-050373196C7A}"/>
              </a:ext>
            </a:extLst>
          </p:cNvPr>
          <p:cNvSpPr/>
          <p:nvPr/>
        </p:nvSpPr>
        <p:spPr>
          <a:xfrm rot="10800000">
            <a:off x="6641835" y="5047215"/>
            <a:ext cx="314996" cy="588643"/>
          </a:xfrm>
          <a:prstGeom prst="up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Arrow: Left 41">
            <a:extLst>
              <a:ext uri="{FF2B5EF4-FFF2-40B4-BE49-F238E27FC236}">
                <a16:creationId xmlns:a16="http://schemas.microsoft.com/office/drawing/2014/main" id="{C012D4DA-E648-FE6A-DFEE-B24C30D5D771}"/>
              </a:ext>
            </a:extLst>
          </p:cNvPr>
          <p:cNvSpPr/>
          <p:nvPr/>
        </p:nvSpPr>
        <p:spPr>
          <a:xfrm>
            <a:off x="4114019" y="4401312"/>
            <a:ext cx="327018" cy="182880"/>
          </a:xfrm>
          <a:prstGeom prst="left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Arrow: Left 42">
            <a:extLst>
              <a:ext uri="{FF2B5EF4-FFF2-40B4-BE49-F238E27FC236}">
                <a16:creationId xmlns:a16="http://schemas.microsoft.com/office/drawing/2014/main" id="{C67B1776-4C0E-B2DB-EBEA-21CBD0E2EF0E}"/>
              </a:ext>
            </a:extLst>
          </p:cNvPr>
          <p:cNvSpPr/>
          <p:nvPr/>
        </p:nvSpPr>
        <p:spPr>
          <a:xfrm rot="1300997">
            <a:off x="4020178" y="2862425"/>
            <a:ext cx="443334" cy="246507"/>
          </a:xfrm>
          <a:prstGeom prst="left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72C0B0DE-6BF7-EF95-8EDC-F611C78B66FE}"/>
              </a:ext>
            </a:extLst>
          </p:cNvPr>
          <p:cNvSpPr txBox="1"/>
          <p:nvPr/>
        </p:nvSpPr>
        <p:spPr>
          <a:xfrm>
            <a:off x="5299721" y="4607679"/>
            <a:ext cx="2371405" cy="383182"/>
          </a:xfrm>
          <a:prstGeom prst="rect">
            <a:avLst/>
          </a:prstGeom>
          <a:noFill/>
        </p:spPr>
        <p:txBody>
          <a:bodyPr wrap="square" rtlCol="0">
            <a:spAutoFit/>
          </a:bodyPr>
          <a:lstStyle/>
          <a:p>
            <a:pPr algn="ctr"/>
            <a:r>
              <a:rPr lang="en-US" sz="1890" b="1" dirty="0">
                <a:highlight>
                  <a:srgbClr val="FFFF00"/>
                </a:highlight>
              </a:rPr>
              <a:t>Model Simulation</a:t>
            </a:r>
          </a:p>
        </p:txBody>
      </p:sp>
      <p:sp>
        <p:nvSpPr>
          <p:cNvPr id="45" name="TextBox 44">
            <a:extLst>
              <a:ext uri="{FF2B5EF4-FFF2-40B4-BE49-F238E27FC236}">
                <a16:creationId xmlns:a16="http://schemas.microsoft.com/office/drawing/2014/main" id="{DD8B8ED2-9F13-3975-A13A-48C7EBD05B30}"/>
              </a:ext>
            </a:extLst>
          </p:cNvPr>
          <p:cNvSpPr txBox="1"/>
          <p:nvPr/>
        </p:nvSpPr>
        <p:spPr>
          <a:xfrm>
            <a:off x="9893548" y="7196761"/>
            <a:ext cx="2371405" cy="383182"/>
          </a:xfrm>
          <a:prstGeom prst="rect">
            <a:avLst/>
          </a:prstGeom>
          <a:noFill/>
        </p:spPr>
        <p:txBody>
          <a:bodyPr wrap="square" rtlCol="0">
            <a:spAutoFit/>
          </a:bodyPr>
          <a:lstStyle/>
          <a:p>
            <a:pPr algn="ctr"/>
            <a:r>
              <a:rPr lang="en-US" sz="1890" b="1" dirty="0">
                <a:highlight>
                  <a:srgbClr val="FFFF00"/>
                </a:highlight>
              </a:rPr>
              <a:t>Model Simulation</a:t>
            </a:r>
          </a:p>
        </p:txBody>
      </p:sp>
      <p:sp>
        <p:nvSpPr>
          <p:cNvPr id="46" name="TextBox 45">
            <a:extLst>
              <a:ext uri="{FF2B5EF4-FFF2-40B4-BE49-F238E27FC236}">
                <a16:creationId xmlns:a16="http://schemas.microsoft.com/office/drawing/2014/main" id="{20F601F5-5D95-9639-D8B5-17E89D54432B}"/>
              </a:ext>
            </a:extLst>
          </p:cNvPr>
          <p:cNvSpPr txBox="1"/>
          <p:nvPr/>
        </p:nvSpPr>
        <p:spPr>
          <a:xfrm>
            <a:off x="10637971" y="3997536"/>
            <a:ext cx="2371405" cy="383182"/>
          </a:xfrm>
          <a:prstGeom prst="rect">
            <a:avLst/>
          </a:prstGeom>
          <a:noFill/>
        </p:spPr>
        <p:txBody>
          <a:bodyPr wrap="square" rtlCol="0">
            <a:spAutoFit/>
          </a:bodyPr>
          <a:lstStyle/>
          <a:p>
            <a:pPr algn="ctr"/>
            <a:r>
              <a:rPr lang="en-US" sz="1890" b="1" dirty="0">
                <a:highlight>
                  <a:srgbClr val="FFFF00"/>
                </a:highlight>
              </a:rPr>
              <a:t>Algorithms</a:t>
            </a:r>
          </a:p>
        </p:txBody>
      </p:sp>
      <p:sp>
        <p:nvSpPr>
          <p:cNvPr id="47" name="TextBox 46">
            <a:extLst>
              <a:ext uri="{FF2B5EF4-FFF2-40B4-BE49-F238E27FC236}">
                <a16:creationId xmlns:a16="http://schemas.microsoft.com/office/drawing/2014/main" id="{927D1F02-9345-C7EC-2119-40D8DDBB17AF}"/>
              </a:ext>
            </a:extLst>
          </p:cNvPr>
          <p:cNvSpPr txBox="1"/>
          <p:nvPr/>
        </p:nvSpPr>
        <p:spPr>
          <a:xfrm>
            <a:off x="9764210" y="137031"/>
            <a:ext cx="2371405" cy="383182"/>
          </a:xfrm>
          <a:prstGeom prst="rect">
            <a:avLst/>
          </a:prstGeom>
          <a:noFill/>
        </p:spPr>
        <p:txBody>
          <a:bodyPr wrap="square" rtlCol="0">
            <a:spAutoFit/>
          </a:bodyPr>
          <a:lstStyle/>
          <a:p>
            <a:pPr algn="ctr"/>
            <a:r>
              <a:rPr lang="en-US" sz="1890" b="1" dirty="0">
                <a:highlight>
                  <a:srgbClr val="FFFF00"/>
                </a:highlight>
              </a:rPr>
              <a:t>PCC</a:t>
            </a:r>
          </a:p>
        </p:txBody>
      </p:sp>
      <p:sp>
        <p:nvSpPr>
          <p:cNvPr id="48" name="TextBox 47">
            <a:extLst>
              <a:ext uri="{FF2B5EF4-FFF2-40B4-BE49-F238E27FC236}">
                <a16:creationId xmlns:a16="http://schemas.microsoft.com/office/drawing/2014/main" id="{A748643B-DE6E-A618-D1F3-E7B1C1CFF1B0}"/>
              </a:ext>
            </a:extLst>
          </p:cNvPr>
          <p:cNvSpPr txBox="1"/>
          <p:nvPr/>
        </p:nvSpPr>
        <p:spPr>
          <a:xfrm>
            <a:off x="3897222" y="1814778"/>
            <a:ext cx="2371405" cy="383182"/>
          </a:xfrm>
          <a:prstGeom prst="rect">
            <a:avLst/>
          </a:prstGeom>
          <a:noFill/>
        </p:spPr>
        <p:txBody>
          <a:bodyPr wrap="square" rtlCol="0">
            <a:spAutoFit/>
          </a:bodyPr>
          <a:lstStyle/>
          <a:p>
            <a:pPr algn="ctr"/>
            <a:r>
              <a:rPr lang="en-US" sz="1890" b="1" dirty="0">
                <a:highlight>
                  <a:srgbClr val="FFFF00"/>
                </a:highlight>
              </a:rPr>
              <a:t>PCC Cycle</a:t>
            </a:r>
          </a:p>
        </p:txBody>
      </p:sp>
      <p:sp>
        <p:nvSpPr>
          <p:cNvPr id="49" name="TextBox 48">
            <a:extLst>
              <a:ext uri="{FF2B5EF4-FFF2-40B4-BE49-F238E27FC236}">
                <a16:creationId xmlns:a16="http://schemas.microsoft.com/office/drawing/2014/main" id="{42401244-F5E7-6E0B-6AE5-7353BD294CFD}"/>
              </a:ext>
            </a:extLst>
          </p:cNvPr>
          <p:cNvSpPr txBox="1"/>
          <p:nvPr/>
        </p:nvSpPr>
        <p:spPr>
          <a:xfrm>
            <a:off x="2895297" y="7074267"/>
            <a:ext cx="2371405" cy="383182"/>
          </a:xfrm>
          <a:prstGeom prst="rect">
            <a:avLst/>
          </a:prstGeom>
          <a:noFill/>
        </p:spPr>
        <p:txBody>
          <a:bodyPr wrap="square" rtlCol="0">
            <a:spAutoFit/>
          </a:bodyPr>
          <a:lstStyle/>
          <a:p>
            <a:pPr algn="ctr"/>
            <a:r>
              <a:rPr lang="en-US" sz="1890" b="1" dirty="0">
                <a:highlight>
                  <a:srgbClr val="FFFF00"/>
                </a:highlight>
              </a:rPr>
              <a:t>Cloud</a:t>
            </a:r>
          </a:p>
        </p:txBody>
      </p:sp>
      <p:sp>
        <p:nvSpPr>
          <p:cNvPr id="50" name="TextBox 49">
            <a:extLst>
              <a:ext uri="{FF2B5EF4-FFF2-40B4-BE49-F238E27FC236}">
                <a16:creationId xmlns:a16="http://schemas.microsoft.com/office/drawing/2014/main" id="{B36D4EC3-6353-5CEF-C327-F0E85EFB0621}"/>
              </a:ext>
            </a:extLst>
          </p:cNvPr>
          <p:cNvSpPr txBox="1"/>
          <p:nvPr/>
        </p:nvSpPr>
        <p:spPr>
          <a:xfrm>
            <a:off x="6546447" y="7428450"/>
            <a:ext cx="2371405" cy="383182"/>
          </a:xfrm>
          <a:prstGeom prst="rect">
            <a:avLst/>
          </a:prstGeom>
          <a:noFill/>
        </p:spPr>
        <p:txBody>
          <a:bodyPr wrap="square" rtlCol="0">
            <a:spAutoFit/>
          </a:bodyPr>
          <a:lstStyle/>
          <a:p>
            <a:pPr algn="ctr"/>
            <a:r>
              <a:rPr lang="en-US" sz="1890" b="1" dirty="0">
                <a:highlight>
                  <a:srgbClr val="FFFF00"/>
                </a:highlight>
              </a:rPr>
              <a:t>Visualization </a:t>
            </a:r>
          </a:p>
        </p:txBody>
      </p:sp>
      <p:sp>
        <p:nvSpPr>
          <p:cNvPr id="51" name="TextBox 50">
            <a:extLst>
              <a:ext uri="{FF2B5EF4-FFF2-40B4-BE49-F238E27FC236}">
                <a16:creationId xmlns:a16="http://schemas.microsoft.com/office/drawing/2014/main" id="{050A7480-BED1-9716-D2D6-FF690682241F}"/>
              </a:ext>
            </a:extLst>
          </p:cNvPr>
          <p:cNvSpPr txBox="1"/>
          <p:nvPr/>
        </p:nvSpPr>
        <p:spPr>
          <a:xfrm>
            <a:off x="8557283" y="6594662"/>
            <a:ext cx="2371405" cy="383182"/>
          </a:xfrm>
          <a:prstGeom prst="rect">
            <a:avLst/>
          </a:prstGeom>
          <a:noFill/>
        </p:spPr>
        <p:txBody>
          <a:bodyPr wrap="square" rtlCol="0">
            <a:spAutoFit/>
          </a:bodyPr>
          <a:lstStyle/>
          <a:p>
            <a:pPr algn="ctr"/>
            <a:r>
              <a:rPr lang="en-US" sz="1890" b="1" dirty="0">
                <a:highlight>
                  <a:srgbClr val="FFFF00"/>
                </a:highlight>
              </a:rPr>
              <a:t>Monitoring</a:t>
            </a:r>
          </a:p>
        </p:txBody>
      </p:sp>
      <p:sp>
        <p:nvSpPr>
          <p:cNvPr id="52" name="TextBox 51">
            <a:extLst>
              <a:ext uri="{FF2B5EF4-FFF2-40B4-BE49-F238E27FC236}">
                <a16:creationId xmlns:a16="http://schemas.microsoft.com/office/drawing/2014/main" id="{88FA7F4A-5833-552D-6D17-67E18403B88A}"/>
              </a:ext>
            </a:extLst>
          </p:cNvPr>
          <p:cNvSpPr txBox="1"/>
          <p:nvPr/>
        </p:nvSpPr>
        <p:spPr>
          <a:xfrm>
            <a:off x="2251606" y="5887222"/>
            <a:ext cx="2371405" cy="383182"/>
          </a:xfrm>
          <a:prstGeom prst="rect">
            <a:avLst/>
          </a:prstGeom>
          <a:noFill/>
        </p:spPr>
        <p:txBody>
          <a:bodyPr wrap="square" rtlCol="0">
            <a:spAutoFit/>
          </a:bodyPr>
          <a:lstStyle/>
          <a:p>
            <a:pPr algn="ctr"/>
            <a:r>
              <a:rPr lang="en-US" sz="1890" b="1" dirty="0">
                <a:highlight>
                  <a:srgbClr val="FFFF00"/>
                </a:highlight>
              </a:rPr>
              <a:t>Estimation</a:t>
            </a:r>
          </a:p>
        </p:txBody>
      </p:sp>
      <p:sp>
        <p:nvSpPr>
          <p:cNvPr id="3" name="TextBox 2">
            <a:extLst>
              <a:ext uri="{FF2B5EF4-FFF2-40B4-BE49-F238E27FC236}">
                <a16:creationId xmlns:a16="http://schemas.microsoft.com/office/drawing/2014/main" id="{9B8B3783-9288-89E8-3A8E-4652CCE54B80}"/>
              </a:ext>
            </a:extLst>
          </p:cNvPr>
          <p:cNvSpPr txBox="1"/>
          <p:nvPr/>
        </p:nvSpPr>
        <p:spPr>
          <a:xfrm>
            <a:off x="52029" y="3320068"/>
            <a:ext cx="3224226" cy="383182"/>
          </a:xfrm>
          <a:prstGeom prst="rect">
            <a:avLst/>
          </a:prstGeom>
          <a:noFill/>
        </p:spPr>
        <p:txBody>
          <a:bodyPr wrap="square" rtlCol="0">
            <a:spAutoFit/>
          </a:bodyPr>
          <a:lstStyle/>
          <a:p>
            <a:pPr algn="ctr"/>
            <a:r>
              <a:rPr lang="en-US" sz="1890" b="1" dirty="0">
                <a:highlight>
                  <a:srgbClr val="FFFF00"/>
                </a:highlight>
              </a:rPr>
              <a:t>Integration &amp; Automation</a:t>
            </a:r>
          </a:p>
        </p:txBody>
      </p:sp>
    </p:spTree>
    <p:extLst>
      <p:ext uri="{BB962C8B-B14F-4D97-AF65-F5344CB8AC3E}">
        <p14:creationId xmlns:p14="http://schemas.microsoft.com/office/powerpoint/2010/main" val="24200538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4F80AB6-76E7-3C97-9787-A90469E59048}"/>
              </a:ext>
            </a:extLst>
          </p:cNvPr>
          <p:cNvSpPr txBox="1">
            <a:spLocks/>
          </p:cNvSpPr>
          <p:nvPr/>
        </p:nvSpPr>
        <p:spPr>
          <a:xfrm>
            <a:off x="102870" y="0"/>
            <a:ext cx="6566765" cy="685943"/>
          </a:xfrm>
          <a:prstGeom prst="rect">
            <a:avLst/>
          </a:prstGeom>
        </p:spPr>
        <p:txBody>
          <a:bodyPr vert="horz" lIns="91440" tIns="45720" rIns="91440" bIns="45720" rtlCol="0" anchor="ctr">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3200" b="1" dirty="0">
                <a:solidFill>
                  <a:srgbClr val="002060"/>
                </a:solidFill>
                <a:latin typeface="Times New Roman" panose="02020603050405020304" pitchFamily="18" charset="0"/>
                <a:cs typeface="Times New Roman" panose="02020603050405020304" pitchFamily="18" charset="0"/>
              </a:rPr>
              <a:t>Present on going Works</a:t>
            </a:r>
          </a:p>
        </p:txBody>
      </p:sp>
      <p:sp>
        <p:nvSpPr>
          <p:cNvPr id="2" name="Rectangle: Rounded Corners 1">
            <a:extLst>
              <a:ext uri="{FF2B5EF4-FFF2-40B4-BE49-F238E27FC236}">
                <a16:creationId xmlns:a16="http://schemas.microsoft.com/office/drawing/2014/main" id="{DECE77BD-371C-BECE-A688-DC59E806EBE2}"/>
              </a:ext>
            </a:extLst>
          </p:cNvPr>
          <p:cNvSpPr/>
          <p:nvPr/>
        </p:nvSpPr>
        <p:spPr>
          <a:xfrm>
            <a:off x="309753" y="777240"/>
            <a:ext cx="6822568" cy="1905001"/>
          </a:xfrm>
          <a:prstGeom prst="roundRect">
            <a:avLst>
              <a:gd name="adj" fmla="val 6266"/>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l">
              <a:lnSpc>
                <a:spcPct val="200000"/>
              </a:lnSpc>
            </a:pPr>
            <a:r>
              <a:rPr lang="en-US" sz="2000" b="1" dirty="0">
                <a:solidFill>
                  <a:srgbClr val="FFFF00"/>
                </a:solidFill>
                <a:latin typeface="Times New Roman" panose="02020603050405020304" pitchFamily="18" charset="0"/>
                <a:cs typeface="Times New Roman" panose="02020603050405020304" pitchFamily="18" charset="0"/>
              </a:rPr>
              <a:t>Developing Codes for H/W micro controllers – in Simulators</a:t>
            </a:r>
          </a:p>
          <a:p>
            <a:pPr lvl="0" algn="l">
              <a:lnSpc>
                <a:spcPct val="200000"/>
              </a:lnSpc>
            </a:pPr>
            <a:r>
              <a:rPr lang="en-US" sz="2000" b="1" dirty="0">
                <a:solidFill>
                  <a:srgbClr val="FFFF00"/>
                </a:solidFill>
                <a:latin typeface="Times New Roman" panose="02020603050405020304" pitchFamily="18" charset="0"/>
                <a:cs typeface="Times New Roman" panose="02020603050405020304" pitchFamily="18" charset="0"/>
              </a:rPr>
              <a:t>Developing Simulation  MATLAB</a:t>
            </a:r>
          </a:p>
          <a:p>
            <a:pPr lvl="0" algn="l">
              <a:lnSpc>
                <a:spcPct val="200000"/>
              </a:lnSpc>
            </a:pPr>
            <a:r>
              <a:rPr lang="en-US" sz="2000" b="1" dirty="0">
                <a:solidFill>
                  <a:srgbClr val="FFFF00"/>
                </a:solidFill>
                <a:latin typeface="Times New Roman" panose="02020603050405020304" pitchFamily="18" charset="0"/>
                <a:cs typeface="Times New Roman" panose="02020603050405020304" pitchFamily="18" charset="0"/>
              </a:rPr>
              <a:t>Studying on ML approaches </a:t>
            </a:r>
          </a:p>
          <a:p>
            <a:pPr lvl="0" algn="l"/>
            <a:endParaRPr lang="en-US" sz="2000" b="1" dirty="0">
              <a:solidFill>
                <a:srgbClr val="FFFF00"/>
              </a:solidFill>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0335F057-2369-419F-A2F2-BBEC7DA06C85}"/>
              </a:ext>
            </a:extLst>
          </p:cNvPr>
          <p:cNvSpPr txBox="1">
            <a:spLocks/>
          </p:cNvSpPr>
          <p:nvPr/>
        </p:nvSpPr>
        <p:spPr>
          <a:xfrm>
            <a:off x="400622" y="2811638"/>
            <a:ext cx="4572000" cy="685943"/>
          </a:xfrm>
          <a:prstGeom prst="rect">
            <a:avLst/>
          </a:prstGeom>
        </p:spPr>
        <p:txBody>
          <a:bodyPr vert="horz" lIns="91440" tIns="45720" rIns="91440" bIns="45720" rtlCol="0" anchor="ctr">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3200" b="1" dirty="0">
                <a:solidFill>
                  <a:srgbClr val="002060"/>
                </a:solidFill>
                <a:latin typeface="Times New Roman" panose="02020603050405020304" pitchFamily="18" charset="0"/>
                <a:cs typeface="Times New Roman" panose="02020603050405020304" pitchFamily="18" charset="0"/>
              </a:rPr>
              <a:t>Conclusion</a:t>
            </a:r>
          </a:p>
        </p:txBody>
      </p:sp>
      <p:sp>
        <p:nvSpPr>
          <p:cNvPr id="5" name="Rectangle: Rounded Corners 4">
            <a:extLst>
              <a:ext uri="{FF2B5EF4-FFF2-40B4-BE49-F238E27FC236}">
                <a16:creationId xmlns:a16="http://schemas.microsoft.com/office/drawing/2014/main" id="{17268455-AE5B-BE64-1A67-8AED9B8B1685}"/>
              </a:ext>
            </a:extLst>
          </p:cNvPr>
          <p:cNvSpPr/>
          <p:nvPr/>
        </p:nvSpPr>
        <p:spPr>
          <a:xfrm>
            <a:off x="309753" y="3504882"/>
            <a:ext cx="4753738" cy="1905000"/>
          </a:xfrm>
          <a:prstGeom prst="roundRect">
            <a:avLst>
              <a:gd name="adj" fmla="val 6266"/>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spcAft>
                <a:spcPts val="600"/>
              </a:spcAft>
              <a:buFont typeface="+mj-lt"/>
              <a:buAutoNum type="arabicPeriod"/>
            </a:pPr>
            <a:r>
              <a:rPr lang="en-IN" sz="2000" dirty="0"/>
              <a:t>Energy Source Integration</a:t>
            </a:r>
          </a:p>
          <a:p>
            <a:pPr marL="342900" indent="-342900">
              <a:spcAft>
                <a:spcPts val="600"/>
              </a:spcAft>
              <a:buFont typeface="+mj-lt"/>
              <a:buAutoNum type="arabicPeriod"/>
            </a:pPr>
            <a:r>
              <a:rPr lang="en-IN" sz="2000" dirty="0"/>
              <a:t>Optimized Charging Solutions</a:t>
            </a:r>
          </a:p>
          <a:p>
            <a:pPr marL="342900" indent="-342900">
              <a:spcAft>
                <a:spcPts val="600"/>
              </a:spcAft>
              <a:buFont typeface="+mj-lt"/>
              <a:buAutoNum type="arabicPeriod"/>
            </a:pPr>
            <a:r>
              <a:rPr lang="en-IN" sz="2000" dirty="0"/>
              <a:t>Energy Cost Saving</a:t>
            </a:r>
          </a:p>
          <a:p>
            <a:pPr marL="342900" indent="-342900">
              <a:spcAft>
                <a:spcPts val="600"/>
              </a:spcAft>
              <a:buFont typeface="+mj-lt"/>
              <a:buAutoNum type="arabicPeriod"/>
            </a:pPr>
            <a:r>
              <a:rPr lang="en-IN" sz="2000" dirty="0"/>
              <a:t>Future Stability with IOT Connectivity</a:t>
            </a:r>
          </a:p>
        </p:txBody>
      </p:sp>
      <p:sp>
        <p:nvSpPr>
          <p:cNvPr id="6" name="Rectangle: Rounded Corners 5">
            <a:extLst>
              <a:ext uri="{FF2B5EF4-FFF2-40B4-BE49-F238E27FC236}">
                <a16:creationId xmlns:a16="http://schemas.microsoft.com/office/drawing/2014/main" id="{AA84842F-DBB0-A902-E267-14E6F2DDAFA8}"/>
              </a:ext>
            </a:extLst>
          </p:cNvPr>
          <p:cNvSpPr/>
          <p:nvPr/>
        </p:nvSpPr>
        <p:spPr>
          <a:xfrm>
            <a:off x="309753" y="6058576"/>
            <a:ext cx="5615940" cy="761857"/>
          </a:xfrm>
          <a:prstGeom prst="roundRect">
            <a:avLst>
              <a:gd name="adj" fmla="val 6266"/>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spcAft>
                <a:spcPts val="600"/>
              </a:spcAft>
              <a:buFont typeface="+mj-lt"/>
              <a:buAutoNum type="arabicPeriod"/>
            </a:pPr>
            <a:r>
              <a:rPr lang="en-IN" sz="2000" dirty="0"/>
              <a:t>Hardware prototype _ Waiting for Seed Grant</a:t>
            </a:r>
          </a:p>
        </p:txBody>
      </p:sp>
      <p:sp>
        <p:nvSpPr>
          <p:cNvPr id="7" name="Title 1">
            <a:extLst>
              <a:ext uri="{FF2B5EF4-FFF2-40B4-BE49-F238E27FC236}">
                <a16:creationId xmlns:a16="http://schemas.microsoft.com/office/drawing/2014/main" id="{00AECF6E-C855-4AF8-9313-65EE438F2D55}"/>
              </a:ext>
            </a:extLst>
          </p:cNvPr>
          <p:cNvSpPr txBox="1">
            <a:spLocks/>
          </p:cNvSpPr>
          <p:nvPr/>
        </p:nvSpPr>
        <p:spPr>
          <a:xfrm>
            <a:off x="309753" y="5394999"/>
            <a:ext cx="4572000" cy="685943"/>
          </a:xfrm>
          <a:prstGeom prst="rect">
            <a:avLst/>
          </a:prstGeom>
        </p:spPr>
        <p:txBody>
          <a:bodyPr vert="horz" lIns="91440" tIns="45720" rIns="91440" bIns="45720" rtlCol="0" anchor="ctr">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3200" b="1" dirty="0">
                <a:solidFill>
                  <a:srgbClr val="002060"/>
                </a:solidFill>
                <a:latin typeface="Times New Roman" panose="02020603050405020304" pitchFamily="18" charset="0"/>
                <a:cs typeface="Times New Roman" panose="02020603050405020304" pitchFamily="18" charset="0"/>
              </a:rPr>
              <a:t>Future Scope</a:t>
            </a:r>
          </a:p>
        </p:txBody>
      </p:sp>
      <p:sp>
        <p:nvSpPr>
          <p:cNvPr id="8" name="Title 1">
            <a:extLst>
              <a:ext uri="{FF2B5EF4-FFF2-40B4-BE49-F238E27FC236}">
                <a16:creationId xmlns:a16="http://schemas.microsoft.com/office/drawing/2014/main" id="{705F1765-E202-768B-1469-D5505D5F69DD}"/>
              </a:ext>
            </a:extLst>
          </p:cNvPr>
          <p:cNvSpPr txBox="1">
            <a:spLocks/>
          </p:cNvSpPr>
          <p:nvPr/>
        </p:nvSpPr>
        <p:spPr>
          <a:xfrm>
            <a:off x="7828978" y="68439"/>
            <a:ext cx="4572000" cy="685943"/>
          </a:xfrm>
          <a:prstGeom prst="rect">
            <a:avLst/>
          </a:prstGeom>
        </p:spPr>
        <p:txBody>
          <a:bodyPr vert="horz" lIns="91440" tIns="45720" rIns="91440" bIns="45720" rtlCol="0" anchor="ctr">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pPr>
              <a:spcAft>
                <a:spcPts val="600"/>
              </a:spcAft>
            </a:pPr>
            <a:r>
              <a:rPr lang="en-IN" sz="3200" b="1" dirty="0">
                <a:solidFill>
                  <a:srgbClr val="002060"/>
                </a:solidFill>
              </a:rPr>
              <a:t>Tools Used</a:t>
            </a:r>
            <a:endParaRPr lang="en-IN" sz="3200" dirty="0"/>
          </a:p>
        </p:txBody>
      </p:sp>
      <p:sp>
        <p:nvSpPr>
          <p:cNvPr id="9" name="Rectangle: Rounded Corners 8">
            <a:extLst>
              <a:ext uri="{FF2B5EF4-FFF2-40B4-BE49-F238E27FC236}">
                <a16:creationId xmlns:a16="http://schemas.microsoft.com/office/drawing/2014/main" id="{94A63A4B-EE7F-F8DD-684C-0B5EECB95E32}"/>
              </a:ext>
            </a:extLst>
          </p:cNvPr>
          <p:cNvSpPr/>
          <p:nvPr/>
        </p:nvSpPr>
        <p:spPr>
          <a:xfrm>
            <a:off x="7738109" y="761683"/>
            <a:ext cx="4753738" cy="1905000"/>
          </a:xfrm>
          <a:prstGeom prst="roundRect">
            <a:avLst>
              <a:gd name="adj" fmla="val 6266"/>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spcAft>
                <a:spcPts val="600"/>
              </a:spcAft>
              <a:buFont typeface="+mj-lt"/>
              <a:buAutoNum type="arabicPeriod"/>
            </a:pPr>
            <a:r>
              <a:rPr lang="en-IN" sz="2000" dirty="0"/>
              <a:t>MATLAB Simulation</a:t>
            </a:r>
          </a:p>
          <a:p>
            <a:pPr marL="342900" indent="-342900">
              <a:spcAft>
                <a:spcPts val="600"/>
              </a:spcAft>
              <a:buFont typeface="+mj-lt"/>
              <a:buAutoNum type="arabicPeriod"/>
            </a:pPr>
            <a:r>
              <a:rPr lang="en-IN" sz="2000" dirty="0"/>
              <a:t>Spreadsheet </a:t>
            </a:r>
          </a:p>
          <a:p>
            <a:pPr marL="342900" indent="-342900">
              <a:spcAft>
                <a:spcPts val="600"/>
              </a:spcAft>
              <a:buFont typeface="+mj-lt"/>
              <a:buAutoNum type="arabicPeriod"/>
            </a:pPr>
            <a:r>
              <a:rPr lang="en-IN" sz="2000" dirty="0"/>
              <a:t>Node Red</a:t>
            </a:r>
          </a:p>
          <a:p>
            <a:pPr marL="342900" indent="-342900">
              <a:spcAft>
                <a:spcPts val="600"/>
              </a:spcAft>
              <a:buFont typeface="+mj-lt"/>
              <a:buAutoNum type="arabicPeriod"/>
            </a:pPr>
            <a:r>
              <a:rPr lang="en-IN" sz="2000" dirty="0"/>
              <a:t>AWS</a:t>
            </a:r>
          </a:p>
        </p:txBody>
      </p:sp>
      <p:sp>
        <p:nvSpPr>
          <p:cNvPr id="10" name="Title 1">
            <a:extLst>
              <a:ext uri="{FF2B5EF4-FFF2-40B4-BE49-F238E27FC236}">
                <a16:creationId xmlns:a16="http://schemas.microsoft.com/office/drawing/2014/main" id="{093031BF-5EE3-DB66-585B-591D73C9849B}"/>
              </a:ext>
            </a:extLst>
          </p:cNvPr>
          <p:cNvSpPr txBox="1">
            <a:spLocks/>
          </p:cNvSpPr>
          <p:nvPr/>
        </p:nvSpPr>
        <p:spPr>
          <a:xfrm>
            <a:off x="7649908" y="3009759"/>
            <a:ext cx="4572000" cy="685943"/>
          </a:xfrm>
          <a:prstGeom prst="rect">
            <a:avLst/>
          </a:prstGeom>
        </p:spPr>
        <p:txBody>
          <a:bodyPr vert="horz" lIns="91440" tIns="45720" rIns="91440" bIns="45720" rtlCol="0" anchor="ctr">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pPr>
              <a:spcAft>
                <a:spcPts val="600"/>
              </a:spcAft>
            </a:pPr>
            <a:r>
              <a:rPr lang="en-US" sz="3200" b="1" dirty="0">
                <a:solidFill>
                  <a:srgbClr val="002060"/>
                </a:solidFill>
                <a:latin typeface="Times New Roman" panose="02020603050405020304" pitchFamily="18" charset="0"/>
                <a:cs typeface="Times New Roman" panose="02020603050405020304" pitchFamily="18" charset="0"/>
              </a:rPr>
              <a:t>Publication</a:t>
            </a:r>
            <a:endParaRPr lang="en-IN" sz="3200" dirty="0"/>
          </a:p>
        </p:txBody>
      </p:sp>
      <p:sp>
        <p:nvSpPr>
          <p:cNvPr id="11" name="Rectangle: Rounded Corners 10">
            <a:extLst>
              <a:ext uri="{FF2B5EF4-FFF2-40B4-BE49-F238E27FC236}">
                <a16:creationId xmlns:a16="http://schemas.microsoft.com/office/drawing/2014/main" id="{1F0745D6-37AE-B817-71AC-FB265CD43C77}"/>
              </a:ext>
            </a:extLst>
          </p:cNvPr>
          <p:cNvSpPr/>
          <p:nvPr/>
        </p:nvSpPr>
        <p:spPr>
          <a:xfrm>
            <a:off x="7559039" y="3703003"/>
            <a:ext cx="4753738" cy="685943"/>
          </a:xfrm>
          <a:prstGeom prst="roundRect">
            <a:avLst>
              <a:gd name="adj" fmla="val 6266"/>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lang="en-IN" sz="2000" dirty="0"/>
              <a:t>Drafting</a:t>
            </a:r>
          </a:p>
        </p:txBody>
      </p:sp>
    </p:spTree>
    <p:extLst>
      <p:ext uri="{BB962C8B-B14F-4D97-AF65-F5344CB8AC3E}">
        <p14:creationId xmlns:p14="http://schemas.microsoft.com/office/powerpoint/2010/main" val="9792492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5164B5F-EACB-7AB8-72AF-21F2745F5453}"/>
              </a:ext>
            </a:extLst>
          </p:cNvPr>
          <p:cNvSpPr txBox="1">
            <a:spLocks/>
          </p:cNvSpPr>
          <p:nvPr/>
        </p:nvSpPr>
        <p:spPr>
          <a:xfrm>
            <a:off x="102870" y="0"/>
            <a:ext cx="6566765" cy="685943"/>
          </a:xfrm>
          <a:prstGeom prst="rect">
            <a:avLst/>
          </a:prstGeom>
        </p:spPr>
        <p:txBody>
          <a:bodyPr vert="horz" lIns="91440" tIns="45720" rIns="91440" bIns="45720" rtlCol="0" anchor="ctr">
            <a:normAutofit/>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r>
              <a:rPr lang="en-US" sz="3200" b="1" dirty="0">
                <a:solidFill>
                  <a:srgbClr val="002060"/>
                </a:solidFill>
                <a:latin typeface="Times New Roman" panose="02020603050405020304" pitchFamily="18" charset="0"/>
                <a:cs typeface="Times New Roman" panose="02020603050405020304" pitchFamily="18" charset="0"/>
              </a:rPr>
              <a:t>References</a:t>
            </a:r>
          </a:p>
        </p:txBody>
      </p:sp>
      <p:graphicFrame>
        <p:nvGraphicFramePr>
          <p:cNvPr id="7" name="Table 6">
            <a:extLst>
              <a:ext uri="{FF2B5EF4-FFF2-40B4-BE49-F238E27FC236}">
                <a16:creationId xmlns:a16="http://schemas.microsoft.com/office/drawing/2014/main" id="{06FB170D-CFB9-7175-DEAA-52FBA8868564}"/>
              </a:ext>
            </a:extLst>
          </p:cNvPr>
          <p:cNvGraphicFramePr>
            <a:graphicFrameLocks noGrp="1"/>
          </p:cNvGraphicFramePr>
          <p:nvPr>
            <p:extLst>
              <p:ext uri="{D42A27DB-BD31-4B8C-83A1-F6EECF244321}">
                <p14:modId xmlns:p14="http://schemas.microsoft.com/office/powerpoint/2010/main" val="28654000"/>
              </p:ext>
            </p:extLst>
          </p:nvPr>
        </p:nvGraphicFramePr>
        <p:xfrm>
          <a:off x="731520" y="685943"/>
          <a:ext cx="11464290" cy="7053379"/>
        </p:xfrm>
        <a:graphic>
          <a:graphicData uri="http://schemas.openxmlformats.org/drawingml/2006/table">
            <a:tbl>
              <a:tblPr>
                <a:tableStyleId>{5C22544A-7EE6-4342-B048-85BDC9FD1C3A}</a:tableStyleId>
              </a:tblPr>
              <a:tblGrid>
                <a:gridCol w="1734641">
                  <a:extLst>
                    <a:ext uri="{9D8B030D-6E8A-4147-A177-3AD203B41FA5}">
                      <a16:colId xmlns:a16="http://schemas.microsoft.com/office/drawing/2014/main" val="3271280861"/>
                    </a:ext>
                  </a:extLst>
                </a:gridCol>
                <a:gridCol w="9729649">
                  <a:extLst>
                    <a:ext uri="{9D8B030D-6E8A-4147-A177-3AD203B41FA5}">
                      <a16:colId xmlns:a16="http://schemas.microsoft.com/office/drawing/2014/main" val="3397184293"/>
                    </a:ext>
                  </a:extLst>
                </a:gridCol>
              </a:tblGrid>
              <a:tr h="246139">
                <a:tc rowSpan="4">
                  <a:txBody>
                    <a:bodyPr/>
                    <a:lstStyle/>
                    <a:p>
                      <a:pPr algn="ctr" fontAlgn="ctr"/>
                      <a:r>
                        <a:rPr lang="en-US" sz="1400" u="none" strike="noStrike">
                          <a:effectLst/>
                        </a:rPr>
                        <a:t>Charging Station</a:t>
                      </a:r>
                      <a:endParaRPr lang="en-US" sz="1400" b="0" i="0" u="none" strike="noStrike">
                        <a:solidFill>
                          <a:srgbClr val="000000"/>
                        </a:solidFill>
                        <a:effectLst/>
                        <a:latin typeface="Calibri" panose="020F0502020204030204" pitchFamily="34" charset="0"/>
                      </a:endParaRPr>
                    </a:p>
                  </a:txBody>
                  <a:tcPr marL="4234" marR="4234" marT="4234" marB="0" anchor="ctr"/>
                </a:tc>
                <a:tc>
                  <a:txBody>
                    <a:bodyPr/>
                    <a:lstStyle/>
                    <a:p>
                      <a:pPr algn="l" fontAlgn="ctr"/>
                      <a:r>
                        <a:rPr lang="en-US" sz="1400" u="none" strike="noStrike">
                          <a:effectLst/>
                        </a:rPr>
                        <a:t>IoT Solutions for Electric Vehicles (EV) Charging Stations: A Driving Force Towards EV Mass Adoption</a:t>
                      </a:r>
                      <a:endParaRPr lang="en-US" sz="1400" b="0" i="0" u="none" strike="noStrike">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3085778577"/>
                  </a:ext>
                </a:extLst>
              </a:tr>
              <a:tr h="246139">
                <a:tc vMerge="1">
                  <a:txBody>
                    <a:bodyPr/>
                    <a:lstStyle/>
                    <a:p>
                      <a:endParaRPr lang="en-US"/>
                    </a:p>
                  </a:txBody>
                  <a:tcPr/>
                </a:tc>
                <a:tc>
                  <a:txBody>
                    <a:bodyPr/>
                    <a:lstStyle/>
                    <a:p>
                      <a:pPr algn="l" fontAlgn="ctr"/>
                      <a:r>
                        <a:rPr lang="en-US" sz="1400" u="none" strike="noStrike">
                          <a:effectLst/>
                        </a:rPr>
                        <a:t>Power Quality Enhancement in Integrated Grid for EVs Charging Stations Using Active Filter</a:t>
                      </a:r>
                      <a:endParaRPr lang="en-US" sz="1400" b="0" i="0" u="none" strike="noStrike">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1998283874"/>
                  </a:ext>
                </a:extLst>
              </a:tr>
              <a:tr h="246139">
                <a:tc vMerge="1">
                  <a:txBody>
                    <a:bodyPr/>
                    <a:lstStyle/>
                    <a:p>
                      <a:endParaRPr lang="en-US"/>
                    </a:p>
                  </a:txBody>
                  <a:tcPr/>
                </a:tc>
                <a:tc>
                  <a:txBody>
                    <a:bodyPr/>
                    <a:lstStyle/>
                    <a:p>
                      <a:pPr algn="l" fontAlgn="ctr"/>
                      <a:r>
                        <a:rPr lang="en-US" sz="1400" u="none" strike="noStrike">
                          <a:effectLst/>
                        </a:rPr>
                        <a:t>Residential Electric Vehicle Charging Station Using the Internet of Things</a:t>
                      </a:r>
                      <a:endParaRPr lang="en-US" sz="1400" b="0" i="0" u="none" strike="noStrike">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4212379701"/>
                  </a:ext>
                </a:extLst>
              </a:tr>
              <a:tr h="246139">
                <a:tc vMerge="1">
                  <a:txBody>
                    <a:bodyPr/>
                    <a:lstStyle/>
                    <a:p>
                      <a:endParaRPr lang="en-US"/>
                    </a:p>
                  </a:txBody>
                  <a:tcPr/>
                </a:tc>
                <a:tc>
                  <a:txBody>
                    <a:bodyPr/>
                    <a:lstStyle/>
                    <a:p>
                      <a:pPr algn="l" fontAlgn="ctr"/>
                      <a:r>
                        <a:rPr lang="en-US" sz="1400" u="none" strike="noStrike">
                          <a:effectLst/>
                        </a:rPr>
                        <a:t>IoT enabled E-Vehicle Charging System with Battery Monitoring and Charge Scheduling</a:t>
                      </a:r>
                      <a:endParaRPr lang="en-US" sz="1400" b="0" i="0" u="none" strike="noStrike">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3639465111"/>
                  </a:ext>
                </a:extLst>
              </a:tr>
              <a:tr h="246139">
                <a:tc>
                  <a:txBody>
                    <a:bodyPr/>
                    <a:lstStyle/>
                    <a:p>
                      <a:pPr algn="ctr" fontAlgn="ctr"/>
                      <a:r>
                        <a:rPr lang="en-US" sz="1400" u="none" strike="noStrike">
                          <a:effectLst/>
                        </a:rPr>
                        <a:t>ESS</a:t>
                      </a:r>
                      <a:endParaRPr lang="en-US" sz="1400" b="0" i="0" u="none" strike="noStrike">
                        <a:solidFill>
                          <a:srgbClr val="000000"/>
                        </a:solidFill>
                        <a:effectLst/>
                        <a:latin typeface="Calibri" panose="020F0502020204030204" pitchFamily="34" charset="0"/>
                      </a:endParaRPr>
                    </a:p>
                  </a:txBody>
                  <a:tcPr marL="4234" marR="4234" marT="4234" marB="0" anchor="ctr"/>
                </a:tc>
                <a:tc>
                  <a:txBody>
                    <a:bodyPr/>
                    <a:lstStyle/>
                    <a:p>
                      <a:pPr algn="l" fontAlgn="ctr"/>
                      <a:r>
                        <a:rPr lang="en-US" sz="1400" u="none" strike="noStrike">
                          <a:effectLst/>
                        </a:rPr>
                        <a:t>ESS Simulation based on PV Generation Prediction</a:t>
                      </a:r>
                      <a:endParaRPr lang="en-US" sz="1400" b="0" i="0" u="none" strike="noStrike">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934842467"/>
                  </a:ext>
                </a:extLst>
              </a:tr>
              <a:tr h="246139">
                <a:tc rowSpan="5">
                  <a:txBody>
                    <a:bodyPr/>
                    <a:lstStyle/>
                    <a:p>
                      <a:pPr algn="ctr" fontAlgn="ctr"/>
                      <a:r>
                        <a:rPr lang="en-US" sz="1400" u="none" strike="noStrike">
                          <a:effectLst/>
                        </a:rPr>
                        <a:t>Grid</a:t>
                      </a:r>
                      <a:endParaRPr lang="en-US" sz="1400" b="0" i="0" u="none" strike="noStrike">
                        <a:solidFill>
                          <a:srgbClr val="000000"/>
                        </a:solidFill>
                        <a:effectLst/>
                        <a:latin typeface="Calibri" panose="020F0502020204030204" pitchFamily="34" charset="0"/>
                      </a:endParaRPr>
                    </a:p>
                  </a:txBody>
                  <a:tcPr marL="4234" marR="4234" marT="4234" marB="0" anchor="ctr"/>
                </a:tc>
                <a:tc>
                  <a:txBody>
                    <a:bodyPr/>
                    <a:lstStyle/>
                    <a:p>
                      <a:pPr algn="l" fontAlgn="ctr"/>
                      <a:r>
                        <a:rPr lang="en-US" sz="1400" u="none" strike="noStrike">
                          <a:effectLst/>
                        </a:rPr>
                        <a:t>IoT-based optimization of microgrid operation</a:t>
                      </a:r>
                      <a:endParaRPr lang="en-US" sz="1400" b="0" i="0" u="none" strike="noStrike">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3695871552"/>
                  </a:ext>
                </a:extLst>
              </a:tr>
              <a:tr h="438766">
                <a:tc vMerge="1">
                  <a:txBody>
                    <a:bodyPr/>
                    <a:lstStyle/>
                    <a:p>
                      <a:endParaRPr lang="en-US"/>
                    </a:p>
                  </a:txBody>
                  <a:tcPr/>
                </a:tc>
                <a:tc>
                  <a:txBody>
                    <a:bodyPr/>
                    <a:lstStyle/>
                    <a:p>
                      <a:pPr algn="l" fontAlgn="ctr"/>
                      <a:r>
                        <a:rPr lang="en-US" sz="1400" u="none" strike="noStrike">
                          <a:effectLst/>
                        </a:rPr>
                        <a:t>An Efficient LoRa-Enabled Smart Fault Detection and Monitoring Platform for the Power Distribution System Using Self-Powered IoT Devices</a:t>
                      </a:r>
                      <a:endParaRPr lang="en-US" sz="1400" b="0" i="0" u="none" strike="noStrike">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1543679301"/>
                  </a:ext>
                </a:extLst>
              </a:tr>
              <a:tr h="246139">
                <a:tc vMerge="1">
                  <a:txBody>
                    <a:bodyPr/>
                    <a:lstStyle/>
                    <a:p>
                      <a:endParaRPr lang="en-US"/>
                    </a:p>
                  </a:txBody>
                  <a:tcPr/>
                </a:tc>
                <a:tc>
                  <a:txBody>
                    <a:bodyPr/>
                    <a:lstStyle/>
                    <a:p>
                      <a:pPr algn="l" fontAlgn="ctr"/>
                      <a:r>
                        <a:rPr lang="en-US" sz="1400" u="none" strike="noStrike">
                          <a:effectLst/>
                        </a:rPr>
                        <a:t>Development of IoT-Based Portable Power Quality Monitoring on Microgrids by Enhancing Protection Features</a:t>
                      </a:r>
                      <a:endParaRPr lang="en-US" sz="1400" b="0" i="0" u="none" strike="noStrike">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2861096124"/>
                  </a:ext>
                </a:extLst>
              </a:tr>
              <a:tr h="246139">
                <a:tc vMerge="1">
                  <a:txBody>
                    <a:bodyPr/>
                    <a:lstStyle/>
                    <a:p>
                      <a:endParaRPr lang="en-US"/>
                    </a:p>
                  </a:txBody>
                  <a:tcPr/>
                </a:tc>
                <a:tc>
                  <a:txBody>
                    <a:bodyPr/>
                    <a:lstStyle/>
                    <a:p>
                      <a:pPr algn="l" fontAlgn="ctr"/>
                      <a:r>
                        <a:rPr lang="en-US" sz="1400" u="none" strike="noStrike">
                          <a:effectLst/>
                        </a:rPr>
                        <a:t>Insulation Condition Monitoring in Distribution Power Grid via IoT-Based Sensing Network</a:t>
                      </a:r>
                      <a:endParaRPr lang="en-US" sz="1400" b="0" i="0" u="none" strike="noStrike">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2890492828"/>
                  </a:ext>
                </a:extLst>
              </a:tr>
              <a:tr h="246139">
                <a:tc vMerge="1">
                  <a:txBody>
                    <a:bodyPr/>
                    <a:lstStyle/>
                    <a:p>
                      <a:endParaRPr lang="en-US"/>
                    </a:p>
                  </a:txBody>
                  <a:tcPr/>
                </a:tc>
                <a:tc>
                  <a:txBody>
                    <a:bodyPr/>
                    <a:lstStyle/>
                    <a:p>
                      <a:pPr algn="l" fontAlgn="ctr"/>
                      <a:r>
                        <a:rPr lang="en-US" sz="1400" u="none" strike="noStrike">
                          <a:effectLst/>
                        </a:rPr>
                        <a:t>Internet of Things-Aided Smart Grid: Technologies, Architectures, Applications, Prototypes, and Future Research Directions</a:t>
                      </a:r>
                      <a:endParaRPr lang="en-US" sz="1400" b="0" i="0" u="none" strike="noStrike">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1876917510"/>
                  </a:ext>
                </a:extLst>
              </a:tr>
              <a:tr h="246139">
                <a:tc rowSpan="6">
                  <a:txBody>
                    <a:bodyPr/>
                    <a:lstStyle/>
                    <a:p>
                      <a:pPr algn="ctr" fontAlgn="ctr"/>
                      <a:r>
                        <a:rPr lang="en-US" sz="1400" u="none" strike="noStrike">
                          <a:effectLst/>
                        </a:rPr>
                        <a:t>Management Monitoring</a:t>
                      </a:r>
                      <a:endParaRPr lang="en-US" sz="1400" b="0" i="0" u="none" strike="noStrike">
                        <a:solidFill>
                          <a:srgbClr val="000000"/>
                        </a:solidFill>
                        <a:effectLst/>
                        <a:latin typeface="Calibri" panose="020F0502020204030204" pitchFamily="34" charset="0"/>
                      </a:endParaRPr>
                    </a:p>
                  </a:txBody>
                  <a:tcPr marL="4234" marR="4234" marT="4234" marB="0" anchor="ctr"/>
                </a:tc>
                <a:tc>
                  <a:txBody>
                    <a:bodyPr/>
                    <a:lstStyle/>
                    <a:p>
                      <a:pPr algn="l" fontAlgn="ctr"/>
                      <a:r>
                        <a:rPr lang="en-US" sz="1400" u="none" strike="noStrike">
                          <a:effectLst/>
                        </a:rPr>
                        <a:t>Design of an Industrial IoT-Based Monitoring System for Power Substations</a:t>
                      </a:r>
                      <a:endParaRPr lang="en-US" sz="1400" b="0" i="0" u="none" strike="noStrike">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3296151795"/>
                  </a:ext>
                </a:extLst>
              </a:tr>
              <a:tr h="246139">
                <a:tc vMerge="1">
                  <a:txBody>
                    <a:bodyPr/>
                    <a:lstStyle/>
                    <a:p>
                      <a:endParaRPr lang="en-US"/>
                    </a:p>
                  </a:txBody>
                  <a:tcPr/>
                </a:tc>
                <a:tc>
                  <a:txBody>
                    <a:bodyPr/>
                    <a:lstStyle/>
                    <a:p>
                      <a:pPr algn="l" fontAlgn="ctr"/>
                      <a:r>
                        <a:rPr lang="en-US" sz="1400" u="none" strike="noStrike">
                          <a:effectLst/>
                        </a:rPr>
                        <a:t>A Novel Sensor Placement Strategy for an IoT-Based Power Grid Monitoring System</a:t>
                      </a:r>
                      <a:endParaRPr lang="en-US" sz="1400" b="0" i="0" u="none" strike="noStrike">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694037903"/>
                  </a:ext>
                </a:extLst>
              </a:tr>
              <a:tr h="438766">
                <a:tc vMerge="1">
                  <a:txBody>
                    <a:bodyPr/>
                    <a:lstStyle/>
                    <a:p>
                      <a:endParaRPr lang="en-US"/>
                    </a:p>
                  </a:txBody>
                  <a:tcPr/>
                </a:tc>
                <a:tc>
                  <a:txBody>
                    <a:bodyPr/>
                    <a:lstStyle/>
                    <a:p>
                      <a:pPr algn="l" fontAlgn="ctr"/>
                      <a:r>
                        <a:rPr lang="en-US" sz="1400" u="none" strike="noStrike" dirty="0">
                          <a:effectLst/>
                        </a:rPr>
                        <a:t>State-of-Charge Equalizations Comparison in a Multi-prosumer Environment Based on Real-Time Energy Management Systems with IoT-Support</a:t>
                      </a:r>
                      <a:endParaRPr lang="en-US" sz="1400" b="0" i="0" u="none" strike="noStrike" dirty="0">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1707714941"/>
                  </a:ext>
                </a:extLst>
              </a:tr>
              <a:tr h="246139">
                <a:tc vMerge="1">
                  <a:txBody>
                    <a:bodyPr/>
                    <a:lstStyle/>
                    <a:p>
                      <a:endParaRPr lang="en-US"/>
                    </a:p>
                  </a:txBody>
                  <a:tcPr/>
                </a:tc>
                <a:tc>
                  <a:txBody>
                    <a:bodyPr/>
                    <a:lstStyle/>
                    <a:p>
                      <a:pPr algn="l" fontAlgn="ctr"/>
                      <a:r>
                        <a:rPr lang="en-US" sz="1400" u="none" strike="noStrike" dirty="0">
                          <a:effectLst/>
                        </a:rPr>
                        <a:t>Intelligent IOT-based BMS for Integrated Solar with AC grid Fast Charging Systems in Electric Vehicles</a:t>
                      </a:r>
                      <a:endParaRPr lang="en-US" sz="1400" b="0" i="0" u="none" strike="noStrike" dirty="0">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2161103454"/>
                  </a:ext>
                </a:extLst>
              </a:tr>
              <a:tr h="246139">
                <a:tc vMerge="1">
                  <a:txBody>
                    <a:bodyPr/>
                    <a:lstStyle/>
                    <a:p>
                      <a:endParaRPr lang="en-US"/>
                    </a:p>
                  </a:txBody>
                  <a:tcPr/>
                </a:tc>
                <a:tc>
                  <a:txBody>
                    <a:bodyPr/>
                    <a:lstStyle/>
                    <a:p>
                      <a:pPr algn="l" fontAlgn="ctr"/>
                      <a:r>
                        <a:rPr lang="en-US" sz="1400" u="none" strike="noStrike">
                          <a:effectLst/>
                        </a:rPr>
                        <a:t>IoT Based Electrical Vehicle Battery Management System with Charge Monitor and Fire Protection</a:t>
                      </a:r>
                      <a:endParaRPr lang="en-US" sz="1400" b="0" i="0" u="none" strike="noStrike">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1044688421"/>
                  </a:ext>
                </a:extLst>
              </a:tr>
              <a:tr h="246139">
                <a:tc vMerge="1">
                  <a:txBody>
                    <a:bodyPr/>
                    <a:lstStyle/>
                    <a:p>
                      <a:endParaRPr lang="en-US"/>
                    </a:p>
                  </a:txBody>
                  <a:tcPr/>
                </a:tc>
                <a:tc>
                  <a:txBody>
                    <a:bodyPr/>
                    <a:lstStyle/>
                    <a:p>
                      <a:pPr algn="l" fontAlgn="ctr"/>
                      <a:r>
                        <a:rPr lang="en-US" sz="1400" u="none" strike="noStrike">
                          <a:effectLst/>
                        </a:rPr>
                        <a:t>An IoT -based Power Management System for EV Chargers</a:t>
                      </a:r>
                      <a:endParaRPr lang="en-US" sz="1400" b="0" i="0" u="none" strike="noStrike">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139480005"/>
                  </a:ext>
                </a:extLst>
              </a:tr>
              <a:tr h="246139">
                <a:tc rowSpan="2">
                  <a:txBody>
                    <a:bodyPr/>
                    <a:lstStyle/>
                    <a:p>
                      <a:pPr algn="ctr" fontAlgn="ctr"/>
                      <a:r>
                        <a:rPr lang="en-US" sz="1400" u="none" strike="noStrike">
                          <a:effectLst/>
                        </a:rPr>
                        <a:t>Solar</a:t>
                      </a:r>
                      <a:endParaRPr lang="en-US" sz="1400" b="0" i="0" u="none" strike="noStrike">
                        <a:solidFill>
                          <a:srgbClr val="000000"/>
                        </a:solidFill>
                        <a:effectLst/>
                        <a:latin typeface="Calibri" panose="020F0502020204030204" pitchFamily="34" charset="0"/>
                      </a:endParaRPr>
                    </a:p>
                  </a:txBody>
                  <a:tcPr marL="4234" marR="4234" marT="4234" marB="0" anchor="ctr"/>
                </a:tc>
                <a:tc>
                  <a:txBody>
                    <a:bodyPr/>
                    <a:lstStyle/>
                    <a:p>
                      <a:pPr algn="l" fontAlgn="ctr"/>
                      <a:r>
                        <a:rPr lang="en-US" sz="1400" u="none" strike="noStrike">
                          <a:effectLst/>
                        </a:rPr>
                        <a:t>A Pitaya Dye-Sensitized Solar Cell Monitor for Environmental Sunlight Intensity Detection</a:t>
                      </a:r>
                      <a:endParaRPr lang="en-US" sz="1400" b="0" i="0" u="none" strike="noStrike">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669502769"/>
                  </a:ext>
                </a:extLst>
              </a:tr>
              <a:tr h="246139">
                <a:tc vMerge="1">
                  <a:txBody>
                    <a:bodyPr/>
                    <a:lstStyle/>
                    <a:p>
                      <a:endParaRPr lang="en-US"/>
                    </a:p>
                  </a:txBody>
                  <a:tcPr/>
                </a:tc>
                <a:tc>
                  <a:txBody>
                    <a:bodyPr/>
                    <a:lstStyle/>
                    <a:p>
                      <a:pPr algn="l" fontAlgn="ctr"/>
                      <a:r>
                        <a:rPr lang="en-US" sz="1400" u="none" strike="noStrike">
                          <a:effectLst/>
                        </a:rPr>
                        <a:t>Eternal-Thing: A Secure Aging-Aware Solar-Energy Harvester Thing for Sustainable IoT</a:t>
                      </a:r>
                      <a:endParaRPr lang="en-US" sz="1400" b="0" i="0" u="none" strike="noStrike">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3966412194"/>
                  </a:ext>
                </a:extLst>
              </a:tr>
              <a:tr h="246139">
                <a:tc rowSpan="6">
                  <a:txBody>
                    <a:bodyPr/>
                    <a:lstStyle/>
                    <a:p>
                      <a:pPr algn="ctr" fontAlgn="ctr"/>
                      <a:r>
                        <a:rPr lang="en-US" sz="1400" u="none" strike="noStrike">
                          <a:effectLst/>
                        </a:rPr>
                        <a:t>Swapping</a:t>
                      </a:r>
                      <a:endParaRPr lang="en-US" sz="1400" b="0" i="0" u="none" strike="noStrike">
                        <a:solidFill>
                          <a:srgbClr val="000000"/>
                        </a:solidFill>
                        <a:effectLst/>
                        <a:latin typeface="Calibri" panose="020F0502020204030204" pitchFamily="34" charset="0"/>
                      </a:endParaRPr>
                    </a:p>
                  </a:txBody>
                  <a:tcPr marL="4234" marR="4234" marT="4234" marB="0" anchor="ctr"/>
                </a:tc>
                <a:tc>
                  <a:txBody>
                    <a:bodyPr/>
                    <a:lstStyle/>
                    <a:p>
                      <a:pPr algn="l" fontAlgn="ctr"/>
                      <a:r>
                        <a:rPr lang="en-US" sz="1400" u="none" strike="noStrike">
                          <a:effectLst/>
                        </a:rPr>
                        <a:t>Optimal Planning of Battery Swapping and Charging Stations for the Urban Cities</a:t>
                      </a:r>
                      <a:endParaRPr lang="en-US" sz="1400" b="0" i="0" u="none" strike="noStrike">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768859000"/>
                  </a:ext>
                </a:extLst>
              </a:tr>
              <a:tr h="246139">
                <a:tc vMerge="1">
                  <a:txBody>
                    <a:bodyPr/>
                    <a:lstStyle/>
                    <a:p>
                      <a:endParaRPr lang="en-US"/>
                    </a:p>
                  </a:txBody>
                  <a:tcPr/>
                </a:tc>
                <a:tc>
                  <a:txBody>
                    <a:bodyPr/>
                    <a:lstStyle/>
                    <a:p>
                      <a:pPr algn="l" fontAlgn="ctr"/>
                      <a:r>
                        <a:rPr lang="en-US" sz="1400" u="none" strike="noStrike">
                          <a:effectLst/>
                        </a:rPr>
                        <a:t>Combining data centers with electric vehicle battery swapping stations for grid regulation</a:t>
                      </a:r>
                      <a:endParaRPr lang="en-US" sz="1400" b="0" i="0" u="none" strike="noStrike">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2571502577"/>
                  </a:ext>
                </a:extLst>
              </a:tr>
              <a:tr h="246139">
                <a:tc vMerge="1">
                  <a:txBody>
                    <a:bodyPr/>
                    <a:lstStyle/>
                    <a:p>
                      <a:endParaRPr lang="en-US"/>
                    </a:p>
                  </a:txBody>
                  <a:tcPr/>
                </a:tc>
                <a:tc>
                  <a:txBody>
                    <a:bodyPr/>
                    <a:lstStyle/>
                    <a:p>
                      <a:pPr algn="l" fontAlgn="ctr"/>
                      <a:r>
                        <a:rPr lang="en-US" sz="1400" u="none" strike="noStrike" dirty="0">
                          <a:effectLst/>
                        </a:rPr>
                        <a:t>Battery Swapping Mobile Service Station for Electric Vehicles Application</a:t>
                      </a:r>
                      <a:endParaRPr lang="en-US" sz="1400" b="0" i="0" u="none" strike="noStrike" dirty="0">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1002677216"/>
                  </a:ext>
                </a:extLst>
              </a:tr>
              <a:tr h="246139">
                <a:tc vMerge="1">
                  <a:txBody>
                    <a:bodyPr/>
                    <a:lstStyle/>
                    <a:p>
                      <a:endParaRPr lang="en-US"/>
                    </a:p>
                  </a:txBody>
                  <a:tcPr/>
                </a:tc>
                <a:tc>
                  <a:txBody>
                    <a:bodyPr/>
                    <a:lstStyle/>
                    <a:p>
                      <a:pPr algn="l" fontAlgn="ctr"/>
                      <a:r>
                        <a:rPr lang="en-US" sz="1400" u="none" strike="noStrike">
                          <a:effectLst/>
                        </a:rPr>
                        <a:t>Optimal dispatch of electric vehicle batteries between battery swapping stations and charging stations</a:t>
                      </a:r>
                      <a:endParaRPr lang="en-US" sz="1400" b="0" i="0" u="none" strike="noStrike">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613976964"/>
                  </a:ext>
                </a:extLst>
              </a:tr>
              <a:tr h="246139">
                <a:tc vMerge="1">
                  <a:txBody>
                    <a:bodyPr/>
                    <a:lstStyle/>
                    <a:p>
                      <a:endParaRPr lang="en-US"/>
                    </a:p>
                  </a:txBody>
                  <a:tcPr/>
                </a:tc>
                <a:tc>
                  <a:txBody>
                    <a:bodyPr/>
                    <a:lstStyle/>
                    <a:p>
                      <a:pPr algn="l" fontAlgn="ctr"/>
                      <a:r>
                        <a:rPr lang="en-US" sz="1400" u="none" strike="noStrike">
                          <a:effectLst/>
                        </a:rPr>
                        <a:t>Integration of Battery Swapping Station into Microgrid: A Review</a:t>
                      </a:r>
                      <a:endParaRPr lang="en-US" sz="1400" b="0" i="0" u="none" strike="noStrike">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1704758660"/>
                  </a:ext>
                </a:extLst>
              </a:tr>
              <a:tr h="251732">
                <a:tc vMerge="1">
                  <a:txBody>
                    <a:bodyPr/>
                    <a:lstStyle/>
                    <a:p>
                      <a:endParaRPr lang="en-US"/>
                    </a:p>
                  </a:txBody>
                  <a:tcPr/>
                </a:tc>
                <a:tc>
                  <a:txBody>
                    <a:bodyPr/>
                    <a:lstStyle/>
                    <a:p>
                      <a:pPr algn="l" fontAlgn="ctr"/>
                      <a:r>
                        <a:rPr lang="en-US" sz="1400" u="none" strike="noStrike">
                          <a:effectLst/>
                        </a:rPr>
                        <a:t>Location Decision of Battery Swapping Stations Combined with Battery Swapping Warehouses</a:t>
                      </a:r>
                      <a:endParaRPr lang="en-US" sz="1400" b="0" i="0" u="none" strike="noStrike">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1105565732"/>
                  </a:ext>
                </a:extLst>
              </a:tr>
              <a:tr h="251732">
                <a:tc rowSpan="3">
                  <a:txBody>
                    <a:bodyPr/>
                    <a:lstStyle/>
                    <a:p>
                      <a:pPr algn="ctr" fontAlgn="ctr"/>
                      <a:r>
                        <a:rPr lang="en-US" sz="1400" u="none" strike="noStrike">
                          <a:effectLst/>
                        </a:rPr>
                        <a:t>ML</a:t>
                      </a:r>
                      <a:endParaRPr lang="en-US" sz="1400" b="0" i="0" u="none" strike="noStrike">
                        <a:solidFill>
                          <a:srgbClr val="000000"/>
                        </a:solidFill>
                        <a:effectLst/>
                        <a:latin typeface="Calibri" panose="020F0502020204030204" pitchFamily="34" charset="0"/>
                      </a:endParaRPr>
                    </a:p>
                  </a:txBody>
                  <a:tcPr marL="4234" marR="4234" marT="4234" marB="0" anchor="ctr"/>
                </a:tc>
                <a:tc>
                  <a:txBody>
                    <a:bodyPr/>
                    <a:lstStyle/>
                    <a:p>
                      <a:pPr algn="l" fontAlgn="ctr"/>
                      <a:r>
                        <a:rPr lang="en-US" sz="1400" u="none" strike="noStrike">
                          <a:effectLst/>
                        </a:rPr>
                        <a:t>Machine_Learning-Based_Method_for_Remaining_Range_Prediction_of_Electric_Vehicles</a:t>
                      </a:r>
                      <a:endParaRPr lang="en-US" sz="1400" b="0" i="0" u="none" strike="noStrike">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387985569"/>
                  </a:ext>
                </a:extLst>
              </a:tr>
              <a:tr h="251732">
                <a:tc vMerge="1">
                  <a:txBody>
                    <a:bodyPr/>
                    <a:lstStyle/>
                    <a:p>
                      <a:endParaRPr lang="en-US"/>
                    </a:p>
                  </a:txBody>
                  <a:tcPr/>
                </a:tc>
                <a:tc>
                  <a:txBody>
                    <a:bodyPr/>
                    <a:lstStyle/>
                    <a:p>
                      <a:pPr algn="l" fontAlgn="ctr"/>
                      <a:r>
                        <a:rPr lang="en-US" sz="1400" u="none" strike="noStrike">
                          <a:effectLst/>
                        </a:rPr>
                        <a:t>Prediction_of_EV_Charging_Behavior_Using_Machine_Learning</a:t>
                      </a:r>
                      <a:endParaRPr lang="en-US" sz="1400" b="0" i="0" u="none" strike="noStrike">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309748514"/>
                  </a:ext>
                </a:extLst>
              </a:tr>
              <a:tr h="251732">
                <a:tc vMerge="1">
                  <a:txBody>
                    <a:bodyPr/>
                    <a:lstStyle/>
                    <a:p>
                      <a:endParaRPr lang="en-US"/>
                    </a:p>
                  </a:txBody>
                  <a:tcPr/>
                </a:tc>
                <a:tc>
                  <a:txBody>
                    <a:bodyPr/>
                    <a:lstStyle/>
                    <a:p>
                      <a:pPr algn="l" fontAlgn="ctr"/>
                      <a:r>
                        <a:rPr lang="en-US" sz="1400" u="none" strike="noStrike" dirty="0">
                          <a:effectLst/>
                        </a:rPr>
                        <a:t>Reinforcement_Learning_Based_EV_Charging_Management_SystemsA_Review</a:t>
                      </a:r>
                      <a:endParaRPr lang="en-US" sz="1400" b="0" i="0" u="none" strike="noStrike" dirty="0">
                        <a:solidFill>
                          <a:srgbClr val="000000"/>
                        </a:solidFill>
                        <a:effectLst/>
                        <a:latin typeface="Calibri" panose="020F0502020204030204" pitchFamily="34" charset="0"/>
                      </a:endParaRPr>
                    </a:p>
                  </a:txBody>
                  <a:tcPr marL="4234" marR="4234" marT="4234" marB="0" anchor="ctr"/>
                </a:tc>
                <a:extLst>
                  <a:ext uri="{0D108BD9-81ED-4DB2-BD59-A6C34878D82A}">
                    <a16:rowId xmlns:a16="http://schemas.microsoft.com/office/drawing/2014/main" val="217203555"/>
                  </a:ext>
                </a:extLst>
              </a:tr>
            </a:tbl>
          </a:graphicData>
        </a:graphic>
      </p:graphicFrame>
    </p:spTree>
    <p:extLst>
      <p:ext uri="{BB962C8B-B14F-4D97-AF65-F5344CB8AC3E}">
        <p14:creationId xmlns:p14="http://schemas.microsoft.com/office/powerpoint/2010/main" val="27923928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493A6-D730-0025-8CED-689ED025C0FB}"/>
              </a:ext>
            </a:extLst>
          </p:cNvPr>
          <p:cNvSpPr>
            <a:spLocks noGrp="1"/>
          </p:cNvSpPr>
          <p:nvPr>
            <p:ph type="title"/>
          </p:nvPr>
        </p:nvSpPr>
        <p:spPr/>
        <p:txBody>
          <a:bodyPr/>
          <a:lstStyle/>
          <a:p>
            <a:r>
              <a:rPr lang="en-US"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Thankyou </a:t>
            </a:r>
          </a:p>
        </p:txBody>
      </p:sp>
      <p:graphicFrame>
        <p:nvGraphicFramePr>
          <p:cNvPr id="4" name="Diagram 3">
            <a:extLst>
              <a:ext uri="{FF2B5EF4-FFF2-40B4-BE49-F238E27FC236}">
                <a16:creationId xmlns:a16="http://schemas.microsoft.com/office/drawing/2014/main" id="{9B7A4331-4986-E3A6-78F4-119E982D26D8}"/>
              </a:ext>
            </a:extLst>
          </p:cNvPr>
          <p:cNvGraphicFramePr/>
          <p:nvPr>
            <p:extLst>
              <p:ext uri="{D42A27DB-BD31-4B8C-83A1-F6EECF244321}">
                <p14:modId xmlns:p14="http://schemas.microsoft.com/office/powerpoint/2010/main" val="616785231"/>
              </p:ext>
            </p:extLst>
          </p:nvPr>
        </p:nvGraphicFramePr>
        <p:xfrm>
          <a:off x="342900" y="2245836"/>
          <a:ext cx="12275820" cy="34632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Arrow: Chevron 4">
            <a:extLst>
              <a:ext uri="{FF2B5EF4-FFF2-40B4-BE49-F238E27FC236}">
                <a16:creationId xmlns:a16="http://schemas.microsoft.com/office/drawing/2014/main" id="{F903DDDF-0C3E-1824-4E65-F64297753760}"/>
              </a:ext>
            </a:extLst>
          </p:cNvPr>
          <p:cNvSpPr/>
          <p:nvPr/>
        </p:nvSpPr>
        <p:spPr>
          <a:xfrm rot="5400000">
            <a:off x="522922" y="3774757"/>
            <a:ext cx="2005965" cy="845820"/>
          </a:xfrm>
          <a:prstGeom prst="chevron">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Arrow: Chevron 5">
            <a:extLst>
              <a:ext uri="{FF2B5EF4-FFF2-40B4-BE49-F238E27FC236}">
                <a16:creationId xmlns:a16="http://schemas.microsoft.com/office/drawing/2014/main" id="{908E439D-AAEC-6D44-09C9-C6773BCC144E}"/>
              </a:ext>
            </a:extLst>
          </p:cNvPr>
          <p:cNvSpPr/>
          <p:nvPr/>
        </p:nvSpPr>
        <p:spPr>
          <a:xfrm rot="5400000">
            <a:off x="946783" y="3886199"/>
            <a:ext cx="1158242" cy="622936"/>
          </a:xfrm>
          <a:prstGeom prst="chevron">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6961873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1963</TotalTime>
  <Words>4440</Words>
  <Application>Microsoft Office PowerPoint</Application>
  <PresentationFormat>Custom</PresentationFormat>
  <Paragraphs>497</Paragraphs>
  <Slides>24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__fkGroteskNeue_598ab8</vt:lpstr>
      <vt:lpstr>ADLaM Display</vt:lpstr>
      <vt:lpstr>Aptos</vt:lpstr>
      <vt:lpstr>Aptos Display</vt:lpstr>
      <vt:lpstr>Arial</vt:lpstr>
      <vt:lpstr>Calibri</vt:lpstr>
      <vt:lpstr>fkGroteskNeue</vt:lpstr>
      <vt:lpstr>Times New Roman</vt:lpstr>
      <vt:lpstr>var(--font-fk-grotesk)</vt:lpstr>
      <vt:lpstr>Office Theme</vt:lpstr>
      <vt:lpstr>Title –  Design of IOT Architecture for Battery Charging Management System</vt:lpstr>
      <vt:lpstr>Outline</vt:lpstr>
      <vt:lpstr>Introduction</vt:lpstr>
      <vt:lpstr>2.1 Semester work</vt:lpstr>
      <vt:lpstr>PowerPoint Presentation</vt:lpstr>
      <vt:lpstr>Literature Review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Circuit Simulation Diagram</vt:lpstr>
      <vt:lpstr>Results and Discussion</vt:lpstr>
      <vt:lpstr>PowerPoint Presentation</vt:lpstr>
      <vt:lpstr>PowerPoint Presentation</vt:lpstr>
      <vt:lpstr>Thankyou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Jagadeesh .</dc:creator>
  <cp:lastModifiedBy>jagadeeswara kamarajugadda | AP23122100002</cp:lastModifiedBy>
  <cp:revision>258</cp:revision>
  <dcterms:created xsi:type="dcterms:W3CDTF">2025-02-03T03:35:17Z</dcterms:created>
  <dcterms:modified xsi:type="dcterms:W3CDTF">2025-04-13T12:48:42Z</dcterms:modified>
</cp:coreProperties>
</file>