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25" d="100"/>
          <a:sy n="25" d="100"/>
        </p:scale>
        <p:origin x="1800" y="-2952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3" Type="http://schemas.openxmlformats.org/officeDocument/2006/relationships/image" Target="../media/image3.png"/><Relationship Id="rId21" Type="http://schemas.openxmlformats.org/officeDocument/2006/relationships/image" Target="../media/image21.jpe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hyperlink" Target="mailto:Jagadeeswara_kamarajugadda@srmap.edu.in" TargetMode="External"/><Relationship Id="rId16" Type="http://schemas.openxmlformats.org/officeDocument/2006/relationships/image" Target="../media/image16.jpg"/><Relationship Id="rId20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5" Type="http://schemas.openxmlformats.org/officeDocument/2006/relationships/image" Target="../media/image15.jpg"/><Relationship Id="rId23" Type="http://schemas.openxmlformats.org/officeDocument/2006/relationships/image" Target="../media/image23.png"/><Relationship Id="rId10" Type="http://schemas.openxmlformats.org/officeDocument/2006/relationships/image" Target="../media/image10.jp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jpg"/><Relationship Id="rId14" Type="http://schemas.openxmlformats.org/officeDocument/2006/relationships/image" Target="../media/image14.jpg"/><Relationship Id="rId22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1261136" y="42121"/>
            <a:ext cx="27817101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Design of IOT Architecture for Battery Charging Management System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7425376" y="3158023"/>
            <a:ext cx="16224221" cy="1730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Sujith Kalluri</a:t>
            </a:r>
            <a:r>
              <a:rPr lang="en-US" sz="4600" b="1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Jagadeeswara Chandra </a:t>
            </a:r>
            <a:r>
              <a:rPr lang="en-US" sz="46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bose.k</a:t>
            </a:r>
            <a:r>
              <a:rPr lang="en-US" sz="4600" b="1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Jaswanth Kumar</a:t>
            </a:r>
            <a:r>
              <a:rPr lang="en-US" sz="4600" b="1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Uttam Kumar </a:t>
            </a:r>
            <a:r>
              <a:rPr lang="en-US" sz="4600" b="1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4600" b="1" baseline="300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sz="4600" b="1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ECE, SRM University 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136" y="39049741"/>
            <a:ext cx="8465280" cy="19344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/>
              <a:t>Jagadeeswara Chandra </a:t>
            </a:r>
            <a:r>
              <a:rPr lang="en-US" sz="3000" dirty="0" err="1"/>
              <a:t>bose.k</a:t>
            </a:r>
            <a:endParaRPr lang="en-US" sz="3000" dirty="0"/>
          </a:p>
          <a:p>
            <a:r>
              <a:rPr lang="en-US" sz="3000" dirty="0"/>
              <a:t>SRM University AP</a:t>
            </a:r>
          </a:p>
          <a:p>
            <a:r>
              <a:rPr lang="en-US" sz="3000" dirty="0"/>
              <a:t>Email: </a:t>
            </a:r>
            <a:r>
              <a:rPr lang="en-US" sz="3000" dirty="0">
                <a:hlinkClick r:id="rId2"/>
              </a:rPr>
              <a:t>Jagadeeswara_kamarajugadda@srmap.edu.in</a:t>
            </a:r>
            <a:r>
              <a:rPr lang="en-US" sz="3000" dirty="0"/>
              <a:t> </a:t>
            </a:r>
          </a:p>
          <a:p>
            <a:r>
              <a:rPr lang="en-US" sz="3000" dirty="0"/>
              <a:t>Phone: +91  9705233003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136" y="37890733"/>
            <a:ext cx="2385859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3449" y="38738406"/>
            <a:ext cx="20269383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Cheng-Ta Chiang; Liang-Yu Chien “A Pitaya Dye-Sensitized Solar Cell Monitor for Environmental Sunlight Intensity Detection” IEEE Sensors Journal, 19-11, 03 February 2019.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 err="1"/>
              <a:t>Saswat</a:t>
            </a:r>
            <a:r>
              <a:rPr lang="en-US" sz="1600" dirty="0"/>
              <a:t> Kumar Ram; </a:t>
            </a:r>
            <a:r>
              <a:rPr lang="en-US" sz="1600" dirty="0" err="1"/>
              <a:t>Sauvagya</a:t>
            </a:r>
            <a:r>
              <a:rPr lang="en-US" sz="1600" dirty="0"/>
              <a:t> Ranjan Sahoo; Banee Bandana Das; </a:t>
            </a:r>
            <a:r>
              <a:rPr lang="en-US" sz="1600" dirty="0" err="1"/>
              <a:t>Kamalakanta</a:t>
            </a:r>
            <a:r>
              <a:rPr lang="en-US" sz="1600" dirty="0"/>
              <a:t> Mahapatra; </a:t>
            </a:r>
            <a:r>
              <a:rPr lang="en-US" sz="1600" dirty="0" err="1"/>
              <a:t>Saraju</a:t>
            </a:r>
            <a:r>
              <a:rPr lang="en-US" sz="1600" dirty="0"/>
              <a:t> P. Mohanty “Eternal-Thing: A Secure Aging-Aware Solar-Energy Harvester Thing for Sustainable IoT” IEEE Transactions on Sustainable Computing, 6-2, 15 April 2020.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Tai-Yeon Ku; Wan-Ki Park; Hoon Choi “ESS Simulation based on PV Generation Prediction” 2018 International Conference on Information and Communication Technology Convergence (ICTC), 18 November 2018.	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Abdelrahman Ahmed; Sobhy Abdelkader; Ehab Ayman “IoT-based optimization of microgrid operation” 2023 24th International Middle East Power System Conference (MEPCON), 18 March 2024.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George Y. Odongo; Richard </a:t>
            </a:r>
            <a:r>
              <a:rPr lang="en-US" sz="1600" dirty="0" err="1"/>
              <a:t>Musabe</a:t>
            </a:r>
            <a:r>
              <a:rPr lang="en-US" sz="1600" dirty="0"/>
              <a:t>; Damien </a:t>
            </a:r>
            <a:r>
              <a:rPr lang="en-US" sz="1600" dirty="0" err="1"/>
              <a:t>Hanyurwimfura</a:t>
            </a:r>
            <a:r>
              <a:rPr lang="en-US" sz="1600" dirty="0"/>
              <a:t>; Abubakar Diwani Bakari “An Efficient LoRa-Enabled Smart Fault Detection and Monitoring Platform for the Power Distribution System Using Self-Powered IoT Devices” IEEE Access (Volume: 10), 07 July 2022.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Isa Hafidz; </a:t>
            </a:r>
            <a:r>
              <a:rPr lang="en-US" sz="1600" dirty="0" err="1"/>
              <a:t>Ardyono</a:t>
            </a:r>
            <a:r>
              <a:rPr lang="en-US" sz="1600" dirty="0"/>
              <a:t> </a:t>
            </a:r>
            <a:r>
              <a:rPr lang="en-US" sz="1600" dirty="0" err="1"/>
              <a:t>Priyadi</a:t>
            </a:r>
            <a:r>
              <a:rPr lang="en-US" sz="1600" dirty="0"/>
              <a:t>; Margo </a:t>
            </a:r>
            <a:r>
              <a:rPr lang="en-US" sz="1600" dirty="0" err="1"/>
              <a:t>Pujiantara</a:t>
            </a:r>
            <a:r>
              <a:rPr lang="en-US" sz="1600" dirty="0"/>
              <a:t>; Dimas Okky </a:t>
            </a:r>
            <a:r>
              <a:rPr lang="en-US" sz="1600" dirty="0" err="1"/>
              <a:t>Anggriawan</a:t>
            </a:r>
            <a:r>
              <a:rPr lang="en-US" sz="1600" dirty="0"/>
              <a:t>; </a:t>
            </a:r>
            <a:r>
              <a:rPr lang="en-US" sz="1600" dirty="0" err="1"/>
              <a:t>Mauridhi</a:t>
            </a:r>
            <a:r>
              <a:rPr lang="en-US" sz="1600" dirty="0"/>
              <a:t> Hery Purnomo “Development of IoT-Based Portable Power Quality Monitoring on Microgrids by Enhancing Protection Features” IEEE Access (Volume: 11), 15 May 2023.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Dan Zheng; </a:t>
            </a:r>
            <a:r>
              <a:rPr lang="en-US" sz="1600" dirty="0" err="1"/>
              <a:t>Fushuan</a:t>
            </a:r>
            <a:r>
              <a:rPr lang="en-US" sz="1600" dirty="0"/>
              <a:t> Wen; </a:t>
            </a:r>
            <a:r>
              <a:rPr lang="en-US" sz="1600" dirty="0" err="1"/>
              <a:t>Jiansheng</a:t>
            </a:r>
            <a:r>
              <a:rPr lang="en-US" sz="1600" dirty="0"/>
              <a:t> Huang “Optimal planning of battery swap stations” International Conference on Sustainable Power Generation and Supply (SUPERGEN 2012), 04 April 2013.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Bansilal Bairwa; Mrinal </a:t>
            </a:r>
            <a:r>
              <a:rPr lang="en-US" sz="1600" dirty="0" err="1"/>
              <a:t>Sarvagya</a:t>
            </a:r>
            <a:r>
              <a:rPr lang="en-US" sz="1600" dirty="0"/>
              <a:t>; Sanjeeva Kumar; Arpita Banik “Battery Swapping Mobile Service Station for Electric Vehicles Application” 2021 Second International Conference on Smart Technologies in Computing, Electrical and Electronics (ICSTCEE), 15 February 2022.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Xian Zhang; </a:t>
            </a:r>
            <a:r>
              <a:rPr lang="en-US" sz="1600" dirty="0" err="1"/>
              <a:t>Guibin</a:t>
            </a:r>
            <a:r>
              <a:rPr lang="en-US" sz="1600" dirty="0"/>
              <a:t> Wang “Optimal dispatch of electric vehicle batteries between battery swapping stations and charging stations” 2016 IEEE Power and Energy Society General Meeting (PESGM), 14 November 2016.</a:t>
            </a:r>
          </a:p>
          <a:p>
            <a:pPr marL="197076" indent="-197076" algn="just">
              <a:buFont typeface="+mj-lt"/>
              <a:buAutoNum type="arabicPeriod"/>
            </a:pPr>
            <a:r>
              <a:rPr lang="en-US" sz="1600" dirty="0"/>
              <a:t>Sayantika Sikdar; Madhavi Damle “IoT Solutions for Electric Vehicles  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9952037" y="37705375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884238" y="6385719"/>
            <a:ext cx="8241394" cy="4506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3000" dirty="0">
                <a:latin typeface="+mn-lt"/>
              </a:rPr>
              <a:t>Rapid growing of electric vehicle (EV) adoption faces challenges such as range anxiety and inconsistent charging infrastructure, which can be effectively addressed through an IoT-based architecture that offers real-time monitoring, predictive analytics, and mobile charging units, ultimately enhancing user experience, optimizing energy management, and promoting sustainable energy solutions for a cleaner future.</a:t>
            </a:r>
            <a:endParaRPr lang="en-US" sz="3000" b="1" dirty="0">
              <a:latin typeface="+mn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84239" y="5488284"/>
            <a:ext cx="8241394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9198926" y="6362866"/>
            <a:ext cx="9936507" cy="829191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+mn-lt"/>
              </a:rPr>
              <a:t>IoT Five-Layered Architecture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User Interface Application Layer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Cloud Server and Data Storage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Communication Layer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Microcontroller Layer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Sensor Layer.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198926" y="5471319"/>
            <a:ext cx="994539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53" name="Text Box 180"/>
          <p:cNvSpPr txBox="1">
            <a:spLocks noChangeArrowheads="1"/>
          </p:cNvSpPr>
          <p:nvPr/>
        </p:nvSpPr>
        <p:spPr bwMode="auto">
          <a:xfrm>
            <a:off x="10782037" y="29119504"/>
            <a:ext cx="3773803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1.</a:t>
            </a:r>
            <a:r>
              <a:rPr lang="en-US" sz="2400" dirty="0">
                <a:latin typeface="Calibri" pitchFamily="34" charset="0"/>
              </a:rPr>
              <a:t> Label in 24pt Calibri.</a:t>
            </a:r>
          </a:p>
        </p:txBody>
      </p:sp>
      <p:pic>
        <p:nvPicPr>
          <p:cNvPr id="6" name="Picture 5" descr="A black and green logo&#10;&#10;AI-generated content may be incorrect.">
            <a:extLst>
              <a:ext uri="{FF2B5EF4-FFF2-40B4-BE49-F238E27FC236}">
                <a16:creationId xmlns:a16="http://schemas.microsoft.com/office/drawing/2014/main" id="{513BB968-4613-3FDD-E032-EA113693B4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037" y="2434938"/>
            <a:ext cx="6327762" cy="2269177"/>
          </a:xfrm>
          <a:prstGeom prst="rect">
            <a:avLst/>
          </a:prstGeom>
        </p:spPr>
      </p:pic>
      <p:sp>
        <p:nvSpPr>
          <p:cNvPr id="7" name="Text Box 122">
            <a:extLst>
              <a:ext uri="{FF2B5EF4-FFF2-40B4-BE49-F238E27FC236}">
                <a16:creationId xmlns:a16="http://schemas.microsoft.com/office/drawing/2014/main" id="{6EA91420-C953-8D0F-650F-75BCE0580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2187" y="1854747"/>
            <a:ext cx="7894637" cy="3648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FFFF00"/>
                </a:solidFill>
                <a:latin typeface="Bell MT" panose="02020503060305020303" pitchFamily="18" charset="0"/>
              </a:rPr>
              <a:t>1</a:t>
            </a:r>
            <a:r>
              <a:rPr lang="en-US" sz="3600" b="1" baseline="30000" dirty="0">
                <a:solidFill>
                  <a:srgbClr val="FFFF00"/>
                </a:solidFill>
                <a:latin typeface="Bell MT" panose="02020503060305020303" pitchFamily="18" charset="0"/>
              </a:rPr>
              <a:t>st</a:t>
            </a:r>
            <a:r>
              <a:rPr lang="en-US" sz="3600" b="1" dirty="0">
                <a:solidFill>
                  <a:srgbClr val="FFFF00"/>
                </a:solidFill>
                <a:latin typeface="Bell MT" panose="02020503060305020303" pitchFamily="18" charset="0"/>
              </a:rPr>
              <a:t> Edition of ECE Open Day</a:t>
            </a:r>
          </a:p>
          <a:p>
            <a:pPr algn="ctr" eaLnBrk="1" hangingPunct="1"/>
            <a:r>
              <a:rPr lang="en-US" sz="3600" b="1" dirty="0">
                <a:solidFill>
                  <a:srgbClr val="FFFF00"/>
                </a:solidFill>
                <a:latin typeface="Bell MT" panose="02020503060305020303" pitchFamily="18" charset="0"/>
              </a:rPr>
              <a:t> School of Engineering and Sciences</a:t>
            </a:r>
          </a:p>
          <a:p>
            <a:pPr algn="ctr" eaLnBrk="1" hangingPunct="1"/>
            <a:r>
              <a:rPr lang="en-US" sz="3600" b="1" dirty="0">
                <a:solidFill>
                  <a:srgbClr val="FFFF00"/>
                </a:solidFill>
                <a:latin typeface="Bell MT" panose="02020503060305020303" pitchFamily="18" charset="0"/>
              </a:rPr>
              <a:t>Department of Electronics and Communications Engineering, </a:t>
            </a:r>
          </a:p>
          <a:p>
            <a:pPr algn="ctr" eaLnBrk="1" hangingPunct="1"/>
            <a:r>
              <a:rPr lang="en-US" sz="3600" b="1" dirty="0">
                <a:solidFill>
                  <a:srgbClr val="FFFF00"/>
                </a:solidFill>
                <a:latin typeface="Bell MT" panose="02020503060305020303" pitchFamily="18" charset="0"/>
              </a:rPr>
              <a:t>M. Tech Project 2023-2025 </a:t>
            </a:r>
          </a:p>
        </p:txBody>
      </p:sp>
      <p:sp>
        <p:nvSpPr>
          <p:cNvPr id="2" name="Text Box 189">
            <a:extLst>
              <a:ext uri="{FF2B5EF4-FFF2-40B4-BE49-F238E27FC236}">
                <a16:creationId xmlns:a16="http://schemas.microsoft.com/office/drawing/2014/main" id="{0D474015-8570-FACA-9DA9-4DD8FDF03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7" y="11750242"/>
            <a:ext cx="8241394" cy="866124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+mn-lt"/>
              </a:rPr>
              <a:t>Growing Demand for Charging Infrastructure: </a:t>
            </a:r>
          </a:p>
          <a:p>
            <a:pPr algn="l"/>
            <a:r>
              <a:rPr lang="en-US" sz="3000" dirty="0">
                <a:latin typeface="+mn-lt"/>
              </a:rPr>
              <a:t>The rapid increase in electric vehicle (EV) sales is creating a pressing need for more efficient and accessible charging stations to alleviate range anxiety among users.</a:t>
            </a:r>
          </a:p>
          <a:p>
            <a:pPr algn="l"/>
            <a:endParaRPr lang="en-US" sz="3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+mn-lt"/>
              </a:rPr>
              <a:t>Integration of Renewable Energy</a:t>
            </a:r>
            <a:r>
              <a:rPr lang="en-US" sz="3000" dirty="0">
                <a:latin typeface="+mn-lt"/>
              </a:rPr>
              <a:t>: </a:t>
            </a:r>
          </a:p>
          <a:p>
            <a:pPr algn="l"/>
            <a:r>
              <a:rPr lang="en-US" sz="3000" dirty="0">
                <a:latin typeface="+mn-lt"/>
              </a:rPr>
              <a:t>There is a critical requirement for sustainable charging solutions that incorporate renewable energy sources, such as solar power, to align with environmental sustainability goals.</a:t>
            </a:r>
          </a:p>
          <a:p>
            <a:pPr algn="l"/>
            <a:endParaRPr lang="en-US" sz="3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+mn-lt"/>
              </a:rPr>
              <a:t>Cost Reduction and Innovation: </a:t>
            </a:r>
          </a:p>
          <a:p>
            <a:pPr algn="l"/>
            <a:r>
              <a:rPr lang="en-US" sz="3000" dirty="0">
                <a:latin typeface="+mn-lt"/>
              </a:rPr>
              <a:t>The necessity to reduce operational costs in charging management is driving the adoption of innovative IoT technologies aimed at optimizing battery management and enhancing overall efficiency.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616A9B-9981-ED7C-4487-1E07A0454553}"/>
              </a:ext>
            </a:extLst>
          </p:cNvPr>
          <p:cNvSpPr/>
          <p:nvPr/>
        </p:nvSpPr>
        <p:spPr>
          <a:xfrm>
            <a:off x="892450" y="10939591"/>
            <a:ext cx="8241394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Introduction</a:t>
            </a: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9090AC40-8BBC-7848-7DC8-73CE7DE54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7" y="21369342"/>
            <a:ext cx="8241394" cy="304631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Demand of Charging Infrastructure Expansion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Grid Load Disturbances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High Installation and Operational Costs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Inefficient Load Management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Limited Remote Monitoring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B0234-95FB-26FB-9E0C-E70CC8766A73}"/>
              </a:ext>
            </a:extLst>
          </p:cNvPr>
          <p:cNvSpPr/>
          <p:nvPr/>
        </p:nvSpPr>
        <p:spPr>
          <a:xfrm>
            <a:off x="862840" y="20523529"/>
            <a:ext cx="8274365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Problem Statement</a:t>
            </a: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ABBEB687-FE47-16CA-0D1C-EA08C9AF8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7" y="25359519"/>
            <a:ext cx="8241394" cy="555661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Develop an IoT-based architecture for optimized battery charging management.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800" kern="100" dirty="0">
              <a:latin typeface="+mn-lt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Incorporate real-time data monitoring and predictive analytics.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800" kern="100" dirty="0">
              <a:latin typeface="+mn-lt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Enhance operational cost efficiency by up to 88.5%.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800" kern="100" dirty="0">
              <a:latin typeface="+mn-lt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Promote sustainable energy integration through solar and 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DA68B5-5CA7-D8F6-6E02-C7E76CEDA411}"/>
              </a:ext>
            </a:extLst>
          </p:cNvPr>
          <p:cNvSpPr/>
          <p:nvPr/>
        </p:nvSpPr>
        <p:spPr>
          <a:xfrm>
            <a:off x="884237" y="24498624"/>
            <a:ext cx="8241394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Objectives</a:t>
            </a: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BE714CD0-CEA4-E6C4-77B1-D8732D498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7" y="31954902"/>
            <a:ext cx="8241394" cy="473715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Innovative IOT 5 layered Architecture.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Integration of multiple energy sources.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Central monitoring and controlling.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Real-Time data processing and user interface.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Cloud connectivity.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Cost efficiency model.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Scalability and Adaptability.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Portable charging station.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2BE0F5-0DE1-39BA-DCF8-57C4816386B3}"/>
              </a:ext>
            </a:extLst>
          </p:cNvPr>
          <p:cNvSpPr/>
          <p:nvPr/>
        </p:nvSpPr>
        <p:spPr>
          <a:xfrm>
            <a:off x="884237" y="31078436"/>
            <a:ext cx="8241394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Project Novelty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CC41FF-6CDF-0E02-02C0-F98488BC5E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08"/>
          <a:stretch/>
        </p:blipFill>
        <p:spPr>
          <a:xfrm>
            <a:off x="9259905" y="9772204"/>
            <a:ext cx="9799665" cy="4398789"/>
          </a:xfrm>
          <a:prstGeom prst="rect">
            <a:avLst/>
          </a:prstGeom>
        </p:spPr>
      </p:pic>
      <p:sp>
        <p:nvSpPr>
          <p:cNvPr id="28" name="Text Box 192">
            <a:extLst>
              <a:ext uri="{FF2B5EF4-FFF2-40B4-BE49-F238E27FC236}">
                <a16:creationId xmlns:a16="http://schemas.microsoft.com/office/drawing/2014/main" id="{170209EC-2263-CF5D-0C6D-6EA9E9654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0037" y="14485357"/>
            <a:ext cx="9936507" cy="761480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+mn-lt"/>
              </a:rPr>
              <a:t>Point of Common Coupling (PCC)</a:t>
            </a:r>
          </a:p>
          <a:p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Combines solar power, ESS, and grid power for Integration and Automation</a:t>
            </a:r>
            <a:r>
              <a:rPr lang="en-US" sz="3600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  <a:p>
            <a:endParaRPr lang="en-US" sz="3600" b="1" kern="1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1" name="Text Box 192">
            <a:extLst>
              <a:ext uri="{FF2B5EF4-FFF2-40B4-BE49-F238E27FC236}">
                <a16:creationId xmlns:a16="http://schemas.microsoft.com/office/drawing/2014/main" id="{6AB3D357-BCBB-123A-EBD3-8FC6890FB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8926" y="22202920"/>
            <a:ext cx="9936507" cy="151861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4400" b="1" dirty="0">
                <a:solidFill>
                  <a:srgbClr val="C00000"/>
                </a:solidFill>
                <a:latin typeface="+mn-lt"/>
              </a:rPr>
              <a:t>Algorithms</a:t>
            </a:r>
          </a:p>
          <a:p>
            <a:pPr algn="just"/>
            <a:r>
              <a:rPr lang="en-US" sz="4000" b="1" dirty="0">
                <a:solidFill>
                  <a:srgbClr val="002060"/>
                </a:solidFill>
                <a:latin typeface="+mn-lt"/>
              </a:rPr>
              <a:t>MPPT (Maximum Power Point Tracking) Algorithm:</a:t>
            </a:r>
          </a:p>
          <a:p>
            <a:pPr algn="just"/>
            <a:r>
              <a:rPr lang="en-US" sz="4000" dirty="0">
                <a:latin typeface="+mn-lt"/>
              </a:rPr>
              <a:t>Optimizes solar panel output by continuously adjusting the operating point to maximize energy capture under varying conditions.</a:t>
            </a:r>
          </a:p>
          <a:p>
            <a:pPr algn="just"/>
            <a:endParaRPr lang="en-US" sz="4000" dirty="0">
              <a:latin typeface="+mn-lt"/>
            </a:endParaRPr>
          </a:p>
          <a:p>
            <a:pPr algn="just"/>
            <a:r>
              <a:rPr lang="en-US" sz="4000" b="1" dirty="0">
                <a:solidFill>
                  <a:srgbClr val="002060"/>
                </a:solidFill>
                <a:latin typeface="+mn-lt"/>
              </a:rPr>
              <a:t>Battery Swapping Station Algorithm:</a:t>
            </a:r>
          </a:p>
          <a:p>
            <a:pPr algn="just"/>
            <a:r>
              <a:rPr lang="en-US" sz="4000" dirty="0">
                <a:latin typeface="+mn-lt"/>
              </a:rPr>
              <a:t>Manages logistics and scheduling for battery swaps, optimizing inventory and availability of charged batteries to improve service efficiency.</a:t>
            </a:r>
          </a:p>
          <a:p>
            <a:pPr algn="just"/>
            <a:endParaRPr lang="en-US" sz="4000" dirty="0">
              <a:latin typeface="+mn-lt"/>
            </a:endParaRPr>
          </a:p>
          <a:p>
            <a:pPr algn="just"/>
            <a:r>
              <a:rPr lang="en-US" sz="4000" b="1" dirty="0">
                <a:solidFill>
                  <a:srgbClr val="002060"/>
                </a:solidFill>
                <a:latin typeface="+mn-lt"/>
              </a:rPr>
              <a:t>Vehicle Charging Control Calculation:</a:t>
            </a:r>
          </a:p>
          <a:p>
            <a:pPr algn="just"/>
            <a:r>
              <a:rPr lang="en-US" sz="4000" dirty="0">
                <a:latin typeface="+mn-lt"/>
              </a:rPr>
              <a:t>Calculates optimal charging rates based on battery state-of-charge (SOC) and user demand, ensuring safe and efficient charging.</a:t>
            </a:r>
          </a:p>
          <a:p>
            <a:pPr algn="just"/>
            <a:endParaRPr lang="en-US" sz="4000" dirty="0">
              <a:latin typeface="+mn-lt"/>
            </a:endParaRPr>
          </a:p>
          <a:p>
            <a:pPr algn="just"/>
            <a:r>
              <a:rPr lang="en-US" sz="4000" b="1" dirty="0">
                <a:solidFill>
                  <a:srgbClr val="002060"/>
                </a:solidFill>
                <a:latin typeface="+mn-lt"/>
              </a:rPr>
              <a:t>Safety and Blast Condition Prediction using ML:</a:t>
            </a:r>
          </a:p>
          <a:p>
            <a:pPr algn="just"/>
            <a:r>
              <a:rPr lang="en-US" sz="4000" dirty="0">
                <a:latin typeface="+mn-lt"/>
              </a:rPr>
              <a:t>Utilizes machine learning models to analyze historical data and predict potential safety hazards in battery charging environments, enabling proactive risk management.</a:t>
            </a:r>
          </a:p>
        </p:txBody>
      </p:sp>
      <p:sp>
        <p:nvSpPr>
          <p:cNvPr id="38" name="Text Box 192">
            <a:extLst>
              <a:ext uri="{FF2B5EF4-FFF2-40B4-BE49-F238E27FC236}">
                <a16:creationId xmlns:a16="http://schemas.microsoft.com/office/drawing/2014/main" id="{B9F7B368-3AEE-7032-AEA5-54B5A6265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4130" y="6385719"/>
            <a:ext cx="9936507" cy="7276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E32B68-7058-4E2B-D13E-199E3EF70431}"/>
              </a:ext>
            </a:extLst>
          </p:cNvPr>
          <p:cNvSpPr/>
          <p:nvPr/>
        </p:nvSpPr>
        <p:spPr>
          <a:xfrm>
            <a:off x="19294620" y="5494172"/>
            <a:ext cx="994539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Simulation work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01A5CC0-A2FC-6C54-93EB-5AF906415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0071" y="6518832"/>
            <a:ext cx="9616006" cy="386737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D8B39CB-73B4-FB55-11B9-25AE010B9C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961"/>
          <a:stretch/>
        </p:blipFill>
        <p:spPr>
          <a:xfrm>
            <a:off x="19414509" y="10525204"/>
            <a:ext cx="9451962" cy="3058921"/>
          </a:xfrm>
          <a:prstGeom prst="rect">
            <a:avLst/>
          </a:prstGeom>
        </p:spPr>
      </p:pic>
      <p:sp>
        <p:nvSpPr>
          <p:cNvPr id="42" name="Text Box 192">
            <a:extLst>
              <a:ext uri="{FF2B5EF4-FFF2-40B4-BE49-F238E27FC236}">
                <a16:creationId xmlns:a16="http://schemas.microsoft.com/office/drawing/2014/main" id="{CDD1F921-38E7-08AC-E7B6-2BF6820BA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4130" y="14694581"/>
            <a:ext cx="9936507" cy="496792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6C5045-FBA6-1B9D-D123-56FBFD919032}"/>
              </a:ext>
            </a:extLst>
          </p:cNvPr>
          <p:cNvSpPr/>
          <p:nvPr/>
        </p:nvSpPr>
        <p:spPr>
          <a:xfrm>
            <a:off x="19285241" y="13800795"/>
            <a:ext cx="994539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Real Time Monitoring</a:t>
            </a:r>
          </a:p>
        </p:txBody>
      </p:sp>
      <p:pic>
        <p:nvPicPr>
          <p:cNvPr id="46" name="Picture 45" descr="A group of green circles&#10;&#10;Description automatically generated">
            <a:extLst>
              <a:ext uri="{FF2B5EF4-FFF2-40B4-BE49-F238E27FC236}">
                <a16:creationId xmlns:a16="http://schemas.microsoft.com/office/drawing/2014/main" id="{8097C11B-5015-83AD-AF18-62B7E5FD29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2370" y="17689938"/>
            <a:ext cx="4829063" cy="1837883"/>
          </a:xfrm>
          <a:prstGeom prst="rect">
            <a:avLst/>
          </a:prstGeom>
        </p:spPr>
      </p:pic>
      <p:pic>
        <p:nvPicPr>
          <p:cNvPr id="47" name="Picture 46" descr="A screenshot of a computer&#10;&#10;Description automatically generated">
            <a:extLst>
              <a:ext uri="{FF2B5EF4-FFF2-40B4-BE49-F238E27FC236}">
                <a16:creationId xmlns:a16="http://schemas.microsoft.com/office/drawing/2014/main" id="{5FA7E1BE-4424-22B4-7F69-0D570D9E83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7096" y="17918096"/>
            <a:ext cx="4642630" cy="1609725"/>
          </a:xfrm>
          <a:prstGeom prst="rect">
            <a:avLst/>
          </a:prstGeom>
        </p:spPr>
      </p:pic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2C457A7-4A99-3D72-481E-E408E92334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0071" y="14816033"/>
            <a:ext cx="4642630" cy="3369547"/>
          </a:xfrm>
          <a:prstGeom prst="rect">
            <a:avLst/>
          </a:prstGeom>
        </p:spPr>
      </p:pic>
      <p:pic>
        <p:nvPicPr>
          <p:cNvPr id="54" name="Picture 53" descr="A screenshot of a power generation control&#10;&#10;Description automatically generated">
            <a:extLst>
              <a:ext uri="{FF2B5EF4-FFF2-40B4-BE49-F238E27FC236}">
                <a16:creationId xmlns:a16="http://schemas.microsoft.com/office/drawing/2014/main" id="{A4B6B638-8FE5-C6C7-E69A-E0C4C1758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8843" y="14816303"/>
            <a:ext cx="5202669" cy="2905251"/>
          </a:xfrm>
          <a:prstGeom prst="rect">
            <a:avLst/>
          </a:prstGeom>
        </p:spPr>
      </p:pic>
      <p:sp>
        <p:nvSpPr>
          <p:cNvPr id="55" name="Text Box 192">
            <a:extLst>
              <a:ext uri="{FF2B5EF4-FFF2-40B4-BE49-F238E27FC236}">
                <a16:creationId xmlns:a16="http://schemas.microsoft.com/office/drawing/2014/main" id="{AABF22B4-F8B6-C59F-C2A5-2875606DE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4130" y="20667358"/>
            <a:ext cx="9936507" cy="265960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A78770-F910-045B-C5C6-87D497750C52}"/>
              </a:ext>
            </a:extLst>
          </p:cNvPr>
          <p:cNvSpPr/>
          <p:nvPr/>
        </p:nvSpPr>
        <p:spPr>
          <a:xfrm>
            <a:off x="19294130" y="19775811"/>
            <a:ext cx="9936507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 Visualization</a:t>
            </a:r>
          </a:p>
        </p:txBody>
      </p:sp>
      <p:pic>
        <p:nvPicPr>
          <p:cNvPr id="57" name="Picture 56" descr="A screenshot of a computer&#10;&#10;Description automatically generated">
            <a:extLst>
              <a:ext uri="{FF2B5EF4-FFF2-40B4-BE49-F238E27FC236}">
                <a16:creationId xmlns:a16="http://schemas.microsoft.com/office/drawing/2014/main" id="{4F56FB40-3ABB-3A50-6B76-51B793A75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957" y="20823351"/>
            <a:ext cx="9730480" cy="2387257"/>
          </a:xfrm>
          <a:prstGeom prst="rect">
            <a:avLst/>
          </a:prstGeom>
        </p:spPr>
      </p:pic>
      <p:sp>
        <p:nvSpPr>
          <p:cNvPr id="58" name="Text Box 192">
            <a:extLst>
              <a:ext uri="{FF2B5EF4-FFF2-40B4-BE49-F238E27FC236}">
                <a16:creationId xmlns:a16="http://schemas.microsoft.com/office/drawing/2014/main" id="{17A77F14-359D-91BE-D4EA-F15E90BDA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4130" y="24426516"/>
            <a:ext cx="9936507" cy="912290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350A0E-FC3F-F9C6-AC20-B83EC969ED5F}"/>
              </a:ext>
            </a:extLst>
          </p:cNvPr>
          <p:cNvSpPr/>
          <p:nvPr/>
        </p:nvSpPr>
        <p:spPr>
          <a:xfrm>
            <a:off x="19294129" y="23534969"/>
            <a:ext cx="9936507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4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Estimated Energy and Cost calculation</a:t>
            </a:r>
          </a:p>
        </p:txBody>
      </p:sp>
      <p:pic>
        <p:nvPicPr>
          <p:cNvPr id="67" name="Picture 66" descr="A chart with numbers and text&#10;&#10;Description automatically generated">
            <a:extLst>
              <a:ext uri="{FF2B5EF4-FFF2-40B4-BE49-F238E27FC236}">
                <a16:creationId xmlns:a16="http://schemas.microsoft.com/office/drawing/2014/main" id="{B0E4B97F-111D-03EC-00A9-A9CAEFAA81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8601" y="24496120"/>
            <a:ext cx="9775836" cy="2143125"/>
          </a:xfrm>
          <a:prstGeom prst="rect">
            <a:avLst/>
          </a:prstGeom>
        </p:spPr>
      </p:pic>
      <p:pic>
        <p:nvPicPr>
          <p:cNvPr id="68" name="Picture 67" descr="A chart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DBB9284D-1BAA-E32C-9500-2735863EB8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5108" y="29139669"/>
            <a:ext cx="5578329" cy="1836836"/>
          </a:xfrm>
          <a:prstGeom prst="rect">
            <a:avLst/>
          </a:prstGeom>
        </p:spPr>
      </p:pic>
      <p:pic>
        <p:nvPicPr>
          <p:cNvPr id="69" name="Picture 68" descr="A table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B028B2C8-9167-F5D4-9ECE-F6E675E6FE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349" y="29139669"/>
            <a:ext cx="4136163" cy="1836836"/>
          </a:xfrm>
          <a:prstGeom prst="rect">
            <a:avLst/>
          </a:prstGeom>
        </p:spPr>
      </p:pic>
      <p:pic>
        <p:nvPicPr>
          <p:cNvPr id="70" name="Picture 69" descr="A chart with numbers and text&#10;&#10;Description automatically generated">
            <a:extLst>
              <a:ext uri="{FF2B5EF4-FFF2-40B4-BE49-F238E27FC236}">
                <a16:creationId xmlns:a16="http://schemas.microsoft.com/office/drawing/2014/main" id="{B23E366F-E8BF-49E7-F035-41EA8D7248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8297" y="26713479"/>
            <a:ext cx="5422740" cy="2315088"/>
          </a:xfrm>
          <a:prstGeom prst="rect">
            <a:avLst/>
          </a:prstGeom>
        </p:spPr>
      </p:pic>
      <p:pic>
        <p:nvPicPr>
          <p:cNvPr id="71" name="Picture 70" descr="A screenshot of a battery swapping station&#10;&#10;Description automatically generated">
            <a:extLst>
              <a:ext uri="{FF2B5EF4-FFF2-40B4-BE49-F238E27FC236}">
                <a16:creationId xmlns:a16="http://schemas.microsoft.com/office/drawing/2014/main" id="{0A41DAA7-9933-43A9-32EE-51A4C5C9B5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8542" y="26721681"/>
            <a:ext cx="4229695" cy="2314196"/>
          </a:xfrm>
          <a:prstGeom prst="rect">
            <a:avLst/>
          </a:prstGeom>
        </p:spPr>
      </p:pic>
      <p:pic>
        <p:nvPicPr>
          <p:cNvPr id="72" name="Picture 71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1F7927BC-AA4E-EBE0-3933-6D9159D9577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718" y="31163760"/>
            <a:ext cx="4136163" cy="2233360"/>
          </a:xfrm>
          <a:prstGeom prst="rect">
            <a:avLst/>
          </a:prstGeom>
        </p:spPr>
      </p:pic>
      <p:pic>
        <p:nvPicPr>
          <p:cNvPr id="73" name="Picture 72" descr="A table with numbers and text&#10;&#10;Description automatically generated">
            <a:extLst>
              <a:ext uri="{FF2B5EF4-FFF2-40B4-BE49-F238E27FC236}">
                <a16:creationId xmlns:a16="http://schemas.microsoft.com/office/drawing/2014/main" id="{B7CAFFB6-7519-DD35-74C8-BF6DD5AD87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5108" y="31148361"/>
            <a:ext cx="5578329" cy="2240002"/>
          </a:xfrm>
          <a:prstGeom prst="rect">
            <a:avLst/>
          </a:prstGeom>
        </p:spPr>
      </p:pic>
      <p:sp>
        <p:nvSpPr>
          <p:cNvPr id="74" name="Text Box 192">
            <a:extLst>
              <a:ext uri="{FF2B5EF4-FFF2-40B4-BE49-F238E27FC236}">
                <a16:creationId xmlns:a16="http://schemas.microsoft.com/office/drawing/2014/main" id="{D59CF777-261C-EE65-7468-FAD6D0E1E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7653" y="34567473"/>
            <a:ext cx="9936507" cy="27385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100" dirty="0">
                <a:latin typeface="+mn-lt"/>
              </a:rPr>
              <a:t>The proposed IoT-based architecture addresses critical challenges in EV charging infrastructure by enhancing efficiency, integrating renewable energy, and providing real-time monitoring.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100">
                <a:latin typeface="+mn-lt"/>
              </a:rPr>
              <a:t>This innovation paves the way for sustainable transportation and significant cost savings.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AE9EF9A-CA32-E810-380A-E83FF6FCE589}"/>
              </a:ext>
            </a:extLst>
          </p:cNvPr>
          <p:cNvSpPr/>
          <p:nvPr/>
        </p:nvSpPr>
        <p:spPr>
          <a:xfrm>
            <a:off x="19227653" y="33675926"/>
            <a:ext cx="994539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4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 </a:t>
            </a:r>
          </a:p>
        </p:txBody>
      </p:sp>
      <p:pic>
        <p:nvPicPr>
          <p:cNvPr id="3" name="Picture 2" descr="ER&amp;D and Digital Engineering Services">
            <a:extLst>
              <a:ext uri="{FF2B5EF4-FFF2-40B4-BE49-F238E27FC236}">
                <a16:creationId xmlns:a16="http://schemas.microsoft.com/office/drawing/2014/main" id="{4F4EFBBA-4676-68CE-2EC2-CC474FCBF4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4" b="24702"/>
          <a:stretch/>
        </p:blipFill>
        <p:spPr bwMode="auto">
          <a:xfrm>
            <a:off x="22217067" y="37803077"/>
            <a:ext cx="2097016" cy="93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Elmelin - innovative microporous technology">
            <a:extLst>
              <a:ext uri="{FF2B5EF4-FFF2-40B4-BE49-F238E27FC236}">
                <a16:creationId xmlns:a16="http://schemas.microsoft.com/office/drawing/2014/main" id="{51CAF1C5-3593-879C-C074-42AB3CD06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5437" y="37921372"/>
            <a:ext cx="2365639" cy="75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Zypp Electric bags $25 Mn in Series B round">
            <a:extLst>
              <a:ext uri="{FF2B5EF4-FFF2-40B4-BE49-F238E27FC236}">
                <a16:creationId xmlns:a16="http://schemas.microsoft.com/office/drawing/2014/main" id="{611D4F52-FC50-F78A-303F-BB5A8A9A13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7" t="7897" r="32796" b="18675"/>
          <a:stretch/>
        </p:blipFill>
        <p:spPr bwMode="auto">
          <a:xfrm>
            <a:off x="26940441" y="37746516"/>
            <a:ext cx="1223396" cy="94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eDrift electric | LinkedIn">
            <a:extLst>
              <a:ext uri="{FF2B5EF4-FFF2-40B4-BE49-F238E27FC236}">
                <a16:creationId xmlns:a16="http://schemas.microsoft.com/office/drawing/2014/main" id="{4ACCFE46-A495-DE8B-D297-E1F47259B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9988" y="37737688"/>
            <a:ext cx="1112965" cy="103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FD0900B-C8A8-5F9A-E271-BE15FE791DD5}"/>
              </a:ext>
            </a:extLst>
          </p:cNvPr>
          <p:cNvSpPr/>
          <p:nvPr/>
        </p:nvSpPr>
        <p:spPr>
          <a:xfrm>
            <a:off x="22060961" y="37646951"/>
            <a:ext cx="7626876" cy="11625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1C57B0F-336B-2CFF-79F6-B34C273FD041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5131" r="2930" b="4308"/>
          <a:stretch/>
        </p:blipFill>
        <p:spPr>
          <a:xfrm>
            <a:off x="9326493" y="15878972"/>
            <a:ext cx="9625563" cy="561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899</Words>
  <Application>Microsoft Office PowerPoint</Application>
  <PresentationFormat>Custom</PresentationFormat>
  <Paragraphs>144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Arial Black</vt:lpstr>
      <vt:lpstr>Bell MT</vt:lpstr>
      <vt:lpstr>Calibri</vt:lpstr>
      <vt:lpstr>Times New Roman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jagadeeswara kamarajugadda | AP23122100002</cp:lastModifiedBy>
  <cp:revision>122</cp:revision>
  <cp:lastPrinted>2013-02-12T02:21:55Z</cp:lastPrinted>
  <dcterms:created xsi:type="dcterms:W3CDTF">2013-02-10T21:14:48Z</dcterms:created>
  <dcterms:modified xsi:type="dcterms:W3CDTF">2025-04-21T06:06:56Z</dcterms:modified>
</cp:coreProperties>
</file>