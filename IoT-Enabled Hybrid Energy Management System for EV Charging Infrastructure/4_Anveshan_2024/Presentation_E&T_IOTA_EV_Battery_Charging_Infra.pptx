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399" r:id="rId3"/>
    <p:sldId id="296" r:id="rId4"/>
    <p:sldId id="400" r:id="rId5"/>
    <p:sldId id="297" r:id="rId6"/>
    <p:sldId id="300" r:id="rId7"/>
    <p:sldId id="298" r:id="rId8"/>
    <p:sldId id="402" r:id="rId9"/>
    <p:sldId id="436" r:id="rId10"/>
    <p:sldId id="432" r:id="rId11"/>
    <p:sldId id="299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Sheet1!$O$11:$O$12</c:f>
              <c:strCache>
                <c:ptCount val="2"/>
                <c:pt idx="0">
                  <c:v>Total Energy  claculation</c:v>
                </c:pt>
                <c:pt idx="1">
                  <c:v>Power sources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Sheet1!$O$13:$O$22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0-0927-4525-83BF-4A1308216AE4}"/>
            </c:ext>
          </c:extLst>
        </c:ser>
        <c:ser>
          <c:idx val="1"/>
          <c:order val="1"/>
          <c:tx>
            <c:strRef>
              <c:f>Sheet1!$P$11:$P$12</c:f>
              <c:strCache>
                <c:ptCount val="2"/>
                <c:pt idx="0">
                  <c:v>Total Energy  claculation</c:v>
                </c:pt>
                <c:pt idx="1">
                  <c:v>KW / day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Sheet1!$P$13:$P$22</c:f>
              <c:numCache>
                <c:formatCode>#,##0</c:formatCode>
                <c:ptCount val="10"/>
                <c:pt idx="0">
                  <c:v>1816.8</c:v>
                </c:pt>
                <c:pt idx="1">
                  <c:v>1032</c:v>
                </c:pt>
                <c:pt idx="2">
                  <c:v>576</c:v>
                </c:pt>
                <c:pt idx="3">
                  <c:v>208.79999999999998</c:v>
                </c:pt>
                <c:pt idx="4">
                  <c:v>1608</c:v>
                </c:pt>
                <c:pt idx="6">
                  <c:v>21801.599999999999</c:v>
                </c:pt>
                <c:pt idx="8">
                  <c:v>19296</c:v>
                </c:pt>
                <c:pt idx="9">
                  <c:v>2505.5999999999985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525-83BF-4A1308216AE4}"/>
            </c:ext>
          </c:extLst>
        </c:ser>
        <c:ser>
          <c:idx val="2"/>
          <c:order val="2"/>
          <c:tx>
            <c:strRef>
              <c:f>Sheet1!$Q$11:$Q$12</c:f>
              <c:strCache>
                <c:ptCount val="2"/>
                <c:pt idx="0">
                  <c:v>Total Energy  claculation</c:v>
                </c:pt>
                <c:pt idx="1">
                  <c:v>KW / Month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Sheet1!$Q$13:$Q$22</c:f>
              <c:numCache>
                <c:formatCode>#,##0</c:formatCode>
                <c:ptCount val="10"/>
                <c:pt idx="0">
                  <c:v>54504</c:v>
                </c:pt>
                <c:pt idx="1">
                  <c:v>30960</c:v>
                </c:pt>
                <c:pt idx="2">
                  <c:v>17280</c:v>
                </c:pt>
                <c:pt idx="3">
                  <c:v>6263.9999999999991</c:v>
                </c:pt>
                <c:pt idx="4">
                  <c:v>48240</c:v>
                </c:pt>
                <c:pt idx="6">
                  <c:v>654048</c:v>
                </c:pt>
                <c:pt idx="8">
                  <c:v>578880</c:v>
                </c:pt>
                <c:pt idx="9">
                  <c:v>75168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27-4525-83BF-4A1308216AE4}"/>
            </c:ext>
          </c:extLst>
        </c:ser>
        <c:ser>
          <c:idx val="3"/>
          <c:order val="3"/>
          <c:tx>
            <c:strRef>
              <c:f>Sheet1!$R$11:$R$12</c:f>
              <c:strCache>
                <c:ptCount val="2"/>
                <c:pt idx="0">
                  <c:v>Total Energy  claculation</c:v>
                </c:pt>
                <c:pt idx="1">
                  <c:v>KW / year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Sheet1!$R$13:$R$22</c:f>
              <c:numCache>
                <c:formatCode>#,##0</c:formatCode>
                <c:ptCount val="10"/>
                <c:pt idx="0">
                  <c:v>663132</c:v>
                </c:pt>
                <c:pt idx="1">
                  <c:v>376680</c:v>
                </c:pt>
                <c:pt idx="2">
                  <c:v>210240</c:v>
                </c:pt>
                <c:pt idx="3">
                  <c:v>76212</c:v>
                </c:pt>
                <c:pt idx="4">
                  <c:v>586920</c:v>
                </c:pt>
                <c:pt idx="6">
                  <c:v>7957584</c:v>
                </c:pt>
                <c:pt idx="8">
                  <c:v>7043040</c:v>
                </c:pt>
                <c:pt idx="9">
                  <c:v>914544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27-4525-83BF-4A1308216AE4}"/>
            </c:ext>
          </c:extLst>
        </c:ser>
        <c:ser>
          <c:idx val="4"/>
          <c:order val="4"/>
          <c:tx>
            <c:strRef>
              <c:f>Sheet1!$S$11:$S$12</c:f>
              <c:strCache>
                <c:ptCount val="2"/>
                <c:pt idx="0">
                  <c:v>Total Energy  claculation</c:v>
                </c:pt>
                <c:pt idx="1">
                  <c:v>KW / 5 years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Sheet1!$S$13:$S$22</c:f>
              <c:numCache>
                <c:formatCode>#,##0</c:formatCode>
                <c:ptCount val="10"/>
                <c:pt idx="0">
                  <c:v>3315660</c:v>
                </c:pt>
                <c:pt idx="1">
                  <c:v>1883400</c:v>
                </c:pt>
                <c:pt idx="2">
                  <c:v>1051200</c:v>
                </c:pt>
                <c:pt idx="3">
                  <c:v>381060</c:v>
                </c:pt>
                <c:pt idx="4">
                  <c:v>2934600</c:v>
                </c:pt>
                <c:pt idx="6">
                  <c:v>39787920</c:v>
                </c:pt>
                <c:pt idx="8">
                  <c:v>35215200</c:v>
                </c:pt>
                <c:pt idx="9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27-4525-83BF-4A1308216A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78262496"/>
        <c:axId val="478254336"/>
      </c:barChart>
      <c:catAx>
        <c:axId val="4782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54336"/>
        <c:crosses val="autoZero"/>
        <c:auto val="1"/>
        <c:lblAlgn val="ctr"/>
        <c:lblOffset val="100"/>
        <c:noMultiLvlLbl val="0"/>
      </c:catAx>
      <c:valAx>
        <c:axId val="47825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62496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Sheet1!$N$27</c:f>
              <c:strCache>
                <c:ptCount val="1"/>
                <c:pt idx="0">
                  <c:v>Fast charging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Sheet1!$O$27:$S$27</c:f>
              <c:numCache>
                <c:formatCode>#,##0</c:formatCode>
                <c:ptCount val="5"/>
                <c:pt idx="1">
                  <c:v>26793.75</c:v>
                </c:pt>
                <c:pt idx="2">
                  <c:v>803812.5</c:v>
                </c:pt>
                <c:pt idx="3">
                  <c:v>9779718.75</c:v>
                </c:pt>
                <c:pt idx="4">
                  <c:v>48898593.75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D-4FEE-9FC1-6A98E33678CE}"/>
            </c:ext>
          </c:extLst>
        </c:ser>
        <c:ser>
          <c:idx val="1"/>
          <c:order val="1"/>
          <c:tx>
            <c:strRef>
              <c:f>Sheet1!$N$28</c:f>
              <c:strCache>
                <c:ptCount val="1"/>
                <c:pt idx="0">
                  <c:v>Battery Swapping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Sheet1!$O$28:$S$28</c:f>
              <c:numCache>
                <c:formatCode>#,##0</c:formatCode>
                <c:ptCount val="5"/>
                <c:pt idx="1">
                  <c:v>2700</c:v>
                </c:pt>
                <c:pt idx="2">
                  <c:v>81000</c:v>
                </c:pt>
                <c:pt idx="3">
                  <c:v>985500</c:v>
                </c:pt>
                <c:pt idx="4">
                  <c:v>4927500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D-4FEE-9FC1-6A98E33678CE}"/>
            </c:ext>
          </c:extLst>
        </c:ser>
        <c:ser>
          <c:idx val="2"/>
          <c:order val="2"/>
          <c:tx>
            <c:strRef>
              <c:f>Sheet1!$N$29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Sheet1!$O$29:$S$29</c:f>
              <c:numCache>
                <c:formatCode>#,##0</c:formatCode>
                <c:ptCount val="5"/>
                <c:pt idx="1">
                  <c:v>29493.75</c:v>
                </c:pt>
                <c:pt idx="2">
                  <c:v>884812.5</c:v>
                </c:pt>
                <c:pt idx="3">
                  <c:v>10765218.75</c:v>
                </c:pt>
                <c:pt idx="4">
                  <c:v>53826093.75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6D-4FEE-9FC1-6A98E33678CE}"/>
            </c:ext>
          </c:extLst>
        </c:ser>
        <c:ser>
          <c:idx val="3"/>
          <c:order val="3"/>
          <c:tx>
            <c:strRef>
              <c:f>Sheet1!$N$30</c:f>
              <c:strCache>
                <c:ptCount val="1"/>
                <c:pt idx="0">
                  <c:v>Spending Amount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Sheet1!$O$30:$S$30</c:f>
              <c:numCache>
                <c:formatCode>#,##0</c:formatCode>
                <c:ptCount val="5"/>
                <c:pt idx="1">
                  <c:v>2505.5999999999985</c:v>
                </c:pt>
                <c:pt idx="2">
                  <c:v>75168</c:v>
                </c:pt>
                <c:pt idx="3">
                  <c:v>914544</c:v>
                </c:pt>
                <c:pt idx="4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6D-4FEE-9FC1-6A98E33678CE}"/>
            </c:ext>
          </c:extLst>
        </c:ser>
        <c:ser>
          <c:idx val="4"/>
          <c:order val="4"/>
          <c:tx>
            <c:strRef>
              <c:f>Sheet1!$N$31</c:f>
              <c:strCache>
                <c:ptCount val="1"/>
                <c:pt idx="0">
                  <c:v>Total Profit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Sheet1!$O$31:$S$31</c:f>
              <c:numCache>
                <c:formatCode>#,##0</c:formatCode>
                <c:ptCount val="5"/>
                <c:pt idx="1">
                  <c:v>26988.15</c:v>
                </c:pt>
                <c:pt idx="2">
                  <c:v>809644.5</c:v>
                </c:pt>
                <c:pt idx="3">
                  <c:v>9850674.75</c:v>
                </c:pt>
                <c:pt idx="4">
                  <c:v>49253373.75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6D-4FEE-9FC1-6A98E3367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57145615"/>
        <c:axId val="1557138895"/>
      </c:barChart>
      <c:catAx>
        <c:axId val="155714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38895"/>
        <c:crosses val="autoZero"/>
        <c:auto val="1"/>
        <c:lblAlgn val="ctr"/>
        <c:lblOffset val="100"/>
        <c:noMultiLvlLbl val="0"/>
      </c:catAx>
      <c:valAx>
        <c:axId val="155713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45615"/>
        <c:crosses val="autoZero"/>
        <c:crossBetween val="between"/>
        <c:majorUnit val="30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D538F-1B84-480F-BAFF-B7C7AEB0C5F8}" type="datetimeFigureOut">
              <a:rPr lang="en-IN" smtClean="0"/>
              <a:t>21-02-2025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73350-6B4C-446B-A004-6A61E64EA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92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661B-3AEB-44EF-A89F-331C85ADF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3981D-3627-4D7E-88C7-E04596CF0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6B70C-8A12-4FFB-BD75-97792671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892E-A59D-46CA-AE4C-A6C194532F12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FD112-1C47-450B-BC5E-205D3699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1D43A-60C9-4069-870F-9811986C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39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3FF1-F4A1-4708-9705-434F9FE3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F3B69-F82D-4D88-9E77-B024935F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5D1EF-19C5-439D-B053-BD516FA8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9DC08-613E-4886-984B-B06487D5ACDF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8D580-6124-45F5-870A-87530CC7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3729B-AE6F-4857-AF8F-C3765BD9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5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1580-9D61-4671-BFA8-0A1E29A1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50CF2-09CB-421B-8849-91F33C8A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3F55-D09B-49CF-94CF-07887509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38D2-47C3-4803-866A-4F0432C6297F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C452D-7A4F-4CF8-A411-4A3FB73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0C78-6CC5-4538-BCDB-BC4AD5AD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66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9F3D-17CA-4AA1-8F58-7F463FFE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F7AF6-E949-4F3D-B68C-3DD2A6069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99DF0-3D4A-48D7-866D-835FE3FA1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A6C7C-5698-4CE0-AEB0-56A01982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3F1A2-B961-48D1-8893-23FCCD8CAD28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C6144-0A03-4D26-BA2B-A990A59A3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2E355-890D-4386-B259-A6DC8760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81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BC77-3F0F-49C9-9920-5926CAAC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952F7-0D67-4572-8110-8F53D6E3C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49B7A-1CF1-4490-AFC6-344712A72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F0DCB-5BA3-4CE2-A27B-D2EF160C9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9D550-3D0F-4D76-A974-8C24C5EA4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D9497-B7E1-4FB0-BD00-0FB1C7CB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47966-C565-4539-B275-C10D158550C1}" type="datetime1">
              <a:rPr lang="en-IN" smtClean="0"/>
              <a:t>21-02-2025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694EE-1D99-4BE5-9CED-FF737A5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8BE2C-447E-4071-BA51-E3331D36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94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81CA-3811-4FB4-AA60-D2D4AC6B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A469C-4E6C-44D3-A091-2837C0A8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7280-30F8-467C-8B27-EF3BA467AFA0}" type="datetime1">
              <a:rPr lang="en-IN" smtClean="0"/>
              <a:t>21-02-2025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28183-7EA9-4A88-A48E-C405C46A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7F9D9-8642-49BB-B610-98754E80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58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AFC6A6-2F2F-446C-AC6E-51FB8BAD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9C7B-2BBB-4001-9C71-AE9004D71E5D}" type="datetime1">
              <a:rPr lang="en-IN" smtClean="0"/>
              <a:t>21-02-2025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0D343-8148-477A-8169-97DACA4F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CE960-B757-4CDC-9D81-1C4C59D3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4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B34E-53ED-473A-BFEF-EB85464A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3E65-E925-427E-B348-AFF8BE561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A616E-46F3-4E80-BC0D-65D98E76A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22ABD-B608-4F45-AAE4-D74302D1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F21C-3201-4D17-9F40-95E3CBA67A42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5FCBC-9CEB-48FD-8F0E-C718A83D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3DD43-1D87-4BA6-A4CF-D7F3F8AF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AA91-A667-4065-BE4E-C0B911FB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3D7637-A54B-4A42-BA6F-8F9D9A6C4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8D0F0-4873-407B-8F0C-6569D13BA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4334D-C22E-40DA-92C8-117C1AFC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076E-EFD1-4799-9185-9D5DC20344F7}" type="datetime1">
              <a:rPr lang="en-IN" smtClean="0"/>
              <a:t>21-02-2025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73467-3773-4F7F-AD9A-312F5FDB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6D5F3-A699-490B-A73B-9EFED758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1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8284-4979-40EC-9185-B81C99D1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AEDFA-165B-47D1-8861-384783871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28A70-1248-4EB8-8BC3-906A91BD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9623-C546-4D38-9D7E-8B7E12061408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F970B-6FCE-4F58-907C-B4B96453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EEB8E-8C21-44EC-A71B-8053B5E3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1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7E6E2-BE50-4A68-B321-38F0D57ED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E1876-D6D1-4924-B31F-3FAF7C694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7C193-3185-46E9-9E60-7EE253C3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B99B-8A44-4EED-9F31-734ED7CC51A5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DDFDB-67D7-46B1-B4C5-EE6FA43E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A572-095B-474E-8D32-9DFE460E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1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4C8B4-6714-4394-83EA-FA7AB92B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78B93-8BE2-446F-9E8F-9E8FFBEC8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7ABA-216D-48FD-9814-5699275D6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34AE3-B220-4A6F-9AAD-9844FF29B71F}" type="datetime1">
              <a:rPr lang="en-IN" smtClean="0"/>
              <a:t>21-02-2025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7BE96-A21C-4124-9BF8-532A8A434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Fall 2024 - ECE 206 Design and Analysis of Analog, Mixed Signal Circuits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B9D2-FB56-4616-A493-71C11FC6E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E584F-15FA-4CE4-846C-438DA62D9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3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0662" y="405876"/>
            <a:ext cx="11971338" cy="15271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Title: </a:t>
            </a:r>
            <a:br>
              <a:rPr lang="en-US" sz="20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000" kern="1200" spc="3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of IOT Architecture for Battery Charging Management System</a:t>
            </a:r>
            <a:br>
              <a:rPr lang="en-US" sz="2000" kern="1200" spc="3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br>
              <a:rPr lang="en-US" sz="2000" kern="1200" spc="3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br>
              <a:rPr lang="en-US" sz="2000" kern="1200" spc="3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0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Theme of the Project: </a:t>
            </a:r>
            <a:br>
              <a:rPr lang="en-US" sz="20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000" spc="3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Battery Swapping station and EV Charging Infrastructure </a:t>
            </a:r>
            <a:endParaRPr lang="en-US" sz="2000" kern="1200" spc="3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2" name="Picture 4" descr="The Role Of IoT In Smart Grid Tech - Intuz">
            <a:extLst>
              <a:ext uri="{FF2B5EF4-FFF2-40B4-BE49-F238E27FC236}">
                <a16:creationId xmlns:a16="http://schemas.microsoft.com/office/drawing/2014/main" id="{CDF7FA1B-5A62-DE3D-001C-A0EDF44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985" y="5033054"/>
            <a:ext cx="3068298" cy="161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53921-181C-C4FD-4B38-497A06655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83" y="2474478"/>
            <a:ext cx="3392043" cy="2116531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3" name="Picture 2" descr="PV &amp; Energy Storage System in EV Charging Station - Rockwill Electric Group  - ROCKWILL Electric Group">
            <a:extLst>
              <a:ext uri="{FF2B5EF4-FFF2-40B4-BE49-F238E27FC236}">
                <a16:creationId xmlns:a16="http://schemas.microsoft.com/office/drawing/2014/main" id="{A9700875-E5C5-7DA7-175B-59FE9795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827" y="4137866"/>
            <a:ext cx="3392044" cy="190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0" descr="Node-Red Dashboard 2.0 - Default start ...">
            <a:extLst>
              <a:ext uri="{FF2B5EF4-FFF2-40B4-BE49-F238E27FC236}">
                <a16:creationId xmlns:a16="http://schemas.microsoft.com/office/drawing/2014/main" id="{6E9CB1BE-12AF-D3F7-65AC-B35BE4D74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843" y="3055083"/>
            <a:ext cx="3068298" cy="161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2" descr="Battery Swapping &amp; Charging Stations ...">
            <a:extLst>
              <a:ext uri="{FF2B5EF4-FFF2-40B4-BE49-F238E27FC236}">
                <a16:creationId xmlns:a16="http://schemas.microsoft.com/office/drawing/2014/main" id="{E4EE6A5F-F59A-2E5A-7CE1-D8ED5A860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715" y="5751268"/>
            <a:ext cx="1714916" cy="110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03213"/>
            <a:ext cx="1419225" cy="5715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34404C8-E894-A196-EACB-B369F029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46" y="1440959"/>
            <a:ext cx="11780519" cy="39760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12B385-10CE-9EBB-2627-7CDB94639449}"/>
              </a:ext>
            </a:extLst>
          </p:cNvPr>
          <p:cNvSpPr/>
          <p:nvPr/>
        </p:nvSpPr>
        <p:spPr>
          <a:xfrm>
            <a:off x="7957058" y="3551081"/>
            <a:ext cx="3465391" cy="179217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experience, optimized energy management, improved accessibility, and promotion of EVs and sustainable energy.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10FBA6-4E7F-B7E8-696A-6346AC2212A6}"/>
              </a:ext>
            </a:extLst>
          </p:cNvPr>
          <p:cNvSpPr/>
          <p:nvPr/>
        </p:nvSpPr>
        <p:spPr>
          <a:xfrm>
            <a:off x="8687421" y="836440"/>
            <a:ext cx="3070395" cy="1903088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predictive analytics, mobile charging units, centralized cloud platform, and user-friendly mobile app.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50BDDB-8477-2527-A5D7-EC3FE6108932}"/>
              </a:ext>
            </a:extLst>
          </p:cNvPr>
          <p:cNvSpPr/>
          <p:nvPr/>
        </p:nvSpPr>
        <p:spPr>
          <a:xfrm>
            <a:off x="111346" y="1054802"/>
            <a:ext cx="3070394" cy="1466364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EV adoption faces challenges like range anxiety, inconsistent charging, and limited infrastructure.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567EAC-0165-02C2-6C8C-94131AFD2D86}"/>
              </a:ext>
            </a:extLst>
          </p:cNvPr>
          <p:cNvSpPr/>
          <p:nvPr/>
        </p:nvSpPr>
        <p:spPr>
          <a:xfrm>
            <a:off x="4626117" y="1273213"/>
            <a:ext cx="2939766" cy="1029542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pPr algn="just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IoT-based architecture for efficient battery charging.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25C61D-2FF2-8B72-9D59-6DE91B769275}"/>
              </a:ext>
            </a:extLst>
          </p:cNvPr>
          <p:cNvSpPr/>
          <p:nvPr/>
        </p:nvSpPr>
        <p:spPr>
          <a:xfrm>
            <a:off x="925687" y="3515349"/>
            <a:ext cx="3309257" cy="179217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Addresses critical issues in EV charging, contributes to a cleaner future, and drives technological advancement.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DB7EBD7-4B2A-FED4-B9AD-395FB7E131F6}"/>
              </a:ext>
            </a:extLst>
          </p:cNvPr>
          <p:cNvSpPr/>
          <p:nvPr/>
        </p:nvSpPr>
        <p:spPr>
          <a:xfrm>
            <a:off x="3214317" y="1662798"/>
            <a:ext cx="1411800" cy="193994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B275458-2D2D-BEC8-C33E-778D7B9108EB}"/>
              </a:ext>
            </a:extLst>
          </p:cNvPr>
          <p:cNvSpPr/>
          <p:nvPr/>
        </p:nvSpPr>
        <p:spPr>
          <a:xfrm>
            <a:off x="7598460" y="1662797"/>
            <a:ext cx="1088961" cy="16561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1650967-6AE7-CBC3-BA5B-96862DA3E10B}"/>
              </a:ext>
            </a:extLst>
          </p:cNvPr>
          <p:cNvCxnSpPr>
            <a:cxnSpLocks/>
          </p:cNvCxnSpPr>
          <p:nvPr/>
        </p:nvCxnSpPr>
        <p:spPr>
          <a:xfrm rot="5400000">
            <a:off x="6105301" y="-702386"/>
            <a:ext cx="659061" cy="770903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698CB5C-33C6-34F3-140C-739A3400ABB8}"/>
              </a:ext>
            </a:extLst>
          </p:cNvPr>
          <p:cNvSpPr/>
          <p:nvPr/>
        </p:nvSpPr>
        <p:spPr>
          <a:xfrm>
            <a:off x="4281117" y="4378845"/>
            <a:ext cx="3593920" cy="19315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5603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F1A068-4F70-BD2A-0CC6-983767FF36C2}"/>
              </a:ext>
            </a:extLst>
          </p:cNvPr>
          <p:cNvSpPr txBox="1"/>
          <p:nvPr/>
        </p:nvSpPr>
        <p:spPr>
          <a:xfrm>
            <a:off x="4921013" y="114487"/>
            <a:ext cx="1855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13DF0-FF48-6344-0F61-A9E76B23795E}"/>
              </a:ext>
            </a:extLst>
          </p:cNvPr>
          <p:cNvSpPr txBox="1"/>
          <p:nvPr/>
        </p:nvSpPr>
        <p:spPr>
          <a:xfrm>
            <a:off x="148159" y="576152"/>
            <a:ext cx="11560630" cy="8803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Rapid growth of electric vehicles (EVs) increasing demand for efficient charging infrastructure.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Need for sustainable solutions integrating renewable energy sources like solar power and energy storage systems (ESS).</a:t>
            </a:r>
          </a:p>
        </p:txBody>
      </p:sp>
      <p:pic>
        <p:nvPicPr>
          <p:cNvPr id="2050" name="Picture 2" descr="Charged EVs | IoTecha wins $27-million grant for grid-friendly EV charging  in California - Charged EVs">
            <a:extLst>
              <a:ext uri="{FF2B5EF4-FFF2-40B4-BE49-F238E27FC236}">
                <a16:creationId xmlns:a16="http://schemas.microsoft.com/office/drawing/2014/main" id="{D8C0C657-3D9B-1352-DBDC-A8934BFDF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283" y="3243730"/>
            <a:ext cx="3493433" cy="204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103464-2A67-9A6B-B5C0-56204897F986}"/>
              </a:ext>
            </a:extLst>
          </p:cNvPr>
          <p:cNvSpPr/>
          <p:nvPr/>
        </p:nvSpPr>
        <p:spPr>
          <a:xfrm>
            <a:off x="148159" y="1812755"/>
            <a:ext cx="4432662" cy="169772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architecture to optimize battery charging management.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 real-time data monitoring and predictive analytics to enhance efficiency.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8A5894-6599-09B6-71AE-54CFF982A900}"/>
              </a:ext>
            </a:extLst>
          </p:cNvPr>
          <p:cNvSpPr/>
          <p:nvPr/>
        </p:nvSpPr>
        <p:spPr>
          <a:xfrm>
            <a:off x="148159" y="5018206"/>
            <a:ext cx="4432662" cy="169772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Demand: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EV sales necessitating more charging stations.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preference shifting towards renewable energy-powered solutions.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F9192E-22DF-C0B0-2098-66BF9AE77324}"/>
              </a:ext>
            </a:extLst>
          </p:cNvPr>
          <p:cNvSpPr/>
          <p:nvPr/>
        </p:nvSpPr>
        <p:spPr>
          <a:xfrm>
            <a:off x="7406756" y="1742707"/>
            <a:ext cx="4432662" cy="169772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Benefits: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operational costs, achieving up to 88.5% cost efficiency.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battery management through real-time monitoring of critical parameters (voltage, temperature, SOC).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96A182-E48F-04BB-D961-3917D00AEB8B}"/>
              </a:ext>
            </a:extLst>
          </p:cNvPr>
          <p:cNvSpPr/>
          <p:nvPr/>
        </p:nvSpPr>
        <p:spPr>
          <a:xfrm>
            <a:off x="7528054" y="4852877"/>
            <a:ext cx="4432662" cy="1697729"/>
          </a:xfrm>
          <a:prstGeom prst="roundRect">
            <a:avLst>
              <a:gd name="adj" fmla="val 1401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operations and automate maintenance.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charging infrastructure to meet growing demand.</a:t>
            </a:r>
          </a:p>
        </p:txBody>
      </p:sp>
    </p:spTree>
    <p:extLst>
      <p:ext uri="{BB962C8B-B14F-4D97-AF65-F5344CB8AC3E}">
        <p14:creationId xmlns:p14="http://schemas.microsoft.com/office/powerpoint/2010/main" val="287084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5E69-1DD2-2871-229E-4396241A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D970C-D7B4-5763-B079-93D198182793}"/>
              </a:ext>
            </a:extLst>
          </p:cNvPr>
          <p:cNvSpPr txBox="1"/>
          <p:nvPr/>
        </p:nvSpPr>
        <p:spPr>
          <a:xfrm>
            <a:off x="2696778" y="0"/>
            <a:ext cx="6333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Motivation, Research Gap &amp; Problem, Novelty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C69F4-18E3-B4D8-83BB-334DA91266D9}"/>
              </a:ext>
            </a:extLst>
          </p:cNvPr>
          <p:cNvSpPr txBox="1"/>
          <p:nvPr/>
        </p:nvSpPr>
        <p:spPr>
          <a:xfrm>
            <a:off x="149290" y="32768"/>
            <a:ext cx="11912082" cy="6834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electric vehicles (EVs) necessitates a robust and efficient charging infrastructure.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renewable energy sources like solar power into charging systems aligns with environmental sustainability goals.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need to reduce operational costs in charging management drives innovation with IOT in battery management technologies.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Problem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uniform standards for EV charging stations leads to compatibility issues across different systems.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research is needed to understand consumer preferences and behaviors regarding EV charging solutions.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Renewable Energy Sources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Comprehensive IoT-Based Charging Management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Holistic Approach to Grid Stability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Real-Time Monitoring and Control Capabilities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uniquely combines IoT technology for real-time monitoring in battery charging management.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five-layered architecture and PCC with source integration and automation provides a comprehensive approach to optimize charging processes.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Preliminary simulations indicate a potential reduction of up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in operational costs through optimized resource utilization.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4BE2D-AB09-BE53-E4CC-29582EF6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0" t="8973" r="14817" b="10815"/>
          <a:stretch/>
        </p:blipFill>
        <p:spPr>
          <a:xfrm>
            <a:off x="5492990" y="3559739"/>
            <a:ext cx="831246" cy="461070"/>
          </a:xfrm>
          <a:prstGeom prst="rect">
            <a:avLst/>
          </a:prstGeom>
        </p:spPr>
      </p:pic>
      <p:pic>
        <p:nvPicPr>
          <p:cNvPr id="5" name="Picture 20" descr="Node-Red Dashboard 2.0 - Default start ...">
            <a:extLst>
              <a:ext uri="{FF2B5EF4-FFF2-40B4-BE49-F238E27FC236}">
                <a16:creationId xmlns:a16="http://schemas.microsoft.com/office/drawing/2014/main" id="{84A7DBCF-D2F2-1412-B4E2-BA952BB8C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223" y="3530597"/>
            <a:ext cx="990490" cy="55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ED2412-0822-5E17-2668-42DF442E45F2}"/>
              </a:ext>
            </a:extLst>
          </p:cNvPr>
          <p:cNvSpPr txBox="1"/>
          <p:nvPr/>
        </p:nvSpPr>
        <p:spPr>
          <a:xfrm>
            <a:off x="6869157" y="4053837"/>
            <a:ext cx="1125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</a:t>
            </a:r>
            <a:endParaRPr lang="en-US" sz="1400" dirty="0"/>
          </a:p>
        </p:txBody>
      </p:sp>
      <p:pic>
        <p:nvPicPr>
          <p:cNvPr id="7" name="Picture 22" descr="Utility Load Management ...">
            <a:extLst>
              <a:ext uri="{FF2B5EF4-FFF2-40B4-BE49-F238E27FC236}">
                <a16:creationId xmlns:a16="http://schemas.microsoft.com/office/drawing/2014/main" id="{733AFDD3-6387-D9CA-F4E2-8B1AFC6A0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836" y="3415194"/>
            <a:ext cx="1278015" cy="85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52FF81-6E5A-4258-84F3-030BF1024F71}"/>
              </a:ext>
            </a:extLst>
          </p:cNvPr>
          <p:cNvSpPr txBox="1"/>
          <p:nvPr/>
        </p:nvSpPr>
        <p:spPr>
          <a:xfrm>
            <a:off x="7913081" y="4212174"/>
            <a:ext cx="1642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management</a:t>
            </a:r>
            <a:endParaRPr lang="en-US" sz="1400" dirty="0"/>
          </a:p>
        </p:txBody>
      </p:sp>
      <p:pic>
        <p:nvPicPr>
          <p:cNvPr id="9" name="Picture 24" descr="Efficient Artificial Neural Network for Smart Grid Stability Prediction -  Mohsen - 2023 - International Transactions on Electrical Energy Systems -  Wiley Online Library">
            <a:extLst>
              <a:ext uri="{FF2B5EF4-FFF2-40B4-BE49-F238E27FC236}">
                <a16:creationId xmlns:a16="http://schemas.microsoft.com/office/drawing/2014/main" id="{7F1108A7-D559-0889-4C73-10D2A0E4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282" y="3335132"/>
            <a:ext cx="1171568" cy="83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F1E7B0-A4F2-0077-1E25-7B534FDD2E82}"/>
              </a:ext>
            </a:extLst>
          </p:cNvPr>
          <p:cNvSpPr txBox="1"/>
          <p:nvPr/>
        </p:nvSpPr>
        <p:spPr>
          <a:xfrm>
            <a:off x="9528573" y="4206778"/>
            <a:ext cx="1204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Stability</a:t>
            </a:r>
            <a:endParaRPr lang="en-US" sz="1400" dirty="0"/>
          </a:p>
        </p:txBody>
      </p:sp>
      <p:pic>
        <p:nvPicPr>
          <p:cNvPr id="11" name="Picture 26" descr="What is an “algorithm”? It depends whom you ask | MIT Technology Review">
            <a:extLst>
              <a:ext uri="{FF2B5EF4-FFF2-40B4-BE49-F238E27FC236}">
                <a16:creationId xmlns:a16="http://schemas.microsoft.com/office/drawing/2014/main" id="{329185EE-57BE-DD65-F84A-A313B80EB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965" y="3404458"/>
            <a:ext cx="1164961" cy="70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EB5F00-A6FC-CD70-DE83-A5703C6E7039}"/>
              </a:ext>
            </a:extLst>
          </p:cNvPr>
          <p:cNvSpPr txBox="1"/>
          <p:nvPr/>
        </p:nvSpPr>
        <p:spPr>
          <a:xfrm>
            <a:off x="11006840" y="4205337"/>
            <a:ext cx="1045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Algorithm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66E53-14F2-0F09-899B-B08F6E286E5C}"/>
              </a:ext>
            </a:extLst>
          </p:cNvPr>
          <p:cNvSpPr/>
          <p:nvPr/>
        </p:nvSpPr>
        <p:spPr>
          <a:xfrm>
            <a:off x="5417409" y="3306966"/>
            <a:ext cx="6634632" cy="12680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3A9CA7-C737-33C8-7AA2-CB8757EFA5B4}"/>
              </a:ext>
            </a:extLst>
          </p:cNvPr>
          <p:cNvCxnSpPr>
            <a:cxnSpLocks/>
          </p:cNvCxnSpPr>
          <p:nvPr/>
        </p:nvCxnSpPr>
        <p:spPr>
          <a:xfrm>
            <a:off x="6548156" y="3652448"/>
            <a:ext cx="0" cy="922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C4D339-F5A8-4B49-BA1C-634B519DED0F}"/>
              </a:ext>
            </a:extLst>
          </p:cNvPr>
          <p:cNvCxnSpPr>
            <a:cxnSpLocks/>
          </p:cNvCxnSpPr>
          <p:nvPr/>
        </p:nvCxnSpPr>
        <p:spPr>
          <a:xfrm>
            <a:off x="7906521" y="3418349"/>
            <a:ext cx="0" cy="947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FA05F4-98F4-758D-6320-2AE7AE311C23}"/>
              </a:ext>
            </a:extLst>
          </p:cNvPr>
          <p:cNvCxnSpPr>
            <a:cxnSpLocks/>
          </p:cNvCxnSpPr>
          <p:nvPr/>
        </p:nvCxnSpPr>
        <p:spPr>
          <a:xfrm>
            <a:off x="10732900" y="3326072"/>
            <a:ext cx="0" cy="947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BB72B8-E383-7DB4-BACA-7230BDD0966A}"/>
              </a:ext>
            </a:extLst>
          </p:cNvPr>
          <p:cNvCxnSpPr>
            <a:cxnSpLocks/>
          </p:cNvCxnSpPr>
          <p:nvPr/>
        </p:nvCxnSpPr>
        <p:spPr>
          <a:xfrm>
            <a:off x="9411246" y="3572600"/>
            <a:ext cx="0" cy="9473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99E66DF-97F7-1C94-41B2-A7E0B52CB351}"/>
              </a:ext>
            </a:extLst>
          </p:cNvPr>
          <p:cNvSpPr txBox="1"/>
          <p:nvPr/>
        </p:nvSpPr>
        <p:spPr>
          <a:xfrm>
            <a:off x="5143111" y="4020809"/>
            <a:ext cx="1648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802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790636-21D8-518F-3419-3CD0B243A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6" b="3161"/>
          <a:stretch/>
        </p:blipFill>
        <p:spPr>
          <a:xfrm>
            <a:off x="0" y="3806890"/>
            <a:ext cx="7278116" cy="3018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EB62D-5EC7-0D06-C1EF-0C6F406B9F1D}"/>
              </a:ext>
            </a:extLst>
          </p:cNvPr>
          <p:cNvSpPr txBox="1"/>
          <p:nvPr/>
        </p:nvSpPr>
        <p:spPr>
          <a:xfrm>
            <a:off x="4754686" y="77932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0B61E-A761-EF10-11CC-75D9A6796ED1}"/>
              </a:ext>
            </a:extLst>
          </p:cNvPr>
          <p:cNvSpPr txBox="1"/>
          <p:nvPr/>
        </p:nvSpPr>
        <p:spPr>
          <a:xfrm>
            <a:off x="314325" y="611747"/>
            <a:ext cx="11630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__fkGroteskNeue_598ab8"/>
              </a:rPr>
              <a:t>This methodology aims to create a comprehensive IoT architecture that enhances battery charging management while promoting sustainability through the integration and Automation of renewable energy sources with Realtime monitoring 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F4284-A6C7-1727-93BB-95C9B0C3137D}"/>
              </a:ext>
            </a:extLst>
          </p:cNvPr>
          <p:cNvSpPr txBox="1"/>
          <p:nvPr/>
        </p:nvSpPr>
        <p:spPr>
          <a:xfrm>
            <a:off x="6315075" y="4286181"/>
            <a:ext cx="5962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 of Common Coupling for integration and Automation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Combines solar power, Energy Storage Systems (ESS), and grid power at the Point of Common Coupling.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2FA4E7-62BB-0E46-C038-50EF4B15F219}"/>
              </a:ext>
            </a:extLst>
          </p:cNvPr>
          <p:cNvCxnSpPr>
            <a:cxnSpLocks/>
          </p:cNvCxnSpPr>
          <p:nvPr/>
        </p:nvCxnSpPr>
        <p:spPr>
          <a:xfrm>
            <a:off x="3107094" y="3657600"/>
            <a:ext cx="908490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0628EBB-8115-EEA2-0041-802FAA0BA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35" y="1281827"/>
            <a:ext cx="6132486" cy="2202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9B8B6-E41A-7BA5-FFCA-7AD1842C3EB6}"/>
              </a:ext>
            </a:extLst>
          </p:cNvPr>
          <p:cNvSpPr txBox="1"/>
          <p:nvPr/>
        </p:nvSpPr>
        <p:spPr>
          <a:xfrm>
            <a:off x="6315075" y="3886201"/>
            <a:ext cx="596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Point of Common Coupling - PCC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CA77FF-F4B0-E2D8-9207-65EE4561A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9" y="1144147"/>
            <a:ext cx="5502307" cy="236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2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2A9F-116E-3366-4B47-8FB8F133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BFC26-2AAE-C3EB-0B86-20BC08462A45}"/>
              </a:ext>
            </a:extLst>
          </p:cNvPr>
          <p:cNvSpPr txBox="1"/>
          <p:nvPr/>
        </p:nvSpPr>
        <p:spPr>
          <a:xfrm>
            <a:off x="5140449" y="87457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03C3B-A5CF-32E8-AD7A-5A9664AC5485}"/>
              </a:ext>
            </a:extLst>
          </p:cNvPr>
          <p:cNvSpPr txBox="1"/>
          <p:nvPr/>
        </p:nvSpPr>
        <p:spPr>
          <a:xfrm>
            <a:off x="161925" y="318110"/>
            <a:ext cx="112776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0" dirty="0">
                <a:solidFill>
                  <a:srgbClr val="C00000"/>
                </a:solidFill>
                <a:effectLst/>
              </a:rPr>
              <a:t>Algorithms for Proposed Methodology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</a:rPr>
              <a:t>MPPT (Maximum Power Point Tracking) Algorithm: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Optimizes solar panel output by continuously adjusting the operating point to maximize energy capture under varying conditions.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</a:rPr>
              <a:t>Battery Swapping Station Algorithm: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Manages logistics and scheduling for battery swaps, optimizing inventory and availability of charged batteries to improve service efficiency.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</a:rPr>
              <a:t>Vehicle Charging Control Calculation: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Calculates optimal charging rates based on battery state-of-charge (SOC) and user demand, ensuring safe and efficient charging.</a:t>
            </a:r>
          </a:p>
          <a:p>
            <a:pPr algn="just"/>
            <a:r>
              <a:rPr lang="en-US" b="1" i="0" dirty="0">
                <a:effectLst/>
              </a:rPr>
              <a:t>Safety and Blast Condition Prediction using Machine Learning: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Utilizes machine learning models to analyze historical data and predict potential safety hazards in battery charging environments, enabling proactive risk management.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79C14-BE62-E3E9-4088-D5D147635836}"/>
              </a:ext>
            </a:extLst>
          </p:cNvPr>
          <p:cNvSpPr txBox="1"/>
          <p:nvPr/>
        </p:nvSpPr>
        <p:spPr>
          <a:xfrm>
            <a:off x="266699" y="4143196"/>
            <a:ext cx="11658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i="0" dirty="0">
                <a:solidFill>
                  <a:srgbClr val="C00000"/>
                </a:solidFill>
                <a:effectLst/>
                <a:latin typeface="var(--font-fk-grotesk)"/>
              </a:rPr>
              <a:t>AWS Cloud Integration Methodology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Secured MQTT Protocol: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Utilizes MQTT for secure and efficient communication between IoT devices and the cloud.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S3 Bucket Data Storage: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Stores collected data in Amazon S3 for scalable and durable storage solutions.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Email Alerts: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Implements automated email notifications for critical events or alerts related to battery charging management.</a:t>
            </a:r>
          </a:p>
          <a:p>
            <a:pPr algn="just"/>
            <a:r>
              <a:rPr lang="en-US" b="1" i="0" dirty="0">
                <a:solidFill>
                  <a:srgbClr val="002060"/>
                </a:solidFill>
                <a:effectLst/>
                <a:latin typeface="__fkGroteskNeue_598ab8"/>
              </a:rPr>
              <a:t>Data Visualization: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Provides real-time data visualization dashboards to monitor charging status and performance metrics.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7BE3B7-256B-1CE0-2613-7000319B44E0}"/>
              </a:ext>
            </a:extLst>
          </p:cNvPr>
          <p:cNvCxnSpPr/>
          <p:nvPr/>
        </p:nvCxnSpPr>
        <p:spPr>
          <a:xfrm>
            <a:off x="0" y="4118227"/>
            <a:ext cx="87249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72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08A96-1D53-9C03-F621-169C288D8D1C}"/>
              </a:ext>
            </a:extLst>
          </p:cNvPr>
          <p:cNvSpPr txBox="1"/>
          <p:nvPr/>
        </p:nvSpPr>
        <p:spPr>
          <a:xfrm>
            <a:off x="4190670" y="-44911"/>
            <a:ext cx="381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Results –Simulation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2639C1-B91B-665B-B18E-7318DBB8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215" y="4776202"/>
            <a:ext cx="5672215" cy="16346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36C1F9-5565-6931-6E0F-B3CA1BB0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74" y="460465"/>
            <a:ext cx="11425855" cy="36169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8F3EF6-564C-B6E6-BD45-DC23A526B2F1}"/>
              </a:ext>
            </a:extLst>
          </p:cNvPr>
          <p:cNvSpPr txBox="1"/>
          <p:nvPr/>
        </p:nvSpPr>
        <p:spPr>
          <a:xfrm>
            <a:off x="5234466" y="3599174"/>
            <a:ext cx="187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Simulation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4A42A-63D4-841B-219F-0D47B4746725}"/>
              </a:ext>
            </a:extLst>
          </p:cNvPr>
          <p:cNvSpPr txBox="1"/>
          <p:nvPr/>
        </p:nvSpPr>
        <p:spPr>
          <a:xfrm>
            <a:off x="1296046" y="4361935"/>
            <a:ext cx="292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Battery Swapping station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960B0-C035-809F-5B55-B9C84557DE4F}"/>
              </a:ext>
            </a:extLst>
          </p:cNvPr>
          <p:cNvSpPr txBox="1"/>
          <p:nvPr/>
        </p:nvSpPr>
        <p:spPr>
          <a:xfrm>
            <a:off x="5850752" y="4437648"/>
            <a:ext cx="263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EV Charging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3229B-0D0F-8BB1-84BD-088D4DCB10A0}"/>
              </a:ext>
            </a:extLst>
          </p:cNvPr>
          <p:cNvSpPr/>
          <p:nvPr/>
        </p:nvSpPr>
        <p:spPr>
          <a:xfrm>
            <a:off x="105596" y="494513"/>
            <a:ext cx="11954363" cy="365865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246613-4A61-38A6-5A20-D60FA0333895}"/>
              </a:ext>
            </a:extLst>
          </p:cNvPr>
          <p:cNvSpPr/>
          <p:nvPr/>
        </p:nvSpPr>
        <p:spPr>
          <a:xfrm>
            <a:off x="132040" y="4361935"/>
            <a:ext cx="5138784" cy="233336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0867FC-93CE-9ECE-EE14-379C814D1359}"/>
              </a:ext>
            </a:extLst>
          </p:cNvPr>
          <p:cNvSpPr/>
          <p:nvPr/>
        </p:nvSpPr>
        <p:spPr>
          <a:xfrm>
            <a:off x="5622324" y="4361934"/>
            <a:ext cx="6437636" cy="233336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CDB82C-BCB0-056C-E579-11D02E6412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61"/>
          <a:stretch/>
        </p:blipFill>
        <p:spPr>
          <a:xfrm>
            <a:off x="285575" y="4731267"/>
            <a:ext cx="4948891" cy="196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81644D-49BC-B383-B895-28ED83BA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96" y="4761822"/>
            <a:ext cx="5092673" cy="1727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E90C6C-A78F-C125-761F-CAB358A5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96" y="3510693"/>
            <a:ext cx="5092673" cy="1251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31A512-244A-8580-15FE-85F6EC8D0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112" y="3875761"/>
            <a:ext cx="4974330" cy="2106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0FFF1C-B6C0-3EEA-44E4-D954A38FE180}"/>
              </a:ext>
            </a:extLst>
          </p:cNvPr>
          <p:cNvSpPr txBox="1"/>
          <p:nvPr/>
        </p:nvSpPr>
        <p:spPr>
          <a:xfrm>
            <a:off x="5524369" y="13950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F1F22-6F37-C98F-0035-B830BB9FCBC0}"/>
              </a:ext>
            </a:extLst>
          </p:cNvPr>
          <p:cNvSpPr txBox="1"/>
          <p:nvPr/>
        </p:nvSpPr>
        <p:spPr>
          <a:xfrm>
            <a:off x="1503217" y="6488668"/>
            <a:ext cx="260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Visualization -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431EA-315E-7FD0-ADD6-C62BE11A8D4D}"/>
              </a:ext>
            </a:extLst>
          </p:cNvPr>
          <p:cNvSpPr txBox="1"/>
          <p:nvPr/>
        </p:nvSpPr>
        <p:spPr>
          <a:xfrm>
            <a:off x="8088457" y="6119336"/>
            <a:ext cx="260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AWS Cloud Connectivity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FD81D0-7479-45B2-4706-5085A700E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95" y="467909"/>
            <a:ext cx="11650701" cy="2870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78A86EE-B7FA-C145-B0F2-F703AE1ADC5C}"/>
              </a:ext>
            </a:extLst>
          </p:cNvPr>
          <p:cNvSpPr/>
          <p:nvPr/>
        </p:nvSpPr>
        <p:spPr>
          <a:xfrm>
            <a:off x="143295" y="3429000"/>
            <a:ext cx="5891645" cy="3429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480DE-B4B5-0689-54AE-E3287F9A548F}"/>
              </a:ext>
            </a:extLst>
          </p:cNvPr>
          <p:cNvSpPr/>
          <p:nvPr/>
        </p:nvSpPr>
        <p:spPr>
          <a:xfrm>
            <a:off x="6276109" y="3414141"/>
            <a:ext cx="5891645" cy="3429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43E96B-321F-07C7-8B8A-5400E5A492F6}"/>
              </a:ext>
            </a:extLst>
          </p:cNvPr>
          <p:cNvSpPr/>
          <p:nvPr/>
        </p:nvSpPr>
        <p:spPr>
          <a:xfrm>
            <a:off x="265417" y="446760"/>
            <a:ext cx="11494887" cy="28703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8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283-2D51-2DD3-13BF-DE704A66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35641-3D2B-AA83-CF31-D4FAE5180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336022"/>
              </p:ext>
            </p:extLst>
          </p:nvPr>
        </p:nvGraphicFramePr>
        <p:xfrm>
          <a:off x="133350" y="1026367"/>
          <a:ext cx="11925299" cy="2402633"/>
        </p:xfrm>
        <a:graphic>
          <a:graphicData uri="http://schemas.openxmlformats.org/drawingml/2006/table">
            <a:tbl>
              <a:tblPr/>
              <a:tblGrid>
                <a:gridCol w="913775">
                  <a:extLst>
                    <a:ext uri="{9D8B030D-6E8A-4147-A177-3AD203B41FA5}">
                      <a16:colId xmlns:a16="http://schemas.microsoft.com/office/drawing/2014/main" val="4209489189"/>
                    </a:ext>
                  </a:extLst>
                </a:gridCol>
                <a:gridCol w="677173">
                  <a:extLst>
                    <a:ext uri="{9D8B030D-6E8A-4147-A177-3AD203B41FA5}">
                      <a16:colId xmlns:a16="http://schemas.microsoft.com/office/drawing/2014/main" val="34668946"/>
                    </a:ext>
                  </a:extLst>
                </a:gridCol>
                <a:gridCol w="636377">
                  <a:extLst>
                    <a:ext uri="{9D8B030D-6E8A-4147-A177-3AD203B41FA5}">
                      <a16:colId xmlns:a16="http://schemas.microsoft.com/office/drawing/2014/main" val="895211206"/>
                    </a:ext>
                  </a:extLst>
                </a:gridCol>
                <a:gridCol w="1183011">
                  <a:extLst>
                    <a:ext uri="{9D8B030D-6E8A-4147-A177-3AD203B41FA5}">
                      <a16:colId xmlns:a16="http://schemas.microsoft.com/office/drawing/2014/main" val="1197518995"/>
                    </a:ext>
                  </a:extLst>
                </a:gridCol>
                <a:gridCol w="669014">
                  <a:extLst>
                    <a:ext uri="{9D8B030D-6E8A-4147-A177-3AD203B41FA5}">
                      <a16:colId xmlns:a16="http://schemas.microsoft.com/office/drawing/2014/main" val="3469946241"/>
                    </a:ext>
                  </a:extLst>
                </a:gridCol>
                <a:gridCol w="669014">
                  <a:extLst>
                    <a:ext uri="{9D8B030D-6E8A-4147-A177-3AD203B41FA5}">
                      <a16:colId xmlns:a16="http://schemas.microsoft.com/office/drawing/2014/main" val="3626885485"/>
                    </a:ext>
                  </a:extLst>
                </a:gridCol>
                <a:gridCol w="231162">
                  <a:extLst>
                    <a:ext uri="{9D8B030D-6E8A-4147-A177-3AD203B41FA5}">
                      <a16:colId xmlns:a16="http://schemas.microsoft.com/office/drawing/2014/main" val="1923535993"/>
                    </a:ext>
                  </a:extLst>
                </a:gridCol>
                <a:gridCol w="1631741">
                  <a:extLst>
                    <a:ext uri="{9D8B030D-6E8A-4147-A177-3AD203B41FA5}">
                      <a16:colId xmlns:a16="http://schemas.microsoft.com/office/drawing/2014/main" val="2896980921"/>
                    </a:ext>
                  </a:extLst>
                </a:gridCol>
                <a:gridCol w="807711">
                  <a:extLst>
                    <a:ext uri="{9D8B030D-6E8A-4147-A177-3AD203B41FA5}">
                      <a16:colId xmlns:a16="http://schemas.microsoft.com/office/drawing/2014/main" val="796534009"/>
                    </a:ext>
                  </a:extLst>
                </a:gridCol>
                <a:gridCol w="522156">
                  <a:extLst>
                    <a:ext uri="{9D8B030D-6E8A-4147-A177-3AD203B41FA5}">
                      <a16:colId xmlns:a16="http://schemas.microsoft.com/office/drawing/2014/main" val="1314866839"/>
                    </a:ext>
                  </a:extLst>
                </a:gridCol>
                <a:gridCol w="1085107">
                  <a:extLst>
                    <a:ext uri="{9D8B030D-6E8A-4147-A177-3AD203B41FA5}">
                      <a16:colId xmlns:a16="http://schemas.microsoft.com/office/drawing/2014/main" val="149460085"/>
                    </a:ext>
                  </a:extLst>
                </a:gridCol>
                <a:gridCol w="190370">
                  <a:extLst>
                    <a:ext uri="{9D8B030D-6E8A-4147-A177-3AD203B41FA5}">
                      <a16:colId xmlns:a16="http://schemas.microsoft.com/office/drawing/2014/main" val="3893193770"/>
                    </a:ext>
                  </a:extLst>
                </a:gridCol>
                <a:gridCol w="1843866">
                  <a:extLst>
                    <a:ext uri="{9D8B030D-6E8A-4147-A177-3AD203B41FA5}">
                      <a16:colId xmlns:a16="http://schemas.microsoft.com/office/drawing/2014/main" val="3618429772"/>
                    </a:ext>
                  </a:extLst>
                </a:gridCol>
                <a:gridCol w="864822">
                  <a:extLst>
                    <a:ext uri="{9D8B030D-6E8A-4147-A177-3AD203B41FA5}">
                      <a16:colId xmlns:a16="http://schemas.microsoft.com/office/drawing/2014/main" val="2562856153"/>
                    </a:ext>
                  </a:extLst>
                </a:gridCol>
              </a:tblGrid>
              <a:tr h="509860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Generation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PCC - </a:t>
                      </a:r>
                      <a:r>
                        <a:rPr lang="en-US" sz="1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Point of common coupling</a:t>
                      </a:r>
                      <a:endParaRPr lang="en-US" sz="1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 - Charging 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280773"/>
                  </a:ext>
                </a:extLst>
              </a:tr>
              <a:tr h="4804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Voltage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Current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% of Generation/day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[P]- KWh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PCC will Logically be controlled on availability of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No.of batteries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82615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-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Output Power/day in KW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418077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 -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Amper hour - capacity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09095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- [W] - KW/h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Gen /day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charge - Watt / hr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73191"/>
                  </a:ext>
                </a:extLst>
              </a:tr>
              <a:tr h="430971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Generation per day in KW/24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1817</a:t>
                      </a:r>
                    </a:p>
                  </a:txBody>
                  <a:tcPr marL="5924" marR="5924" marT="5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Avaliability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1772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use / 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one cycle charge - KW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663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524995-73E9-653E-8391-4C07FB160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65663"/>
              </p:ext>
            </p:extLst>
          </p:nvPr>
        </p:nvGraphicFramePr>
        <p:xfrm>
          <a:off x="193676" y="3543440"/>
          <a:ext cx="6273802" cy="3151014"/>
        </p:xfrm>
        <a:graphic>
          <a:graphicData uri="http://schemas.openxmlformats.org/drawingml/2006/table">
            <a:tbl>
              <a:tblPr/>
              <a:tblGrid>
                <a:gridCol w="953672">
                  <a:extLst>
                    <a:ext uri="{9D8B030D-6E8A-4147-A177-3AD203B41FA5}">
                      <a16:colId xmlns:a16="http://schemas.microsoft.com/office/drawing/2014/main" val="1798620186"/>
                    </a:ext>
                  </a:extLst>
                </a:gridCol>
                <a:gridCol w="565392">
                  <a:extLst>
                    <a:ext uri="{9D8B030D-6E8A-4147-A177-3AD203B41FA5}">
                      <a16:colId xmlns:a16="http://schemas.microsoft.com/office/drawing/2014/main" val="3913095961"/>
                    </a:ext>
                  </a:extLst>
                </a:gridCol>
                <a:gridCol w="531331">
                  <a:extLst>
                    <a:ext uri="{9D8B030D-6E8A-4147-A177-3AD203B41FA5}">
                      <a16:colId xmlns:a16="http://schemas.microsoft.com/office/drawing/2014/main" val="2871789687"/>
                    </a:ext>
                  </a:extLst>
                </a:gridCol>
                <a:gridCol w="790186">
                  <a:extLst>
                    <a:ext uri="{9D8B030D-6E8A-4147-A177-3AD203B41FA5}">
                      <a16:colId xmlns:a16="http://schemas.microsoft.com/office/drawing/2014/main" val="1953625170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3373208181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969684601"/>
                    </a:ext>
                  </a:extLst>
                </a:gridCol>
                <a:gridCol w="156675">
                  <a:extLst>
                    <a:ext uri="{9D8B030D-6E8A-4147-A177-3AD203B41FA5}">
                      <a16:colId xmlns:a16="http://schemas.microsoft.com/office/drawing/2014/main" val="63752399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230714472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638591449"/>
                    </a:ext>
                  </a:extLst>
                </a:gridCol>
                <a:gridCol w="613075">
                  <a:extLst>
                    <a:ext uri="{9D8B030D-6E8A-4147-A177-3AD203B41FA5}">
                      <a16:colId xmlns:a16="http://schemas.microsoft.com/office/drawing/2014/main" val="1932536717"/>
                    </a:ext>
                  </a:extLst>
                </a:gridCol>
                <a:gridCol w="674383">
                  <a:extLst>
                    <a:ext uri="{9D8B030D-6E8A-4147-A177-3AD203B41FA5}">
                      <a16:colId xmlns:a16="http://schemas.microsoft.com/office/drawing/2014/main" val="3529453680"/>
                    </a:ext>
                  </a:extLst>
                </a:gridCol>
              </a:tblGrid>
              <a:tr h="438610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Fast Charging Station Load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725375"/>
                  </a:ext>
                </a:extLst>
              </a:tr>
              <a:tr h="367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 (V)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(kW)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Capacity (kWh)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Avaliable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Time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charge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21943"/>
                  </a:ext>
                </a:extLst>
              </a:tr>
              <a:tr h="4117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1 - Tata Nexon - EV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745.83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88640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2- MG ZS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743.75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51023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3-Tata Trigo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739.58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27739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4- Mahindra eVerito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41430"/>
                  </a:ext>
                </a:extLst>
              </a:tr>
              <a:tr h="4744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2977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139195"/>
                  </a:ext>
                </a:extLst>
              </a:tr>
              <a:tr h="20587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56043"/>
                  </a:ext>
                </a:extLst>
              </a:tr>
              <a:tr h="42965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KW power can charge / day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/ 96 hr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26794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276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80B168-4223-A4A4-46E5-B8581C11C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142672"/>
              </p:ext>
            </p:extLst>
          </p:nvPr>
        </p:nvGraphicFramePr>
        <p:xfrm>
          <a:off x="6657978" y="3530177"/>
          <a:ext cx="5340346" cy="3177540"/>
        </p:xfrm>
        <a:graphic>
          <a:graphicData uri="http://schemas.openxmlformats.org/drawingml/2006/table">
            <a:tbl>
              <a:tblPr/>
              <a:tblGrid>
                <a:gridCol w="2874633">
                  <a:extLst>
                    <a:ext uri="{9D8B030D-6E8A-4147-A177-3AD203B41FA5}">
                      <a16:colId xmlns:a16="http://schemas.microsoft.com/office/drawing/2014/main" val="782479973"/>
                    </a:ext>
                  </a:extLst>
                </a:gridCol>
                <a:gridCol w="500466">
                  <a:extLst>
                    <a:ext uri="{9D8B030D-6E8A-4147-A177-3AD203B41FA5}">
                      <a16:colId xmlns:a16="http://schemas.microsoft.com/office/drawing/2014/main" val="194678521"/>
                    </a:ext>
                  </a:extLst>
                </a:gridCol>
                <a:gridCol w="140375">
                  <a:extLst>
                    <a:ext uri="{9D8B030D-6E8A-4147-A177-3AD203B41FA5}">
                      <a16:colId xmlns:a16="http://schemas.microsoft.com/office/drawing/2014/main" val="1520005749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4209074804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2029921102"/>
                    </a:ext>
                  </a:extLst>
                </a:gridCol>
                <a:gridCol w="439434">
                  <a:extLst>
                    <a:ext uri="{9D8B030D-6E8A-4147-A177-3AD203B41FA5}">
                      <a16:colId xmlns:a16="http://schemas.microsoft.com/office/drawing/2014/main" val="3094895876"/>
                    </a:ext>
                  </a:extLst>
                </a:gridCol>
                <a:gridCol w="604222">
                  <a:extLst>
                    <a:ext uri="{9D8B030D-6E8A-4147-A177-3AD203B41FA5}">
                      <a16:colId xmlns:a16="http://schemas.microsoft.com/office/drawing/2014/main" val="2601552489"/>
                    </a:ext>
                  </a:extLst>
                </a:gridCol>
              </a:tblGrid>
              <a:tr h="396240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 Station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503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6901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Under maintance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8865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Avaliable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2025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Batteries charging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91006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Cost of charge per battery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9619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Time / Battery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Amout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434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 of Cycle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247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Power/Battery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944305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Station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262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Required for Full Swapping Station per Day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39608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CAF8B7-97EC-BD5D-BA63-E2361F99E6FC}"/>
              </a:ext>
            </a:extLst>
          </p:cNvPr>
          <p:cNvSpPr txBox="1"/>
          <p:nvPr/>
        </p:nvSpPr>
        <p:spPr>
          <a:xfrm>
            <a:off x="2846483" y="163546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Estimated Energy and Cost calculation</a:t>
            </a:r>
          </a:p>
        </p:txBody>
      </p:sp>
    </p:spTree>
    <p:extLst>
      <p:ext uri="{BB962C8B-B14F-4D97-AF65-F5344CB8AC3E}">
        <p14:creationId xmlns:p14="http://schemas.microsoft.com/office/powerpoint/2010/main" val="400059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4727-9AED-7EA4-1461-9778DFC7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38D2B9-CF14-5222-2C31-70CF3F22A308}"/>
              </a:ext>
            </a:extLst>
          </p:cNvPr>
          <p:cNvGraphicFramePr>
            <a:graphicFrameLocks noGrp="1"/>
          </p:cNvGraphicFramePr>
          <p:nvPr/>
        </p:nvGraphicFramePr>
        <p:xfrm>
          <a:off x="206375" y="136525"/>
          <a:ext cx="6280151" cy="3381861"/>
        </p:xfrm>
        <a:graphic>
          <a:graphicData uri="http://schemas.openxmlformats.org/drawingml/2006/table">
            <a:tbl>
              <a:tblPr/>
              <a:tblGrid>
                <a:gridCol w="1963361">
                  <a:extLst>
                    <a:ext uri="{9D8B030D-6E8A-4147-A177-3AD203B41FA5}">
                      <a16:colId xmlns:a16="http://schemas.microsoft.com/office/drawing/2014/main" val="3924510819"/>
                    </a:ext>
                  </a:extLst>
                </a:gridCol>
                <a:gridCol w="832152">
                  <a:extLst>
                    <a:ext uri="{9D8B030D-6E8A-4147-A177-3AD203B41FA5}">
                      <a16:colId xmlns:a16="http://schemas.microsoft.com/office/drawing/2014/main" val="3737081838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508650473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151167311"/>
                    </a:ext>
                  </a:extLst>
                </a:gridCol>
                <a:gridCol w="1378252">
                  <a:extLst>
                    <a:ext uri="{9D8B030D-6E8A-4147-A177-3AD203B41FA5}">
                      <a16:colId xmlns:a16="http://schemas.microsoft.com/office/drawing/2014/main" val="3548363626"/>
                    </a:ext>
                  </a:extLst>
                </a:gridCol>
              </a:tblGrid>
              <a:tr h="36879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 calculation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86107"/>
                  </a:ext>
                </a:extLst>
              </a:tr>
              <a:tr h="1956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sources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60821"/>
                  </a:ext>
                </a:extLst>
              </a:tr>
              <a:tr h="3462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full Power From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54,504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663,132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3,315,660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075095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30,960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376,680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1,883,400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65861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1,051,200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01533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76,212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381,060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4638"/>
                  </a:ext>
                </a:extLst>
              </a:tr>
              <a:tr h="398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saving / Day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2,934,600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4361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128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 / Day          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654,048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7,957,584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39,787,920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50410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97099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Saving / Day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19,296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578,880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7,043,040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35,215,200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86786"/>
                  </a:ext>
                </a:extLst>
              </a:tr>
              <a:tr h="195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623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1C3483-744D-0422-D369-64E419A6A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9482"/>
              </p:ext>
            </p:extLst>
          </p:nvPr>
        </p:nvGraphicFramePr>
        <p:xfrm>
          <a:off x="6569081" y="136525"/>
          <a:ext cx="5622919" cy="3188993"/>
        </p:xfrm>
        <a:graphic>
          <a:graphicData uri="http://schemas.openxmlformats.org/drawingml/2006/table">
            <a:tbl>
              <a:tblPr/>
              <a:tblGrid>
                <a:gridCol w="1757890">
                  <a:extLst>
                    <a:ext uri="{9D8B030D-6E8A-4147-A177-3AD203B41FA5}">
                      <a16:colId xmlns:a16="http://schemas.microsoft.com/office/drawing/2014/main" val="2116811209"/>
                    </a:ext>
                  </a:extLst>
                </a:gridCol>
                <a:gridCol w="745066">
                  <a:extLst>
                    <a:ext uri="{9D8B030D-6E8A-4147-A177-3AD203B41FA5}">
                      <a16:colId xmlns:a16="http://schemas.microsoft.com/office/drawing/2014/main" val="3819634284"/>
                    </a:ext>
                  </a:extLst>
                </a:gridCol>
                <a:gridCol w="908049">
                  <a:extLst>
                    <a:ext uri="{9D8B030D-6E8A-4147-A177-3AD203B41FA5}">
                      <a16:colId xmlns:a16="http://schemas.microsoft.com/office/drawing/2014/main" val="931623807"/>
                    </a:ext>
                  </a:extLst>
                </a:gridCol>
                <a:gridCol w="977899">
                  <a:extLst>
                    <a:ext uri="{9D8B030D-6E8A-4147-A177-3AD203B41FA5}">
                      <a16:colId xmlns:a16="http://schemas.microsoft.com/office/drawing/2014/main" val="1566685999"/>
                    </a:ext>
                  </a:extLst>
                </a:gridCol>
                <a:gridCol w="1234015">
                  <a:extLst>
                    <a:ext uri="{9D8B030D-6E8A-4147-A177-3AD203B41FA5}">
                      <a16:colId xmlns:a16="http://schemas.microsoft.com/office/drawing/2014/main" val="1876004634"/>
                    </a:ext>
                  </a:extLst>
                </a:gridCol>
              </a:tblGrid>
              <a:tr h="428151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737847"/>
                  </a:ext>
                </a:extLst>
              </a:tr>
              <a:tr h="3838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899184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charging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803,813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9,779,719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48,898,594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226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985,500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4,927,500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823889"/>
                  </a:ext>
                </a:extLst>
              </a:tr>
              <a:tr h="4429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29,494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884,813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10,765,219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53,826,094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083054"/>
                  </a:ext>
                </a:extLst>
              </a:tr>
              <a:tr h="457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18633"/>
                  </a:ext>
                </a:extLst>
              </a:tr>
              <a:tr h="5905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Profit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809,645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9,850,675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49,253,374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91085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861B896-E294-8040-52F5-EE7F42A8D2FC}"/>
              </a:ext>
            </a:extLst>
          </p:cNvPr>
          <p:cNvGraphicFramePr>
            <a:graphicFrameLocks/>
          </p:cNvGraphicFramePr>
          <p:nvPr/>
        </p:nvGraphicFramePr>
        <p:xfrm>
          <a:off x="288929" y="3609975"/>
          <a:ext cx="6280152" cy="330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09A5BC7-EA64-08C3-358B-AE3639BB60EF}"/>
              </a:ext>
            </a:extLst>
          </p:cNvPr>
          <p:cNvGraphicFramePr>
            <a:graphicFrameLocks/>
          </p:cNvGraphicFramePr>
          <p:nvPr/>
        </p:nvGraphicFramePr>
        <p:xfrm>
          <a:off x="7210425" y="35083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99612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62D44-8701-AABD-8F1E-3D0D02C8DAA7}"/>
              </a:ext>
            </a:extLst>
          </p:cNvPr>
          <p:cNvSpPr txBox="1"/>
          <p:nvPr/>
        </p:nvSpPr>
        <p:spPr>
          <a:xfrm>
            <a:off x="5229416" y="102636"/>
            <a:ext cx="1733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C3BB5-C4FD-EA4D-74C0-9FCE4E979B8B}"/>
              </a:ext>
            </a:extLst>
          </p:cNvPr>
          <p:cNvSpPr txBox="1"/>
          <p:nvPr/>
        </p:nvSpPr>
        <p:spPr>
          <a:xfrm>
            <a:off x="142875" y="290938"/>
            <a:ext cx="12049125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i="0" dirty="0">
                <a:solidFill>
                  <a:srgbClr val="002060"/>
                </a:solidFill>
                <a:effectLst/>
                <a:latin typeface="var(--font-fk-grotesk)"/>
              </a:rPr>
              <a:t>Conclusion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The proposed IoT architecture effectively addresses the growing demand for efficient EV charging infrastructure.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It promotes sustainability by integrating renewable energy sources, enhancing operational efficiency, and reducing costs.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__fkGroteskNeue_598ab8"/>
              </a:rPr>
              <a:t>Real-time monitoring and predictive analytics contribute to improved battery management and a greener transportation ecosystem.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7D8756-F7A3-8BD3-D76E-FB0067458640}"/>
              </a:ext>
            </a:extLst>
          </p:cNvPr>
          <p:cNvCxnSpPr/>
          <p:nvPr/>
        </p:nvCxnSpPr>
        <p:spPr>
          <a:xfrm>
            <a:off x="70339" y="3149278"/>
            <a:ext cx="87249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BC0CA73-D826-9E1B-3A02-24BB2099CEF8}"/>
              </a:ext>
            </a:extLst>
          </p:cNvPr>
          <p:cNvSpPr txBox="1"/>
          <p:nvPr/>
        </p:nvSpPr>
        <p:spPr>
          <a:xfrm>
            <a:off x="5537993" y="3149278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Patent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EB8FB-9AC8-DFED-5B65-2ADE04F2F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174" y="3708722"/>
            <a:ext cx="6250526" cy="27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EDE28-0C36-9EF7-EDC7-E41B6370D327}"/>
              </a:ext>
            </a:extLst>
          </p:cNvPr>
          <p:cNvSpPr txBox="1"/>
          <p:nvPr/>
        </p:nvSpPr>
        <p:spPr>
          <a:xfrm>
            <a:off x="1933575" y="1743075"/>
            <a:ext cx="563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002060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32889464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1198</Words>
  <Application>Microsoft Office PowerPoint</Application>
  <PresentationFormat>Widescreen</PresentationFormat>
  <Paragraphs>318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__fkGroteskNeue_598ab8</vt:lpstr>
      <vt:lpstr>ADLaM Display</vt:lpstr>
      <vt:lpstr>Arial</vt:lpstr>
      <vt:lpstr>Calibri</vt:lpstr>
      <vt:lpstr>Calibri Light</vt:lpstr>
      <vt:lpstr>Times New Roman</vt:lpstr>
      <vt:lpstr>var(--font-fk-grotesk)</vt:lpstr>
      <vt:lpstr>Custom Design</vt:lpstr>
      <vt:lpstr>Project Title:  Design of IOT Architecture for Battery Charging Management System   Theme of the Project:  Battery Swapping station and EV Charging Infrastructure 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Hewlett-Packard Company</dc:creator>
  <cp:lastModifiedBy>Jagadeesh .</cp:lastModifiedBy>
  <cp:revision>200</cp:revision>
  <dcterms:created xsi:type="dcterms:W3CDTF">2019-12-19T08:18:11Z</dcterms:created>
  <dcterms:modified xsi:type="dcterms:W3CDTF">2025-02-21T04:05:53Z</dcterms:modified>
</cp:coreProperties>
</file>