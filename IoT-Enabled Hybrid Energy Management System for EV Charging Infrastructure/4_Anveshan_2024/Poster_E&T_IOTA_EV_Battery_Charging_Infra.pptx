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35999738" cy="35999738"/>
  <p:notesSz cx="7004050" cy="9290050"/>
  <p:defaultTextStyle>
    <a:defPPr>
      <a:defRPr lang="en-US"/>
    </a:defPPr>
    <a:lvl1pPr marL="0" algn="l" defTabSz="3597884" rtl="0" eaLnBrk="1" latinLnBrk="0" hangingPunct="1">
      <a:defRPr sz="7007" kern="1200">
        <a:solidFill>
          <a:schemeClr val="tx1"/>
        </a:solidFill>
        <a:latin typeface="+mn-lt"/>
        <a:ea typeface="+mn-ea"/>
        <a:cs typeface="+mn-cs"/>
      </a:defRPr>
    </a:lvl1pPr>
    <a:lvl2pPr marL="1798962" algn="l" defTabSz="3597884" rtl="0" eaLnBrk="1" latinLnBrk="0" hangingPunct="1">
      <a:defRPr sz="7007" kern="1200">
        <a:solidFill>
          <a:schemeClr val="tx1"/>
        </a:solidFill>
        <a:latin typeface="+mn-lt"/>
        <a:ea typeface="+mn-ea"/>
        <a:cs typeface="+mn-cs"/>
      </a:defRPr>
    </a:lvl2pPr>
    <a:lvl3pPr marL="3597884" algn="l" defTabSz="3597884" rtl="0" eaLnBrk="1" latinLnBrk="0" hangingPunct="1">
      <a:defRPr sz="7007" kern="1200">
        <a:solidFill>
          <a:schemeClr val="tx1"/>
        </a:solidFill>
        <a:latin typeface="+mn-lt"/>
        <a:ea typeface="+mn-ea"/>
        <a:cs typeface="+mn-cs"/>
      </a:defRPr>
    </a:lvl3pPr>
    <a:lvl4pPr marL="5396845" algn="l" defTabSz="3597884" rtl="0" eaLnBrk="1" latinLnBrk="0" hangingPunct="1">
      <a:defRPr sz="7007" kern="1200">
        <a:solidFill>
          <a:schemeClr val="tx1"/>
        </a:solidFill>
        <a:latin typeface="+mn-lt"/>
        <a:ea typeface="+mn-ea"/>
        <a:cs typeface="+mn-cs"/>
      </a:defRPr>
    </a:lvl4pPr>
    <a:lvl5pPr marL="7195807" algn="l" defTabSz="3597884" rtl="0" eaLnBrk="1" latinLnBrk="0" hangingPunct="1">
      <a:defRPr sz="7007" kern="1200">
        <a:solidFill>
          <a:schemeClr val="tx1"/>
        </a:solidFill>
        <a:latin typeface="+mn-lt"/>
        <a:ea typeface="+mn-ea"/>
        <a:cs typeface="+mn-cs"/>
      </a:defRPr>
    </a:lvl5pPr>
    <a:lvl6pPr marL="8994769" algn="l" defTabSz="3597884" rtl="0" eaLnBrk="1" latinLnBrk="0" hangingPunct="1">
      <a:defRPr sz="7007" kern="1200">
        <a:solidFill>
          <a:schemeClr val="tx1"/>
        </a:solidFill>
        <a:latin typeface="+mn-lt"/>
        <a:ea typeface="+mn-ea"/>
        <a:cs typeface="+mn-cs"/>
      </a:defRPr>
    </a:lvl6pPr>
    <a:lvl7pPr marL="10793691" algn="l" defTabSz="3597884" rtl="0" eaLnBrk="1" latinLnBrk="0" hangingPunct="1">
      <a:defRPr sz="7007" kern="1200">
        <a:solidFill>
          <a:schemeClr val="tx1"/>
        </a:solidFill>
        <a:latin typeface="+mn-lt"/>
        <a:ea typeface="+mn-ea"/>
        <a:cs typeface="+mn-cs"/>
      </a:defRPr>
    </a:lvl7pPr>
    <a:lvl8pPr marL="12592653" algn="l" defTabSz="3597884" rtl="0" eaLnBrk="1" latinLnBrk="0" hangingPunct="1">
      <a:defRPr sz="7007" kern="1200">
        <a:solidFill>
          <a:schemeClr val="tx1"/>
        </a:solidFill>
        <a:latin typeface="+mn-lt"/>
        <a:ea typeface="+mn-ea"/>
        <a:cs typeface="+mn-cs"/>
      </a:defRPr>
    </a:lvl8pPr>
    <a:lvl9pPr marL="14391615" algn="l" defTabSz="3597884" rtl="0" eaLnBrk="1" latinLnBrk="0" hangingPunct="1">
      <a:defRPr sz="7007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339" userDrawn="1">
          <p15:clr>
            <a:srgbClr val="A4A3A4"/>
          </p15:clr>
        </p15:guide>
        <p15:guide id="2" pos="113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792" autoAdjust="0"/>
    <p:restoredTop sz="94676" autoAdjust="0"/>
  </p:normalViewPr>
  <p:slideViewPr>
    <p:cSldViewPr>
      <p:cViewPr varScale="1">
        <p:scale>
          <a:sx n="15" d="100"/>
          <a:sy n="15" d="100"/>
        </p:scale>
        <p:origin x="2458" y="62"/>
      </p:cViewPr>
      <p:guideLst>
        <p:guide orient="horz" pos="11339"/>
        <p:guide pos="11339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35314055" y="1"/>
            <a:ext cx="685703" cy="359997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000" tIns="37480" rIns="75000" bIns="37480" rtlCol="0" anchor="ctr"/>
          <a:lstStyle/>
          <a:p>
            <a:pPr algn="ctr"/>
            <a:endParaRPr lang="en-US" sz="7008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20" y="1"/>
            <a:ext cx="685703" cy="359997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000" tIns="37480" rIns="75000" bIns="37480" rtlCol="0" anchor="ctr"/>
          <a:lstStyle/>
          <a:p>
            <a:pPr algn="ctr"/>
            <a:endParaRPr lang="en-US" sz="7008" dirty="0"/>
          </a:p>
        </p:txBody>
      </p:sp>
      <p:sp>
        <p:nvSpPr>
          <p:cNvPr id="17" name="Rectangle 16"/>
          <p:cNvSpPr/>
          <p:nvPr userDrawn="1"/>
        </p:nvSpPr>
        <p:spPr>
          <a:xfrm>
            <a:off x="1" y="0"/>
            <a:ext cx="35999738" cy="449996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000" tIns="37480" rIns="75000" bIns="37480" rtlCol="0" anchor="ctr"/>
          <a:lstStyle/>
          <a:p>
            <a:pPr algn="ctr"/>
            <a:endParaRPr lang="en-US" sz="7008" dirty="0"/>
          </a:p>
        </p:txBody>
      </p:sp>
      <p:sp>
        <p:nvSpPr>
          <p:cNvPr id="18" name="Rectangle 17"/>
          <p:cNvSpPr/>
          <p:nvPr userDrawn="1"/>
        </p:nvSpPr>
        <p:spPr>
          <a:xfrm>
            <a:off x="1" y="31499771"/>
            <a:ext cx="35999738" cy="44999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000" tIns="37480" rIns="75000" bIns="37480" rtlCol="0" anchor="ctr"/>
          <a:lstStyle/>
          <a:p>
            <a:pPr algn="ctr"/>
            <a:endParaRPr lang="en-US" sz="7008" dirty="0"/>
          </a:p>
        </p:txBody>
      </p:sp>
      <p:sp>
        <p:nvSpPr>
          <p:cNvPr id="19" name="Instructions"/>
          <p:cNvSpPr/>
          <p:nvPr userDrawn="1"/>
        </p:nvSpPr>
        <p:spPr>
          <a:xfrm>
            <a:off x="-11249917" y="1"/>
            <a:ext cx="10499923" cy="3599973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7479" tIns="187479" rIns="187479" bIns="187479" rtlCol="0" anchor="t"/>
          <a:lstStyle>
            <a:defPPr>
              <a:defRPr lang="en-US"/>
            </a:defPPr>
            <a:lvl1pPr marL="0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1843430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3686861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5530291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7373722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9217152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1060582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2904013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4747443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Bef>
                <a:spcPts val="0"/>
              </a:spcBef>
              <a:spcAft>
                <a:spcPts val="1969"/>
              </a:spcAft>
            </a:pPr>
            <a:r>
              <a:rPr lang="en-US" sz="7913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Poster Print Size:</a:t>
            </a:r>
            <a:endParaRPr sz="7913" dirty="0">
              <a:solidFill>
                <a:srgbClr val="7F7F7F"/>
              </a:solidFill>
              <a:latin typeface="Calibri" pitchFamily="34" charset="0"/>
              <a:cs typeface="Calibri" panose="020F0502020204030204" pitchFamily="34" charset="0"/>
            </a:endParaRPr>
          </a:p>
          <a:p>
            <a:pPr lvl="0">
              <a:spcBef>
                <a:spcPts val="0"/>
              </a:spcBef>
              <a:spcAft>
                <a:spcPts val="1969"/>
              </a:spcAft>
            </a:pPr>
            <a:r>
              <a:rPr lang="en-US" sz="5197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This poster template is 1m</a:t>
            </a:r>
            <a:r>
              <a:rPr lang="en-US" sz="5197" baseline="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(39.37</a:t>
            </a:r>
            <a:r>
              <a:rPr lang="en-US" sz="5197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” high by 1m (39.37”) wide. It can be used to print any poster with a 1:1 aspect ratio.</a:t>
            </a:r>
          </a:p>
          <a:p>
            <a:pPr lvl="0">
              <a:spcBef>
                <a:spcPts val="0"/>
              </a:spcBef>
              <a:spcAft>
                <a:spcPts val="1969"/>
              </a:spcAft>
            </a:pPr>
            <a:r>
              <a:rPr lang="en-US" sz="7913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Placeholders</a:t>
            </a:r>
            <a:r>
              <a:rPr sz="7913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:</a:t>
            </a:r>
          </a:p>
          <a:p>
            <a:pPr lvl="0">
              <a:spcBef>
                <a:spcPts val="0"/>
              </a:spcBef>
              <a:spcAft>
                <a:spcPts val="1969"/>
              </a:spcAft>
            </a:pPr>
            <a:r>
              <a:rPr sz="5197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The </a:t>
            </a:r>
            <a:r>
              <a:rPr lang="en-US" sz="5197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various elements included</a:t>
            </a:r>
            <a:r>
              <a:rPr sz="5197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in this </a:t>
            </a:r>
            <a:r>
              <a:rPr lang="en-US" sz="5197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poster are ones</a:t>
            </a:r>
            <a:r>
              <a:rPr lang="en-US" sz="5197" baseline="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we often see in medical, research, and scientific posters.</a:t>
            </a:r>
            <a:r>
              <a:rPr sz="5197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</a:t>
            </a:r>
            <a:r>
              <a:rPr lang="en-US" sz="5197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Feel</a:t>
            </a:r>
            <a:r>
              <a:rPr lang="en-US" sz="5197" baseline="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free to edit, move,  add, and delete items, or change the layout to suit your needs. Always check with your conference organizer for specific requirements.</a:t>
            </a:r>
          </a:p>
          <a:p>
            <a:pPr lvl="0">
              <a:spcBef>
                <a:spcPts val="0"/>
              </a:spcBef>
              <a:spcAft>
                <a:spcPts val="1969"/>
              </a:spcAft>
            </a:pPr>
            <a:r>
              <a:rPr lang="en-US" sz="7913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Image</a:t>
            </a:r>
            <a:r>
              <a:rPr lang="en-US" sz="7913" baseline="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Quality</a:t>
            </a:r>
            <a:r>
              <a:rPr lang="en-US" sz="7913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:</a:t>
            </a:r>
          </a:p>
          <a:p>
            <a:pPr lvl="0">
              <a:spcBef>
                <a:spcPts val="0"/>
              </a:spcBef>
              <a:spcAft>
                <a:spcPts val="1969"/>
              </a:spcAft>
            </a:pPr>
            <a:r>
              <a:rPr lang="en-US" sz="5197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You can place digital photos or logo art in your poster file by selecting the </a:t>
            </a:r>
            <a:r>
              <a:rPr lang="en-US" sz="5197" b="1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Insert, Picture</a:t>
            </a:r>
            <a:r>
              <a:rPr lang="en-US" sz="5197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command, or by using standard copy &amp; paste. For best results, all graphic elements should be at least </a:t>
            </a:r>
            <a:r>
              <a:rPr lang="en-US" sz="5197" b="1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150-200 pixels per inch in their final printed size</a:t>
            </a:r>
            <a:r>
              <a:rPr lang="en-US" sz="5197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. For instance, a 1600 x 1200 pixel</a:t>
            </a:r>
            <a:r>
              <a:rPr lang="en-US" sz="5197" baseline="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photo will usually look fine up to </a:t>
            </a:r>
            <a:r>
              <a:rPr lang="en-US" sz="5197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8“-10” wide on your printed poster.</a:t>
            </a:r>
          </a:p>
          <a:p>
            <a:pPr lvl="0">
              <a:spcBef>
                <a:spcPts val="0"/>
              </a:spcBef>
              <a:spcAft>
                <a:spcPts val="1969"/>
              </a:spcAft>
            </a:pPr>
            <a:r>
              <a:rPr lang="en-US" sz="5197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To preview the print quality of images, select a magnification of 100% when previewing your poster. This will give you a good idea of what it will look like in print. If you are laying out a large poster and using half-scale dimensions, be sure to preview your graphics at 200% to see them at their final printed size.</a:t>
            </a:r>
          </a:p>
          <a:p>
            <a:pPr lvl="0">
              <a:spcBef>
                <a:spcPts val="0"/>
              </a:spcBef>
              <a:spcAft>
                <a:spcPts val="1969"/>
              </a:spcAft>
            </a:pPr>
            <a:r>
              <a:rPr lang="en-US" sz="5197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Please note that graphics from websites (such as the logo on your hospital's or university's home page) will only be 72dpi and not suitable for printing.</a:t>
            </a:r>
          </a:p>
          <a:p>
            <a:pPr lvl="0" algn="ctr">
              <a:spcBef>
                <a:spcPts val="0"/>
              </a:spcBef>
              <a:spcAft>
                <a:spcPts val="1969"/>
              </a:spcAft>
            </a:pPr>
            <a:br>
              <a:rPr lang="en-US" sz="3937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</a:br>
            <a:r>
              <a:rPr lang="en-US" sz="3937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[This sidebar area does not print.]</a:t>
            </a:r>
          </a:p>
        </p:txBody>
      </p:sp>
      <p:grpSp>
        <p:nvGrpSpPr>
          <p:cNvPr id="20" name="Group 19"/>
          <p:cNvGrpSpPr/>
          <p:nvPr userDrawn="1"/>
        </p:nvGrpSpPr>
        <p:grpSpPr>
          <a:xfrm>
            <a:off x="36749733" y="1"/>
            <a:ext cx="10499923" cy="35999738"/>
            <a:chOff x="33832800" y="0"/>
            <a:chExt cx="12801600" cy="43891200"/>
          </a:xfrm>
        </p:grpSpPr>
        <p:sp>
          <p:nvSpPr>
            <p:cNvPr id="21" name="Instructions"/>
            <p:cNvSpPr/>
            <p:nvPr userDrawn="1"/>
          </p:nvSpPr>
          <p:spPr>
            <a:xfrm>
              <a:off x="33832800" y="0"/>
              <a:ext cx="12801600" cy="43891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28600" tIns="228600" rIns="228600" bIns="228600" rtlCol="0" anchor="t"/>
            <a:lstStyle>
              <a:defPPr>
                <a:defRPr lang="en-US"/>
              </a:defPPr>
              <a:lvl1pPr marL="0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1843430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3686861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5530291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7373722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9217152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11060582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12904013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14747443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>
                <a:spcBef>
                  <a:spcPts val="0"/>
                </a:spcBef>
                <a:spcAft>
                  <a:spcPts val="1969"/>
                </a:spcAft>
              </a:pPr>
              <a:r>
                <a:rPr lang="en-US" sz="7913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Change</a:t>
              </a:r>
              <a:r>
                <a:rPr lang="en-US" sz="7913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Color Theme</a:t>
              </a:r>
              <a:r>
                <a:rPr lang="en-US" sz="7913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:</a:t>
              </a:r>
              <a:endParaRPr sz="7913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1969"/>
                </a:spcAft>
              </a:pPr>
              <a:r>
                <a:rPr lang="en-US" sz="5316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This template is designed to use the built-in color themes in</a:t>
              </a:r>
              <a:r>
                <a:rPr lang="en-US" sz="5316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the newer versions of PowerPoint.</a:t>
              </a:r>
            </a:p>
            <a:p>
              <a:pPr lvl="0">
                <a:spcBef>
                  <a:spcPts val="0"/>
                </a:spcBef>
                <a:spcAft>
                  <a:spcPts val="1969"/>
                </a:spcAft>
              </a:pPr>
              <a:r>
                <a:rPr lang="en-US" sz="5316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To change the color theme, select the </a:t>
              </a:r>
              <a:r>
                <a:rPr lang="en-US" sz="5316" b="1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Design</a:t>
              </a:r>
              <a:r>
                <a:rPr lang="en-US" sz="5316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tab, then select the </a:t>
              </a:r>
              <a:r>
                <a:rPr lang="en-US" sz="5316" b="1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Colors</a:t>
              </a:r>
              <a:r>
                <a:rPr lang="en-US" sz="5316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drop-down list.</a:t>
              </a:r>
            </a:p>
            <a:p>
              <a:pPr lvl="0">
                <a:spcBef>
                  <a:spcPts val="0"/>
                </a:spcBef>
                <a:spcAft>
                  <a:spcPts val="1969"/>
                </a:spcAft>
              </a:pPr>
              <a:endParaRPr lang="en-US" sz="5316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1969"/>
                </a:spcAft>
              </a:pPr>
              <a:endParaRPr lang="en-US" sz="5316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1969"/>
                </a:spcAft>
              </a:pPr>
              <a:endParaRPr lang="en-US" sz="5316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1969"/>
                </a:spcAft>
              </a:pPr>
              <a:endParaRPr lang="en-US" sz="5316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1969"/>
                </a:spcAft>
              </a:pPr>
              <a:endParaRPr lang="en-US" sz="5316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1969"/>
                </a:spcAft>
              </a:pPr>
              <a:endParaRPr lang="en-US" sz="5316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1969"/>
                </a:spcAft>
              </a:pPr>
              <a:endParaRPr lang="en-US" sz="5316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1969"/>
                </a:spcAft>
              </a:pPr>
              <a:endParaRPr lang="en-US" sz="5316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1969"/>
                </a:spcAft>
              </a:pPr>
              <a:endParaRPr lang="en-US" sz="5316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1969"/>
                </a:spcAft>
              </a:pPr>
              <a:r>
                <a:rPr lang="en-US" sz="5316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The default color theme for this template is “Office”, so you can always return to that after trying some of the alternatives.</a:t>
              </a:r>
            </a:p>
            <a:p>
              <a:pPr lvl="0">
                <a:spcBef>
                  <a:spcPts val="0"/>
                </a:spcBef>
                <a:spcAft>
                  <a:spcPts val="1969"/>
                </a:spcAft>
              </a:pPr>
              <a:r>
                <a:rPr lang="en-US" sz="7913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Printing Your Poster:</a:t>
              </a:r>
            </a:p>
            <a:p>
              <a:pPr lvl="0">
                <a:spcBef>
                  <a:spcPts val="0"/>
                </a:spcBef>
                <a:spcAft>
                  <a:spcPts val="1969"/>
                </a:spcAft>
              </a:pPr>
              <a:r>
                <a:rPr lang="en-US" sz="5316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Once your poster file is ready, visit</a:t>
              </a:r>
              <a:r>
                <a:rPr lang="en-US" sz="5316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</a:t>
              </a:r>
              <a:r>
                <a:rPr lang="en-US" sz="5316" b="1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www.genigraphics.com</a:t>
              </a:r>
              <a:r>
                <a:rPr lang="en-US" sz="5316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to order a high-quality, affordable poster print. Every order receives a free design review and we can delivery as fast as next business day within the US and Canada. </a:t>
              </a:r>
            </a:p>
            <a:p>
              <a:pPr lvl="0">
                <a:spcBef>
                  <a:spcPts val="0"/>
                </a:spcBef>
                <a:spcAft>
                  <a:spcPts val="1969"/>
                </a:spcAft>
              </a:pPr>
              <a:r>
                <a:rPr lang="en-US" sz="5316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Genigraphics® has been producing output from PowerPoint® longer than anyone in the industry; dating back to when we helped Microsoft® design the PowerPoint® software. </a:t>
              </a:r>
            </a:p>
            <a:p>
              <a:pPr lvl="0">
                <a:spcBef>
                  <a:spcPts val="0"/>
                </a:spcBef>
                <a:spcAft>
                  <a:spcPts val="0"/>
                </a:spcAft>
              </a:pPr>
              <a:endParaRPr lang="en-US" sz="5316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5316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US and Canada:  1-800-790-4001</a:t>
              </a:r>
              <a:br>
                <a:rPr lang="en-US" sz="5316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</a:br>
              <a:r>
                <a:rPr lang="en-US" sz="5316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Email: info@genigraphics.com</a:t>
              </a:r>
            </a:p>
            <a:p>
              <a:pPr lvl="0" algn="ctr">
                <a:spcBef>
                  <a:spcPts val="0"/>
                </a:spcBef>
                <a:spcAft>
                  <a:spcPts val="0"/>
                </a:spcAft>
              </a:pPr>
              <a:br>
                <a:rPr lang="en-US" sz="3937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</a:br>
              <a:r>
                <a:rPr lang="en-US" sz="3937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[This sidebar area does not print.]</a:t>
              </a:r>
            </a:p>
          </p:txBody>
        </p:sp>
        <p:pic>
          <p:nvPicPr>
            <p:cNvPr id="22" name="Picture 21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281342" y="9260274"/>
              <a:ext cx="11904515" cy="10246926"/>
            </a:xfrm>
            <a:prstGeom prst="rect">
              <a:avLst/>
            </a:prstGeom>
          </p:spPr>
        </p:pic>
      </p:grp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96668" y="35720941"/>
            <a:ext cx="5297442" cy="185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944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D6BDF-9D0E-4E2B-85B8-D8F4790360C9}" type="datetimeFigureOut">
              <a:rPr lang="en-US" smtClean="0"/>
              <a:t>4/16/2025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075EA-769C-4ECD-B48E-D6FCDC24F8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1665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99987" y="1441644"/>
            <a:ext cx="32399765" cy="5999957"/>
          </a:xfrm>
          <a:prstGeom prst="rect">
            <a:avLst/>
          </a:prstGeom>
        </p:spPr>
        <p:txBody>
          <a:bodyPr vert="horz" lIns="359925" tIns="179963" rIns="359925" bIns="179963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99987" y="8399940"/>
            <a:ext cx="32399765" cy="23758173"/>
          </a:xfrm>
          <a:prstGeom prst="rect">
            <a:avLst/>
          </a:prstGeom>
        </p:spPr>
        <p:txBody>
          <a:bodyPr vert="horz" lIns="359925" tIns="179963" rIns="359925" bIns="179963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799988" y="33366470"/>
            <a:ext cx="8399938" cy="1916639"/>
          </a:xfrm>
          <a:prstGeom prst="rect">
            <a:avLst/>
          </a:prstGeom>
        </p:spPr>
        <p:txBody>
          <a:bodyPr vert="horz" lIns="359925" tIns="179963" rIns="359925" bIns="179963" rtlCol="0" anchor="ctr"/>
          <a:lstStyle>
            <a:lvl1pPr algn="l">
              <a:defRPr sz="480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5D6BDF-9D0E-4E2B-85B8-D8F4790360C9}" type="datetimeFigureOut">
              <a:rPr lang="en-US" smtClean="0"/>
              <a:t>4/16/2025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299911" y="33366470"/>
            <a:ext cx="11399917" cy="1916639"/>
          </a:xfrm>
          <a:prstGeom prst="rect">
            <a:avLst/>
          </a:prstGeom>
        </p:spPr>
        <p:txBody>
          <a:bodyPr vert="horz" lIns="359925" tIns="179963" rIns="359925" bIns="179963" rtlCol="0" anchor="ctr"/>
          <a:lstStyle>
            <a:lvl1pPr algn="ctr">
              <a:defRPr sz="480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799812" y="33366470"/>
            <a:ext cx="8399938" cy="1916639"/>
          </a:xfrm>
          <a:prstGeom prst="rect">
            <a:avLst/>
          </a:prstGeom>
        </p:spPr>
        <p:txBody>
          <a:bodyPr vert="horz" lIns="359925" tIns="179963" rIns="359925" bIns="179963" rtlCol="0" anchor="ctr"/>
          <a:lstStyle>
            <a:lvl1pPr algn="r">
              <a:defRPr sz="480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B075EA-769C-4ECD-B48E-D6FCDC24F8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322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3598253" rtl="0" eaLnBrk="1" latinLnBrk="0" hangingPunct="1">
        <a:spcBef>
          <a:spcPct val="0"/>
        </a:spcBef>
        <a:buNone/>
        <a:defRPr sz="661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4813" indent="-374813" algn="l" defTabSz="3598253" rtl="0" eaLnBrk="1" latinLnBrk="0" hangingPunct="1">
        <a:spcBef>
          <a:spcPct val="20000"/>
        </a:spcBef>
        <a:buFont typeface="Arial" pitchFamily="34" charset="0"/>
        <a:buChar char="•"/>
        <a:defRPr sz="3937" kern="1200">
          <a:solidFill>
            <a:schemeClr val="tx1"/>
          </a:solidFill>
          <a:latin typeface="+mn-lt"/>
          <a:ea typeface="+mn-ea"/>
          <a:cs typeface="+mn-cs"/>
        </a:defRPr>
      </a:lvl1pPr>
      <a:lvl2pPr marL="749628" indent="-374813" algn="l" defTabSz="3598253" rtl="0" eaLnBrk="1" latinLnBrk="0" hangingPunct="1">
        <a:spcBef>
          <a:spcPct val="20000"/>
        </a:spcBef>
        <a:buFont typeface="Arial" pitchFamily="34" charset="0"/>
        <a:buChar char="–"/>
        <a:defRPr sz="3937" kern="1200">
          <a:solidFill>
            <a:schemeClr val="tx1"/>
          </a:solidFill>
          <a:latin typeface="+mn-lt"/>
          <a:ea typeface="+mn-ea"/>
          <a:cs typeface="+mn-cs"/>
        </a:defRPr>
      </a:lvl2pPr>
      <a:lvl3pPr marL="1124441" indent="-374813" algn="l" defTabSz="3598253" rtl="0" eaLnBrk="1" latinLnBrk="0" hangingPunct="1">
        <a:spcBef>
          <a:spcPct val="20000"/>
        </a:spcBef>
        <a:buFont typeface="Arial" pitchFamily="34" charset="0"/>
        <a:buChar char="•"/>
        <a:defRPr sz="3937" kern="1200">
          <a:solidFill>
            <a:schemeClr val="tx1"/>
          </a:solidFill>
          <a:latin typeface="+mn-lt"/>
          <a:ea typeface="+mn-ea"/>
          <a:cs typeface="+mn-cs"/>
        </a:defRPr>
      </a:lvl3pPr>
      <a:lvl4pPr marL="1499295" indent="-374813" algn="l" defTabSz="3598253" rtl="0" eaLnBrk="1" latinLnBrk="0" hangingPunct="1">
        <a:spcBef>
          <a:spcPct val="20000"/>
        </a:spcBef>
        <a:buFont typeface="Arial" pitchFamily="34" charset="0"/>
        <a:buChar char="–"/>
        <a:defRPr sz="3937" kern="1200">
          <a:solidFill>
            <a:schemeClr val="tx1"/>
          </a:solidFill>
          <a:latin typeface="+mn-lt"/>
          <a:ea typeface="+mn-ea"/>
          <a:cs typeface="+mn-cs"/>
        </a:defRPr>
      </a:lvl4pPr>
      <a:lvl5pPr marL="1874109" indent="-374813" algn="l" defTabSz="3598253" rtl="0" eaLnBrk="1" latinLnBrk="0" hangingPunct="1">
        <a:spcBef>
          <a:spcPct val="20000"/>
        </a:spcBef>
        <a:buFont typeface="Arial" pitchFamily="34" charset="0"/>
        <a:buChar char="»"/>
        <a:defRPr sz="3937" kern="1200">
          <a:solidFill>
            <a:schemeClr val="tx1"/>
          </a:solidFill>
          <a:latin typeface="+mn-lt"/>
          <a:ea typeface="+mn-ea"/>
          <a:cs typeface="+mn-cs"/>
        </a:defRPr>
      </a:lvl5pPr>
      <a:lvl6pPr marL="9895245" indent="-899554" algn="l" defTabSz="3598253" rtl="0" eaLnBrk="1" latinLnBrk="0" hangingPunct="1">
        <a:spcBef>
          <a:spcPct val="20000"/>
        </a:spcBef>
        <a:buFont typeface="Arial" pitchFamily="34" charset="0"/>
        <a:buChar char="•"/>
        <a:defRPr sz="7913" kern="1200">
          <a:solidFill>
            <a:schemeClr val="tx1"/>
          </a:solidFill>
          <a:latin typeface="+mn-lt"/>
          <a:ea typeface="+mn-ea"/>
          <a:cs typeface="+mn-cs"/>
        </a:defRPr>
      </a:lvl6pPr>
      <a:lvl7pPr marL="11694390" indent="-899554" algn="l" defTabSz="3598253" rtl="0" eaLnBrk="1" latinLnBrk="0" hangingPunct="1">
        <a:spcBef>
          <a:spcPct val="20000"/>
        </a:spcBef>
        <a:buFont typeface="Arial" pitchFamily="34" charset="0"/>
        <a:buChar char="•"/>
        <a:defRPr sz="7913" kern="1200">
          <a:solidFill>
            <a:schemeClr val="tx1"/>
          </a:solidFill>
          <a:latin typeface="+mn-lt"/>
          <a:ea typeface="+mn-ea"/>
          <a:cs typeface="+mn-cs"/>
        </a:defRPr>
      </a:lvl7pPr>
      <a:lvl8pPr marL="13493537" indent="-899554" algn="l" defTabSz="3598253" rtl="0" eaLnBrk="1" latinLnBrk="0" hangingPunct="1">
        <a:spcBef>
          <a:spcPct val="20000"/>
        </a:spcBef>
        <a:buFont typeface="Arial" pitchFamily="34" charset="0"/>
        <a:buChar char="•"/>
        <a:defRPr sz="7913" kern="1200">
          <a:solidFill>
            <a:schemeClr val="tx1"/>
          </a:solidFill>
          <a:latin typeface="+mn-lt"/>
          <a:ea typeface="+mn-ea"/>
          <a:cs typeface="+mn-cs"/>
        </a:defRPr>
      </a:lvl8pPr>
      <a:lvl9pPr marL="15292643" indent="-899554" algn="l" defTabSz="3598253" rtl="0" eaLnBrk="1" latinLnBrk="0" hangingPunct="1">
        <a:spcBef>
          <a:spcPct val="20000"/>
        </a:spcBef>
        <a:buFont typeface="Arial" pitchFamily="34" charset="0"/>
        <a:buChar char="•"/>
        <a:defRPr sz="79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598253" rtl="0" eaLnBrk="1" latinLnBrk="0" hangingPunct="1">
        <a:defRPr sz="7008" kern="1200">
          <a:solidFill>
            <a:schemeClr val="tx1"/>
          </a:solidFill>
          <a:latin typeface="+mn-lt"/>
          <a:ea typeface="+mn-ea"/>
          <a:cs typeface="+mn-cs"/>
        </a:defRPr>
      </a:lvl1pPr>
      <a:lvl2pPr marL="1799147" algn="l" defTabSz="3598253" rtl="0" eaLnBrk="1" latinLnBrk="0" hangingPunct="1">
        <a:defRPr sz="7008" kern="1200">
          <a:solidFill>
            <a:schemeClr val="tx1"/>
          </a:solidFill>
          <a:latin typeface="+mn-lt"/>
          <a:ea typeface="+mn-ea"/>
          <a:cs typeface="+mn-cs"/>
        </a:defRPr>
      </a:lvl2pPr>
      <a:lvl3pPr marL="3598253" algn="l" defTabSz="3598253" rtl="0" eaLnBrk="1" latinLnBrk="0" hangingPunct="1">
        <a:defRPr sz="7008" kern="1200">
          <a:solidFill>
            <a:schemeClr val="tx1"/>
          </a:solidFill>
          <a:latin typeface="+mn-lt"/>
          <a:ea typeface="+mn-ea"/>
          <a:cs typeface="+mn-cs"/>
        </a:defRPr>
      </a:lvl3pPr>
      <a:lvl4pPr marL="5397399" algn="l" defTabSz="3598253" rtl="0" eaLnBrk="1" latinLnBrk="0" hangingPunct="1">
        <a:defRPr sz="7008" kern="1200">
          <a:solidFill>
            <a:schemeClr val="tx1"/>
          </a:solidFill>
          <a:latin typeface="+mn-lt"/>
          <a:ea typeface="+mn-ea"/>
          <a:cs typeface="+mn-cs"/>
        </a:defRPr>
      </a:lvl4pPr>
      <a:lvl5pPr marL="7196545" algn="l" defTabSz="3598253" rtl="0" eaLnBrk="1" latinLnBrk="0" hangingPunct="1">
        <a:defRPr sz="7008" kern="1200">
          <a:solidFill>
            <a:schemeClr val="tx1"/>
          </a:solidFill>
          <a:latin typeface="+mn-lt"/>
          <a:ea typeface="+mn-ea"/>
          <a:cs typeface="+mn-cs"/>
        </a:defRPr>
      </a:lvl5pPr>
      <a:lvl6pPr marL="8995691" algn="l" defTabSz="3598253" rtl="0" eaLnBrk="1" latinLnBrk="0" hangingPunct="1">
        <a:defRPr sz="7008" kern="1200">
          <a:solidFill>
            <a:schemeClr val="tx1"/>
          </a:solidFill>
          <a:latin typeface="+mn-lt"/>
          <a:ea typeface="+mn-ea"/>
          <a:cs typeface="+mn-cs"/>
        </a:defRPr>
      </a:lvl6pPr>
      <a:lvl7pPr marL="10794797" algn="l" defTabSz="3598253" rtl="0" eaLnBrk="1" latinLnBrk="0" hangingPunct="1">
        <a:defRPr sz="7008" kern="1200">
          <a:solidFill>
            <a:schemeClr val="tx1"/>
          </a:solidFill>
          <a:latin typeface="+mn-lt"/>
          <a:ea typeface="+mn-ea"/>
          <a:cs typeface="+mn-cs"/>
        </a:defRPr>
      </a:lvl7pPr>
      <a:lvl8pPr marL="12593944" algn="l" defTabSz="3598253" rtl="0" eaLnBrk="1" latinLnBrk="0" hangingPunct="1">
        <a:defRPr sz="7008" kern="1200">
          <a:solidFill>
            <a:schemeClr val="tx1"/>
          </a:solidFill>
          <a:latin typeface="+mn-lt"/>
          <a:ea typeface="+mn-ea"/>
          <a:cs typeface="+mn-cs"/>
        </a:defRPr>
      </a:lvl8pPr>
      <a:lvl9pPr marL="14393090" algn="l" defTabSz="3598253" rtl="0" eaLnBrk="1" latinLnBrk="0" hangingPunct="1">
        <a:defRPr sz="700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13" Type="http://schemas.openxmlformats.org/officeDocument/2006/relationships/image" Target="../media/image14.jpg"/><Relationship Id="rId18" Type="http://schemas.openxmlformats.org/officeDocument/2006/relationships/image" Target="../media/image19.jp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jpg"/><Relationship Id="rId17" Type="http://schemas.openxmlformats.org/officeDocument/2006/relationships/image" Target="../media/image18.jpg"/><Relationship Id="rId2" Type="http://schemas.openxmlformats.org/officeDocument/2006/relationships/image" Target="../media/image3.png"/><Relationship Id="rId16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jpg"/><Relationship Id="rId5" Type="http://schemas.openxmlformats.org/officeDocument/2006/relationships/image" Target="../media/image6.emf"/><Relationship Id="rId15" Type="http://schemas.openxmlformats.org/officeDocument/2006/relationships/image" Target="../media/image16.jpg"/><Relationship Id="rId10" Type="http://schemas.openxmlformats.org/officeDocument/2006/relationships/image" Target="../media/image11.jpg"/><Relationship Id="rId19" Type="http://schemas.openxmlformats.org/officeDocument/2006/relationships/image" Target="../media/image20.jpg"/><Relationship Id="rId4" Type="http://schemas.openxmlformats.org/officeDocument/2006/relationships/image" Target="../media/image5.png"/><Relationship Id="rId9" Type="http://schemas.openxmlformats.org/officeDocument/2006/relationships/image" Target="../media/image10.jpg"/><Relationship Id="rId14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1AC8E6B-3D0B-E453-E054-69733C9AEAA7}"/>
              </a:ext>
            </a:extLst>
          </p:cNvPr>
          <p:cNvSpPr/>
          <p:nvPr/>
        </p:nvSpPr>
        <p:spPr>
          <a:xfrm>
            <a:off x="0" y="20"/>
            <a:ext cx="35999738" cy="3328851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937"/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05F73E3C-03A6-7DD1-5DA3-129D1D4B7DC1}"/>
              </a:ext>
            </a:extLst>
          </p:cNvPr>
          <p:cNvSpPr txBox="1">
            <a:spLocks/>
          </p:cNvSpPr>
          <p:nvPr/>
        </p:nvSpPr>
        <p:spPr>
          <a:xfrm>
            <a:off x="34764" y="2222269"/>
            <a:ext cx="35999738" cy="110799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ctr" defTabSz="4388900" rtl="0" eaLnBrk="1" latinLnBrk="0" hangingPunct="1">
              <a:spcBef>
                <a:spcPct val="20000"/>
              </a:spcBef>
              <a:buFontTx/>
              <a:buNone/>
              <a:defRPr sz="44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3565982" indent="-1371531" algn="l" defTabSz="4388900" rtl="0" eaLnBrk="1" latinLnBrk="0" hangingPunct="1">
              <a:spcBef>
                <a:spcPct val="20000"/>
              </a:spcBef>
              <a:buFontTx/>
              <a:buNone/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126" indent="-1097226" algn="l" defTabSz="4388900" rtl="0" eaLnBrk="1" latinLnBrk="0" hangingPunct="1">
              <a:spcBef>
                <a:spcPct val="20000"/>
              </a:spcBef>
              <a:buFontTx/>
              <a:buNone/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680577" indent="-1097226" algn="l" defTabSz="4388900" rtl="0" eaLnBrk="1" latinLnBrk="0" hangingPunct="1">
              <a:spcBef>
                <a:spcPct val="20000"/>
              </a:spcBef>
              <a:buFontTx/>
              <a:buNone/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875026" indent="-1097226" algn="l" defTabSz="4388900" rtl="0" eaLnBrk="1" latinLnBrk="0" hangingPunct="1">
              <a:spcBef>
                <a:spcPct val="20000"/>
              </a:spcBef>
              <a:buFontTx/>
              <a:buNone/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69477" indent="-1097226" algn="l" defTabSz="43889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63926" indent="-1097226" algn="l" defTabSz="43889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458377" indent="-1097226" algn="l" defTabSz="43889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652827" indent="-1097226" algn="l" defTabSz="43889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600" b="1" spc="315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Engineering &amp; Technology</a:t>
            </a:r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2EDE10C3-A99D-4FEB-B8D3-3BD716757897}"/>
              </a:ext>
            </a:extLst>
          </p:cNvPr>
          <p:cNvSpPr txBox="1">
            <a:spLocks/>
          </p:cNvSpPr>
          <p:nvPr/>
        </p:nvSpPr>
        <p:spPr>
          <a:xfrm>
            <a:off x="-198325" y="1248585"/>
            <a:ext cx="36034501" cy="111015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ctr" defTabSz="4388900" rtl="0" eaLnBrk="1" latinLnBrk="0" hangingPunct="1">
              <a:spcBef>
                <a:spcPct val="20000"/>
              </a:spcBef>
              <a:buFontTx/>
              <a:buNone/>
              <a:defRPr sz="6000" b="1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3565982" indent="-1371531" algn="l" defTabSz="4388900" rtl="0" eaLnBrk="1" latinLnBrk="0" hangingPunct="1">
              <a:spcBef>
                <a:spcPct val="20000"/>
              </a:spcBef>
              <a:buFontTx/>
              <a:buNone/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126" indent="-1097226" algn="l" defTabSz="4388900" rtl="0" eaLnBrk="1" latinLnBrk="0" hangingPunct="1">
              <a:spcBef>
                <a:spcPct val="20000"/>
              </a:spcBef>
              <a:buFontTx/>
              <a:buNone/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680577" indent="-1097226" algn="l" defTabSz="4388900" rtl="0" eaLnBrk="1" latinLnBrk="0" hangingPunct="1">
              <a:spcBef>
                <a:spcPct val="20000"/>
              </a:spcBef>
              <a:buFontTx/>
              <a:buNone/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875026" indent="-1097226" algn="l" defTabSz="4388900" rtl="0" eaLnBrk="1" latinLnBrk="0" hangingPunct="1">
              <a:spcBef>
                <a:spcPct val="20000"/>
              </a:spcBef>
              <a:buFontTx/>
              <a:buNone/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69477" indent="-1097226" algn="l" defTabSz="43889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63926" indent="-1097226" algn="l" defTabSz="43889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458377" indent="-1097226" algn="l" defTabSz="43889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652827" indent="-1097226" algn="l" defTabSz="43889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614" spc="315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Battery Swapping station and EV Charging Infrastructure</a:t>
            </a:r>
            <a:endParaRPr lang="en-US" sz="6614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8D190DE3-AD9B-7B0F-C452-E9AD03BDAF3A}"/>
              </a:ext>
            </a:extLst>
          </p:cNvPr>
          <p:cNvSpPr txBox="1">
            <a:spLocks/>
          </p:cNvSpPr>
          <p:nvPr/>
        </p:nvSpPr>
        <p:spPr>
          <a:xfrm>
            <a:off x="1" y="-12836"/>
            <a:ext cx="36034513" cy="132225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ctr" defTabSz="4388900" rtl="0" eaLnBrk="1" latinLnBrk="0" hangingPunct="1">
              <a:spcBef>
                <a:spcPct val="20000"/>
              </a:spcBef>
              <a:buFontTx/>
              <a:buNone/>
              <a:defRPr sz="8800" b="1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3565982" indent="-1371531" algn="l" defTabSz="4388900" rtl="0" eaLnBrk="1" latinLnBrk="0" hangingPunct="1">
              <a:spcBef>
                <a:spcPct val="20000"/>
              </a:spcBef>
              <a:buFontTx/>
              <a:buNone/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126" indent="-1097226" algn="l" defTabSz="4388900" rtl="0" eaLnBrk="1" latinLnBrk="0" hangingPunct="1">
              <a:spcBef>
                <a:spcPct val="20000"/>
              </a:spcBef>
              <a:buFontTx/>
              <a:buNone/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680577" indent="-1097226" algn="l" defTabSz="4388900" rtl="0" eaLnBrk="1" latinLnBrk="0" hangingPunct="1">
              <a:spcBef>
                <a:spcPct val="20000"/>
              </a:spcBef>
              <a:buFontTx/>
              <a:buNone/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875026" indent="-1097226" algn="l" defTabSz="4388900" rtl="0" eaLnBrk="1" latinLnBrk="0" hangingPunct="1">
              <a:spcBef>
                <a:spcPct val="20000"/>
              </a:spcBef>
              <a:buFontTx/>
              <a:buNone/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69477" indent="-1097226" algn="l" defTabSz="43889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63926" indent="-1097226" algn="l" defTabSz="43889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458377" indent="-1097226" algn="l" defTabSz="43889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652827" indent="-1097226" algn="l" defTabSz="43889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992" spc="315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Design of IOT Architecture for Battery Charging Management System</a:t>
            </a:r>
            <a:endParaRPr lang="en-US" sz="7992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A white car at a charging station&#10;&#10;Description automatically generated">
            <a:extLst>
              <a:ext uri="{FF2B5EF4-FFF2-40B4-BE49-F238E27FC236}">
                <a16:creationId xmlns:a16="http://schemas.microsoft.com/office/drawing/2014/main" id="{9EAD15DA-459D-8F6B-B226-7D9A4B4433C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97898" y="1474957"/>
            <a:ext cx="3377421" cy="1733296"/>
          </a:xfrm>
          <a:prstGeom prst="rect">
            <a:avLst/>
          </a:prstGeom>
        </p:spPr>
      </p:pic>
      <p:sp>
        <p:nvSpPr>
          <p:cNvPr id="19" name="Text Box 189">
            <a:extLst>
              <a:ext uri="{FF2B5EF4-FFF2-40B4-BE49-F238E27FC236}">
                <a16:creationId xmlns:a16="http://schemas.microsoft.com/office/drawing/2014/main" id="{CC0F2EF1-E482-6A81-29F5-6D7B4A40A4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7032" y="17106144"/>
            <a:ext cx="11098376" cy="3324592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wrap="square" lIns="149969" tIns="149969" rIns="149969" bIns="149969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3200" kern="100" dirty="0">
                <a:latin typeface="+mn-lt"/>
              </a:rPr>
              <a:t>Demand of Charging Infrastructure Expansion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3200" kern="100" dirty="0">
                <a:latin typeface="+mn-lt"/>
              </a:rPr>
              <a:t>Grid Load Disturbances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3200" kern="100" dirty="0">
                <a:latin typeface="+mn-lt"/>
              </a:rPr>
              <a:t>High Installation and Operational Costs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3200" kern="100" dirty="0">
                <a:latin typeface="+mn-lt"/>
              </a:rPr>
              <a:t>Inefficient Load Management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3200" kern="100" dirty="0">
                <a:latin typeface="+mn-lt"/>
              </a:rPr>
              <a:t>Limited Remote Monitoring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21FBE6C-8E75-6E19-37CF-BCC3D2F4A13B}"/>
              </a:ext>
            </a:extLst>
          </p:cNvPr>
          <p:cNvSpPr/>
          <p:nvPr/>
        </p:nvSpPr>
        <p:spPr>
          <a:xfrm>
            <a:off x="342569" y="16114850"/>
            <a:ext cx="11064625" cy="81645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984" tIns="37492" rIns="74984" bIns="37492" rtlCol="0" anchor="ctr"/>
          <a:lstStyle/>
          <a:p>
            <a:pPr algn="ctr"/>
            <a:r>
              <a:rPr lang="en-US" sz="51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Problem Statement</a:t>
            </a:r>
          </a:p>
        </p:txBody>
      </p:sp>
      <p:sp>
        <p:nvSpPr>
          <p:cNvPr id="21" name="Text Box 189">
            <a:extLst>
              <a:ext uri="{FF2B5EF4-FFF2-40B4-BE49-F238E27FC236}">
                <a16:creationId xmlns:a16="http://schemas.microsoft.com/office/drawing/2014/main" id="{DE9172A0-6230-09C9-86DD-2196036BE2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644" y="29960563"/>
            <a:ext cx="11123218" cy="521318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wrap="square" lIns="149969" tIns="149969" rIns="149969" bIns="149969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3200" kern="100" dirty="0">
                <a:latin typeface="+mn-lt"/>
              </a:rPr>
              <a:t>Innovative IOT 5 layered Architecture.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3200" kern="100" dirty="0">
                <a:latin typeface="+mn-lt"/>
              </a:rPr>
              <a:t>Integration of multiple energy sources.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3200" kern="100" dirty="0">
                <a:latin typeface="+mn-lt"/>
              </a:rPr>
              <a:t>Central monitoring and controlling.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3200" kern="100" dirty="0">
                <a:latin typeface="+mn-lt"/>
              </a:rPr>
              <a:t>Real-Time data processing and user interface.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3200" kern="100" dirty="0">
                <a:latin typeface="+mn-lt"/>
              </a:rPr>
              <a:t>Cloud connectivity.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3200" kern="100" dirty="0">
                <a:latin typeface="+mn-lt"/>
              </a:rPr>
              <a:t>Cost efficiency model.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3200" kern="100" dirty="0">
                <a:latin typeface="+mn-lt"/>
              </a:rPr>
              <a:t>Scalability and Adaptability.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3200" kern="100" dirty="0">
                <a:latin typeface="+mn-lt"/>
              </a:rPr>
              <a:t>Portable charging station. 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047DCF8-5DAB-66CA-8B92-C171DE4C936B}"/>
              </a:ext>
            </a:extLst>
          </p:cNvPr>
          <p:cNvSpPr/>
          <p:nvPr/>
        </p:nvSpPr>
        <p:spPr>
          <a:xfrm>
            <a:off x="300689" y="28897223"/>
            <a:ext cx="11175402" cy="83634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984" tIns="37492" rIns="74984" bIns="37492" rtlCol="0" anchor="ctr"/>
          <a:lstStyle/>
          <a:p>
            <a:pPr algn="ctr"/>
            <a:r>
              <a:rPr lang="en-US" sz="51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Project Novelty</a:t>
            </a:r>
          </a:p>
        </p:txBody>
      </p:sp>
      <p:sp>
        <p:nvSpPr>
          <p:cNvPr id="23" name="Text Box 189">
            <a:extLst>
              <a:ext uri="{FF2B5EF4-FFF2-40B4-BE49-F238E27FC236}">
                <a16:creationId xmlns:a16="http://schemas.microsoft.com/office/drawing/2014/main" id="{64A8A05C-FCEC-941C-9945-945083E665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098" y="21488538"/>
            <a:ext cx="11112310" cy="3222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wrap="square" lIns="149969" tIns="149969" rIns="149969" bIns="149969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3200" kern="100" dirty="0">
                <a:latin typeface="+mn-lt"/>
              </a:rPr>
              <a:t>Develop an IoT-based architecture for optimized battery charging management.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3200" kern="100" dirty="0">
                <a:latin typeface="+mn-lt"/>
              </a:rPr>
              <a:t>Incorporate real-time data monitoring and predictive analytics.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3200" kern="100" dirty="0">
                <a:latin typeface="+mn-lt"/>
              </a:rPr>
              <a:t>Enhance operational cost efficiency by up to 88.5%.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3200" kern="100" dirty="0">
                <a:latin typeface="+mn-lt"/>
              </a:rPr>
              <a:t>Promote sustainable energy integration through solar and ESS.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BE0760B-2116-9E6C-EE35-ABB67ABA5012}"/>
              </a:ext>
            </a:extLst>
          </p:cNvPr>
          <p:cNvSpPr/>
          <p:nvPr/>
        </p:nvSpPr>
        <p:spPr>
          <a:xfrm>
            <a:off x="350080" y="20634624"/>
            <a:ext cx="11141634" cy="705303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984" tIns="37492" rIns="74984" bIns="37492" rtlCol="0" anchor="ctr"/>
          <a:lstStyle/>
          <a:p>
            <a:pPr algn="ctr"/>
            <a:r>
              <a:rPr lang="en-US" sz="51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Objectives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8F4A09B-D4E7-D6CD-12A8-C693B1DA9DAA}"/>
              </a:ext>
            </a:extLst>
          </p:cNvPr>
          <p:cNvCxnSpPr>
            <a:cxnSpLocks/>
          </p:cNvCxnSpPr>
          <p:nvPr/>
        </p:nvCxnSpPr>
        <p:spPr>
          <a:xfrm flipV="1">
            <a:off x="-34776" y="2338792"/>
            <a:ext cx="32131645" cy="1304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0" name="Text Box 189">
            <a:extLst>
              <a:ext uri="{FF2B5EF4-FFF2-40B4-BE49-F238E27FC236}">
                <a16:creationId xmlns:a16="http://schemas.microsoft.com/office/drawing/2014/main" id="{D5A54AFC-3FA7-9803-3AE5-9F059E1878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60546" y="4498053"/>
            <a:ext cx="11789805" cy="31295967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lIns="149969" tIns="149969" rIns="149969" bIns="149969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en-US" sz="3600" b="1" dirty="0">
                <a:solidFill>
                  <a:srgbClr val="C00000"/>
                </a:solidFill>
                <a:latin typeface="+mn-lt"/>
              </a:rPr>
              <a:t>IoT Five-Layered Architecture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+mn-lt"/>
              </a:rPr>
              <a:t>User Interface Application Layer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+mn-lt"/>
              </a:rPr>
              <a:t>Cloud Server and Data Storage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+mn-lt"/>
              </a:rPr>
              <a:t>Communication Layer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+mn-lt"/>
              </a:rPr>
              <a:t>Microcontroller Layer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+mn-lt"/>
              </a:rPr>
              <a:t>Sensor Layer.</a:t>
            </a:r>
          </a:p>
          <a:p>
            <a:pPr algn="just"/>
            <a:endParaRPr lang="en-US" sz="3000" dirty="0">
              <a:latin typeface="+mn-lt"/>
            </a:endParaRPr>
          </a:p>
          <a:p>
            <a:pPr algn="just"/>
            <a:endParaRPr lang="en-US" sz="3000" dirty="0">
              <a:latin typeface="+mn-lt"/>
            </a:endParaRPr>
          </a:p>
          <a:p>
            <a:pPr algn="just"/>
            <a:endParaRPr lang="en-US" sz="3000" dirty="0">
              <a:latin typeface="+mn-lt"/>
            </a:endParaRPr>
          </a:p>
          <a:p>
            <a:pPr algn="just"/>
            <a:endParaRPr lang="en-US" sz="3000" dirty="0">
              <a:latin typeface="+mn-lt"/>
            </a:endParaRPr>
          </a:p>
          <a:p>
            <a:pPr algn="just"/>
            <a:endParaRPr lang="en-US" sz="3000" dirty="0">
              <a:latin typeface="+mn-lt"/>
            </a:endParaRPr>
          </a:p>
          <a:p>
            <a:pPr algn="just"/>
            <a:endParaRPr lang="en-US" sz="3000" dirty="0">
              <a:latin typeface="+mn-lt"/>
            </a:endParaRPr>
          </a:p>
          <a:p>
            <a:pPr algn="just"/>
            <a:endParaRPr lang="en-US" sz="3000" dirty="0">
              <a:latin typeface="+mn-lt"/>
            </a:endParaRPr>
          </a:p>
          <a:p>
            <a:pPr algn="just"/>
            <a:endParaRPr lang="en-US" sz="3000" dirty="0">
              <a:latin typeface="+mn-lt"/>
            </a:endParaRPr>
          </a:p>
          <a:p>
            <a:pPr algn="ctr"/>
            <a:r>
              <a:rPr lang="en-US" sz="3600" b="1" dirty="0">
                <a:solidFill>
                  <a:srgbClr val="C00000"/>
                </a:solidFill>
                <a:latin typeface="+mn-lt"/>
              </a:rPr>
              <a:t>Point of Common Coupling (PCC)</a:t>
            </a:r>
          </a:p>
          <a:p>
            <a:pPr algn="just"/>
            <a:r>
              <a:rPr lang="en-US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Combines solar power, ESS, and grid power for                    Integration and Automation</a:t>
            </a:r>
            <a:r>
              <a:rPr lang="en-US" sz="3000" b="1" kern="100" dirty="0"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en-US" sz="3000" b="1" dirty="0">
              <a:latin typeface="+mn-lt"/>
            </a:endParaRPr>
          </a:p>
          <a:p>
            <a:pPr algn="just"/>
            <a:endParaRPr lang="en-US" sz="3000" dirty="0">
              <a:latin typeface="+mn-lt"/>
            </a:endParaRPr>
          </a:p>
          <a:p>
            <a:pPr algn="just"/>
            <a:endParaRPr lang="en-US" sz="3000" dirty="0">
              <a:latin typeface="+mn-lt"/>
            </a:endParaRPr>
          </a:p>
          <a:p>
            <a:pPr algn="just"/>
            <a:endParaRPr lang="en-US" sz="3000" dirty="0">
              <a:latin typeface="+mn-lt"/>
            </a:endParaRPr>
          </a:p>
          <a:p>
            <a:pPr algn="just"/>
            <a:endParaRPr lang="en-US" sz="3000" dirty="0">
              <a:latin typeface="+mn-lt"/>
            </a:endParaRPr>
          </a:p>
          <a:p>
            <a:pPr algn="just"/>
            <a:endParaRPr lang="en-US" sz="3000" dirty="0">
              <a:latin typeface="+mn-lt"/>
            </a:endParaRPr>
          </a:p>
          <a:p>
            <a:pPr algn="just"/>
            <a:endParaRPr lang="en-US" sz="3000" dirty="0">
              <a:latin typeface="+mn-lt"/>
            </a:endParaRPr>
          </a:p>
          <a:p>
            <a:pPr algn="just"/>
            <a:endParaRPr lang="en-US" sz="3000" dirty="0">
              <a:latin typeface="+mn-lt"/>
            </a:endParaRPr>
          </a:p>
          <a:p>
            <a:pPr algn="just"/>
            <a:endParaRPr lang="en-US" sz="3000" dirty="0">
              <a:latin typeface="+mn-lt"/>
            </a:endParaRPr>
          </a:p>
          <a:p>
            <a:pPr algn="just"/>
            <a:endParaRPr lang="en-US" sz="3000" dirty="0">
              <a:latin typeface="+mn-lt"/>
            </a:endParaRPr>
          </a:p>
          <a:p>
            <a:pPr algn="just"/>
            <a:endParaRPr lang="en-US" sz="3000" dirty="0">
              <a:latin typeface="+mn-lt"/>
            </a:endParaRPr>
          </a:p>
          <a:p>
            <a:pPr algn="just"/>
            <a:endParaRPr lang="en-US" sz="3000" dirty="0">
              <a:latin typeface="+mn-lt"/>
            </a:endParaRPr>
          </a:p>
          <a:p>
            <a:pPr algn="just"/>
            <a:endParaRPr lang="en-US" sz="3000" b="1" dirty="0">
              <a:solidFill>
                <a:srgbClr val="C00000"/>
              </a:solidFill>
              <a:latin typeface="+mn-lt"/>
            </a:endParaRPr>
          </a:p>
          <a:p>
            <a:pPr algn="ctr"/>
            <a:endParaRPr lang="en-US" sz="3600" b="1" dirty="0">
              <a:solidFill>
                <a:srgbClr val="C00000"/>
              </a:solidFill>
              <a:latin typeface="+mn-lt"/>
            </a:endParaRPr>
          </a:p>
          <a:p>
            <a:pPr algn="ctr"/>
            <a:r>
              <a:rPr lang="en-US" sz="3600" b="1" dirty="0">
                <a:solidFill>
                  <a:srgbClr val="C00000"/>
                </a:solidFill>
                <a:latin typeface="+mn-lt"/>
              </a:rPr>
              <a:t>Algorithms</a:t>
            </a:r>
          </a:p>
          <a:p>
            <a:pPr algn="just"/>
            <a:r>
              <a:rPr lang="en-US" sz="3000" b="1" dirty="0">
                <a:solidFill>
                  <a:srgbClr val="002060"/>
                </a:solidFill>
                <a:latin typeface="+mn-lt"/>
              </a:rPr>
              <a:t>MPPT (Maximum Power Point Tracking) Algorithm:</a:t>
            </a:r>
          </a:p>
          <a:p>
            <a:pPr algn="just"/>
            <a:r>
              <a:rPr lang="en-US" sz="3000" dirty="0">
                <a:latin typeface="+mn-lt"/>
              </a:rPr>
              <a:t>Optimizes solar panel output by continuously adjusting the operating point to maximize energy capture under varying conditions.</a:t>
            </a:r>
          </a:p>
          <a:p>
            <a:pPr algn="just"/>
            <a:r>
              <a:rPr lang="en-US" sz="3000" b="1" dirty="0">
                <a:solidFill>
                  <a:srgbClr val="002060"/>
                </a:solidFill>
                <a:latin typeface="+mn-lt"/>
              </a:rPr>
              <a:t>Battery Swapping Station Algorithm:</a:t>
            </a:r>
          </a:p>
          <a:p>
            <a:pPr algn="just"/>
            <a:r>
              <a:rPr lang="en-US" sz="3000" dirty="0">
                <a:latin typeface="+mn-lt"/>
              </a:rPr>
              <a:t>Manages logistics and scheduling for battery swaps, optimizing inventory and availability of charged batteries to improve service efficiency.</a:t>
            </a:r>
          </a:p>
          <a:p>
            <a:pPr algn="just"/>
            <a:r>
              <a:rPr lang="en-US" sz="3000" b="1" dirty="0">
                <a:solidFill>
                  <a:srgbClr val="002060"/>
                </a:solidFill>
                <a:latin typeface="+mn-lt"/>
              </a:rPr>
              <a:t>Vehicle Charging Control Calculation:</a:t>
            </a:r>
          </a:p>
          <a:p>
            <a:pPr algn="just"/>
            <a:r>
              <a:rPr lang="en-US" sz="3000" dirty="0">
                <a:latin typeface="+mn-lt"/>
              </a:rPr>
              <a:t>Calculates optimal charging rates based on battery state-of-charge (SOC) and user demand, ensuring safe and efficient charging.</a:t>
            </a:r>
          </a:p>
          <a:p>
            <a:pPr algn="just"/>
            <a:r>
              <a:rPr lang="en-US" sz="3000" b="1" dirty="0">
                <a:solidFill>
                  <a:srgbClr val="002060"/>
                </a:solidFill>
                <a:latin typeface="+mn-lt"/>
              </a:rPr>
              <a:t>Safety and Blast Condition Prediction using ML:</a:t>
            </a:r>
          </a:p>
          <a:p>
            <a:pPr algn="just"/>
            <a:r>
              <a:rPr lang="en-US" sz="3000" dirty="0">
                <a:latin typeface="+mn-lt"/>
              </a:rPr>
              <a:t>Utilizes machine learning models to analyze historical data and predict potential safety hazards in battery charging environments, enabling proactive risk management.</a:t>
            </a:r>
          </a:p>
          <a:p>
            <a:pPr algn="just"/>
            <a:endParaRPr lang="en-US" sz="3000" b="1" dirty="0">
              <a:solidFill>
                <a:srgbClr val="C00000"/>
              </a:solidFill>
              <a:latin typeface="+mn-lt"/>
            </a:endParaRPr>
          </a:p>
          <a:p>
            <a:pPr algn="ctr"/>
            <a:r>
              <a:rPr lang="en-US" sz="3600" b="1" dirty="0">
                <a:solidFill>
                  <a:srgbClr val="C00000"/>
                </a:solidFill>
                <a:latin typeface="+mn-lt"/>
              </a:rPr>
              <a:t>Cloud Integration AWS</a:t>
            </a:r>
          </a:p>
          <a:p>
            <a:pPr algn="just"/>
            <a:r>
              <a:rPr lang="en-US" sz="3000" b="1" dirty="0">
                <a:solidFill>
                  <a:srgbClr val="002060"/>
                </a:solidFill>
                <a:latin typeface="+mn-lt"/>
              </a:rPr>
              <a:t>Secured MQTT Protocol: </a:t>
            </a:r>
          </a:p>
          <a:p>
            <a:pPr marL="742950" lvl="1" indent="-285750" algn="just">
              <a:buFont typeface="Arial" pitchFamily="34" charset="0"/>
              <a:buChar char="•"/>
            </a:pPr>
            <a:r>
              <a:rPr lang="en-US" sz="3000" dirty="0">
                <a:latin typeface="+mn-lt"/>
              </a:rPr>
              <a:t>Utilizes MQTT for secure and </a:t>
            </a:r>
          </a:p>
          <a:p>
            <a:pPr marL="742950" lvl="1" indent="-285750" algn="just">
              <a:buFont typeface="Arial" pitchFamily="34" charset="0"/>
              <a:buChar char="•"/>
            </a:pPr>
            <a:r>
              <a:rPr lang="en-US" sz="3000" dirty="0">
                <a:latin typeface="+mn-lt"/>
              </a:rPr>
              <a:t>Efficient communication between IoT devices and the cloud.</a:t>
            </a:r>
          </a:p>
          <a:p>
            <a:pPr algn="just"/>
            <a:r>
              <a:rPr lang="en-US" sz="3000" b="1" dirty="0">
                <a:solidFill>
                  <a:srgbClr val="002060"/>
                </a:solidFill>
                <a:latin typeface="+mn-lt"/>
              </a:rPr>
              <a:t>Data Storage: </a:t>
            </a:r>
          </a:p>
          <a:p>
            <a:pPr marL="1200150" lvl="1" indent="-457200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+mn-lt"/>
              </a:rPr>
              <a:t>S3 Bucket and durable storage solutions. </a:t>
            </a:r>
          </a:p>
          <a:p>
            <a:pPr marL="1200150" lvl="1" indent="-457200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+mn-lt"/>
              </a:rPr>
              <a:t>Stores collected data in Amazon S3 for scalable. </a:t>
            </a:r>
          </a:p>
          <a:p>
            <a:pPr algn="just"/>
            <a:r>
              <a:rPr lang="en-US" sz="3000" b="1" dirty="0">
                <a:solidFill>
                  <a:srgbClr val="002060"/>
                </a:solidFill>
                <a:latin typeface="+mn-lt"/>
              </a:rPr>
              <a:t>Email Alerts:  </a:t>
            </a:r>
          </a:p>
          <a:p>
            <a:pPr marL="742950" lvl="1" indent="-285750" algn="just">
              <a:buFont typeface="Arial" pitchFamily="34" charset="0"/>
              <a:buChar char="•"/>
            </a:pPr>
            <a:r>
              <a:rPr lang="en-US" sz="3000" dirty="0">
                <a:latin typeface="+mn-lt"/>
              </a:rPr>
              <a:t>Implements automated email notifications for critical events or alerts related to battery charging management.</a:t>
            </a:r>
          </a:p>
          <a:p>
            <a:pPr algn="just"/>
            <a:r>
              <a:rPr lang="en-US" sz="3000" b="1" dirty="0">
                <a:solidFill>
                  <a:srgbClr val="002060"/>
                </a:solidFill>
                <a:latin typeface="+mn-lt"/>
              </a:rPr>
              <a:t>Data Visualization: </a:t>
            </a:r>
          </a:p>
          <a:p>
            <a:pPr marL="742950" lvl="1" indent="-285750" algn="just">
              <a:buFont typeface="Arial" pitchFamily="34" charset="0"/>
              <a:buChar char="•"/>
            </a:pPr>
            <a:r>
              <a:rPr lang="en-US" sz="3000" dirty="0">
                <a:latin typeface="+mn-lt"/>
              </a:rPr>
              <a:t>Provides real-time data visualization dashboards to monitor charging status and performance metrics.</a:t>
            </a:r>
          </a:p>
          <a:p>
            <a:pPr algn="just"/>
            <a:endParaRPr lang="en-US" sz="3000" dirty="0">
              <a:latin typeface="+mn-lt"/>
            </a:endParaRPr>
          </a:p>
          <a:p>
            <a:pPr algn="just"/>
            <a:endParaRPr lang="en-US" sz="3000" dirty="0">
              <a:latin typeface="+mn-lt"/>
            </a:endParaRPr>
          </a:p>
          <a:p>
            <a:pPr algn="just"/>
            <a:endParaRPr lang="en-US" sz="3000" dirty="0">
              <a:latin typeface="+mn-lt"/>
            </a:endParaRPr>
          </a:p>
          <a:p>
            <a:pPr algn="just"/>
            <a:endParaRPr lang="en-US" sz="3000" dirty="0">
              <a:latin typeface="+mn-lt"/>
            </a:endParaRPr>
          </a:p>
          <a:p>
            <a:pPr algn="just"/>
            <a:endParaRPr lang="en-US" sz="3000" dirty="0">
              <a:latin typeface="+mn-lt"/>
            </a:endParaRPr>
          </a:p>
          <a:p>
            <a:pPr algn="just"/>
            <a:endParaRPr lang="en-US" sz="3000" dirty="0">
              <a:latin typeface="+mn-lt"/>
            </a:endParaRPr>
          </a:p>
          <a:p>
            <a:pPr algn="just"/>
            <a:endParaRPr lang="en-US" sz="3000" dirty="0">
              <a:latin typeface="+mn-lt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285A47D-394A-53E5-910B-26D0F401F3F1}"/>
              </a:ext>
            </a:extLst>
          </p:cNvPr>
          <p:cNvSpPr/>
          <p:nvPr/>
        </p:nvSpPr>
        <p:spPr>
          <a:xfrm>
            <a:off x="11936704" y="3715903"/>
            <a:ext cx="11913648" cy="78215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984" tIns="37492" rIns="74984" bIns="37492" rtlCol="0" anchor="ctr"/>
          <a:lstStyle/>
          <a:p>
            <a:pPr algn="ctr"/>
            <a:r>
              <a:rPr lang="en-US" sz="51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Methodology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9888236C-B60E-8ABC-75E1-B5F98E56F3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8204" y="7494288"/>
            <a:ext cx="11161441" cy="3443369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B73CA8FC-1C2A-8AD9-B9BC-F711CFDB95A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296" b="3161"/>
          <a:stretch/>
        </p:blipFill>
        <p:spPr>
          <a:xfrm>
            <a:off x="12223948" y="12629879"/>
            <a:ext cx="11463000" cy="543571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B5ABDBB0-1D9E-4E19-51E5-17A44CE09B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51669" y="31868666"/>
            <a:ext cx="9829800" cy="3555762"/>
          </a:xfrm>
          <a:prstGeom prst="rect">
            <a:avLst/>
          </a:prstGeom>
        </p:spPr>
      </p:pic>
      <p:sp>
        <p:nvSpPr>
          <p:cNvPr id="36" name="Text Box 189">
            <a:extLst>
              <a:ext uri="{FF2B5EF4-FFF2-40B4-BE49-F238E27FC236}">
                <a16:creationId xmlns:a16="http://schemas.microsoft.com/office/drawing/2014/main" id="{10499A78-75FA-24EE-8F62-300B998403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08953" y="4662244"/>
            <a:ext cx="11088108" cy="7689505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wrap="square" lIns="149969" tIns="149969" rIns="149969" bIns="149969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/>
            <a:endParaRPr lang="en-US" sz="3000" dirty="0">
              <a:latin typeface="+mn-lt"/>
            </a:endParaRPr>
          </a:p>
          <a:p>
            <a:pPr algn="just"/>
            <a:endParaRPr lang="en-US" sz="3000" dirty="0">
              <a:latin typeface="+mn-lt"/>
            </a:endParaRPr>
          </a:p>
          <a:p>
            <a:pPr algn="just"/>
            <a:endParaRPr lang="en-US" sz="3000" dirty="0">
              <a:latin typeface="+mn-lt"/>
            </a:endParaRPr>
          </a:p>
          <a:p>
            <a:pPr algn="just"/>
            <a:endParaRPr lang="en-US" sz="3000" dirty="0">
              <a:latin typeface="+mn-lt"/>
            </a:endParaRPr>
          </a:p>
          <a:p>
            <a:pPr algn="just"/>
            <a:endParaRPr lang="en-US" sz="3000" dirty="0">
              <a:latin typeface="+mn-lt"/>
            </a:endParaRPr>
          </a:p>
          <a:p>
            <a:pPr algn="just"/>
            <a:endParaRPr lang="en-US" sz="3000" dirty="0">
              <a:latin typeface="+mn-lt"/>
            </a:endParaRPr>
          </a:p>
          <a:p>
            <a:pPr algn="just"/>
            <a:endParaRPr lang="en-US" sz="3000" dirty="0">
              <a:latin typeface="+mn-lt"/>
            </a:endParaRPr>
          </a:p>
          <a:p>
            <a:pPr algn="just"/>
            <a:endParaRPr lang="en-US" sz="3000" dirty="0">
              <a:latin typeface="+mn-lt"/>
            </a:endParaRPr>
          </a:p>
          <a:p>
            <a:pPr algn="just"/>
            <a:endParaRPr lang="en-US" sz="3000" dirty="0">
              <a:latin typeface="+mn-lt"/>
            </a:endParaRPr>
          </a:p>
          <a:p>
            <a:pPr algn="just"/>
            <a:endParaRPr lang="en-US" sz="3000" dirty="0">
              <a:latin typeface="+mn-lt"/>
            </a:endParaRPr>
          </a:p>
          <a:p>
            <a:pPr algn="just"/>
            <a:endParaRPr lang="en-US" sz="3000" dirty="0">
              <a:latin typeface="+mn-lt"/>
            </a:endParaRPr>
          </a:p>
          <a:p>
            <a:pPr algn="just"/>
            <a:endParaRPr lang="en-US" sz="3000" dirty="0">
              <a:latin typeface="+mn-lt"/>
            </a:endParaRPr>
          </a:p>
          <a:p>
            <a:pPr algn="just"/>
            <a:endParaRPr lang="en-US" sz="3000" dirty="0">
              <a:latin typeface="+mn-lt"/>
            </a:endParaRPr>
          </a:p>
          <a:p>
            <a:pPr algn="just"/>
            <a:endParaRPr lang="en-US" sz="3000" dirty="0">
              <a:latin typeface="+mn-lt"/>
            </a:endParaRPr>
          </a:p>
          <a:p>
            <a:pPr algn="just"/>
            <a:endParaRPr lang="en-US" sz="3000" dirty="0">
              <a:latin typeface="+mn-lt"/>
            </a:endParaRPr>
          </a:p>
          <a:p>
            <a:pPr algn="just"/>
            <a:endParaRPr lang="en-US" sz="3000" dirty="0">
              <a:latin typeface="+mn-lt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A1BB7ED-06F3-C36B-AB42-2F24B16BCA48}"/>
              </a:ext>
            </a:extLst>
          </p:cNvPr>
          <p:cNvSpPr/>
          <p:nvPr/>
        </p:nvSpPr>
        <p:spPr>
          <a:xfrm>
            <a:off x="24508953" y="3720610"/>
            <a:ext cx="11159561" cy="74978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984" tIns="37492" rIns="74984" bIns="37492" rtlCol="0" anchor="ctr"/>
          <a:lstStyle/>
          <a:p>
            <a:pPr algn="ctr"/>
            <a:r>
              <a:rPr lang="en-US" sz="51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Simulation work 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04164FDD-6585-C13F-82C0-EFF724E0D4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29269" y="4749411"/>
            <a:ext cx="10811587" cy="4088717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C18FE335-5CF2-83C2-D98F-7EB895BCF9F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1961"/>
          <a:stretch/>
        </p:blipFill>
        <p:spPr>
          <a:xfrm>
            <a:off x="24580410" y="8899476"/>
            <a:ext cx="10963715" cy="3305465"/>
          </a:xfrm>
          <a:prstGeom prst="rect">
            <a:avLst/>
          </a:prstGeom>
        </p:spPr>
      </p:pic>
      <p:sp>
        <p:nvSpPr>
          <p:cNvPr id="41" name="Text Box 189">
            <a:extLst>
              <a:ext uri="{FF2B5EF4-FFF2-40B4-BE49-F238E27FC236}">
                <a16:creationId xmlns:a16="http://schemas.microsoft.com/office/drawing/2014/main" id="{C39935F3-411D-5918-D2E2-3FB19C5C75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87052" y="13578850"/>
            <a:ext cx="11066825" cy="491951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wrap="square" lIns="149969" tIns="149969" rIns="149969" bIns="149969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/>
            <a:endParaRPr lang="en-US" sz="3000" b="1" dirty="0">
              <a:latin typeface="+mn-lt"/>
            </a:endParaRPr>
          </a:p>
          <a:p>
            <a:pPr algn="just"/>
            <a:endParaRPr lang="en-US" sz="3000" b="1" dirty="0">
              <a:latin typeface="+mn-lt"/>
            </a:endParaRPr>
          </a:p>
          <a:p>
            <a:pPr algn="just"/>
            <a:endParaRPr lang="en-US" sz="3000" b="1" dirty="0">
              <a:latin typeface="+mn-lt"/>
            </a:endParaRPr>
          </a:p>
          <a:p>
            <a:pPr algn="just"/>
            <a:endParaRPr lang="en-US" sz="3000" b="1" dirty="0">
              <a:latin typeface="+mn-lt"/>
            </a:endParaRPr>
          </a:p>
          <a:p>
            <a:pPr algn="just"/>
            <a:endParaRPr lang="en-US" sz="3000" b="1" dirty="0">
              <a:latin typeface="+mn-lt"/>
            </a:endParaRPr>
          </a:p>
          <a:p>
            <a:pPr algn="just"/>
            <a:endParaRPr lang="en-US" sz="3000" b="1" dirty="0">
              <a:latin typeface="+mn-lt"/>
            </a:endParaRPr>
          </a:p>
          <a:p>
            <a:pPr algn="just"/>
            <a:endParaRPr lang="en-US" sz="3000" b="1" dirty="0">
              <a:latin typeface="+mn-lt"/>
            </a:endParaRPr>
          </a:p>
          <a:p>
            <a:pPr algn="just"/>
            <a:endParaRPr lang="en-US" sz="3000" b="1" dirty="0">
              <a:latin typeface="+mn-lt"/>
            </a:endParaRPr>
          </a:p>
          <a:p>
            <a:pPr algn="just"/>
            <a:endParaRPr lang="en-US" sz="3000" b="1" dirty="0">
              <a:latin typeface="+mn-lt"/>
            </a:endParaRPr>
          </a:p>
          <a:p>
            <a:pPr algn="just"/>
            <a:endParaRPr lang="en-US" sz="3000" b="1" dirty="0">
              <a:latin typeface="+mn-lt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8AC8365-ECB2-D514-A5F3-3899E034B42E}"/>
              </a:ext>
            </a:extLst>
          </p:cNvPr>
          <p:cNvSpPr/>
          <p:nvPr/>
        </p:nvSpPr>
        <p:spPr>
          <a:xfrm>
            <a:off x="24502189" y="12633633"/>
            <a:ext cx="11088108" cy="90093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984" tIns="37492" rIns="74984" bIns="37492" rtlCol="0" anchor="ctr"/>
          <a:lstStyle/>
          <a:p>
            <a:pPr algn="ctr"/>
            <a:r>
              <a:rPr lang="en-US" sz="51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Real Time Monitoring</a:t>
            </a:r>
          </a:p>
        </p:txBody>
      </p:sp>
      <p:pic>
        <p:nvPicPr>
          <p:cNvPr id="43" name="Picture 42" descr="A group of green circles&#10;&#10;Description automatically generated">
            <a:extLst>
              <a:ext uri="{FF2B5EF4-FFF2-40B4-BE49-F238E27FC236}">
                <a16:creationId xmlns:a16="http://schemas.microsoft.com/office/drawing/2014/main" id="{CCFE383C-E1BC-79FF-3C9C-9B2D59448CF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66982" y="16568957"/>
            <a:ext cx="5412830" cy="1837883"/>
          </a:xfrm>
          <a:prstGeom prst="rect">
            <a:avLst/>
          </a:prstGeom>
        </p:spPr>
      </p:pic>
      <p:pic>
        <p:nvPicPr>
          <p:cNvPr id="44" name="Picture 43" descr="A screenshot of a computer&#10;&#10;Description automatically generated">
            <a:extLst>
              <a:ext uri="{FF2B5EF4-FFF2-40B4-BE49-F238E27FC236}">
                <a16:creationId xmlns:a16="http://schemas.microsoft.com/office/drawing/2014/main" id="{3545637E-20C3-C427-D31D-2719D8DC3B3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64378" y="16802178"/>
            <a:ext cx="4898771" cy="1609725"/>
          </a:xfrm>
          <a:prstGeom prst="rect">
            <a:avLst/>
          </a:prstGeom>
        </p:spPr>
      </p:pic>
      <p:pic>
        <p:nvPicPr>
          <p:cNvPr id="45" name="Picture 44" descr="A screenshot of a computer&#10;&#10;Description automatically generated">
            <a:extLst>
              <a:ext uri="{FF2B5EF4-FFF2-40B4-BE49-F238E27FC236}">
                <a16:creationId xmlns:a16="http://schemas.microsoft.com/office/drawing/2014/main" id="{C7E19E20-8D08-FA7F-86FC-2D74902B1D9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67059" y="13700115"/>
            <a:ext cx="5048897" cy="3369547"/>
          </a:xfrm>
          <a:prstGeom prst="rect">
            <a:avLst/>
          </a:prstGeom>
        </p:spPr>
      </p:pic>
      <p:sp>
        <p:nvSpPr>
          <p:cNvPr id="52" name="Text Box 189">
            <a:extLst>
              <a:ext uri="{FF2B5EF4-FFF2-40B4-BE49-F238E27FC236}">
                <a16:creationId xmlns:a16="http://schemas.microsoft.com/office/drawing/2014/main" id="{76503E14-6B5C-AB97-BDE3-AF3E8A84FA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02190" y="19245368"/>
            <a:ext cx="11088107" cy="2611191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wrap="square" lIns="149969" tIns="149969" rIns="149969" bIns="149969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/>
            <a:endParaRPr lang="en-US" sz="3000" dirty="0">
              <a:latin typeface="+mn-lt"/>
            </a:endParaRPr>
          </a:p>
          <a:p>
            <a:pPr algn="just"/>
            <a:endParaRPr lang="en-US" sz="3000" dirty="0">
              <a:latin typeface="+mn-lt"/>
            </a:endParaRPr>
          </a:p>
          <a:p>
            <a:pPr algn="just"/>
            <a:endParaRPr lang="en-US" sz="3000" dirty="0">
              <a:latin typeface="+mn-lt"/>
            </a:endParaRPr>
          </a:p>
          <a:p>
            <a:pPr algn="just"/>
            <a:endParaRPr lang="en-US" sz="3000" dirty="0">
              <a:latin typeface="+mn-lt"/>
            </a:endParaRPr>
          </a:p>
          <a:p>
            <a:pPr algn="just"/>
            <a:endParaRPr lang="en-US" sz="3000" dirty="0">
              <a:latin typeface="+mn-lt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200A1D9-98D8-FF42-605F-EED64BC690AD}"/>
              </a:ext>
            </a:extLst>
          </p:cNvPr>
          <p:cNvSpPr/>
          <p:nvPr/>
        </p:nvSpPr>
        <p:spPr>
          <a:xfrm>
            <a:off x="24502189" y="18533970"/>
            <a:ext cx="11066825" cy="65008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984" tIns="37492" rIns="74984" bIns="37492" rtlCol="0" anchor="ctr"/>
          <a:lstStyle/>
          <a:p>
            <a:pPr algn="ctr"/>
            <a:r>
              <a:rPr lang="en-US" sz="51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Data Visualization</a:t>
            </a:r>
          </a:p>
        </p:txBody>
      </p:sp>
      <p:pic>
        <p:nvPicPr>
          <p:cNvPr id="54" name="Picture 53" descr="A screenshot of a computer&#10;&#10;Description automatically generated">
            <a:extLst>
              <a:ext uri="{FF2B5EF4-FFF2-40B4-BE49-F238E27FC236}">
                <a16:creationId xmlns:a16="http://schemas.microsoft.com/office/drawing/2014/main" id="{5C9E191F-BDCE-D5C6-FAF6-1C9F84444EF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37234" y="19410911"/>
            <a:ext cx="10689971" cy="2387257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FBDC6B99-D55B-F39B-383E-D702C594BF8D}"/>
              </a:ext>
            </a:extLst>
          </p:cNvPr>
          <p:cNvSpPr/>
          <p:nvPr/>
        </p:nvSpPr>
        <p:spPr>
          <a:xfrm>
            <a:off x="24466593" y="21949477"/>
            <a:ext cx="11155552" cy="62883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984" tIns="37492" rIns="74984" bIns="37492" rtlCol="0" anchor="ctr"/>
          <a:lstStyle/>
          <a:p>
            <a:pPr algn="ctr"/>
            <a:r>
              <a:rPr lang="en-US" sz="44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Estimated Energy and Cost calculation</a:t>
            </a:r>
          </a:p>
        </p:txBody>
      </p:sp>
      <p:sp>
        <p:nvSpPr>
          <p:cNvPr id="59" name="Text Box 189">
            <a:extLst>
              <a:ext uri="{FF2B5EF4-FFF2-40B4-BE49-F238E27FC236}">
                <a16:creationId xmlns:a16="http://schemas.microsoft.com/office/drawing/2014/main" id="{FE3C547D-7477-54A7-1B30-F23DA36265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73677" y="22639660"/>
            <a:ext cx="11159561" cy="9074499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wrap="square" lIns="149969" tIns="149969" rIns="149969" bIns="149969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/>
            <a:endParaRPr lang="en-US" sz="3000" dirty="0">
              <a:latin typeface="+mn-lt"/>
            </a:endParaRPr>
          </a:p>
          <a:p>
            <a:pPr algn="just"/>
            <a:endParaRPr lang="en-US" sz="3000" dirty="0">
              <a:latin typeface="+mn-lt"/>
            </a:endParaRPr>
          </a:p>
          <a:p>
            <a:pPr algn="just"/>
            <a:endParaRPr lang="en-US" sz="3000" dirty="0">
              <a:latin typeface="+mn-lt"/>
            </a:endParaRPr>
          </a:p>
          <a:p>
            <a:pPr algn="just"/>
            <a:endParaRPr lang="en-US" sz="3000" dirty="0">
              <a:latin typeface="+mn-lt"/>
            </a:endParaRPr>
          </a:p>
          <a:p>
            <a:pPr algn="just"/>
            <a:endParaRPr lang="en-US" sz="3000" dirty="0">
              <a:latin typeface="+mn-lt"/>
            </a:endParaRPr>
          </a:p>
          <a:p>
            <a:pPr algn="just"/>
            <a:endParaRPr lang="en-US" sz="3000" dirty="0">
              <a:latin typeface="+mn-lt"/>
            </a:endParaRPr>
          </a:p>
          <a:p>
            <a:pPr algn="just"/>
            <a:endParaRPr lang="en-US" sz="3000" dirty="0">
              <a:latin typeface="+mn-lt"/>
            </a:endParaRPr>
          </a:p>
          <a:p>
            <a:pPr algn="just"/>
            <a:endParaRPr lang="en-US" sz="3000" dirty="0">
              <a:latin typeface="+mn-lt"/>
            </a:endParaRPr>
          </a:p>
          <a:p>
            <a:pPr algn="just"/>
            <a:endParaRPr lang="en-US" sz="3000" dirty="0">
              <a:latin typeface="+mn-lt"/>
            </a:endParaRPr>
          </a:p>
          <a:p>
            <a:pPr algn="just"/>
            <a:endParaRPr lang="en-US" sz="3000" dirty="0">
              <a:latin typeface="+mn-lt"/>
            </a:endParaRPr>
          </a:p>
          <a:p>
            <a:pPr algn="just"/>
            <a:endParaRPr lang="en-US" sz="3000" dirty="0">
              <a:latin typeface="+mn-lt"/>
            </a:endParaRPr>
          </a:p>
          <a:p>
            <a:pPr algn="just"/>
            <a:endParaRPr lang="en-US" sz="3000" dirty="0">
              <a:latin typeface="+mn-lt"/>
            </a:endParaRPr>
          </a:p>
          <a:p>
            <a:pPr algn="just"/>
            <a:endParaRPr lang="en-US" sz="3000" dirty="0">
              <a:latin typeface="+mn-lt"/>
            </a:endParaRPr>
          </a:p>
          <a:p>
            <a:pPr algn="just"/>
            <a:endParaRPr lang="en-US" sz="3000" dirty="0">
              <a:latin typeface="+mn-lt"/>
            </a:endParaRPr>
          </a:p>
          <a:p>
            <a:pPr algn="just"/>
            <a:endParaRPr lang="en-US" sz="3000" dirty="0">
              <a:latin typeface="+mn-lt"/>
            </a:endParaRPr>
          </a:p>
          <a:p>
            <a:pPr algn="just"/>
            <a:endParaRPr lang="en-US" sz="3000" dirty="0">
              <a:latin typeface="+mn-lt"/>
            </a:endParaRPr>
          </a:p>
          <a:p>
            <a:pPr algn="just"/>
            <a:endParaRPr lang="en-US" sz="3000" dirty="0">
              <a:latin typeface="+mn-lt"/>
            </a:endParaRPr>
          </a:p>
          <a:p>
            <a:pPr algn="just"/>
            <a:endParaRPr lang="en-US" sz="3000" dirty="0">
              <a:latin typeface="+mn-lt"/>
            </a:endParaRPr>
          </a:p>
          <a:p>
            <a:pPr algn="just"/>
            <a:endParaRPr lang="en-US" sz="3000" dirty="0">
              <a:latin typeface="+mn-lt"/>
            </a:endParaRPr>
          </a:p>
        </p:txBody>
      </p:sp>
      <p:pic>
        <p:nvPicPr>
          <p:cNvPr id="60" name="Picture 59" descr="A chart with numbers and text&#10;&#10;Description automatically generated">
            <a:extLst>
              <a:ext uri="{FF2B5EF4-FFF2-40B4-BE49-F238E27FC236}">
                <a16:creationId xmlns:a16="http://schemas.microsoft.com/office/drawing/2014/main" id="{0D076FD4-5782-6DFF-9D89-934143F3778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39141" y="22733349"/>
            <a:ext cx="11044267" cy="2143125"/>
          </a:xfrm>
          <a:prstGeom prst="rect">
            <a:avLst/>
          </a:prstGeom>
        </p:spPr>
      </p:pic>
      <p:pic>
        <p:nvPicPr>
          <p:cNvPr id="61" name="Picture 60" descr="A chart with numbers and text&#10;&#10;Description automatically generated with medium confidence">
            <a:extLst>
              <a:ext uri="{FF2B5EF4-FFF2-40B4-BE49-F238E27FC236}">
                <a16:creationId xmlns:a16="http://schemas.microsoft.com/office/drawing/2014/main" id="{6D121931-14BA-554B-F3FB-3FD07F016E0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31360" y="27376898"/>
            <a:ext cx="6151496" cy="1836836"/>
          </a:xfrm>
          <a:prstGeom prst="rect">
            <a:avLst/>
          </a:prstGeom>
        </p:spPr>
      </p:pic>
      <p:pic>
        <p:nvPicPr>
          <p:cNvPr id="62" name="Picture 61" descr="A table with text and symbols&#10;&#10;Description automatically generated with medium confidence">
            <a:extLst>
              <a:ext uri="{FF2B5EF4-FFF2-40B4-BE49-F238E27FC236}">
                <a16:creationId xmlns:a16="http://schemas.microsoft.com/office/drawing/2014/main" id="{0E7C1672-91DD-7345-0EB2-1C3BE1FF9F4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22493" y="27376898"/>
            <a:ext cx="4831384" cy="1836836"/>
          </a:xfrm>
          <a:prstGeom prst="rect">
            <a:avLst/>
          </a:prstGeom>
        </p:spPr>
      </p:pic>
      <p:pic>
        <p:nvPicPr>
          <p:cNvPr id="63" name="Picture 62" descr="A screenshot of a power generation control&#10;&#10;Description automatically generated">
            <a:extLst>
              <a:ext uri="{FF2B5EF4-FFF2-40B4-BE49-F238E27FC236}">
                <a16:creationId xmlns:a16="http://schemas.microsoft.com/office/drawing/2014/main" id="{D5C8421E-0FBE-2D9B-5557-5AF24918C47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44020" y="13676233"/>
            <a:ext cx="5597549" cy="2905251"/>
          </a:xfrm>
          <a:prstGeom prst="rect">
            <a:avLst/>
          </a:prstGeom>
        </p:spPr>
      </p:pic>
      <p:pic>
        <p:nvPicPr>
          <p:cNvPr id="67" name="Picture 66" descr="A chart with numbers and text&#10;&#10;Description automatically generated">
            <a:extLst>
              <a:ext uri="{FF2B5EF4-FFF2-40B4-BE49-F238E27FC236}">
                <a16:creationId xmlns:a16="http://schemas.microsoft.com/office/drawing/2014/main" id="{CB918513-A2E0-2482-138E-EB86EE1853E2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48029" y="24950708"/>
            <a:ext cx="5422740" cy="2315088"/>
          </a:xfrm>
          <a:prstGeom prst="rect">
            <a:avLst/>
          </a:prstGeom>
        </p:spPr>
      </p:pic>
      <p:pic>
        <p:nvPicPr>
          <p:cNvPr id="68" name="Picture 67" descr="A screenshot of a battery swapping station&#10;&#10;Description automatically generated">
            <a:extLst>
              <a:ext uri="{FF2B5EF4-FFF2-40B4-BE49-F238E27FC236}">
                <a16:creationId xmlns:a16="http://schemas.microsoft.com/office/drawing/2014/main" id="{C7D559A2-B972-C478-C7FE-A031EB123B80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39926" y="24958910"/>
            <a:ext cx="5522153" cy="2314196"/>
          </a:xfrm>
          <a:prstGeom prst="rect">
            <a:avLst/>
          </a:prstGeom>
        </p:spPr>
      </p:pic>
      <p:pic>
        <p:nvPicPr>
          <p:cNvPr id="69" name="Picture 68" descr="A table with numbers and numbers&#10;&#10;Description automatically generated">
            <a:extLst>
              <a:ext uri="{FF2B5EF4-FFF2-40B4-BE49-F238E27FC236}">
                <a16:creationId xmlns:a16="http://schemas.microsoft.com/office/drawing/2014/main" id="{8608CC90-A493-5468-7660-E926B05675B7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40309" y="29398099"/>
            <a:ext cx="4803816" cy="2233360"/>
          </a:xfrm>
          <a:prstGeom prst="rect">
            <a:avLst/>
          </a:prstGeom>
        </p:spPr>
      </p:pic>
      <p:pic>
        <p:nvPicPr>
          <p:cNvPr id="70" name="Picture 69" descr="A table with numbers and text&#10;&#10;Description automatically generated">
            <a:extLst>
              <a:ext uri="{FF2B5EF4-FFF2-40B4-BE49-F238E27FC236}">
                <a16:creationId xmlns:a16="http://schemas.microsoft.com/office/drawing/2014/main" id="{1D4BBBD1-D4DD-91FB-A7CB-71DED9EEB69F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45341" y="29385590"/>
            <a:ext cx="6119572" cy="2240002"/>
          </a:xfrm>
          <a:prstGeom prst="rect">
            <a:avLst/>
          </a:prstGeom>
        </p:spPr>
      </p:pic>
      <p:sp>
        <p:nvSpPr>
          <p:cNvPr id="71" name="Text Box 189">
            <a:extLst>
              <a:ext uri="{FF2B5EF4-FFF2-40B4-BE49-F238E27FC236}">
                <a16:creationId xmlns:a16="http://schemas.microsoft.com/office/drawing/2014/main" id="{ACBD4CB0-FA9D-1E58-591A-6CC8A0A853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62584" y="32750071"/>
            <a:ext cx="11159561" cy="3016815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wrap="square" lIns="149969" tIns="149969" rIns="149969" bIns="149969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sz="3200" kern="100" dirty="0">
                <a:latin typeface="+mn-lt"/>
              </a:rPr>
              <a:t>The proposed IoT-based architecture addresses critical challenges in EV charging infrastructure by enhancing efficiency, integrating renewable energy, and providing real-time monitoring.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sz="3200" kern="100" dirty="0">
                <a:latin typeface="+mn-lt"/>
              </a:rPr>
              <a:t>This innovation paves the way for sustainable transportation and significant cost savings.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F14154CE-501C-9A6F-E845-7BE8E50585F4}"/>
              </a:ext>
            </a:extLst>
          </p:cNvPr>
          <p:cNvSpPr/>
          <p:nvPr/>
        </p:nvSpPr>
        <p:spPr>
          <a:xfrm>
            <a:off x="24462584" y="31808867"/>
            <a:ext cx="11159561" cy="9056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984" tIns="37492" rIns="74984" bIns="37492" rtlCol="0" anchor="ctr"/>
          <a:lstStyle/>
          <a:p>
            <a:pPr algn="ctr"/>
            <a:r>
              <a:rPr lang="en-US" sz="51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Conclusion </a:t>
            </a:r>
          </a:p>
        </p:txBody>
      </p:sp>
      <p:sp>
        <p:nvSpPr>
          <p:cNvPr id="92" name="Text Box 189">
            <a:extLst>
              <a:ext uri="{FF2B5EF4-FFF2-40B4-BE49-F238E27FC236}">
                <a16:creationId xmlns:a16="http://schemas.microsoft.com/office/drawing/2014/main" id="{8CB8D5C1-62A2-3469-6FB3-C1BA6ADE80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078" y="4638860"/>
            <a:ext cx="11064625" cy="3534521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wrap="square" lIns="149969" tIns="149969" rIns="149969" bIns="149969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/>
            <a:r>
              <a:rPr lang="en-US" sz="3000" dirty="0">
                <a:latin typeface="+mn-lt"/>
              </a:rPr>
              <a:t>Rapid growing of electric vehicle (EV) adoption faces challenges such as range anxiety and inconsistent charging infrastructure, which can be effectively addressed through an IoT-based architecture that offers real-time monitoring, predictive analytics, and mobile charging units, ultimately enhancing user experience, optimizing energy management, and promoting sustainable energy solutions for a cleaner future.</a:t>
            </a:r>
            <a:endParaRPr lang="en-US" sz="3000" b="1" dirty="0">
              <a:latin typeface="+mn-lt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B0FBD1FB-B932-2090-0728-566270741905}"/>
              </a:ext>
            </a:extLst>
          </p:cNvPr>
          <p:cNvSpPr/>
          <p:nvPr/>
        </p:nvSpPr>
        <p:spPr>
          <a:xfrm>
            <a:off x="344083" y="3758861"/>
            <a:ext cx="11064625" cy="74646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984" tIns="37492" rIns="74984" bIns="37492" rtlCol="0" anchor="ctr"/>
          <a:lstStyle/>
          <a:p>
            <a:pPr algn="ctr"/>
            <a:r>
              <a:rPr lang="en-US" sz="51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Abstract</a:t>
            </a:r>
          </a:p>
        </p:txBody>
      </p:sp>
      <p:sp>
        <p:nvSpPr>
          <p:cNvPr id="94" name="Text Box 189">
            <a:extLst>
              <a:ext uri="{FF2B5EF4-FFF2-40B4-BE49-F238E27FC236}">
                <a16:creationId xmlns:a16="http://schemas.microsoft.com/office/drawing/2014/main" id="{2120C7AB-0F46-383E-7624-B20E5E1986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717" y="9145340"/>
            <a:ext cx="11006031" cy="6766175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wrap="square" lIns="149969" tIns="149969" rIns="149969" bIns="149969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>
              <a:buFont typeface="Arial" panose="020B0604020202020204" pitchFamily="34" charset="0"/>
              <a:buChar char="•"/>
            </a:pPr>
            <a:r>
              <a:rPr lang="en-US" sz="3000" b="1" dirty="0">
                <a:latin typeface="+mn-lt"/>
              </a:rPr>
              <a:t>Growing Demand for Charging Infrastructure: </a:t>
            </a:r>
          </a:p>
          <a:p>
            <a:pPr algn="l"/>
            <a:r>
              <a:rPr lang="en-US" sz="3000" dirty="0">
                <a:latin typeface="+mn-lt"/>
              </a:rPr>
              <a:t>The rapid increase in electric vehicle (EV) sales is creating a pressing need for more efficient and accessible charging stations to alleviate range anxiety among users.</a:t>
            </a:r>
          </a:p>
          <a:p>
            <a:pPr algn="l"/>
            <a:endParaRPr lang="en-US" sz="3000" dirty="0">
              <a:latin typeface="+mn-lt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000" b="1" dirty="0">
                <a:latin typeface="+mn-lt"/>
              </a:rPr>
              <a:t>Integration of Renewable Energy</a:t>
            </a:r>
            <a:r>
              <a:rPr lang="en-US" sz="3000" dirty="0">
                <a:latin typeface="+mn-lt"/>
              </a:rPr>
              <a:t>: </a:t>
            </a:r>
          </a:p>
          <a:p>
            <a:pPr algn="l"/>
            <a:r>
              <a:rPr lang="en-US" sz="3000" dirty="0">
                <a:latin typeface="+mn-lt"/>
              </a:rPr>
              <a:t>There is a critical requirement for sustainable charging solutions that incorporate renewable energy sources, such as solar power, to align with environmental sustainability goals.</a:t>
            </a:r>
          </a:p>
          <a:p>
            <a:pPr algn="l"/>
            <a:endParaRPr lang="en-US" sz="3000" dirty="0">
              <a:latin typeface="+mn-lt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000" b="1" dirty="0">
                <a:latin typeface="+mn-lt"/>
              </a:rPr>
              <a:t>Cost Reduction and Innovation: </a:t>
            </a:r>
          </a:p>
          <a:p>
            <a:pPr algn="l"/>
            <a:r>
              <a:rPr lang="en-US" sz="3000" dirty="0">
                <a:latin typeface="+mn-lt"/>
              </a:rPr>
              <a:t>The necessity to reduce operational costs in charging management is driving the adoption of innovative IoT technologies aimed at optimizing battery management and enhancing overall efficiency.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162016DF-67A6-35CA-25AC-3A0362FD230F}"/>
              </a:ext>
            </a:extLst>
          </p:cNvPr>
          <p:cNvSpPr/>
          <p:nvPr/>
        </p:nvSpPr>
        <p:spPr>
          <a:xfrm>
            <a:off x="367032" y="8275319"/>
            <a:ext cx="11006031" cy="74978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984" tIns="37492" rIns="74984" bIns="37492" rtlCol="0" anchor="ctr"/>
          <a:lstStyle/>
          <a:p>
            <a:pPr algn="ctr"/>
            <a:r>
              <a:rPr lang="en-US" sz="51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Introduction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45837CFD-3C64-C42B-B4D5-C4525DA63DF5}"/>
              </a:ext>
            </a:extLst>
          </p:cNvPr>
          <p:cNvSpPr/>
          <p:nvPr/>
        </p:nvSpPr>
        <p:spPr>
          <a:xfrm>
            <a:off x="11936704" y="4549993"/>
            <a:ext cx="11913647" cy="6387664"/>
          </a:xfrm>
          <a:prstGeom prst="rect">
            <a:avLst/>
          </a:prstGeom>
          <a:noFill/>
          <a:ln w="63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673637EA-0AAD-1DB2-BC11-A0739BE6912A}"/>
              </a:ext>
            </a:extLst>
          </p:cNvPr>
          <p:cNvSpPr/>
          <p:nvPr/>
        </p:nvSpPr>
        <p:spPr>
          <a:xfrm>
            <a:off x="11947341" y="11141870"/>
            <a:ext cx="11913647" cy="6987762"/>
          </a:xfrm>
          <a:prstGeom prst="rect">
            <a:avLst/>
          </a:prstGeom>
          <a:noFill/>
          <a:ln w="63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19257F21-4A46-B4A6-9DE6-E1A4093127CD}"/>
              </a:ext>
            </a:extLst>
          </p:cNvPr>
          <p:cNvSpPr/>
          <p:nvPr/>
        </p:nvSpPr>
        <p:spPr>
          <a:xfrm>
            <a:off x="11998624" y="18406370"/>
            <a:ext cx="11913647" cy="6719480"/>
          </a:xfrm>
          <a:prstGeom prst="rect">
            <a:avLst/>
          </a:prstGeom>
          <a:noFill/>
          <a:ln w="63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26B19FE0-51D7-AC88-BFF8-0A910829C4D8}"/>
              </a:ext>
            </a:extLst>
          </p:cNvPr>
          <p:cNvSpPr/>
          <p:nvPr/>
        </p:nvSpPr>
        <p:spPr>
          <a:xfrm>
            <a:off x="11998624" y="25272224"/>
            <a:ext cx="11913647" cy="10152203"/>
          </a:xfrm>
          <a:prstGeom prst="rect">
            <a:avLst/>
          </a:prstGeom>
          <a:noFill/>
          <a:ln w="63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D4EB8100-AACE-59C5-8D3F-E11BC1F66A59}"/>
              </a:ext>
            </a:extLst>
          </p:cNvPr>
          <p:cNvSpPr/>
          <p:nvPr/>
        </p:nvSpPr>
        <p:spPr>
          <a:xfrm>
            <a:off x="169069" y="3509733"/>
            <a:ext cx="11438644" cy="32320936"/>
          </a:xfrm>
          <a:prstGeom prst="roundRect">
            <a:avLst>
              <a:gd name="adj" fmla="val 2662"/>
            </a:avLst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8F250F01-88AE-590A-1CE3-F94864982DBE}"/>
              </a:ext>
            </a:extLst>
          </p:cNvPr>
          <p:cNvSpPr/>
          <p:nvPr/>
        </p:nvSpPr>
        <p:spPr>
          <a:xfrm>
            <a:off x="11776130" y="3509733"/>
            <a:ext cx="12273226" cy="32320936"/>
          </a:xfrm>
          <a:prstGeom prst="roundRect">
            <a:avLst>
              <a:gd name="adj" fmla="val 2662"/>
            </a:avLst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7DB4EA2B-13BC-EB09-6D33-416B220CD96A}"/>
              </a:ext>
            </a:extLst>
          </p:cNvPr>
          <p:cNvSpPr/>
          <p:nvPr/>
        </p:nvSpPr>
        <p:spPr>
          <a:xfrm>
            <a:off x="24333772" y="3480179"/>
            <a:ext cx="11496897" cy="32350489"/>
          </a:xfrm>
          <a:prstGeom prst="roundRect">
            <a:avLst>
              <a:gd name="adj" fmla="val 2662"/>
            </a:avLst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C6242E28-3A9A-4F14-6076-3BB1A1B8546D}"/>
              </a:ext>
            </a:extLst>
          </p:cNvPr>
          <p:cNvCxnSpPr/>
          <p:nvPr/>
        </p:nvCxnSpPr>
        <p:spPr>
          <a:xfrm flipV="1">
            <a:off x="24508953" y="29315398"/>
            <a:ext cx="11088108" cy="884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 Box 189">
            <a:extLst>
              <a:ext uri="{FF2B5EF4-FFF2-40B4-BE49-F238E27FC236}">
                <a16:creationId xmlns:a16="http://schemas.microsoft.com/office/drawing/2014/main" id="{A00CA9D0-BC23-9B07-7DD2-722E381147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298" y="25801535"/>
            <a:ext cx="11112310" cy="2914223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wrap="square" lIns="149969" tIns="149969" rIns="149969" bIns="149969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sz="3200" kern="100" dirty="0">
                <a:latin typeface="+mn-lt"/>
              </a:rPr>
              <a:t>The rapid growth of electric vehicles (EVs) necessitates a robust and efficient charging infrastructure that integrates renewable energy sources like solar power for environmental sustainability while driving innovation in IoT-based battery management technologies to reduce operational costs.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745ACAE9-7042-02C0-269E-1836FA8DD972}"/>
              </a:ext>
            </a:extLst>
          </p:cNvPr>
          <p:cNvSpPr/>
          <p:nvPr/>
        </p:nvSpPr>
        <p:spPr>
          <a:xfrm>
            <a:off x="340432" y="24919572"/>
            <a:ext cx="11112310" cy="705303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984" tIns="37492" rIns="74984" bIns="37492" rtlCol="0" anchor="ctr"/>
          <a:lstStyle/>
          <a:p>
            <a:pPr algn="ctr"/>
            <a:r>
              <a:rPr lang="en-US" sz="51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Motivation</a:t>
            </a:r>
          </a:p>
        </p:txBody>
      </p:sp>
    </p:spTree>
    <p:extLst>
      <p:ext uri="{BB962C8B-B14F-4D97-AF65-F5344CB8AC3E}">
        <p14:creationId xmlns:p14="http://schemas.microsoft.com/office/powerpoint/2010/main" val="5468056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2922</TotalTime>
  <Words>596</Words>
  <Application>Microsoft Office PowerPoint</Application>
  <PresentationFormat>Custom</PresentationFormat>
  <Paragraphs>141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Calibri</vt:lpstr>
      <vt:lpstr>Times New Roman</vt:lpstr>
      <vt:lpstr>Office Theme</vt:lpstr>
      <vt:lpstr>PowerPoint Presentation</vt:lpstr>
    </vt:vector>
  </TitlesOfParts>
  <Company>Genigraphics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Genigraphics Research Poster Template 1m x 1m</dc:title>
  <dc:creator>Jay Larson</dc:creator>
  <dc:description>Quality poster printing
www.genigraphics.com
1-800-790-4001</dc:description>
  <cp:lastModifiedBy>jagadeeswara kamarajugadda | AP23122100002</cp:lastModifiedBy>
  <cp:revision>139</cp:revision>
  <cp:lastPrinted>2013-02-12T02:21:55Z</cp:lastPrinted>
  <dcterms:created xsi:type="dcterms:W3CDTF">2013-02-10T21:14:48Z</dcterms:created>
  <dcterms:modified xsi:type="dcterms:W3CDTF">2025-04-16T04:50:36Z</dcterms:modified>
</cp:coreProperties>
</file>