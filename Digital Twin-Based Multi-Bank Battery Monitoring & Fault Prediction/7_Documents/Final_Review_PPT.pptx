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1" r:id="rId2"/>
    <p:sldId id="292" r:id="rId3"/>
    <p:sldId id="257" r:id="rId4"/>
    <p:sldId id="259" r:id="rId5"/>
    <p:sldId id="284" r:id="rId6"/>
    <p:sldId id="285" r:id="rId7"/>
    <p:sldId id="293" r:id="rId8"/>
    <p:sldId id="264" r:id="rId9"/>
    <p:sldId id="294" r:id="rId10"/>
    <p:sldId id="262" r:id="rId11"/>
    <p:sldId id="268" r:id="rId12"/>
    <p:sldId id="269" r:id="rId13"/>
    <p:sldId id="270" r:id="rId14"/>
    <p:sldId id="263" r:id="rId15"/>
    <p:sldId id="282" r:id="rId16"/>
    <p:sldId id="265" r:id="rId17"/>
    <p:sldId id="272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7D8"/>
    <a:srgbClr val="C3892B"/>
    <a:srgbClr val="494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D4A7BE-BA68-4195-AD96-56BF9783C24B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A611C-1091-49EC-A609-7F9C7384D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052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88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0B9743-EA7B-565A-CEB9-8B6303A93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1462F-C4E8-4D22-B235-995D81A1097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67E73F-241E-B004-E16D-9BC97411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AC5C5-0D0B-1A8E-304F-722E5333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8473-AF9F-42DD-A0AD-A65D80137F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211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49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FE3AA2-F5E9-F0E9-DCF3-E95AC3BE4B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7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A black and green logo&#10;&#10;Description automatically generated">
            <a:extLst>
              <a:ext uri="{FF2B5EF4-FFF2-40B4-BE49-F238E27FC236}">
                <a16:creationId xmlns:a16="http://schemas.microsoft.com/office/drawing/2014/main" id="{064F8F0E-FD14-E5C9-772B-3FEFDD99A9F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523" y="332853"/>
            <a:ext cx="2314071" cy="829454"/>
          </a:xfrm>
          <a:prstGeom prst="rect">
            <a:avLst/>
          </a:prstGeom>
        </p:spPr>
      </p:pic>
      <p:pic>
        <p:nvPicPr>
          <p:cNvPr id="10" name="Picture 9" descr="A tree with leaves on it&#10;&#10;Description automatically generated">
            <a:extLst>
              <a:ext uri="{FF2B5EF4-FFF2-40B4-BE49-F238E27FC236}">
                <a16:creationId xmlns:a16="http://schemas.microsoft.com/office/drawing/2014/main" id="{ABF3D285-214F-3FCF-9FCA-73A6A122FB3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690" y="899992"/>
            <a:ext cx="6035420" cy="595800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E05832-A8E8-733F-8328-BC5C9A0EC453}"/>
              </a:ext>
            </a:extLst>
          </p:cNvPr>
          <p:cNvSpPr/>
          <p:nvPr userDrawn="1"/>
        </p:nvSpPr>
        <p:spPr>
          <a:xfrm>
            <a:off x="0" y="6743700"/>
            <a:ext cx="8572500" cy="125730"/>
          </a:xfrm>
          <a:prstGeom prst="rect">
            <a:avLst/>
          </a:prstGeom>
          <a:solidFill>
            <a:srgbClr val="4946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908462-2DD7-A105-DDEF-8CD158C0C56B}"/>
              </a:ext>
            </a:extLst>
          </p:cNvPr>
          <p:cNvSpPr/>
          <p:nvPr userDrawn="1"/>
        </p:nvSpPr>
        <p:spPr>
          <a:xfrm>
            <a:off x="8572500" y="6743700"/>
            <a:ext cx="3619500" cy="125730"/>
          </a:xfrm>
          <a:prstGeom prst="rect">
            <a:avLst/>
          </a:prstGeom>
          <a:solidFill>
            <a:srgbClr val="C389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57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653347-2DFC-5A81-9077-3E2A2BF5EBA6}"/>
              </a:ext>
            </a:extLst>
          </p:cNvPr>
          <p:cNvSpPr txBox="1"/>
          <p:nvPr/>
        </p:nvSpPr>
        <p:spPr>
          <a:xfrm>
            <a:off x="339012" y="1899054"/>
            <a:ext cx="115139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 Digital Twin-Based System for Multi-Bank Battery Monitoring, State Estimation and Fault Prediction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</a:p>
          <a:p>
            <a:pPr algn="ctr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96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0960" y="12192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426720"/>
            <a:ext cx="98755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B4F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Table of Contents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7680" y="1280160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87680" y="1280160"/>
            <a:ext cx="670560" cy="8290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87680" y="1280160"/>
            <a:ext cx="670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80160" y="1341120"/>
            <a:ext cx="445008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87680" y="2255520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87680" y="2255520"/>
            <a:ext cx="670560" cy="8290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87680" y="2255520"/>
            <a:ext cx="670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280160" y="2316480"/>
            <a:ext cx="445008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87680" y="3230880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87680" y="3230880"/>
            <a:ext cx="670560" cy="8290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87680" y="3230880"/>
            <a:ext cx="670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280160" y="3291840"/>
            <a:ext cx="445008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Summary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87680" y="4206240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87680" y="4206240"/>
            <a:ext cx="670560" cy="8290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87680" y="4206240"/>
            <a:ext cx="670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280160" y="4267200"/>
            <a:ext cx="445008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&amp; 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87680" y="5181600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87680" y="5181600"/>
            <a:ext cx="670560" cy="82905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87680" y="5181600"/>
            <a:ext cx="670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280160" y="5242560"/>
            <a:ext cx="445008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339840" y="1280160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339840" y="1280160"/>
            <a:ext cx="670560" cy="82905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339840" y="1280160"/>
            <a:ext cx="670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132320" y="1341120"/>
            <a:ext cx="445008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339840" y="2255520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6339840" y="2255520"/>
            <a:ext cx="670560" cy="82905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339840" y="2255520"/>
            <a:ext cx="670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132320" y="2316480"/>
            <a:ext cx="445008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Implementation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339840" y="3230880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6339840" y="3230880"/>
            <a:ext cx="670560" cy="82905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6339840" y="3230880"/>
            <a:ext cx="670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132320" y="3291840"/>
            <a:ext cx="445008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339840" y="4206240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6339840" y="4206240"/>
            <a:ext cx="670560" cy="82905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339840" y="4206240"/>
            <a:ext cx="670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132320" y="4267200"/>
            <a:ext cx="445008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339840" y="5181600"/>
            <a:ext cx="536448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6339840" y="5181600"/>
            <a:ext cx="670560" cy="82905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6339840" y="5181600"/>
            <a:ext cx="670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132320" y="5242560"/>
            <a:ext cx="445008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Publications &amp; Bibliography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FCB9D6-5987-3F42-8D91-BB64F2186826}"/>
              </a:ext>
            </a:extLst>
          </p:cNvPr>
          <p:cNvSpPr txBox="1"/>
          <p:nvPr/>
        </p:nvSpPr>
        <p:spPr>
          <a:xfrm>
            <a:off x="234248" y="1427584"/>
            <a:ext cx="11723504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Lithium-ion batteries are widely used in electric vehicles, renewable energy systems, and portable electronics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battery management is essential for improving safety, performance, and lifespan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battery parameters include State of Charge (SOC), State of Health (SOH), and Remaining Useful Life (RUL)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Battery Management Systems (BMS) rely on single estimation techniques and limited parameters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cannot adapt effectively to changing battery conditions such as aging and temperature variations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technology provides a real-time virtual representation of the physical battery system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continuous monitoring, prediction, and system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D00378-DB77-6479-B937-738E90376A43}"/>
              </a:ext>
            </a:extLst>
          </p:cNvPr>
          <p:cNvSpPr txBox="1"/>
          <p:nvPr/>
        </p:nvSpPr>
        <p:spPr>
          <a:xfrm>
            <a:off x="420860" y="1242918"/>
            <a:ext cx="3517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1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0960" y="12192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87680" y="463296"/>
            <a:ext cx="98755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B4F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 of the Work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7680" y="1365504"/>
            <a:ext cx="54864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87680" y="1365504"/>
            <a:ext cx="731520" cy="1402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87680" y="1365504"/>
            <a:ext cx="7315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41120" y="1487424"/>
            <a:ext cx="4450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Digital Twin model for a multi-bank (5×30 cells) lithium-ion battery system in MATLAB/Simulink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339840" y="1365504"/>
            <a:ext cx="54864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339840" y="1365504"/>
            <a:ext cx="731520" cy="1402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339840" y="1365504"/>
            <a:ext cx="7315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93280" y="1487424"/>
            <a:ext cx="4450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hybrid state estimation: AEKF, Li-Mamba, BatteryGPT, TDSPIN &amp; Federated Ensemble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87680" y="3011424"/>
            <a:ext cx="54864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87680" y="3011424"/>
            <a:ext cx="731520" cy="1402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87680" y="3011424"/>
            <a:ext cx="7315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341120" y="3133344"/>
            <a:ext cx="4450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 22 battery health indicators: SOC, SOH, RUL, SOP, Degradation Index, Stress, Aging Rate &amp; more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339840" y="3011424"/>
            <a:ext cx="54864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339840" y="3011424"/>
            <a:ext cx="731520" cy="1402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339840" y="3011424"/>
            <a:ext cx="7315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193280" y="3133344"/>
            <a:ext cx="4450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Digital Twin by continuously comparing simulation vs. physical hardware branches in real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87680" y="4657344"/>
            <a:ext cx="54864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87680" y="4657344"/>
            <a:ext cx="731520" cy="1402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87680" y="4657344"/>
            <a:ext cx="7315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⑤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341120" y="4779264"/>
            <a:ext cx="4450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IoT cloud monitoring (ThingSpeak – 4 channels × 8 fields) and Node-RED visualization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339840" y="4657344"/>
            <a:ext cx="54864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339840" y="4657344"/>
            <a:ext cx="731520" cy="1402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339840" y="4657344"/>
            <a:ext cx="7315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⑥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193280" y="4779264"/>
            <a:ext cx="4450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scalability and prepare system for hardware-in-the-loop (HIL) validation on real battery packs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4EA59F-8196-762A-D803-A19BB77D8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504235"/>
              </p:ext>
            </p:extLst>
          </p:nvPr>
        </p:nvGraphicFramePr>
        <p:xfrm>
          <a:off x="838200" y="2446814"/>
          <a:ext cx="10515600" cy="3175508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176235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388566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992104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55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604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76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068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68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56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49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12200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77328D5-57EB-09E0-9C34-0391FF9F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88" y="604736"/>
            <a:ext cx="2451056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99976-7289-FE4F-4316-E45A9899F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357527"/>
              </p:ext>
            </p:extLst>
          </p:nvPr>
        </p:nvGraphicFramePr>
        <p:xfrm>
          <a:off x="838200" y="1455436"/>
          <a:ext cx="10450288" cy="484272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12572">
                  <a:extLst>
                    <a:ext uri="{9D8B030D-6E8A-4147-A177-3AD203B41FA5}">
                      <a16:colId xmlns:a16="http://schemas.microsoft.com/office/drawing/2014/main" val="3935730034"/>
                    </a:ext>
                  </a:extLst>
                </a:gridCol>
                <a:gridCol w="2612572">
                  <a:extLst>
                    <a:ext uri="{9D8B030D-6E8A-4147-A177-3AD203B41FA5}">
                      <a16:colId xmlns:a16="http://schemas.microsoft.com/office/drawing/2014/main" val="2098217029"/>
                    </a:ext>
                  </a:extLst>
                </a:gridCol>
                <a:gridCol w="2612572">
                  <a:extLst>
                    <a:ext uri="{9D8B030D-6E8A-4147-A177-3AD203B41FA5}">
                      <a16:colId xmlns:a16="http://schemas.microsoft.com/office/drawing/2014/main" val="2336628114"/>
                    </a:ext>
                  </a:extLst>
                </a:gridCol>
                <a:gridCol w="2612572">
                  <a:extLst>
                    <a:ext uri="{9D8B030D-6E8A-4147-A177-3AD203B41FA5}">
                      <a16:colId xmlns:a16="http://schemas.microsoft.com/office/drawing/2014/main" val="2790494210"/>
                    </a:ext>
                  </a:extLst>
                </a:gridCol>
              </a:tblGrid>
              <a:tr h="549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881224"/>
                  </a:ext>
                </a:extLst>
              </a:tr>
              <a:tr h="10477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Plett (2004)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SOC estimation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model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026812"/>
                  </a:ext>
                </a:extLst>
              </a:tr>
              <a:tr h="10477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 et al. (2011)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estimation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noise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369059"/>
                  </a:ext>
                </a:extLst>
              </a:tr>
              <a:tr h="549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 et al. (2012)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NN vs KF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290684"/>
                  </a:ext>
                </a:extLst>
              </a:tr>
              <a:tr h="549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Severson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489548"/>
                  </a:ext>
                </a:extLst>
              </a:tr>
              <a:tr h="549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Schmidt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BMS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Latency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589874"/>
                  </a:ext>
                </a:extLst>
              </a:tr>
              <a:tr h="549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real-time sync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66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782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CB091C-F155-17FE-3737-B3502A7EA2C4}"/>
              </a:ext>
            </a:extLst>
          </p:cNvPr>
          <p:cNvSpPr txBox="1"/>
          <p:nvPr/>
        </p:nvSpPr>
        <p:spPr>
          <a:xfrm>
            <a:off x="248815" y="971991"/>
            <a:ext cx="9800253" cy="4393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integration between simulation models and physical battery systems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rely on single estimation algorithms leading to reduced accuracy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number of parameters monitored in traditional BMS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adaptive models to handle battery aging and environmental variations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effective integration of IoT for real-time monitoring and visualization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scalability for multi-bank battery configurations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comparison between multiple estimation techniques in real-time</a:t>
            </a:r>
          </a:p>
        </p:txBody>
      </p:sp>
    </p:spTree>
    <p:extLst>
      <p:ext uri="{BB962C8B-B14F-4D97-AF65-F5344CB8AC3E}">
        <p14:creationId xmlns:p14="http://schemas.microsoft.com/office/powerpoint/2010/main" val="3105362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D6A66-87A6-9FCB-DF59-2578263B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2FD36D-F5A2-0A42-1B1D-A366271AA8D4}"/>
              </a:ext>
            </a:extLst>
          </p:cNvPr>
          <p:cNvSpPr txBox="1"/>
          <p:nvPr/>
        </p:nvSpPr>
        <p:spPr>
          <a:xfrm>
            <a:off x="27991" y="-111739"/>
            <a:ext cx="8406882" cy="6782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Layer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Voltage, current, and temperature sensors monitor battery cells and collect real-time data.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Layer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filtering, data normalization, and feature extraction prepare battery parameters for analysis.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Intelligence Layer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algorithms (AEKF, Li-Mamba, Battery, TDSPIN, Ensemble) estimate battery health and enable adaptive algorithm selection.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Safety Layer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State of Health (SOH), Remaining Useful Life (RUL), and detects faults or thermal runaway conditions.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&amp; Visualization Layer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battery status and sends data to cloud dashboards with real-time alerts and monitoring.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FE8ADEF-C500-4557-B0E3-3E3F90E10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873" y="1884784"/>
            <a:ext cx="3517641" cy="424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3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0960" y="12192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0020" y="493776"/>
            <a:ext cx="98755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Novelty of This Work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3296" y="1341120"/>
            <a:ext cx="5510784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3296" y="1341120"/>
            <a:ext cx="5510784" cy="4145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60832" y="1389888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First-of-kind Li-Mamba for Batteries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0832" y="1828800"/>
            <a:ext cx="5303520" cy="99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Li-Mamba (State Space Model), originally designed for language processing, is applied to battery state estimation for the first time — achieving 0.65% SOC error, 2.6× faster than Transformers, 4.4× less memory.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315456" y="1341120"/>
            <a:ext cx="5510784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315456" y="1341120"/>
            <a:ext cx="5510784" cy="4145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12992" y="1389888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Federated Ensemble + Uncertainty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12992" y="1828800"/>
            <a:ext cx="5303520" cy="99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algorithms (AEKF, Li-Mamba, BatteryGPT, TDSPIN, RF+XGBoost) run in parallel; a comparator selects the best in real-time. Epistemic &amp; aleatoric uncertainty quantified with every prediction.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3296" y="3072384"/>
            <a:ext cx="5510784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63296" y="3072384"/>
            <a:ext cx="5510784" cy="4145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60832" y="3121152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Sim–Hardware Digital Twin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60832" y="3560064"/>
            <a:ext cx="5303520" cy="99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(MATLAB/Simulink) and hardware sensor branches run simultaneously with continuous cross-comparison — the twin corrects itself in real-time, unlike offline models.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315456" y="3072384"/>
            <a:ext cx="5510784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315456" y="3072384"/>
            <a:ext cx="5510784" cy="4145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412992" y="3121152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22-Parameter Health Vector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412992" y="3560064"/>
            <a:ext cx="5303520" cy="99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BMS tracks 5–10 parameters. This system extracts 22 indicators: SOC, SOH, RUL, SOP, Degradation Index, Aging Rate, Stress Index, Health Index, thermal metrics, and more.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63296" y="4803648"/>
            <a:ext cx="5510784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63296" y="4803648"/>
            <a:ext cx="5510784" cy="4145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60832" y="4852416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96.2% Early Fault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60832" y="5291328"/>
            <a:ext cx="5303520" cy="99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GPR-based anomaly augmentation + OC-SVM detect thermal and electrical faults ~2 seconds before they become critical with 96.2% accuracy — critical for EV safety.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315456" y="4803648"/>
            <a:ext cx="5510784" cy="1560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6315456" y="4803648"/>
            <a:ext cx="5510784" cy="4145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412992" y="4852416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Patent Filed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412992" y="5291328"/>
            <a:ext cx="5303520" cy="99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Invention Disclosure Form submitted for: Digital Twin-Based Battery Management System with AI-Driven Prediction and Cloud Integration — recognizing the originality of this combined approach.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DD55-1DAD-BC16-5F3E-0BF2573A8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3C8821-675E-B19E-98F9-D10DC9012474}"/>
              </a:ext>
            </a:extLst>
          </p:cNvPr>
          <p:cNvSpPr txBox="1"/>
          <p:nvPr/>
        </p:nvSpPr>
        <p:spPr>
          <a:xfrm>
            <a:off x="146957" y="367796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sz="2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 </a:t>
            </a:r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ACEEA037-6A06-25DA-9573-C970D6C98B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89B4BC-C759-1E98-7983-81D3CC589499}"/>
              </a:ext>
            </a:extLst>
          </p:cNvPr>
          <p:cNvSpPr txBox="1"/>
          <p:nvPr/>
        </p:nvSpPr>
        <p:spPr>
          <a:xfrm>
            <a:off x="146957" y="905041"/>
            <a:ext cx="5266962" cy="5792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Processing Steps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Acquisition</a:t>
            </a: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150 cells (5 modules × 30 cells) at 100 Hz sampling</a:t>
            </a:r>
          </a:p>
          <a:p>
            <a:pPr algn="just">
              <a:lnSpc>
                <a:spcPct val="1500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Feature Extraction</a:t>
            </a: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Multi-scale statistical features (396 dimensions)</a:t>
            </a:r>
          </a:p>
          <a:p>
            <a:pPr algn="just">
              <a:lnSpc>
                <a:spcPct val="1500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Model Execution</a:t>
            </a: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Parallel execution of 5 algorithms</a:t>
            </a:r>
          </a:p>
          <a:p>
            <a:pPr algn="just">
              <a:lnSpc>
                <a:spcPct val="1500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Safety Prediction</a:t>
            </a: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Thermal runway probability, fault classification</a:t>
            </a:r>
          </a:p>
          <a:p>
            <a:pPr algn="just">
              <a:lnSpc>
                <a:spcPct val="1500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IN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Output Generation</a:t>
            </a:r>
            <a:r>
              <a:rPr lang="en-IN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Real-time alerts and cloud visualization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2E890AB-2CA9-BB16-6E58-2803DFE915D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523" r="16558" b="51307"/>
          <a:stretch>
            <a:fillRect/>
          </a:stretch>
        </p:blipFill>
        <p:spPr bwMode="auto">
          <a:xfrm>
            <a:off x="5812971" y="1188721"/>
            <a:ext cx="5948097" cy="54453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57447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60A555-1AC1-41E0-3B6C-8D19681DB8B8}"/>
              </a:ext>
            </a:extLst>
          </p:cNvPr>
          <p:cNvSpPr txBox="1"/>
          <p:nvPr/>
        </p:nvSpPr>
        <p:spPr>
          <a:xfrm>
            <a:off x="0" y="403442"/>
            <a:ext cx="5775649" cy="636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 Implementation: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MATLAB/Simulink model for EV battery health monitoring with a modular battery pack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Modeled voltage, current, and temperature for realistic battery behavior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AEKF and Li-Mamba algorithms for real-time state estimation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feature extraction and AI models for SOH and RUL prediction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safety monitoring and algorithm comparison for performance evaluation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visualization and cloud communication for monitoring system outputs </a:t>
            </a:r>
          </a:p>
          <a:p>
            <a:pPr algn="just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5F9B0D-50D8-B555-4915-1C7BF270F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22" y="1510238"/>
            <a:ext cx="6017039" cy="406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50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21920" y="470636"/>
            <a:ext cx="98755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B4F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&amp; Discussions – Simulation Outputs &amp; Error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43840" y="6534912"/>
            <a:ext cx="117043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26720" y="1316736"/>
            <a:ext cx="5669280" cy="481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" y="1402080"/>
            <a:ext cx="5486400" cy="3352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7680" y="4815840"/>
            <a:ext cx="56692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: Overall Simulation Output Signals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67" i="1" dirty="0"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(Voltage, Current, SOC, SOH difference + RMSE trends)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278880" y="1316736"/>
            <a:ext cx="5486400" cy="481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64224" y="1402080"/>
            <a:ext cx="5315712" cy="3352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78880" y="4815840"/>
            <a:ext cx="54864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: Error Distribution – Voltage, Current, SOC &amp; SOH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267" i="1" dirty="0"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(Highly clustered distributions confirm estimation precision)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0960" y="12192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03408" y="396240"/>
            <a:ext cx="98755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B4F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– Simulation vs Hardware Comparison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03408" y="1097280"/>
            <a:ext cx="9875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validation: simulation branch tracks hardware outputs with high fidelity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14758" t="10063" r="10223" b="11974"/>
          <a:stretch>
            <a:fillRect/>
          </a:stretch>
        </p:blipFill>
        <p:spPr>
          <a:xfrm>
            <a:off x="914400" y="1922106"/>
            <a:ext cx="6494106" cy="426409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07680" y="1280160"/>
            <a:ext cx="3657600" cy="499872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8193024" y="1341120"/>
            <a:ext cx="348691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B4F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193024" y="1804416"/>
            <a:ext cx="348691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SOC tracking consistent across simulation &amp; hardware branches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193024" y="2511552"/>
            <a:ext cx="348691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SOH &amp; RUL predictions closely match hardware-measured values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193024" y="3218688"/>
            <a:ext cx="348691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Overall Health Index matches within ±0.05 margin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193024" y="3925824"/>
            <a:ext cx="348691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Stress Index responds correctly to dynamic load changes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193024" y="4632960"/>
            <a:ext cx="348691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Cell Voltage Imbalance correctly detected across banks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193024" y="5340096"/>
            <a:ext cx="3486912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RMSE: Voltage ≈ 3.5 V  |  Current ≈ 0.33 A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33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 ≈ 17%  |  SOH ≈ 20%</a:t>
            </a: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0" y="365760"/>
            <a:ext cx="98755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B4F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– Efficiency Analysis &amp; Cloud Dashboard Monitoring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17368" t="13924" r="12735" b="3020"/>
          <a:stretch>
            <a:fillRect/>
          </a:stretch>
        </p:blipFill>
        <p:spPr>
          <a:xfrm>
            <a:off x="635104" y="1316736"/>
            <a:ext cx="5131214" cy="26822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6720" y="399897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6.5: Efficiency, Algorithm Selection &amp; Stress Index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26720" y="4486656"/>
          <a:ext cx="5669280" cy="2057400"/>
        </p:xfrm>
        <a:graphic>
          <a:graphicData uri="http://schemas.openxmlformats.org/drawingml/2006/table">
            <a:tbl>
              <a:tblPr/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Conventional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Proposed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Monitoring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Offline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Real-time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SOC Error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2–5%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0.65%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Parameters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5–10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22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Fault Detection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Post-facto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96.2% (−2s)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Cloud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833"/>
                          </a:solidFill>
                        </a:rPr>
                        <a:t>4×8 fields</a:t>
                      </a:r>
                      <a:endParaRPr lang="en-US" sz="14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6278880" y="6120384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5D6D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6.10–6.13: Node-RED Dashboard – 32 Live Battery Parameters</a:t>
            </a:r>
            <a:endParaRPr lang="en-US" sz="1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30A25769-3693-AC62-3D75-058EA9B769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83" t="4559" r="10198" b="23809"/>
          <a:stretch>
            <a:fillRect/>
          </a:stretch>
        </p:blipFill>
        <p:spPr>
          <a:xfrm>
            <a:off x="6606073" y="1316736"/>
            <a:ext cx="4777274" cy="48036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99EE0EF-1428-BC15-6AE7-89235537E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9" y="2318710"/>
            <a:ext cx="65" cy="5846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E3EAC-849D-75F4-5801-7C1319DBC239}"/>
              </a:ext>
            </a:extLst>
          </p:cNvPr>
          <p:cNvSpPr txBox="1"/>
          <p:nvPr/>
        </p:nvSpPr>
        <p:spPr>
          <a:xfrm>
            <a:off x="195943" y="4740775"/>
            <a:ext cx="666205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Thermal Runaway Detection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&lt; 2 seconds before critical threshold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Rate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&lt; 3%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96.2% across 1000+ simulated cycles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5C3905-929B-EBBA-6F78-0DC0E3C7AB93}"/>
              </a:ext>
            </a:extLst>
          </p:cNvPr>
          <p:cNvSpPr txBox="1"/>
          <p:nvPr/>
        </p:nvSpPr>
        <p:spPr>
          <a:xfrm>
            <a:off x="195943" y="662051"/>
            <a:ext cx="609755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MATLAB Simulation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Metrics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8ED52D0-8572-C20B-D11E-2BF59B259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112155"/>
              </p:ext>
            </p:extLst>
          </p:nvPr>
        </p:nvGraphicFramePr>
        <p:xfrm>
          <a:off x="2032000" y="1791478"/>
          <a:ext cx="8128000" cy="2743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3019928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521847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90248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02028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quote-cjk-patch"/>
                        </a:rPr>
                        <a:t>Algorithm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RMSE (SOC)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RMSE (SOH)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quote-cjk-patch"/>
                        </a:rPr>
                        <a:t>Safety Accuracy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1485536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AEKF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1.82%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2.15%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89.3%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835989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Li-Mamba (Ours)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0.65%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0.88%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96.2%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762552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BatteryGPT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0.21%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0.19%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98.1%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74479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TDSPIN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1.04%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1.17%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93.5%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170439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Ensemble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0.43%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0.52%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97.4%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96623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726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466A40-A44B-4532-578C-5EA450E17F29}"/>
              </a:ext>
            </a:extLst>
          </p:cNvPr>
          <p:cNvSpPr txBox="1"/>
          <p:nvPr/>
        </p:nvSpPr>
        <p:spPr>
          <a:xfrm>
            <a:off x="153954" y="495748"/>
            <a:ext cx="11385679" cy="1068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endParaRPr lang="en-IN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EC1CB-FB3D-52B7-16FD-F5F5DE02F569}"/>
              </a:ext>
            </a:extLst>
          </p:cNvPr>
          <p:cNvSpPr txBox="1"/>
          <p:nvPr/>
        </p:nvSpPr>
        <p:spPr>
          <a:xfrm>
            <a:off x="153954" y="1117349"/>
            <a:ext cx="11712252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5-layer AI-based architecture for EV battery health monitoring with modular support for 150 cells and 100 Hz real-time processing.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 Implementation: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a complete MATLAB/Simulink model with 18 function blocks (~4500 lines of code) integrating five algorithms and Thing Speak - Node-RED cloud visualization, validated using 100,000+ data points.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Performance: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high accuracy with Li-Mamba (0.65% RMSE), Battery (0.21% RMSE), Ensemble (0.43% RMSE), and TDSPIN (1.04% RMSE).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System: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thermal runaway detection (96.2%), 15 fault mode classification, &lt;2 s alert generation, and &lt;3% false positives.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Patent disclosure submitted to the guide (March 2026) covering Li-Mamba application, multi-algorithm comparator, and predictive safety warning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Li-Mamba based EV battery monitoring, multi-algorithm comparator architecture, and validated MATLAB system through extensive simulations.</a:t>
            </a:r>
          </a:p>
        </p:txBody>
      </p:sp>
    </p:spTree>
    <p:extLst>
      <p:ext uri="{BB962C8B-B14F-4D97-AF65-F5344CB8AC3E}">
        <p14:creationId xmlns:p14="http://schemas.microsoft.com/office/powerpoint/2010/main" val="193926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640F7-7E75-8721-22F2-7A2B881C102E}"/>
              </a:ext>
            </a:extLst>
          </p:cNvPr>
          <p:cNvSpPr txBox="1"/>
          <p:nvPr/>
        </p:nvSpPr>
        <p:spPr>
          <a:xfrm>
            <a:off x="211994" y="741138"/>
            <a:ext cx="2172929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803D7E-5518-34A9-5BE4-E43FB2AE4134}"/>
              </a:ext>
            </a:extLst>
          </p:cNvPr>
          <p:cNvSpPr txBox="1"/>
          <p:nvPr/>
        </p:nvSpPr>
        <p:spPr>
          <a:xfrm>
            <a:off x="166646" y="1380931"/>
            <a:ext cx="11243388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Jafari and Y.-C. Byun, “Prediction of the Battery State Using the Digital Twin Framework Based on the Battery Management System,” IEEE Access, vol. 10, pp. 124685–124696, 2022. doi: 10.1109/ACCESS.2022.3225093.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Zhao, Y. Liu, W. Ming and J. Wu, “Digital Twin-Driven Estimation of State of Charge for Li-ion Battery,” in Proc. 2022 IEEE International Energy Conference (ENERGYCON), 2022, doi: 10.1109/ENERGYCON53164.2022.9830324.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V.-P. Vu, H. T. P. Trinh, D.-N. Truong and V.-P. Dinh, “Development of Controller Hardware-in-the-Loop Platform-based Battery Management System for Hybrid PV-Battery System,” in 2024 9th International Conference on Applying New Technology in Green Buildings (ATiGB), 2024, pp. 1–6, doi: 10.1109/ATiGB63471.2024.10717766.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Chemali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J. Kollmeyer, M. Preindl, R. Ahmed and A. Emadi, “Long Short-Term Memory Networks for Accurate State-of-Charge Estimation of Li-ion Batteries,” IEEE Transactions on Industrial Electronics, vol. 65, no. 8, pp. 6730–6739, Aug. 2018. doi: 10.1109/TIE.2017.2787586.</a:t>
            </a:r>
          </a:p>
        </p:txBody>
      </p:sp>
    </p:spTree>
    <p:extLst>
      <p:ext uri="{BB962C8B-B14F-4D97-AF65-F5344CB8AC3E}">
        <p14:creationId xmlns:p14="http://schemas.microsoft.com/office/powerpoint/2010/main" val="3960991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243840" y="457200"/>
            <a:ext cx="98755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B4F7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List of Publications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3296" y="1341120"/>
            <a:ext cx="11277600" cy="1280160"/>
          </a:xfrm>
          <a:prstGeom prst="rect">
            <a:avLst/>
          </a:prstGeom>
          <a:solidFill>
            <a:srgbClr val="FEF9E7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63296" y="1341120"/>
            <a:ext cx="1584960" cy="12801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63296" y="1341120"/>
            <a:ext cx="158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133600" y="1389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B4F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Invention Disclosure Form Submitted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133600" y="1755648"/>
            <a:ext cx="95097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"Design of a Digital Twin-Based System for Multi-Bank Battery Monitoring, State Estimation and Fault Prediction"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1C28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Filed with SRM University–AP IP Cell, May 2026  |  Status: Under Review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3296" y="2804160"/>
            <a:ext cx="1127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View image">
            <a:extLst>
              <a:ext uri="{FF2B5EF4-FFF2-40B4-BE49-F238E27FC236}">
                <a16:creationId xmlns:a16="http://schemas.microsoft.com/office/drawing/2014/main" id="{85978FB2-3D26-2846-4194-2C7261C01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04" y="2782645"/>
            <a:ext cx="10118284" cy="30681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B67706-8D59-39BB-2B90-D4FBE5F6F839}"/>
              </a:ext>
            </a:extLst>
          </p:cNvPr>
          <p:cNvSpPr txBox="1"/>
          <p:nvPr/>
        </p:nvSpPr>
        <p:spPr>
          <a:xfrm>
            <a:off x="3647440" y="2308600"/>
            <a:ext cx="64617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148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1634</Words>
  <Application>Microsoft Office PowerPoint</Application>
  <PresentationFormat>Widescreen</PresentationFormat>
  <Paragraphs>213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quote-cjk-patch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ITKM WEB TEAM</dc:creator>
  <cp:lastModifiedBy>jagadeeswara kamarajugadda | AP23122100002</cp:lastModifiedBy>
  <cp:revision>11</cp:revision>
  <dcterms:created xsi:type="dcterms:W3CDTF">2024-01-03T08:23:41Z</dcterms:created>
  <dcterms:modified xsi:type="dcterms:W3CDTF">2026-09-20T18:41:12Z</dcterms:modified>
</cp:coreProperties>
</file>