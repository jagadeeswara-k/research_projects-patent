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sldIdLst>
    <p:sldId id="261" r:id="rId2"/>
    <p:sldId id="268" r:id="rId3"/>
    <p:sldId id="262" r:id="rId4"/>
    <p:sldId id="269" r:id="rId5"/>
    <p:sldId id="264" r:id="rId6"/>
    <p:sldId id="270" r:id="rId7"/>
    <p:sldId id="266" r:id="rId8"/>
  </p:sldIdLst>
  <p:sldSz cx="9906000" cy="10817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CC"/>
    <a:srgbClr val="CC3399"/>
    <a:srgbClr val="33CCFF"/>
    <a:srgbClr val="FF7C80"/>
    <a:srgbClr val="FF5050"/>
    <a:srgbClr val="66FFFF"/>
    <a:srgbClr val="FF99CC"/>
    <a:srgbClr val="99FF99"/>
    <a:srgbClr val="99FFCC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24" autoAdjust="0"/>
    <p:restoredTop sz="94660"/>
  </p:normalViewPr>
  <p:slideViewPr>
    <p:cSldViewPr snapToGrid="0">
      <p:cViewPr>
        <p:scale>
          <a:sx n="40" d="100"/>
          <a:sy n="40" d="100"/>
        </p:scale>
        <p:origin x="1350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770320"/>
            <a:ext cx="8420100" cy="3765997"/>
          </a:xfrm>
        </p:spPr>
        <p:txBody>
          <a:bodyPr anchor="b"/>
          <a:lstStyle>
            <a:lvl1pPr algn="ctr">
              <a:defRPr sz="6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5681548"/>
            <a:ext cx="7429500" cy="2611658"/>
          </a:xfrm>
        </p:spPr>
        <p:txBody>
          <a:bodyPr/>
          <a:lstStyle>
            <a:lvl1pPr marL="0" indent="0" algn="ctr">
              <a:buNone/>
              <a:defRPr sz="2600"/>
            </a:lvl1pPr>
            <a:lvl2pPr marL="495285" indent="0" algn="ctr">
              <a:buNone/>
              <a:defRPr sz="2167"/>
            </a:lvl2pPr>
            <a:lvl3pPr marL="990570" indent="0" algn="ctr">
              <a:buNone/>
              <a:defRPr sz="1950"/>
            </a:lvl3pPr>
            <a:lvl4pPr marL="1485854" indent="0" algn="ctr">
              <a:buNone/>
              <a:defRPr sz="1733"/>
            </a:lvl4pPr>
            <a:lvl5pPr marL="1981139" indent="0" algn="ctr">
              <a:buNone/>
              <a:defRPr sz="1733"/>
            </a:lvl5pPr>
            <a:lvl6pPr marL="2476424" indent="0" algn="ctr">
              <a:buNone/>
              <a:defRPr sz="1733"/>
            </a:lvl6pPr>
            <a:lvl7pPr marL="2971709" indent="0" algn="ctr">
              <a:buNone/>
              <a:defRPr sz="1733"/>
            </a:lvl7pPr>
            <a:lvl8pPr marL="3466993" indent="0" algn="ctr">
              <a:buNone/>
              <a:defRPr sz="1733"/>
            </a:lvl8pPr>
            <a:lvl9pPr marL="3962278" indent="0" algn="ctr">
              <a:buNone/>
              <a:defRPr sz="17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A2A37-A9E2-4E37-ACF6-B70D43EBD4A0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337A8-6AF6-4DDF-A4E3-9C1244BC0D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4881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A2A37-A9E2-4E37-ACF6-B70D43EBD4A0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337A8-6AF6-4DDF-A4E3-9C1244BC0D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3277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2696798"/>
            <a:ext cx="8543925" cy="4499664"/>
          </a:xfrm>
        </p:spPr>
        <p:txBody>
          <a:bodyPr anchor="b"/>
          <a:lstStyle>
            <a:lvl1pPr>
              <a:defRPr sz="6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7239030"/>
            <a:ext cx="8543925" cy="2366267"/>
          </a:xfrm>
        </p:spPr>
        <p:txBody>
          <a:bodyPr/>
          <a:lstStyle>
            <a:lvl1pPr marL="0" indent="0">
              <a:buNone/>
              <a:defRPr sz="2600">
                <a:solidFill>
                  <a:schemeClr val="tx1"/>
                </a:solidFill>
              </a:defRPr>
            </a:lvl1pPr>
            <a:lvl2pPr marL="495285" indent="0">
              <a:buNone/>
              <a:defRPr sz="2167">
                <a:solidFill>
                  <a:schemeClr val="tx1">
                    <a:tint val="75000"/>
                  </a:schemeClr>
                </a:solidFill>
              </a:defRPr>
            </a:lvl2pPr>
            <a:lvl3pPr marL="99057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3pPr>
            <a:lvl4pPr marL="1485854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4pPr>
            <a:lvl5pPr marL="1981139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5pPr>
            <a:lvl6pPr marL="2476424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6pPr>
            <a:lvl7pPr marL="2971709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7pPr>
            <a:lvl8pPr marL="3466993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8pPr>
            <a:lvl9pPr marL="3962278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A2A37-A9E2-4E37-ACF6-B70D43EBD4A0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337A8-6AF6-4DDF-A4E3-9C1244BC0D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1981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2879585"/>
            <a:ext cx="4210050" cy="68634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2879585"/>
            <a:ext cx="4210050" cy="68634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A2A37-A9E2-4E37-ACF6-B70D43EBD4A0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337A8-6AF6-4DDF-A4E3-9C1244BC0D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3041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575920"/>
            <a:ext cx="8543925" cy="209083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2651723"/>
            <a:ext cx="4190702" cy="1299569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3951292"/>
            <a:ext cx="4190702" cy="58117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2651723"/>
            <a:ext cx="4211340" cy="1299569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3951292"/>
            <a:ext cx="4211340" cy="58117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A2A37-A9E2-4E37-ACF6-B70D43EBD4A0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337A8-6AF6-4DDF-A4E3-9C1244BC0D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727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A2A37-A9E2-4E37-ACF6-B70D43EBD4A0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337A8-6AF6-4DDF-A4E3-9C1244BC0D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2478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A2A37-A9E2-4E37-ACF6-B70D43EBD4A0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337A8-6AF6-4DDF-A4E3-9C1244BC0D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7075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721148"/>
            <a:ext cx="3194943" cy="2524019"/>
          </a:xfrm>
        </p:spPr>
        <p:txBody>
          <a:bodyPr anchor="b"/>
          <a:lstStyle>
            <a:lvl1pPr>
              <a:defRPr sz="34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1557482"/>
            <a:ext cx="5014913" cy="7687241"/>
          </a:xfrm>
        </p:spPr>
        <p:txBody>
          <a:bodyPr/>
          <a:lstStyle>
            <a:lvl1pPr>
              <a:defRPr sz="3467"/>
            </a:lvl1pPr>
            <a:lvl2pPr>
              <a:defRPr sz="3033"/>
            </a:lvl2pPr>
            <a:lvl3pPr>
              <a:defRPr sz="2600"/>
            </a:lvl3pPr>
            <a:lvl4pPr>
              <a:defRPr sz="2167"/>
            </a:lvl4pPr>
            <a:lvl5pPr>
              <a:defRPr sz="2167"/>
            </a:lvl5pPr>
            <a:lvl6pPr>
              <a:defRPr sz="2167"/>
            </a:lvl6pPr>
            <a:lvl7pPr>
              <a:defRPr sz="2167"/>
            </a:lvl7pPr>
            <a:lvl8pPr>
              <a:defRPr sz="2167"/>
            </a:lvl8pPr>
            <a:lvl9pPr>
              <a:defRPr sz="21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3245168"/>
            <a:ext cx="3194943" cy="6012074"/>
          </a:xfrm>
        </p:spPr>
        <p:txBody>
          <a:bodyPr/>
          <a:lstStyle>
            <a:lvl1pPr marL="0" indent="0">
              <a:buNone/>
              <a:defRPr sz="1733"/>
            </a:lvl1pPr>
            <a:lvl2pPr marL="495285" indent="0">
              <a:buNone/>
              <a:defRPr sz="1517"/>
            </a:lvl2pPr>
            <a:lvl3pPr marL="990570" indent="0">
              <a:buNone/>
              <a:defRPr sz="1300"/>
            </a:lvl3pPr>
            <a:lvl4pPr marL="1485854" indent="0">
              <a:buNone/>
              <a:defRPr sz="1083"/>
            </a:lvl4pPr>
            <a:lvl5pPr marL="1981139" indent="0">
              <a:buNone/>
              <a:defRPr sz="1083"/>
            </a:lvl5pPr>
            <a:lvl6pPr marL="2476424" indent="0">
              <a:buNone/>
              <a:defRPr sz="1083"/>
            </a:lvl6pPr>
            <a:lvl7pPr marL="2971709" indent="0">
              <a:buNone/>
              <a:defRPr sz="1083"/>
            </a:lvl7pPr>
            <a:lvl8pPr marL="3466993" indent="0">
              <a:buNone/>
              <a:defRPr sz="1083"/>
            </a:lvl8pPr>
            <a:lvl9pPr marL="3962278" indent="0">
              <a:buNone/>
              <a:defRPr sz="108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A2A37-A9E2-4E37-ACF6-B70D43EBD4A0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337A8-6AF6-4DDF-A4E3-9C1244BC0D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4210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721148"/>
            <a:ext cx="3194943" cy="2524019"/>
          </a:xfrm>
        </p:spPr>
        <p:txBody>
          <a:bodyPr anchor="b"/>
          <a:lstStyle>
            <a:lvl1pPr>
              <a:defRPr sz="34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1557482"/>
            <a:ext cx="5014913" cy="7687241"/>
          </a:xfrm>
        </p:spPr>
        <p:txBody>
          <a:bodyPr anchor="t"/>
          <a:lstStyle>
            <a:lvl1pPr marL="0" indent="0">
              <a:buNone/>
              <a:defRPr sz="3467"/>
            </a:lvl1pPr>
            <a:lvl2pPr marL="495285" indent="0">
              <a:buNone/>
              <a:defRPr sz="3033"/>
            </a:lvl2pPr>
            <a:lvl3pPr marL="990570" indent="0">
              <a:buNone/>
              <a:defRPr sz="2600"/>
            </a:lvl3pPr>
            <a:lvl4pPr marL="1485854" indent="0">
              <a:buNone/>
              <a:defRPr sz="2167"/>
            </a:lvl4pPr>
            <a:lvl5pPr marL="1981139" indent="0">
              <a:buNone/>
              <a:defRPr sz="2167"/>
            </a:lvl5pPr>
            <a:lvl6pPr marL="2476424" indent="0">
              <a:buNone/>
              <a:defRPr sz="2167"/>
            </a:lvl6pPr>
            <a:lvl7pPr marL="2971709" indent="0">
              <a:buNone/>
              <a:defRPr sz="2167"/>
            </a:lvl7pPr>
            <a:lvl8pPr marL="3466993" indent="0">
              <a:buNone/>
              <a:defRPr sz="2167"/>
            </a:lvl8pPr>
            <a:lvl9pPr marL="3962278" indent="0">
              <a:buNone/>
              <a:defRPr sz="21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3245168"/>
            <a:ext cx="3194943" cy="6012074"/>
          </a:xfrm>
        </p:spPr>
        <p:txBody>
          <a:bodyPr/>
          <a:lstStyle>
            <a:lvl1pPr marL="0" indent="0">
              <a:buNone/>
              <a:defRPr sz="1733"/>
            </a:lvl1pPr>
            <a:lvl2pPr marL="495285" indent="0">
              <a:buNone/>
              <a:defRPr sz="1517"/>
            </a:lvl2pPr>
            <a:lvl3pPr marL="990570" indent="0">
              <a:buNone/>
              <a:defRPr sz="1300"/>
            </a:lvl3pPr>
            <a:lvl4pPr marL="1485854" indent="0">
              <a:buNone/>
              <a:defRPr sz="1083"/>
            </a:lvl4pPr>
            <a:lvl5pPr marL="1981139" indent="0">
              <a:buNone/>
              <a:defRPr sz="1083"/>
            </a:lvl5pPr>
            <a:lvl6pPr marL="2476424" indent="0">
              <a:buNone/>
              <a:defRPr sz="1083"/>
            </a:lvl6pPr>
            <a:lvl7pPr marL="2971709" indent="0">
              <a:buNone/>
              <a:defRPr sz="1083"/>
            </a:lvl7pPr>
            <a:lvl8pPr marL="3466993" indent="0">
              <a:buNone/>
              <a:defRPr sz="1083"/>
            </a:lvl8pPr>
            <a:lvl9pPr marL="3962278" indent="0">
              <a:buNone/>
              <a:defRPr sz="108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A2A37-A9E2-4E37-ACF6-B70D43EBD4A0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337A8-6AF6-4DDF-A4E3-9C1244BC0D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997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A2A37-A9E2-4E37-ACF6-B70D43EBD4A0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337A8-6AF6-4DDF-A4E3-9C1244BC0D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6527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575917"/>
            <a:ext cx="2135981" cy="91670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575917"/>
            <a:ext cx="6284119" cy="916709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A2A37-A9E2-4E37-ACF6-B70D43EBD4A0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337A8-6AF6-4DDF-A4E3-9C1244BC0D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9032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575920"/>
            <a:ext cx="8543925" cy="20908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2879585"/>
            <a:ext cx="8543925" cy="6863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10025967"/>
            <a:ext cx="2228850" cy="5759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BA2A37-A9E2-4E37-ACF6-B70D43EBD4A0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10025967"/>
            <a:ext cx="3343275" cy="5759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10025967"/>
            <a:ext cx="2228850" cy="5759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A337A8-6AF6-4DDF-A4E3-9C1244BC0D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2416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xStyles>
    <p:titleStyle>
      <a:lvl1pPr algn="l" defTabSz="990570" rtl="0" eaLnBrk="1" latinLnBrk="0" hangingPunct="1">
        <a:lnSpc>
          <a:spcPct val="90000"/>
        </a:lnSpc>
        <a:spcBef>
          <a:spcPct val="0"/>
        </a:spcBef>
        <a:buNone/>
        <a:defRPr sz="47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7642" indent="-247642" algn="l" defTabSz="990570" rtl="0" eaLnBrk="1" latinLnBrk="0" hangingPunct="1">
        <a:lnSpc>
          <a:spcPct val="90000"/>
        </a:lnSpc>
        <a:spcBef>
          <a:spcPts val="1083"/>
        </a:spcBef>
        <a:buFont typeface="Arial" panose="020B0604020202020204" pitchFamily="34" charset="0"/>
        <a:buChar char="•"/>
        <a:defRPr sz="3033" kern="1200">
          <a:solidFill>
            <a:schemeClr val="tx1"/>
          </a:solidFill>
          <a:latin typeface="+mn-lt"/>
          <a:ea typeface="+mn-ea"/>
          <a:cs typeface="+mn-cs"/>
        </a:defRPr>
      </a:lvl1pPr>
      <a:lvl2pPr marL="742927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238212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3pPr>
      <a:lvl4pPr marL="1733497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2228781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724066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3219351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714636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4209920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AF03000-4314-9F2A-385E-EE7A4C4E9C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07" y="1443789"/>
            <a:ext cx="9295960" cy="762802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05ADD3-1A93-E2FF-1370-716D15E43DDE}"/>
              </a:ext>
            </a:extLst>
          </p:cNvPr>
          <p:cNvSpPr txBox="1"/>
          <p:nvPr/>
        </p:nvSpPr>
        <p:spPr>
          <a:xfrm>
            <a:off x="219005" y="436220"/>
            <a:ext cx="5127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Proposed Digital Twin BMS System (Generated)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8527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AF6A02-4C7E-52ED-F328-62B454FD45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416" b="9773"/>
          <a:stretch>
            <a:fillRect/>
          </a:stretch>
        </p:blipFill>
        <p:spPr>
          <a:xfrm>
            <a:off x="1842447" y="2662519"/>
            <a:ext cx="6155659" cy="52141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6C5D440-D6FD-8B05-485C-F99767D85EE0}"/>
              </a:ext>
            </a:extLst>
          </p:cNvPr>
          <p:cNvSpPr txBox="1"/>
          <p:nvPr/>
        </p:nvSpPr>
        <p:spPr>
          <a:xfrm>
            <a:off x="335666" y="2292128"/>
            <a:ext cx="4027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 Complete System Flowchart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9798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216CC19-CAFA-D201-1CCA-C7EA2EF2BBA5}"/>
              </a:ext>
            </a:extLst>
          </p:cNvPr>
          <p:cNvSpPr/>
          <p:nvPr/>
        </p:nvSpPr>
        <p:spPr>
          <a:xfrm>
            <a:off x="2093462" y="2986648"/>
            <a:ext cx="1669155" cy="37738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813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2AE6B14-8317-76B2-0B92-5C2BE018FE25}"/>
              </a:ext>
            </a:extLst>
          </p:cNvPr>
          <p:cNvSpPr/>
          <p:nvPr/>
        </p:nvSpPr>
        <p:spPr>
          <a:xfrm>
            <a:off x="2093462" y="3463195"/>
            <a:ext cx="1694078" cy="29474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813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575F10E-C7F4-F314-D8B5-E22327FC5DEB}"/>
              </a:ext>
            </a:extLst>
          </p:cNvPr>
          <p:cNvCxnSpPr>
            <a:cxnSpLocks/>
          </p:cNvCxnSpPr>
          <p:nvPr/>
        </p:nvCxnSpPr>
        <p:spPr>
          <a:xfrm>
            <a:off x="2798741" y="2897890"/>
            <a:ext cx="1909" cy="88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8CE9671-8633-B01D-4B69-AD6A34097777}"/>
              </a:ext>
            </a:extLst>
          </p:cNvPr>
          <p:cNvCxnSpPr>
            <a:cxnSpLocks/>
          </p:cNvCxnSpPr>
          <p:nvPr/>
        </p:nvCxnSpPr>
        <p:spPr>
          <a:xfrm>
            <a:off x="2894023" y="3356613"/>
            <a:ext cx="0" cy="1065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0CE33FB-90F0-7862-1B65-A276348548BC}"/>
              </a:ext>
            </a:extLst>
          </p:cNvPr>
          <p:cNvCxnSpPr>
            <a:cxnSpLocks/>
          </p:cNvCxnSpPr>
          <p:nvPr/>
        </p:nvCxnSpPr>
        <p:spPr>
          <a:xfrm>
            <a:off x="3030499" y="3855723"/>
            <a:ext cx="3385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0250ED8-5C8C-F60F-953B-3ABE5E132325}"/>
              </a:ext>
            </a:extLst>
          </p:cNvPr>
          <p:cNvCxnSpPr>
            <a:cxnSpLocks/>
          </p:cNvCxnSpPr>
          <p:nvPr/>
        </p:nvCxnSpPr>
        <p:spPr>
          <a:xfrm>
            <a:off x="2443770" y="3855723"/>
            <a:ext cx="0" cy="853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3DC04D4-00D9-3181-3E96-2D1610A81CE4}"/>
              </a:ext>
            </a:extLst>
          </p:cNvPr>
          <p:cNvCxnSpPr/>
          <p:nvPr/>
        </p:nvCxnSpPr>
        <p:spPr>
          <a:xfrm>
            <a:off x="3369037" y="3855723"/>
            <a:ext cx="0" cy="853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1445520-43E1-5016-6CED-F61B7672F461}"/>
              </a:ext>
            </a:extLst>
          </p:cNvPr>
          <p:cNvCxnSpPr>
            <a:cxnSpLocks/>
          </p:cNvCxnSpPr>
          <p:nvPr/>
        </p:nvCxnSpPr>
        <p:spPr>
          <a:xfrm>
            <a:off x="2877265" y="3754495"/>
            <a:ext cx="0" cy="1012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3D069FC-DAA6-136D-B7D9-803EAF0DBA1E}"/>
              </a:ext>
            </a:extLst>
          </p:cNvPr>
          <p:cNvSpPr/>
          <p:nvPr/>
        </p:nvSpPr>
        <p:spPr>
          <a:xfrm>
            <a:off x="2097741" y="3938362"/>
            <a:ext cx="816516" cy="31953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380" dirty="0"/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US" sz="380" dirty="0"/>
              <a:t>Simulated voltage calculation</a:t>
            </a:r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US" sz="380" dirty="0"/>
              <a:t>Simulated current update  Simulated temperature update</a:t>
            </a:r>
            <a:endParaRPr lang="en-IN" sz="380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94EBD0C-0BC2-886B-30B5-880CC5D40D7B}"/>
              </a:ext>
            </a:extLst>
          </p:cNvPr>
          <p:cNvSpPr/>
          <p:nvPr/>
        </p:nvSpPr>
        <p:spPr>
          <a:xfrm>
            <a:off x="2993782" y="3941119"/>
            <a:ext cx="830036" cy="31952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813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B07B3B5-AA57-A112-2DD8-F72A5D489EDA}"/>
              </a:ext>
            </a:extLst>
          </p:cNvPr>
          <p:cNvCxnSpPr>
            <a:cxnSpLocks/>
          </p:cNvCxnSpPr>
          <p:nvPr/>
        </p:nvCxnSpPr>
        <p:spPr>
          <a:xfrm>
            <a:off x="2443769" y="3855723"/>
            <a:ext cx="58673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E8BF8DB-4C0A-0AD0-F845-CA42F5B61D01}"/>
              </a:ext>
            </a:extLst>
          </p:cNvPr>
          <p:cNvSpPr/>
          <p:nvPr/>
        </p:nvSpPr>
        <p:spPr>
          <a:xfrm>
            <a:off x="2097742" y="4332270"/>
            <a:ext cx="1726077" cy="319524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380" dirty="0"/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US" sz="380" dirty="0"/>
              <a:t>Coulomb counting prediction</a:t>
            </a:r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US" sz="380" dirty="0"/>
              <a:t>Sequence buffer update</a:t>
            </a:r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US" sz="380" dirty="0"/>
              <a:t>Li-Mamba state space feature extraction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BCD9B92-CF00-21A4-A006-80F822D42982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2505999" y="4257894"/>
            <a:ext cx="0" cy="743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DBA9286-A0D9-EB6F-2A72-A5C3EA2E89B0}"/>
              </a:ext>
            </a:extLst>
          </p:cNvPr>
          <p:cNvCxnSpPr>
            <a:cxnSpLocks/>
            <a:stCxn id="27" idx="2"/>
          </p:cNvCxnSpPr>
          <p:nvPr/>
        </p:nvCxnSpPr>
        <p:spPr>
          <a:xfrm flipH="1">
            <a:off x="3408800" y="4260647"/>
            <a:ext cx="0" cy="743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BB5C2A1A-1222-1D09-D67B-9C000C179BBD}"/>
              </a:ext>
            </a:extLst>
          </p:cNvPr>
          <p:cNvSpPr/>
          <p:nvPr/>
        </p:nvSpPr>
        <p:spPr>
          <a:xfrm>
            <a:off x="2087097" y="4737192"/>
            <a:ext cx="1736721" cy="63224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813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28BB9BB-8D83-7B08-F7BA-3F4B90A8F079}"/>
              </a:ext>
            </a:extLst>
          </p:cNvPr>
          <p:cNvCxnSpPr>
            <a:cxnSpLocks/>
            <a:stCxn id="31" idx="2"/>
            <a:endCxn id="38" idx="0"/>
          </p:cNvCxnSpPr>
          <p:nvPr/>
        </p:nvCxnSpPr>
        <p:spPr>
          <a:xfrm flipH="1">
            <a:off x="2955458" y="4651795"/>
            <a:ext cx="5323" cy="853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FBA68D18-EE22-689D-E5F9-57C3BF65B42B}"/>
              </a:ext>
            </a:extLst>
          </p:cNvPr>
          <p:cNvSpPr/>
          <p:nvPr/>
        </p:nvSpPr>
        <p:spPr>
          <a:xfrm>
            <a:off x="4122269" y="2941197"/>
            <a:ext cx="1204022" cy="377380"/>
          </a:xfrm>
          <a:prstGeom prst="roundRect">
            <a:avLst/>
          </a:prstGeom>
          <a:solidFill>
            <a:srgbClr val="FF99CC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813" dirty="0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602FE888-1131-8B7E-CA2B-B2DF43B4B604}"/>
              </a:ext>
            </a:extLst>
          </p:cNvPr>
          <p:cNvSpPr/>
          <p:nvPr/>
        </p:nvSpPr>
        <p:spPr>
          <a:xfrm>
            <a:off x="4122269" y="3413608"/>
            <a:ext cx="1204022" cy="377380"/>
          </a:xfrm>
          <a:prstGeom prst="roundRect">
            <a:avLst/>
          </a:prstGeom>
          <a:solidFill>
            <a:srgbClr val="FF99CC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813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B1869AE0-E2A8-1FF8-DCCD-4DB6D875584C}"/>
              </a:ext>
            </a:extLst>
          </p:cNvPr>
          <p:cNvSpPr/>
          <p:nvPr/>
        </p:nvSpPr>
        <p:spPr>
          <a:xfrm>
            <a:off x="4123380" y="3877269"/>
            <a:ext cx="1204022" cy="452755"/>
          </a:xfrm>
          <a:prstGeom prst="roundRect">
            <a:avLst/>
          </a:prstGeom>
          <a:solidFill>
            <a:srgbClr val="66FF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813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403C99AC-F459-1618-9957-A51742CF0EF2}"/>
              </a:ext>
            </a:extLst>
          </p:cNvPr>
          <p:cNvSpPr/>
          <p:nvPr/>
        </p:nvSpPr>
        <p:spPr>
          <a:xfrm>
            <a:off x="4123380" y="4478575"/>
            <a:ext cx="1204022" cy="309578"/>
          </a:xfrm>
          <a:prstGeom prst="roundRect">
            <a:avLst/>
          </a:prstGeom>
          <a:solidFill>
            <a:srgbClr val="66FF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813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13D9457A-BD9E-FCD7-32BD-2E2B487E4E37}"/>
              </a:ext>
            </a:extLst>
          </p:cNvPr>
          <p:cNvSpPr/>
          <p:nvPr/>
        </p:nvSpPr>
        <p:spPr>
          <a:xfrm>
            <a:off x="4122269" y="4899120"/>
            <a:ext cx="1204022" cy="377380"/>
          </a:xfrm>
          <a:prstGeom prst="roundRect">
            <a:avLst/>
          </a:prstGeom>
          <a:solidFill>
            <a:srgbClr val="FF7C8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813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43FFB2A0-C0DA-6B2D-AE71-D4534EAE2F9E}"/>
              </a:ext>
            </a:extLst>
          </p:cNvPr>
          <p:cNvSpPr/>
          <p:nvPr/>
        </p:nvSpPr>
        <p:spPr>
          <a:xfrm>
            <a:off x="5615019" y="2948857"/>
            <a:ext cx="1512185" cy="407755"/>
          </a:xfrm>
          <a:prstGeom prst="roundRect">
            <a:avLst/>
          </a:prstGeom>
          <a:solidFill>
            <a:srgbClr val="FF7C8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813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383456FD-2AA1-8C7B-C94C-8BD4E66955E6}"/>
              </a:ext>
            </a:extLst>
          </p:cNvPr>
          <p:cNvSpPr/>
          <p:nvPr/>
        </p:nvSpPr>
        <p:spPr>
          <a:xfrm>
            <a:off x="5760021" y="3491179"/>
            <a:ext cx="1202910" cy="364544"/>
          </a:xfrm>
          <a:prstGeom prst="roundRect">
            <a:avLst/>
          </a:prstGeom>
          <a:solidFill>
            <a:srgbClr val="33CC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813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F40C22CC-7F9C-459D-A683-A63E9298DCAF}"/>
              </a:ext>
            </a:extLst>
          </p:cNvPr>
          <p:cNvSpPr/>
          <p:nvPr/>
        </p:nvSpPr>
        <p:spPr>
          <a:xfrm>
            <a:off x="5760021" y="4012552"/>
            <a:ext cx="1202910" cy="38249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813"/>
          </a:p>
        </p:txBody>
      </p:sp>
      <p:sp>
        <p:nvSpPr>
          <p:cNvPr id="54" name="Diamond 53">
            <a:extLst>
              <a:ext uri="{FF2B5EF4-FFF2-40B4-BE49-F238E27FC236}">
                <a16:creationId xmlns:a16="http://schemas.microsoft.com/office/drawing/2014/main" id="{AE78BB1B-2EF7-C778-215F-4D265C736E7E}"/>
              </a:ext>
            </a:extLst>
          </p:cNvPr>
          <p:cNvSpPr/>
          <p:nvPr/>
        </p:nvSpPr>
        <p:spPr>
          <a:xfrm>
            <a:off x="6006073" y="4544150"/>
            <a:ext cx="715822" cy="421701"/>
          </a:xfrm>
          <a:prstGeom prst="diamond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76" dirty="0">
                <a:solidFill>
                  <a:schemeClr val="tx1"/>
                </a:solidFill>
              </a:rPr>
              <a:t>Simulation complete?</a:t>
            </a:r>
            <a:endParaRPr lang="en-IN" sz="476" dirty="0">
              <a:solidFill>
                <a:schemeClr val="tx1"/>
              </a:solidFill>
            </a:endParaRP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B733C568-EEC5-15AC-2318-BF80846263E0}"/>
              </a:ext>
            </a:extLst>
          </p:cNvPr>
          <p:cNvSpPr/>
          <p:nvPr/>
        </p:nvSpPr>
        <p:spPr>
          <a:xfrm>
            <a:off x="5745649" y="5106465"/>
            <a:ext cx="1228592" cy="290677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813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6628BE90-F87C-E852-8E20-B41F4BA2931F}"/>
              </a:ext>
            </a:extLst>
          </p:cNvPr>
          <p:cNvSpPr/>
          <p:nvPr/>
        </p:nvSpPr>
        <p:spPr>
          <a:xfrm>
            <a:off x="2602234" y="2714187"/>
            <a:ext cx="406086" cy="198084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71" dirty="0">
                <a:solidFill>
                  <a:schemeClr val="bg1"/>
                </a:solidFill>
              </a:rPr>
              <a:t>START</a:t>
            </a:r>
            <a:endParaRPr lang="en-IN" sz="571" dirty="0">
              <a:solidFill>
                <a:schemeClr val="bg1"/>
              </a:solidFill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8A35317-895E-BE28-4C79-EBB177C90896}"/>
              </a:ext>
            </a:extLst>
          </p:cNvPr>
          <p:cNvSpPr/>
          <p:nvPr/>
        </p:nvSpPr>
        <p:spPr>
          <a:xfrm>
            <a:off x="6186672" y="5528165"/>
            <a:ext cx="354624" cy="16352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76" dirty="0"/>
              <a:t>END</a:t>
            </a:r>
            <a:endParaRPr lang="en-IN" sz="476" dirty="0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CEEADA8-8837-FCCA-FFD0-57E443BF770B}"/>
              </a:ext>
            </a:extLst>
          </p:cNvPr>
          <p:cNvCxnSpPr>
            <a:cxnSpLocks/>
            <a:stCxn id="38" idx="2"/>
          </p:cNvCxnSpPr>
          <p:nvPr/>
        </p:nvCxnSpPr>
        <p:spPr>
          <a:xfrm>
            <a:off x="2955458" y="5369432"/>
            <a:ext cx="2659" cy="1253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10A5BCF5-08FD-C114-75B0-1993F7A5B856}"/>
              </a:ext>
            </a:extLst>
          </p:cNvPr>
          <p:cNvCxnSpPr>
            <a:cxnSpLocks/>
          </p:cNvCxnSpPr>
          <p:nvPr/>
        </p:nvCxnSpPr>
        <p:spPr>
          <a:xfrm>
            <a:off x="2958118" y="5494820"/>
            <a:ext cx="101816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3AADD037-397A-A36C-F0E7-2D5A75CF8206}"/>
              </a:ext>
            </a:extLst>
          </p:cNvPr>
          <p:cNvCxnSpPr/>
          <p:nvPr/>
        </p:nvCxnSpPr>
        <p:spPr>
          <a:xfrm flipV="1">
            <a:off x="3978939" y="2809097"/>
            <a:ext cx="0" cy="26879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05503CC-5801-6E27-578E-DC5536E29A3F}"/>
              </a:ext>
            </a:extLst>
          </p:cNvPr>
          <p:cNvCxnSpPr/>
          <p:nvPr/>
        </p:nvCxnSpPr>
        <p:spPr>
          <a:xfrm>
            <a:off x="3978940" y="2809094"/>
            <a:ext cx="74534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09F83338-7EDE-D8FA-4069-FD93D63D923C}"/>
              </a:ext>
            </a:extLst>
          </p:cNvPr>
          <p:cNvCxnSpPr>
            <a:endCxn id="42" idx="0"/>
          </p:cNvCxnSpPr>
          <p:nvPr/>
        </p:nvCxnSpPr>
        <p:spPr>
          <a:xfrm>
            <a:off x="4724280" y="2809097"/>
            <a:ext cx="0" cy="132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6D501260-B1A5-713E-2F04-3A09378E374C}"/>
              </a:ext>
            </a:extLst>
          </p:cNvPr>
          <p:cNvCxnSpPr>
            <a:cxnSpLocks/>
            <a:stCxn id="42" idx="2"/>
            <a:endCxn id="43" idx="0"/>
          </p:cNvCxnSpPr>
          <p:nvPr/>
        </p:nvCxnSpPr>
        <p:spPr>
          <a:xfrm>
            <a:off x="4724280" y="3318578"/>
            <a:ext cx="0" cy="950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59BAB97B-0256-FE6F-D911-6C6CF0480A9B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4724281" y="3790988"/>
            <a:ext cx="1111" cy="862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7754955-B11A-B19A-9F51-840FA0AD392F}"/>
              </a:ext>
            </a:extLst>
          </p:cNvPr>
          <p:cNvCxnSpPr>
            <a:cxnSpLocks/>
            <a:stCxn id="44" idx="2"/>
            <a:endCxn id="45" idx="0"/>
          </p:cNvCxnSpPr>
          <p:nvPr/>
        </p:nvCxnSpPr>
        <p:spPr>
          <a:xfrm>
            <a:off x="4725391" y="4330023"/>
            <a:ext cx="0" cy="1485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74655155-07E9-9EBA-F6F7-93D7CD42ACD8}"/>
              </a:ext>
            </a:extLst>
          </p:cNvPr>
          <p:cNvCxnSpPr>
            <a:stCxn id="45" idx="2"/>
            <a:endCxn id="46" idx="0"/>
          </p:cNvCxnSpPr>
          <p:nvPr/>
        </p:nvCxnSpPr>
        <p:spPr>
          <a:xfrm flipH="1">
            <a:off x="4724284" y="4788156"/>
            <a:ext cx="1111" cy="1109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0D01EAF8-4D37-C819-DD87-7A86BDD7D03D}"/>
              </a:ext>
            </a:extLst>
          </p:cNvPr>
          <p:cNvCxnSpPr>
            <a:cxnSpLocks/>
            <a:stCxn id="46" idx="2"/>
          </p:cNvCxnSpPr>
          <p:nvPr/>
        </p:nvCxnSpPr>
        <p:spPr>
          <a:xfrm>
            <a:off x="4724280" y="5276499"/>
            <a:ext cx="0" cy="1726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3573C54E-8E64-31BB-7DE6-ABCF7DA7741E}"/>
              </a:ext>
            </a:extLst>
          </p:cNvPr>
          <p:cNvCxnSpPr>
            <a:cxnSpLocks/>
          </p:cNvCxnSpPr>
          <p:nvPr/>
        </p:nvCxnSpPr>
        <p:spPr>
          <a:xfrm flipV="1">
            <a:off x="4724280" y="5443772"/>
            <a:ext cx="717312" cy="53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80088DA7-25AA-0F10-1AE3-2AC899EE2C64}"/>
              </a:ext>
            </a:extLst>
          </p:cNvPr>
          <p:cNvCxnSpPr>
            <a:cxnSpLocks/>
          </p:cNvCxnSpPr>
          <p:nvPr/>
        </p:nvCxnSpPr>
        <p:spPr>
          <a:xfrm flipH="1" flipV="1">
            <a:off x="5433520" y="2809095"/>
            <a:ext cx="13751" cy="26438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C63F4BF2-371C-B44A-BAC9-51AAB8648110}"/>
              </a:ext>
            </a:extLst>
          </p:cNvPr>
          <p:cNvCxnSpPr>
            <a:cxnSpLocks/>
          </p:cNvCxnSpPr>
          <p:nvPr/>
        </p:nvCxnSpPr>
        <p:spPr>
          <a:xfrm>
            <a:off x="5438145" y="2809094"/>
            <a:ext cx="107601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06386145-5D9A-6B3D-6553-02A0B8763DD5}"/>
              </a:ext>
            </a:extLst>
          </p:cNvPr>
          <p:cNvCxnSpPr>
            <a:cxnSpLocks/>
          </p:cNvCxnSpPr>
          <p:nvPr/>
        </p:nvCxnSpPr>
        <p:spPr>
          <a:xfrm>
            <a:off x="6514163" y="2809095"/>
            <a:ext cx="4" cy="1321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EE4B6C06-9423-22B6-B77D-D7A3A2F3D314}"/>
              </a:ext>
            </a:extLst>
          </p:cNvPr>
          <p:cNvCxnSpPr>
            <a:cxnSpLocks/>
            <a:stCxn id="51" idx="2"/>
            <a:endCxn id="52" idx="0"/>
          </p:cNvCxnSpPr>
          <p:nvPr/>
        </p:nvCxnSpPr>
        <p:spPr>
          <a:xfrm flipH="1">
            <a:off x="6361476" y="3356612"/>
            <a:ext cx="9634" cy="1345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41BFF4A6-A692-A8D6-9EEB-17C6251E965D}"/>
              </a:ext>
            </a:extLst>
          </p:cNvPr>
          <p:cNvCxnSpPr>
            <a:cxnSpLocks/>
            <a:stCxn id="52" idx="2"/>
            <a:endCxn id="53" idx="0"/>
          </p:cNvCxnSpPr>
          <p:nvPr/>
        </p:nvCxnSpPr>
        <p:spPr>
          <a:xfrm>
            <a:off x="6361476" y="3855723"/>
            <a:ext cx="0" cy="156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9899B282-DA44-5F6C-48FA-A1AF60B59C41}"/>
              </a:ext>
            </a:extLst>
          </p:cNvPr>
          <p:cNvCxnSpPr>
            <a:cxnSpLocks/>
            <a:stCxn id="53" idx="2"/>
            <a:endCxn id="54" idx="0"/>
          </p:cNvCxnSpPr>
          <p:nvPr/>
        </p:nvCxnSpPr>
        <p:spPr>
          <a:xfrm>
            <a:off x="6361476" y="4395052"/>
            <a:ext cx="2508" cy="1490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3DC5DE0B-1F3A-C4A9-9D64-267C8AEEC8A4}"/>
              </a:ext>
            </a:extLst>
          </p:cNvPr>
          <p:cNvCxnSpPr>
            <a:cxnSpLocks/>
            <a:stCxn id="54" idx="2"/>
            <a:endCxn id="55" idx="0"/>
          </p:cNvCxnSpPr>
          <p:nvPr/>
        </p:nvCxnSpPr>
        <p:spPr>
          <a:xfrm flipH="1">
            <a:off x="6359946" y="4965851"/>
            <a:ext cx="4039" cy="1406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909893C4-DAD7-B687-8B55-F11F2083BA1E}"/>
              </a:ext>
            </a:extLst>
          </p:cNvPr>
          <p:cNvCxnSpPr>
            <a:cxnSpLocks/>
            <a:stCxn id="55" idx="2"/>
            <a:endCxn id="57" idx="0"/>
          </p:cNvCxnSpPr>
          <p:nvPr/>
        </p:nvCxnSpPr>
        <p:spPr>
          <a:xfrm>
            <a:off x="6359946" y="5397141"/>
            <a:ext cx="4039" cy="131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33B399E4-47AB-BD4D-0843-5E2F7C359B43}"/>
              </a:ext>
            </a:extLst>
          </p:cNvPr>
          <p:cNvCxnSpPr>
            <a:cxnSpLocks/>
            <a:stCxn id="54" idx="1"/>
          </p:cNvCxnSpPr>
          <p:nvPr/>
        </p:nvCxnSpPr>
        <p:spPr>
          <a:xfrm flipH="1">
            <a:off x="5494857" y="4755000"/>
            <a:ext cx="51121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F58B5215-3448-1194-0633-220A43678495}"/>
              </a:ext>
            </a:extLst>
          </p:cNvPr>
          <p:cNvCxnSpPr>
            <a:cxnSpLocks/>
          </p:cNvCxnSpPr>
          <p:nvPr/>
        </p:nvCxnSpPr>
        <p:spPr>
          <a:xfrm flipV="1">
            <a:off x="5494856" y="3127212"/>
            <a:ext cx="0" cy="16277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87360523-EE9A-160B-DDEC-8A801EABFAE6}"/>
              </a:ext>
            </a:extLst>
          </p:cNvPr>
          <p:cNvCxnSpPr>
            <a:cxnSpLocks/>
          </p:cNvCxnSpPr>
          <p:nvPr/>
        </p:nvCxnSpPr>
        <p:spPr>
          <a:xfrm>
            <a:off x="5494857" y="3127212"/>
            <a:ext cx="1091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2F7311DB-F376-81F7-5605-64E3CA753C33}"/>
              </a:ext>
            </a:extLst>
          </p:cNvPr>
          <p:cNvSpPr txBox="1"/>
          <p:nvPr/>
        </p:nvSpPr>
        <p:spPr>
          <a:xfrm>
            <a:off x="2805277" y="2466029"/>
            <a:ext cx="4151530" cy="217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13" dirty="0"/>
              <a:t>Digital Twin Battery Management System with Federated Ensemble and Li-Mamba Integration </a:t>
            </a:r>
            <a:endParaRPr lang="en-IN" sz="813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13CA301F-4B48-C5D6-DA66-00161304FC54}"/>
              </a:ext>
            </a:extLst>
          </p:cNvPr>
          <p:cNvSpPr txBox="1"/>
          <p:nvPr/>
        </p:nvSpPr>
        <p:spPr>
          <a:xfrm>
            <a:off x="2087096" y="3045183"/>
            <a:ext cx="179128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1542" indent="-81542">
              <a:buFont typeface="Arial" panose="020B0604020202020204" pitchFamily="34" charset="0"/>
              <a:buChar char="•"/>
            </a:pPr>
            <a:r>
              <a:rPr lang="en-US" sz="380" dirty="0"/>
              <a:t>Nominal capacity = 50Ah</a:t>
            </a:r>
            <a:endParaRPr lang="en-IN" sz="380" dirty="0"/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IN" sz="380" dirty="0"/>
              <a:t>Sliding window size = 100                    </a:t>
            </a:r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IN" sz="380" dirty="0"/>
              <a:t>Step size = 10</a:t>
            </a:r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IN" sz="380" dirty="0"/>
              <a:t>Ensemble model count = 5                  </a:t>
            </a:r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IN" sz="380" dirty="0"/>
              <a:t>Maximum buffer length = 200</a:t>
            </a:r>
            <a:endParaRPr lang="en-US" sz="380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2288CDD5-D956-6D3A-C6C8-7720BC12280D}"/>
              </a:ext>
            </a:extLst>
          </p:cNvPr>
          <p:cNvSpPr txBox="1"/>
          <p:nvPr/>
        </p:nvSpPr>
        <p:spPr>
          <a:xfrm>
            <a:off x="2621606" y="2962266"/>
            <a:ext cx="676870" cy="1801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71" b="1" dirty="0"/>
              <a:t>Initialization</a:t>
            </a:r>
            <a:endParaRPr lang="en-IN" sz="571" b="1" dirty="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316313EA-023F-C26B-879C-38BBADD0450A}"/>
              </a:ext>
            </a:extLst>
          </p:cNvPr>
          <p:cNvSpPr txBox="1"/>
          <p:nvPr/>
        </p:nvSpPr>
        <p:spPr>
          <a:xfrm>
            <a:off x="2367931" y="3436065"/>
            <a:ext cx="1614387" cy="1801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71" b="1" dirty="0"/>
              <a:t>Battery Measurement Acquisition</a:t>
            </a:r>
            <a:endParaRPr lang="en-IN" sz="571" b="1" dirty="0"/>
          </a:p>
        </p:txBody>
      </p: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3B0E13FA-E8C3-651D-AD49-C12D15E224EF}"/>
              </a:ext>
            </a:extLst>
          </p:cNvPr>
          <p:cNvCxnSpPr/>
          <p:nvPr/>
        </p:nvCxnSpPr>
        <p:spPr>
          <a:xfrm>
            <a:off x="2088706" y="3063966"/>
            <a:ext cx="166915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F388702D-C42F-6A80-A2B9-9EFB5A790B41}"/>
              </a:ext>
            </a:extLst>
          </p:cNvPr>
          <p:cNvCxnSpPr/>
          <p:nvPr/>
        </p:nvCxnSpPr>
        <p:spPr>
          <a:xfrm>
            <a:off x="2093462" y="3539458"/>
            <a:ext cx="169407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1" name="TextBox 170">
            <a:extLst>
              <a:ext uri="{FF2B5EF4-FFF2-40B4-BE49-F238E27FC236}">
                <a16:creationId xmlns:a16="http://schemas.microsoft.com/office/drawing/2014/main" id="{5EDB27C8-413B-3B85-174B-7FCB51558B12}"/>
              </a:ext>
            </a:extLst>
          </p:cNvPr>
          <p:cNvSpPr txBox="1"/>
          <p:nvPr/>
        </p:nvSpPr>
        <p:spPr>
          <a:xfrm>
            <a:off x="2849809" y="3057464"/>
            <a:ext cx="2481993" cy="460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1542" indent="-81542">
              <a:buFont typeface="Arial" panose="020B0604020202020204" pitchFamily="34" charset="0"/>
              <a:buChar char="•"/>
            </a:pPr>
            <a:r>
              <a:rPr lang="en-IN" sz="380" dirty="0"/>
              <a:t>Initialize feature buffers</a:t>
            </a:r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IN" sz="380" dirty="0"/>
              <a:t>Initialize error buffers</a:t>
            </a:r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IN" sz="380" dirty="0"/>
              <a:t>Initialize ensemble model parameters</a:t>
            </a:r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IN" sz="380" dirty="0"/>
              <a:t>Initialize Li-Mamba state space model</a:t>
            </a:r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IN" sz="380" dirty="0"/>
              <a:t>Set training timers and counters</a:t>
            </a:r>
            <a:endParaRPr lang="en-US" sz="380" dirty="0"/>
          </a:p>
          <a:p>
            <a:endParaRPr lang="en-IN" sz="495" dirty="0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4FB3C7D4-71E9-7BCE-6602-777BC5EAA53E}"/>
              </a:ext>
            </a:extLst>
          </p:cNvPr>
          <p:cNvSpPr txBox="1"/>
          <p:nvPr/>
        </p:nvSpPr>
        <p:spPr>
          <a:xfrm>
            <a:off x="2093459" y="3538359"/>
            <a:ext cx="1445323" cy="26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1542" indent="-81542">
              <a:buFont typeface="Arial" panose="020B0604020202020204" pitchFamily="34" charset="0"/>
              <a:buChar char="•"/>
            </a:pPr>
            <a:r>
              <a:rPr lang="en-US" sz="380" dirty="0"/>
              <a:t>Measured voltage V </a:t>
            </a:r>
            <a:r>
              <a:rPr lang="en-US" sz="285" i="1" dirty="0"/>
              <a:t>meas</a:t>
            </a:r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US" sz="380" dirty="0"/>
              <a:t>Measured current I </a:t>
            </a:r>
            <a:r>
              <a:rPr lang="en-US" sz="285" i="1" dirty="0"/>
              <a:t>meas</a:t>
            </a:r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US" sz="380" dirty="0"/>
              <a:t>Measured temperature T </a:t>
            </a:r>
            <a:r>
              <a:rPr lang="en-US" sz="285" i="1" dirty="0"/>
              <a:t>meas</a:t>
            </a:r>
            <a:endParaRPr lang="en-IN" sz="285" i="1" dirty="0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2F0E601E-355C-D962-850B-0DDF9826A9BF}"/>
              </a:ext>
            </a:extLst>
          </p:cNvPr>
          <p:cNvSpPr txBox="1"/>
          <p:nvPr/>
        </p:nvSpPr>
        <p:spPr>
          <a:xfrm>
            <a:off x="2851534" y="3550587"/>
            <a:ext cx="1210475" cy="209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1542" indent="-81542">
              <a:buFont typeface="Arial" panose="020B0604020202020204" pitchFamily="34" charset="0"/>
              <a:buChar char="•"/>
            </a:pPr>
            <a:r>
              <a:rPr lang="en-US" sz="380" dirty="0"/>
              <a:t>Sampling interval dt</a:t>
            </a:r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US" sz="380" dirty="0"/>
              <a:t>External SOC reference</a:t>
            </a:r>
            <a:endParaRPr lang="en-IN" sz="380" dirty="0"/>
          </a:p>
        </p:txBody>
      </p: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5D71C158-8CFD-0DEA-6B41-C0B11AA99479}"/>
              </a:ext>
            </a:extLst>
          </p:cNvPr>
          <p:cNvCxnSpPr/>
          <p:nvPr/>
        </p:nvCxnSpPr>
        <p:spPr>
          <a:xfrm>
            <a:off x="2097742" y="4021521"/>
            <a:ext cx="80604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2E412CF6-41A8-AC99-0E58-7E627B7E4D4C}"/>
              </a:ext>
            </a:extLst>
          </p:cNvPr>
          <p:cNvCxnSpPr/>
          <p:nvPr/>
        </p:nvCxnSpPr>
        <p:spPr>
          <a:xfrm>
            <a:off x="2993783" y="4021521"/>
            <a:ext cx="83003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5" name="TextBox 184">
            <a:extLst>
              <a:ext uri="{FF2B5EF4-FFF2-40B4-BE49-F238E27FC236}">
                <a16:creationId xmlns:a16="http://schemas.microsoft.com/office/drawing/2014/main" id="{F724D186-0D52-0DDD-D434-917B164247D3}"/>
              </a:ext>
            </a:extLst>
          </p:cNvPr>
          <p:cNvSpPr txBox="1"/>
          <p:nvPr/>
        </p:nvSpPr>
        <p:spPr>
          <a:xfrm>
            <a:off x="3028143" y="4015245"/>
            <a:ext cx="763217" cy="402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1542" indent="-81542">
              <a:buFont typeface="Arial" panose="020B0604020202020204" pitchFamily="34" charset="0"/>
              <a:buChar char="•"/>
            </a:pPr>
            <a:r>
              <a:rPr lang="en-US" sz="380" dirty="0"/>
              <a:t>Voltage sensor reading</a:t>
            </a:r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US" sz="380" dirty="0"/>
              <a:t>Current sensor reading</a:t>
            </a:r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US" sz="380" dirty="0"/>
              <a:t>Temperature sensor reading</a:t>
            </a:r>
            <a:endParaRPr lang="en-IN" sz="380" dirty="0"/>
          </a:p>
          <a:p>
            <a:endParaRPr lang="en-IN" sz="495" dirty="0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09F1D838-7AB9-5AA2-C660-5FE8CDBA8DA9}"/>
              </a:ext>
            </a:extLst>
          </p:cNvPr>
          <p:cNvSpPr txBox="1"/>
          <p:nvPr/>
        </p:nvSpPr>
        <p:spPr>
          <a:xfrm>
            <a:off x="2134533" y="3929613"/>
            <a:ext cx="2145151" cy="16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76" dirty="0"/>
              <a:t>Simulation Battery Model</a:t>
            </a:r>
            <a:endParaRPr lang="en-IN" sz="476" dirty="0"/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0187341F-033F-5288-189F-FFE4BBCE42F6}"/>
              </a:ext>
            </a:extLst>
          </p:cNvPr>
          <p:cNvSpPr txBox="1"/>
          <p:nvPr/>
        </p:nvSpPr>
        <p:spPr>
          <a:xfrm>
            <a:off x="3001942" y="3929607"/>
            <a:ext cx="1362884" cy="16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76" dirty="0"/>
              <a:t>Hardware Sensor Acquisition</a:t>
            </a:r>
            <a:endParaRPr lang="en-IN" sz="476" dirty="0"/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0F6B4F5F-A8DA-A5B5-442C-AF8B8EE4B610}"/>
              </a:ext>
            </a:extLst>
          </p:cNvPr>
          <p:cNvSpPr txBox="1"/>
          <p:nvPr/>
        </p:nvSpPr>
        <p:spPr>
          <a:xfrm>
            <a:off x="2343395" y="4319169"/>
            <a:ext cx="2051284" cy="16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76" b="1" dirty="0"/>
              <a:t>State Estimation using AEKF and Li-Mamba  </a:t>
            </a:r>
            <a:endParaRPr lang="en-IN" sz="476" b="1" dirty="0"/>
          </a:p>
        </p:txBody>
      </p: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DCE66B52-9644-998D-A989-E53384A66DB1}"/>
              </a:ext>
            </a:extLst>
          </p:cNvPr>
          <p:cNvCxnSpPr/>
          <p:nvPr/>
        </p:nvCxnSpPr>
        <p:spPr>
          <a:xfrm>
            <a:off x="2097741" y="4410773"/>
            <a:ext cx="172607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6" name="TextBox 195">
            <a:extLst>
              <a:ext uri="{FF2B5EF4-FFF2-40B4-BE49-F238E27FC236}">
                <a16:creationId xmlns:a16="http://schemas.microsoft.com/office/drawing/2014/main" id="{1B142F3F-8E22-D02D-C0E3-18456249D4B0}"/>
              </a:ext>
            </a:extLst>
          </p:cNvPr>
          <p:cNvSpPr txBox="1"/>
          <p:nvPr/>
        </p:nvSpPr>
        <p:spPr>
          <a:xfrm>
            <a:off x="2489028" y="4729741"/>
            <a:ext cx="1324144" cy="16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76" b="1" dirty="0"/>
              <a:t>Battery Parameter Computation</a:t>
            </a:r>
            <a:endParaRPr lang="en-IN" sz="476" b="1" dirty="0"/>
          </a:p>
        </p:txBody>
      </p: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648E4234-FF54-96BC-77ED-65ED01805DDF}"/>
              </a:ext>
            </a:extLst>
          </p:cNvPr>
          <p:cNvCxnSpPr/>
          <p:nvPr/>
        </p:nvCxnSpPr>
        <p:spPr>
          <a:xfrm>
            <a:off x="2087097" y="4846847"/>
            <a:ext cx="173672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3F6CCD69-DF59-FF58-7DD8-AD66AF78F945}"/>
              </a:ext>
            </a:extLst>
          </p:cNvPr>
          <p:cNvSpPr txBox="1"/>
          <p:nvPr/>
        </p:nvSpPr>
        <p:spPr>
          <a:xfrm>
            <a:off x="3033015" y="4418583"/>
            <a:ext cx="1297718" cy="501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1542" indent="-81542">
              <a:buFont typeface="Arial" panose="020B0604020202020204" pitchFamily="34" charset="0"/>
              <a:buChar char="•"/>
            </a:pPr>
            <a:r>
              <a:rPr lang="en-US" sz="380" dirty="0"/>
              <a:t>Voltage measurement correction</a:t>
            </a:r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US" sz="380" dirty="0"/>
              <a:t>Kalman gain computation</a:t>
            </a:r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US" sz="380" dirty="0"/>
              <a:t>SOC estimation update</a:t>
            </a:r>
          </a:p>
          <a:p>
            <a:endParaRPr lang="en-US" sz="380" dirty="0"/>
          </a:p>
          <a:p>
            <a:endParaRPr lang="en-US" sz="380" dirty="0"/>
          </a:p>
          <a:p>
            <a:endParaRPr lang="en-US" sz="380" dirty="0"/>
          </a:p>
          <a:p>
            <a:endParaRPr lang="en-US" sz="380" dirty="0"/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6A89D60B-8DE7-3DA2-E0EA-9DCEBE3431B4}"/>
              </a:ext>
            </a:extLst>
          </p:cNvPr>
          <p:cNvSpPr txBox="1"/>
          <p:nvPr/>
        </p:nvSpPr>
        <p:spPr>
          <a:xfrm>
            <a:off x="2106941" y="4857094"/>
            <a:ext cx="828675" cy="560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1542" indent="-81542">
              <a:buFont typeface="Arial" panose="020B0604020202020204" pitchFamily="34" charset="0"/>
              <a:buChar char="•"/>
            </a:pPr>
            <a:r>
              <a:rPr lang="en-US" sz="380" dirty="0"/>
              <a:t>SOC</a:t>
            </a:r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US" sz="380" dirty="0"/>
              <a:t>SOH</a:t>
            </a:r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US" sz="380" dirty="0"/>
              <a:t>SOP</a:t>
            </a:r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US" sz="380" dirty="0"/>
              <a:t>Depth of Discharge</a:t>
            </a:r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US" sz="380" dirty="0"/>
              <a:t>Remaining Useful Life</a:t>
            </a:r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US" sz="380" dirty="0"/>
              <a:t>Cycle Count</a:t>
            </a:r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US" sz="380" dirty="0"/>
              <a:t>Average voltage</a:t>
            </a:r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US" sz="380" dirty="0"/>
              <a:t>Average current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5C199EB2-BC9E-78CB-2D3D-3845A2604E9C}"/>
              </a:ext>
            </a:extLst>
          </p:cNvPr>
          <p:cNvSpPr txBox="1"/>
          <p:nvPr/>
        </p:nvSpPr>
        <p:spPr>
          <a:xfrm>
            <a:off x="2643214" y="4862535"/>
            <a:ext cx="633656" cy="1203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1542" indent="-81542">
              <a:buFont typeface="Arial" panose="020B0604020202020204" pitchFamily="34" charset="0"/>
              <a:buChar char="•"/>
            </a:pPr>
            <a:r>
              <a:rPr lang="en-IN" sz="380" dirty="0"/>
              <a:t>Average current</a:t>
            </a:r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IN" sz="380" dirty="0"/>
              <a:t>Average power</a:t>
            </a:r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IN" sz="380" dirty="0"/>
              <a:t>Stress index</a:t>
            </a:r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IN" sz="380" dirty="0"/>
              <a:t>Aging rate fraction</a:t>
            </a:r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IN" sz="380" dirty="0"/>
              <a:t>Energy throughput</a:t>
            </a:r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IN" sz="380" dirty="0"/>
              <a:t>Degradation index</a:t>
            </a:r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IN" sz="380" dirty="0"/>
              <a:t>Temperature index</a:t>
            </a:r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IN" sz="380" dirty="0"/>
              <a:t>Health index</a:t>
            </a:r>
          </a:p>
          <a:p>
            <a:endParaRPr lang="en-IN" sz="856" dirty="0"/>
          </a:p>
          <a:p>
            <a:endParaRPr lang="en-IN" sz="856" dirty="0"/>
          </a:p>
          <a:p>
            <a:endParaRPr lang="en-IN" sz="856" dirty="0"/>
          </a:p>
          <a:p>
            <a:endParaRPr lang="en-IN" sz="856" dirty="0"/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7B257AC7-2360-2C9E-4017-6F7E2DE9FC19}"/>
              </a:ext>
            </a:extLst>
          </p:cNvPr>
          <p:cNvSpPr txBox="1"/>
          <p:nvPr/>
        </p:nvSpPr>
        <p:spPr>
          <a:xfrm>
            <a:off x="3172271" y="4865483"/>
            <a:ext cx="780908" cy="560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1542" indent="-81542">
              <a:buFont typeface="Arial" panose="020B0604020202020204" pitchFamily="34" charset="0"/>
              <a:buChar char="•"/>
            </a:pPr>
            <a:r>
              <a:rPr lang="en-IN" sz="380" dirty="0"/>
              <a:t>Temperature index</a:t>
            </a:r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IN" sz="380" dirty="0"/>
              <a:t>Health index</a:t>
            </a:r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IN" sz="380" dirty="0"/>
              <a:t>Peak current</a:t>
            </a:r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IN" sz="380" dirty="0"/>
              <a:t>Minimum voltage</a:t>
            </a:r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IN" sz="380" dirty="0"/>
              <a:t>Maximum temperature</a:t>
            </a:r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IN" sz="380" dirty="0"/>
              <a:t>Charge capacity</a:t>
            </a:r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IN" sz="380" dirty="0"/>
              <a:t>Discharge capacity</a:t>
            </a:r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IN" sz="380" dirty="0"/>
              <a:t>Operation time</a:t>
            </a:r>
          </a:p>
        </p:txBody>
      </p: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C180311E-70D7-F2F0-FB44-C623367971E8}"/>
              </a:ext>
            </a:extLst>
          </p:cNvPr>
          <p:cNvCxnSpPr/>
          <p:nvPr/>
        </p:nvCxnSpPr>
        <p:spPr>
          <a:xfrm>
            <a:off x="4122269" y="3023375"/>
            <a:ext cx="120402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1AFB7272-2AED-4D7D-AAA9-D3352348AEEC}"/>
              </a:ext>
            </a:extLst>
          </p:cNvPr>
          <p:cNvCxnSpPr/>
          <p:nvPr/>
        </p:nvCxnSpPr>
        <p:spPr>
          <a:xfrm>
            <a:off x="4122269" y="3489686"/>
            <a:ext cx="120402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B882C7A7-79B9-F096-C162-3CC949802B33}"/>
              </a:ext>
            </a:extLst>
          </p:cNvPr>
          <p:cNvCxnSpPr>
            <a:cxnSpLocks/>
          </p:cNvCxnSpPr>
          <p:nvPr/>
        </p:nvCxnSpPr>
        <p:spPr>
          <a:xfrm>
            <a:off x="4122269" y="3975326"/>
            <a:ext cx="120402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3535ACFB-9545-58FB-7456-860E87800750}"/>
              </a:ext>
            </a:extLst>
          </p:cNvPr>
          <p:cNvCxnSpPr/>
          <p:nvPr/>
        </p:nvCxnSpPr>
        <p:spPr>
          <a:xfrm>
            <a:off x="4122269" y="4550362"/>
            <a:ext cx="120402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47A3C0B2-A992-CE63-3F62-26F9C3F7AB44}"/>
              </a:ext>
            </a:extLst>
          </p:cNvPr>
          <p:cNvCxnSpPr>
            <a:cxnSpLocks/>
          </p:cNvCxnSpPr>
          <p:nvPr/>
        </p:nvCxnSpPr>
        <p:spPr>
          <a:xfrm>
            <a:off x="4122269" y="4987679"/>
            <a:ext cx="120402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0" name="TextBox 229">
            <a:extLst>
              <a:ext uri="{FF2B5EF4-FFF2-40B4-BE49-F238E27FC236}">
                <a16:creationId xmlns:a16="http://schemas.microsoft.com/office/drawing/2014/main" id="{D571EACA-A8D0-6454-3662-F546691F8B95}"/>
              </a:ext>
            </a:extLst>
          </p:cNvPr>
          <p:cNvSpPr txBox="1"/>
          <p:nvPr/>
        </p:nvSpPr>
        <p:spPr>
          <a:xfrm>
            <a:off x="4451854" y="2925194"/>
            <a:ext cx="1060672" cy="16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76" b="1" dirty="0"/>
              <a:t>Feature Engineering</a:t>
            </a:r>
            <a:endParaRPr lang="en-IN" sz="476" b="1" dirty="0"/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5DAEA3CD-BBEF-6BAD-C5EB-480D2ACEF5D0}"/>
              </a:ext>
            </a:extLst>
          </p:cNvPr>
          <p:cNvSpPr txBox="1"/>
          <p:nvPr/>
        </p:nvSpPr>
        <p:spPr>
          <a:xfrm>
            <a:off x="4261677" y="3396116"/>
            <a:ext cx="1665384" cy="16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76" b="1" dirty="0"/>
              <a:t>Battery GPT Transformer Prediction</a:t>
            </a:r>
            <a:endParaRPr lang="en-IN" sz="476" b="1" dirty="0"/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BEC30566-A3B7-55F5-DFB9-BE0A329EB579}"/>
              </a:ext>
            </a:extLst>
          </p:cNvPr>
          <p:cNvSpPr txBox="1"/>
          <p:nvPr/>
        </p:nvSpPr>
        <p:spPr>
          <a:xfrm>
            <a:off x="4321242" y="3869892"/>
            <a:ext cx="1491309" cy="16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76" b="1" dirty="0"/>
              <a:t>Federated Ensemble Predictor</a:t>
            </a:r>
            <a:endParaRPr lang="en-IN" sz="476" b="1" dirty="0"/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99F96835-BF28-4470-4610-150F6D973593}"/>
              </a:ext>
            </a:extLst>
          </p:cNvPr>
          <p:cNvSpPr txBox="1"/>
          <p:nvPr/>
        </p:nvSpPr>
        <p:spPr>
          <a:xfrm>
            <a:off x="4364826" y="4457601"/>
            <a:ext cx="1226836" cy="16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76" b="1" dirty="0"/>
              <a:t>Adaptive Model Training</a:t>
            </a:r>
            <a:endParaRPr lang="en-IN" sz="476" b="1" dirty="0"/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89615C71-6FDC-3CDE-44F4-DB5132E10068}"/>
              </a:ext>
            </a:extLst>
          </p:cNvPr>
          <p:cNvSpPr txBox="1"/>
          <p:nvPr/>
        </p:nvSpPr>
        <p:spPr>
          <a:xfrm>
            <a:off x="4215664" y="4883023"/>
            <a:ext cx="1151400" cy="16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76" b="1" dirty="0"/>
              <a:t>Simulation and Hardware Comparison</a:t>
            </a:r>
            <a:endParaRPr lang="en-IN" sz="476" b="1" dirty="0"/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71C17856-243F-64CD-939D-742555B199F2}"/>
              </a:ext>
            </a:extLst>
          </p:cNvPr>
          <p:cNvSpPr txBox="1"/>
          <p:nvPr/>
        </p:nvSpPr>
        <p:spPr>
          <a:xfrm>
            <a:off x="4148451" y="3040186"/>
            <a:ext cx="1177841" cy="326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1542" indent="-81542">
              <a:buFont typeface="Arial" panose="020B0604020202020204" pitchFamily="34" charset="0"/>
              <a:buChar char="•"/>
            </a:pPr>
            <a:r>
              <a:rPr lang="en-US" sz="380" dirty="0"/>
              <a:t>Multi-scale window extraction</a:t>
            </a:r>
            <a:endParaRPr lang="en-IN" sz="380" dirty="0"/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IN" sz="380" dirty="0"/>
              <a:t>Statistical feature computation</a:t>
            </a:r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IN" sz="380" dirty="0"/>
              <a:t>Down sampled sequence analysis</a:t>
            </a:r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IN" sz="380" dirty="0"/>
              <a:t>Gaussian process anomaly detection</a:t>
            </a:r>
            <a:endParaRPr lang="en-US" sz="380" dirty="0"/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3EE459DC-1C2A-1937-4365-09198D35C027}"/>
              </a:ext>
            </a:extLst>
          </p:cNvPr>
          <p:cNvSpPr txBox="1"/>
          <p:nvPr/>
        </p:nvSpPr>
        <p:spPr>
          <a:xfrm>
            <a:off x="4152388" y="3500847"/>
            <a:ext cx="104799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1542" indent="-81542">
              <a:buFont typeface="Arial" panose="020B0604020202020204" pitchFamily="34" charset="0"/>
              <a:buChar char="•"/>
            </a:pPr>
            <a:r>
              <a:rPr lang="en-US" sz="380" dirty="0"/>
              <a:t>Query-Key-Value attention computation</a:t>
            </a:r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US" sz="380" dirty="0"/>
              <a:t>Self-attention representation learning</a:t>
            </a:r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US" sz="380" dirty="0"/>
              <a:t>Feed-forward neural prediction</a:t>
            </a:r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US" sz="380" dirty="0"/>
              <a:t>SOC and SOH estimation</a:t>
            </a:r>
            <a:endParaRPr lang="en-IN" sz="380" dirty="0"/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448305EA-84F7-751D-9485-3A8658AC8F4F}"/>
              </a:ext>
            </a:extLst>
          </p:cNvPr>
          <p:cNvSpPr txBox="1"/>
          <p:nvPr/>
        </p:nvSpPr>
        <p:spPr>
          <a:xfrm>
            <a:off x="4149181" y="3983013"/>
            <a:ext cx="1025445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1542" indent="-81542">
              <a:buFont typeface="Arial" panose="020B0604020202020204" pitchFamily="34" charset="0"/>
              <a:buChar char="•"/>
            </a:pPr>
            <a:r>
              <a:rPr lang="en-US" sz="380" dirty="0"/>
              <a:t>Individual model predictions</a:t>
            </a:r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US" sz="380" dirty="0"/>
              <a:t>Weighted ensemble aggregation</a:t>
            </a:r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US" sz="380" dirty="0"/>
              <a:t>Aleatoric uncertainty estimation</a:t>
            </a:r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US" sz="380" dirty="0"/>
              <a:t>Epistemic uncertainty estimation</a:t>
            </a:r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US" sz="380" dirty="0"/>
              <a:t>Confidence calculation</a:t>
            </a:r>
            <a:endParaRPr lang="en-IN" sz="380" dirty="0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A300374F-F82C-4799-1A69-FDA976E52605}"/>
              </a:ext>
            </a:extLst>
          </p:cNvPr>
          <p:cNvSpPr txBox="1"/>
          <p:nvPr/>
        </p:nvSpPr>
        <p:spPr>
          <a:xfrm>
            <a:off x="4148486" y="4559438"/>
            <a:ext cx="1159245" cy="26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1542" indent="-81542">
              <a:buFont typeface="Arial" panose="020B0604020202020204" pitchFamily="34" charset="0"/>
              <a:buChar char="•"/>
            </a:pPr>
            <a:r>
              <a:rPr lang="en-US" sz="380" dirty="0"/>
              <a:t>Bootstrap dataset sampling</a:t>
            </a:r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US" sz="380" dirty="0"/>
              <a:t>Linear regression weight update</a:t>
            </a:r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US" sz="380" dirty="0"/>
              <a:t>Ensemble uncertainty evaluation</a:t>
            </a:r>
            <a:endParaRPr lang="en-IN" sz="380" dirty="0"/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B70510B6-A493-76D9-2347-E64EA124D14A}"/>
              </a:ext>
            </a:extLst>
          </p:cNvPr>
          <p:cNvSpPr txBox="1"/>
          <p:nvPr/>
        </p:nvSpPr>
        <p:spPr>
          <a:xfrm>
            <a:off x="4155854" y="4989057"/>
            <a:ext cx="961465" cy="326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1542" indent="-81542">
              <a:buFont typeface="Arial" panose="020B0604020202020204" pitchFamily="34" charset="0"/>
              <a:buChar char="•"/>
            </a:pPr>
            <a:r>
              <a:rPr lang="en-US" sz="380" dirty="0"/>
              <a:t>Voltage difference</a:t>
            </a:r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US" sz="380" dirty="0"/>
              <a:t>Current difference</a:t>
            </a:r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US" sz="380" dirty="0"/>
              <a:t>SOC difference</a:t>
            </a:r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US" sz="380" dirty="0"/>
              <a:t>SOH difference</a:t>
            </a:r>
            <a:endParaRPr lang="en-IN" sz="380" dirty="0"/>
          </a:p>
        </p:txBody>
      </p: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367BA666-4C8C-7CBF-CC97-777463B3E9A5}"/>
              </a:ext>
            </a:extLst>
          </p:cNvPr>
          <p:cNvCxnSpPr>
            <a:cxnSpLocks/>
          </p:cNvCxnSpPr>
          <p:nvPr/>
        </p:nvCxnSpPr>
        <p:spPr>
          <a:xfrm flipV="1">
            <a:off x="5615018" y="3057464"/>
            <a:ext cx="1512185" cy="65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CA5DB5B5-CAC5-C44F-473A-F309F77CC609}"/>
              </a:ext>
            </a:extLst>
          </p:cNvPr>
          <p:cNvCxnSpPr>
            <a:cxnSpLocks/>
          </p:cNvCxnSpPr>
          <p:nvPr/>
        </p:nvCxnSpPr>
        <p:spPr>
          <a:xfrm>
            <a:off x="5760022" y="3602298"/>
            <a:ext cx="119678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6A1333EE-32AC-5906-4D2B-C369D1B28764}"/>
              </a:ext>
            </a:extLst>
          </p:cNvPr>
          <p:cNvCxnSpPr>
            <a:cxnSpLocks/>
          </p:cNvCxnSpPr>
          <p:nvPr/>
        </p:nvCxnSpPr>
        <p:spPr>
          <a:xfrm>
            <a:off x="5762528" y="4106238"/>
            <a:ext cx="120291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9" name="TextBox 298">
            <a:extLst>
              <a:ext uri="{FF2B5EF4-FFF2-40B4-BE49-F238E27FC236}">
                <a16:creationId xmlns:a16="http://schemas.microsoft.com/office/drawing/2014/main" id="{AC36468C-5027-0CD3-A5E3-CE95091A4174}"/>
              </a:ext>
            </a:extLst>
          </p:cNvPr>
          <p:cNvSpPr txBox="1"/>
          <p:nvPr/>
        </p:nvSpPr>
        <p:spPr>
          <a:xfrm>
            <a:off x="5992958" y="2948856"/>
            <a:ext cx="927638" cy="16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76" b="1" dirty="0"/>
              <a:t>Error Metrics Computation</a:t>
            </a:r>
            <a:endParaRPr lang="en-IN" sz="476" b="1" dirty="0"/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A1A1E1A1-000A-9CF0-5FDA-C2A3C942B903}"/>
              </a:ext>
            </a:extLst>
          </p:cNvPr>
          <p:cNvSpPr txBox="1"/>
          <p:nvPr/>
        </p:nvSpPr>
        <p:spPr>
          <a:xfrm>
            <a:off x="5685306" y="3070233"/>
            <a:ext cx="782007" cy="326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1542" indent="-81542">
              <a:buFont typeface="Arial" panose="020B0604020202020204" pitchFamily="34" charset="0"/>
              <a:buChar char="•"/>
            </a:pPr>
            <a:r>
              <a:rPr lang="en-US" sz="380" dirty="0"/>
              <a:t>RMSE voltage</a:t>
            </a:r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US" sz="380" dirty="0"/>
              <a:t>RMSE current</a:t>
            </a:r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US" sz="380" dirty="0"/>
              <a:t>RMSE SOC</a:t>
            </a:r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US" sz="380" dirty="0"/>
              <a:t>RMSE SOH</a:t>
            </a:r>
            <a:endParaRPr lang="en-IN" sz="380" dirty="0"/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AFAAB99A-1A1E-6EC1-2302-217CA1F53C10}"/>
              </a:ext>
            </a:extLst>
          </p:cNvPr>
          <p:cNvSpPr txBox="1"/>
          <p:nvPr/>
        </p:nvSpPr>
        <p:spPr>
          <a:xfrm>
            <a:off x="6328490" y="3074908"/>
            <a:ext cx="1009937" cy="209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1542" indent="-81542">
              <a:buFont typeface="Arial" panose="020B0604020202020204" pitchFamily="34" charset="0"/>
              <a:buChar char="•"/>
            </a:pPr>
            <a:r>
              <a:rPr lang="en-US" sz="380" dirty="0"/>
              <a:t>Charging efficiency</a:t>
            </a:r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US" sz="380" dirty="0"/>
              <a:t>Coulombic efficiency</a:t>
            </a:r>
            <a:endParaRPr lang="en-IN" sz="380" dirty="0"/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DCDA7F2F-3EA6-1174-F0B7-8C72A5AE2A56}"/>
              </a:ext>
            </a:extLst>
          </p:cNvPr>
          <p:cNvSpPr txBox="1"/>
          <p:nvPr/>
        </p:nvSpPr>
        <p:spPr>
          <a:xfrm>
            <a:off x="5941704" y="3492033"/>
            <a:ext cx="1399261" cy="16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76" b="1" dirty="0"/>
              <a:t>System Output Generation</a:t>
            </a:r>
            <a:endParaRPr lang="en-IN" sz="476" b="1" dirty="0"/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8EE53451-F801-C754-610E-BEBF7024CF28}"/>
              </a:ext>
            </a:extLst>
          </p:cNvPr>
          <p:cNvSpPr txBox="1"/>
          <p:nvPr/>
        </p:nvSpPr>
        <p:spPr>
          <a:xfrm>
            <a:off x="5933318" y="3617795"/>
            <a:ext cx="1029613" cy="26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1542" indent="-81542">
              <a:buFont typeface="Arial" panose="020B0604020202020204" pitchFamily="34" charset="0"/>
              <a:buChar char="•"/>
            </a:pPr>
            <a:r>
              <a:rPr lang="en-US" sz="380" dirty="0"/>
              <a:t>Real-time display update</a:t>
            </a:r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US" sz="380" dirty="0"/>
              <a:t>Visualization scope update</a:t>
            </a:r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US" sz="380" dirty="0"/>
              <a:t>Workspace data storage</a:t>
            </a:r>
            <a:endParaRPr lang="en-IN" sz="380" dirty="0"/>
          </a:p>
        </p:txBody>
      </p:sp>
      <p:sp>
        <p:nvSpPr>
          <p:cNvPr id="355" name="TextBox 354">
            <a:extLst>
              <a:ext uri="{FF2B5EF4-FFF2-40B4-BE49-F238E27FC236}">
                <a16:creationId xmlns:a16="http://schemas.microsoft.com/office/drawing/2014/main" id="{BDC77AA8-2C26-9E47-3886-78CDF5A7F3D6}"/>
              </a:ext>
            </a:extLst>
          </p:cNvPr>
          <p:cNvSpPr txBox="1"/>
          <p:nvPr/>
        </p:nvSpPr>
        <p:spPr>
          <a:xfrm>
            <a:off x="6036217" y="4005085"/>
            <a:ext cx="1382475" cy="16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76" b="1" dirty="0"/>
              <a:t>Cloud Communication</a:t>
            </a:r>
            <a:endParaRPr lang="en-IN" sz="476" b="1" dirty="0"/>
          </a:p>
        </p:txBody>
      </p:sp>
      <p:sp>
        <p:nvSpPr>
          <p:cNvPr id="356" name="TextBox 355">
            <a:extLst>
              <a:ext uri="{FF2B5EF4-FFF2-40B4-BE49-F238E27FC236}">
                <a16:creationId xmlns:a16="http://schemas.microsoft.com/office/drawing/2014/main" id="{4FACC157-2D9B-DB5F-76A7-CFC5561676A9}"/>
              </a:ext>
            </a:extLst>
          </p:cNvPr>
          <p:cNvSpPr txBox="1"/>
          <p:nvPr/>
        </p:nvSpPr>
        <p:spPr>
          <a:xfrm>
            <a:off x="5992958" y="5101158"/>
            <a:ext cx="1228592" cy="16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76" b="1" dirty="0"/>
              <a:t>Final Report Generation</a:t>
            </a:r>
            <a:endParaRPr lang="en-IN" sz="476" b="1" dirty="0"/>
          </a:p>
        </p:txBody>
      </p:sp>
      <p:cxnSp>
        <p:nvCxnSpPr>
          <p:cNvPr id="368" name="Straight Connector 367">
            <a:extLst>
              <a:ext uri="{FF2B5EF4-FFF2-40B4-BE49-F238E27FC236}">
                <a16:creationId xmlns:a16="http://schemas.microsoft.com/office/drawing/2014/main" id="{5C455B8F-508A-609A-178F-BBD16ED8C5EC}"/>
              </a:ext>
            </a:extLst>
          </p:cNvPr>
          <p:cNvCxnSpPr/>
          <p:nvPr/>
        </p:nvCxnSpPr>
        <p:spPr>
          <a:xfrm>
            <a:off x="5756814" y="5206338"/>
            <a:ext cx="122859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1" name="TextBox 390">
            <a:extLst>
              <a:ext uri="{FF2B5EF4-FFF2-40B4-BE49-F238E27FC236}">
                <a16:creationId xmlns:a16="http://schemas.microsoft.com/office/drawing/2014/main" id="{61B35E8C-B7C1-D4AF-9925-559014A2625A}"/>
              </a:ext>
            </a:extLst>
          </p:cNvPr>
          <p:cNvSpPr txBox="1"/>
          <p:nvPr/>
        </p:nvSpPr>
        <p:spPr>
          <a:xfrm>
            <a:off x="5862946" y="4607353"/>
            <a:ext cx="355169" cy="194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6" dirty="0"/>
              <a:t>NO</a:t>
            </a:r>
            <a:endParaRPr lang="en-IN" sz="666" dirty="0"/>
          </a:p>
        </p:txBody>
      </p:sp>
      <p:sp>
        <p:nvSpPr>
          <p:cNvPr id="392" name="TextBox 391">
            <a:extLst>
              <a:ext uri="{FF2B5EF4-FFF2-40B4-BE49-F238E27FC236}">
                <a16:creationId xmlns:a16="http://schemas.microsoft.com/office/drawing/2014/main" id="{8B736FD6-5290-8397-1C82-8D2C83BB02D0}"/>
              </a:ext>
            </a:extLst>
          </p:cNvPr>
          <p:cNvSpPr txBox="1"/>
          <p:nvPr/>
        </p:nvSpPr>
        <p:spPr>
          <a:xfrm>
            <a:off x="6345861" y="4914489"/>
            <a:ext cx="500136" cy="194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6" dirty="0"/>
              <a:t>YES</a:t>
            </a:r>
            <a:endParaRPr lang="en-IN" sz="666" dirty="0"/>
          </a:p>
        </p:txBody>
      </p:sp>
      <p:sp>
        <p:nvSpPr>
          <p:cNvPr id="404" name="TextBox 403">
            <a:extLst>
              <a:ext uri="{FF2B5EF4-FFF2-40B4-BE49-F238E27FC236}">
                <a16:creationId xmlns:a16="http://schemas.microsoft.com/office/drawing/2014/main" id="{0E292A12-C28F-1D98-090C-D743AB117C08}"/>
              </a:ext>
            </a:extLst>
          </p:cNvPr>
          <p:cNvSpPr txBox="1"/>
          <p:nvPr/>
        </p:nvSpPr>
        <p:spPr>
          <a:xfrm>
            <a:off x="5943604" y="4135996"/>
            <a:ext cx="1195384" cy="26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1542" indent="-81542">
              <a:buFont typeface="Arial" panose="020B0604020202020204" pitchFamily="34" charset="0"/>
              <a:buChar char="•"/>
            </a:pPr>
            <a:r>
              <a:rPr lang="en-US" sz="380" dirty="0"/>
              <a:t>Thing Speak data upload</a:t>
            </a:r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US" sz="380" dirty="0"/>
              <a:t>Node-RED dashboard update</a:t>
            </a:r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US" sz="380" dirty="0"/>
              <a:t>CSV log storage</a:t>
            </a:r>
            <a:endParaRPr lang="en-IN" sz="380" dirty="0"/>
          </a:p>
        </p:txBody>
      </p:sp>
      <p:sp>
        <p:nvSpPr>
          <p:cNvPr id="405" name="TextBox 404">
            <a:extLst>
              <a:ext uri="{FF2B5EF4-FFF2-40B4-BE49-F238E27FC236}">
                <a16:creationId xmlns:a16="http://schemas.microsoft.com/office/drawing/2014/main" id="{9058C27B-0D49-A0C7-36FE-2EF88DBEBE21}"/>
              </a:ext>
            </a:extLst>
          </p:cNvPr>
          <p:cNvSpPr txBox="1"/>
          <p:nvPr/>
        </p:nvSpPr>
        <p:spPr>
          <a:xfrm>
            <a:off x="5992958" y="5213817"/>
            <a:ext cx="715822" cy="26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1542" indent="-81542">
              <a:buFont typeface="Arial" panose="020B0604020202020204" pitchFamily="34" charset="0"/>
              <a:buChar char="•"/>
            </a:pPr>
            <a:r>
              <a:rPr lang="en-US" sz="380" dirty="0"/>
              <a:t>Generate CSV Report</a:t>
            </a:r>
          </a:p>
          <a:p>
            <a:pPr marL="81542" indent="-81542">
              <a:buFont typeface="Arial" panose="020B0604020202020204" pitchFamily="34" charset="0"/>
              <a:buChar char="•"/>
            </a:pPr>
            <a:r>
              <a:rPr lang="en-US" sz="380" dirty="0"/>
              <a:t>Plot comparison Results</a:t>
            </a:r>
            <a:endParaRPr lang="en-IN" sz="380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D87CD09C-C00F-C08D-D1D6-411EC5A8D758}"/>
              </a:ext>
            </a:extLst>
          </p:cNvPr>
          <p:cNvSpPr txBox="1"/>
          <p:nvPr/>
        </p:nvSpPr>
        <p:spPr>
          <a:xfrm>
            <a:off x="451414" y="6066453"/>
            <a:ext cx="3825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4. Algorithm for the proposed method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580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9AAC48-4B54-6B9B-582C-18DFAFFDF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69" y="3090782"/>
            <a:ext cx="9317622" cy="53083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609DDC8-A5B2-8FE6-2887-3DA074D8110F}"/>
              </a:ext>
            </a:extLst>
          </p:cNvPr>
          <p:cNvSpPr txBox="1"/>
          <p:nvPr/>
        </p:nvSpPr>
        <p:spPr>
          <a:xfrm>
            <a:off x="243068" y="2350002"/>
            <a:ext cx="3773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5. Methodology Workflow Diagram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3464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EB1C29F-8007-D01B-77F2-202F82810183}"/>
              </a:ext>
            </a:extLst>
          </p:cNvPr>
          <p:cNvSpPr/>
          <p:nvPr/>
        </p:nvSpPr>
        <p:spPr>
          <a:xfrm>
            <a:off x="4145114" y="2456547"/>
            <a:ext cx="4515207" cy="25817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49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BE8BC95-F603-7BC2-BEF5-E166ED5CE29B}"/>
              </a:ext>
            </a:extLst>
          </p:cNvPr>
          <p:cNvSpPr/>
          <p:nvPr/>
        </p:nvSpPr>
        <p:spPr>
          <a:xfrm>
            <a:off x="4145114" y="5174202"/>
            <a:ext cx="4515207" cy="332537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49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FD8E2C3-0902-BB63-F775-9E9E698E78A1}"/>
              </a:ext>
            </a:extLst>
          </p:cNvPr>
          <p:cNvSpPr/>
          <p:nvPr/>
        </p:nvSpPr>
        <p:spPr>
          <a:xfrm>
            <a:off x="4255564" y="2552451"/>
            <a:ext cx="4299309" cy="77735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9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57A673C-A09A-64C5-F617-45D740D23D2A}"/>
              </a:ext>
            </a:extLst>
          </p:cNvPr>
          <p:cNvSpPr/>
          <p:nvPr/>
        </p:nvSpPr>
        <p:spPr>
          <a:xfrm>
            <a:off x="4255564" y="3409737"/>
            <a:ext cx="4299309" cy="52271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49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2FD2F55-824D-8CD6-0FDA-0A8BD51080AF}"/>
              </a:ext>
            </a:extLst>
          </p:cNvPr>
          <p:cNvSpPr/>
          <p:nvPr/>
        </p:nvSpPr>
        <p:spPr>
          <a:xfrm>
            <a:off x="4336330" y="2670404"/>
            <a:ext cx="743382" cy="21828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7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</a:t>
            </a:r>
          </a:p>
          <a:p>
            <a:pPr algn="ctr"/>
            <a:r>
              <a:rPr lang="en-US" sz="57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cells, 3.3 V each</a:t>
            </a:r>
            <a:endParaRPr lang="en-IN" sz="57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82610DB-3ADA-A0F7-E14F-3DD4B3A9B517}"/>
              </a:ext>
            </a:extLst>
          </p:cNvPr>
          <p:cNvSpPr/>
          <p:nvPr/>
        </p:nvSpPr>
        <p:spPr>
          <a:xfrm>
            <a:off x="5858345" y="2968624"/>
            <a:ext cx="1245823" cy="27957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7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 Pack</a:t>
            </a:r>
          </a:p>
          <a:p>
            <a:pPr algn="ctr"/>
            <a:r>
              <a:rPr lang="en-US" sz="57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x 30 configuration, 150 total cells,</a:t>
            </a:r>
          </a:p>
          <a:p>
            <a:pPr algn="ctr"/>
            <a:r>
              <a:rPr lang="en-US" sz="57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495 V nominal voltage</a:t>
            </a:r>
            <a:endParaRPr lang="en-IN" sz="57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0425B49-EE40-D177-F30B-E0BABA0DE63C}"/>
              </a:ext>
            </a:extLst>
          </p:cNvPr>
          <p:cNvSpPr/>
          <p:nvPr/>
        </p:nvSpPr>
        <p:spPr>
          <a:xfrm>
            <a:off x="4336333" y="3565476"/>
            <a:ext cx="1354407" cy="323069"/>
          </a:xfrm>
          <a:prstGeom prst="roundRect">
            <a:avLst/>
          </a:prstGeom>
          <a:solidFill>
            <a:srgbClr val="99FFCC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66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Voltage Sensor:</a:t>
            </a:r>
          </a:p>
          <a:p>
            <a:pPr algn="ctr"/>
            <a:r>
              <a:rPr lang="en-US" sz="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Per-cell voltage monitoring</a:t>
            </a:r>
            <a:endParaRPr lang="en-IN" sz="66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1AD70F0-849F-94E3-95B7-F1A56E127A0F}"/>
              </a:ext>
            </a:extLst>
          </p:cNvPr>
          <p:cNvSpPr/>
          <p:nvPr/>
        </p:nvSpPr>
        <p:spPr>
          <a:xfrm>
            <a:off x="5749762" y="3565476"/>
            <a:ext cx="1354407" cy="323069"/>
          </a:xfrm>
          <a:prstGeom prst="roundRect">
            <a:avLst/>
          </a:prstGeom>
          <a:solidFill>
            <a:srgbClr val="99FFCC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66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Sensor:</a:t>
            </a:r>
          </a:p>
          <a:p>
            <a:pPr algn="ctr"/>
            <a:r>
              <a:rPr lang="en-US" sz="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Hall-effect measurement</a:t>
            </a:r>
            <a:endParaRPr lang="en-IN" sz="66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E133204-5571-A676-2620-7DD95CD60A9D}"/>
              </a:ext>
            </a:extLst>
          </p:cNvPr>
          <p:cNvSpPr/>
          <p:nvPr/>
        </p:nvSpPr>
        <p:spPr>
          <a:xfrm>
            <a:off x="5160480" y="2660652"/>
            <a:ext cx="743382" cy="22140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7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</a:t>
            </a:r>
          </a:p>
          <a:p>
            <a:pPr algn="ctr"/>
            <a:r>
              <a:rPr lang="en-US" sz="57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cells, 3.3 V each</a:t>
            </a:r>
            <a:endParaRPr lang="en-IN" sz="57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32D143B-5357-6445-83D5-BB582A4032F8}"/>
              </a:ext>
            </a:extLst>
          </p:cNvPr>
          <p:cNvSpPr/>
          <p:nvPr/>
        </p:nvSpPr>
        <p:spPr>
          <a:xfrm>
            <a:off x="5984629" y="2660652"/>
            <a:ext cx="743382" cy="22140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7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</a:t>
            </a:r>
            <a:r>
              <a:rPr lang="en-US" sz="57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ctr"/>
            <a:r>
              <a:rPr lang="en-US" sz="57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cells, 3.3 V each</a:t>
            </a:r>
            <a:endParaRPr lang="en-IN" sz="57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5203611-CDA6-FD5B-32F0-1297E77775EA}"/>
              </a:ext>
            </a:extLst>
          </p:cNvPr>
          <p:cNvSpPr/>
          <p:nvPr/>
        </p:nvSpPr>
        <p:spPr>
          <a:xfrm>
            <a:off x="6833227" y="2660651"/>
            <a:ext cx="743382" cy="22414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7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</a:t>
            </a:r>
          </a:p>
          <a:p>
            <a:pPr algn="ctr"/>
            <a:r>
              <a:rPr lang="en-US" sz="57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cells, 3.3 V each</a:t>
            </a:r>
            <a:endParaRPr lang="en-IN" sz="57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6CE51F3-B036-490C-F927-71B5D4048DAD}"/>
              </a:ext>
            </a:extLst>
          </p:cNvPr>
          <p:cNvSpPr/>
          <p:nvPr/>
        </p:nvSpPr>
        <p:spPr>
          <a:xfrm>
            <a:off x="7681825" y="2657916"/>
            <a:ext cx="743382" cy="22414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7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</a:t>
            </a:r>
          </a:p>
          <a:p>
            <a:pPr algn="ctr"/>
            <a:r>
              <a:rPr lang="en-US" sz="57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cells, 3.3 V each</a:t>
            </a:r>
            <a:endParaRPr lang="en-IN" sz="57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2C935AF-E17C-6399-D5CD-58AAD7799589}"/>
              </a:ext>
            </a:extLst>
          </p:cNvPr>
          <p:cNvSpPr/>
          <p:nvPr/>
        </p:nvSpPr>
        <p:spPr>
          <a:xfrm>
            <a:off x="7163191" y="3565476"/>
            <a:ext cx="1354407" cy="323069"/>
          </a:xfrm>
          <a:prstGeom prst="roundRect">
            <a:avLst/>
          </a:prstGeom>
          <a:solidFill>
            <a:srgbClr val="99FFCC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66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Sensor:</a:t>
            </a:r>
          </a:p>
          <a:p>
            <a:pPr algn="ctr"/>
            <a:r>
              <a:rPr lang="en-US" sz="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Module-level temperature sensing</a:t>
            </a:r>
            <a:endParaRPr lang="en-IN" sz="66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6910FE7-8F5D-D973-5F17-914A4E6EDC2A}"/>
              </a:ext>
            </a:extLst>
          </p:cNvPr>
          <p:cNvSpPr/>
          <p:nvPr/>
        </p:nvSpPr>
        <p:spPr>
          <a:xfrm>
            <a:off x="5447570" y="4031858"/>
            <a:ext cx="2026939" cy="415218"/>
          </a:xfrm>
          <a:prstGeom prst="roundRect">
            <a:avLst/>
          </a:prstGeom>
          <a:solidFill>
            <a:srgbClr val="99FFCC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66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Acquisition System</a:t>
            </a:r>
          </a:p>
          <a:p>
            <a:pPr algn="ctr"/>
            <a:r>
              <a:rPr lang="en-US" sz="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Instruments DAQ or Arduino Due</a:t>
            </a:r>
          </a:p>
          <a:p>
            <a:pPr algn="ctr"/>
            <a:r>
              <a:rPr lang="en-US" sz="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16-bit analog-to-digital conversion</a:t>
            </a:r>
          </a:p>
          <a:p>
            <a:pPr algn="ctr"/>
            <a:r>
              <a:rPr lang="en-US" sz="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 frequency from 1 to 10kHz</a:t>
            </a:r>
            <a:endParaRPr lang="en-IN" sz="66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2C4879D-F044-0098-F7AB-5723D42147AE}"/>
              </a:ext>
            </a:extLst>
          </p:cNvPr>
          <p:cNvSpPr/>
          <p:nvPr/>
        </p:nvSpPr>
        <p:spPr>
          <a:xfrm>
            <a:off x="5447569" y="4671783"/>
            <a:ext cx="2026748" cy="310644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66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Interface</a:t>
            </a:r>
          </a:p>
          <a:p>
            <a:pPr algn="ctr"/>
            <a:r>
              <a:rPr lang="en-US" sz="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Serial or USB Communication</a:t>
            </a:r>
            <a:endParaRPr lang="en-IN" sz="66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41237E5-0276-64E8-0DD7-88902FBF9F49}"/>
              </a:ext>
            </a:extLst>
          </p:cNvPr>
          <p:cNvSpPr/>
          <p:nvPr/>
        </p:nvSpPr>
        <p:spPr>
          <a:xfrm>
            <a:off x="5532310" y="2366393"/>
            <a:ext cx="1789308" cy="158401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9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ENVIRONMENT</a:t>
            </a:r>
            <a:endParaRPr lang="en-IN" sz="49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EB14A43-41DE-A4D9-45CA-D80F34013A72}"/>
              </a:ext>
            </a:extLst>
          </p:cNvPr>
          <p:cNvSpPr/>
          <p:nvPr/>
        </p:nvSpPr>
        <p:spPr>
          <a:xfrm>
            <a:off x="5532310" y="5095002"/>
            <a:ext cx="1789308" cy="175871"/>
          </a:xfrm>
          <a:prstGeom prst="roundRect">
            <a:avLst/>
          </a:prstGeom>
          <a:solidFill>
            <a:srgbClr val="CC0099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9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r>
              <a:rPr lang="en-US" sz="4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9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</a:t>
            </a:r>
            <a:endParaRPr lang="en-IN" sz="49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076D801-65B5-1DAD-0539-E784F97579CE}"/>
              </a:ext>
            </a:extLst>
          </p:cNvPr>
          <p:cNvSpPr/>
          <p:nvPr/>
        </p:nvSpPr>
        <p:spPr>
          <a:xfrm>
            <a:off x="4513030" y="5350072"/>
            <a:ext cx="3696661" cy="655278"/>
          </a:xfrm>
          <a:prstGeom prst="roundRect">
            <a:avLst/>
          </a:prstGeom>
          <a:solidFill>
            <a:srgbClr val="FF99CC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66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MATLAB and Simulink Platform</a:t>
            </a:r>
          </a:p>
          <a:p>
            <a:pPr algn="ctr"/>
            <a:r>
              <a:rPr lang="en-US" sz="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Fixed-step solver using ode23 with time step 0.01 seconds, Simscape Electrical</a:t>
            </a:r>
          </a:p>
          <a:p>
            <a:pPr algn="ctr"/>
            <a:r>
              <a:rPr lang="en-US" sz="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battery modeling, Deep Learning Toolbox for Li-Mamba and transformer models,</a:t>
            </a:r>
          </a:p>
          <a:p>
            <a:pPr algn="ctr"/>
            <a:r>
              <a:rPr lang="en-US" sz="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Statistics and Machine Learning Toolbox, Signal Processing Toolbox for FFT,</a:t>
            </a:r>
          </a:p>
          <a:p>
            <a:pPr algn="ctr"/>
            <a:r>
              <a:rPr lang="en-US" sz="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Computing Toolbox for ensemble training, IoT Toolbox for Thing Speak integration</a:t>
            </a:r>
            <a:endParaRPr lang="en-IN" sz="66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33B07BC-6D41-F99D-1307-11C654D86A73}"/>
              </a:ext>
            </a:extLst>
          </p:cNvPr>
          <p:cNvSpPr/>
          <p:nvPr/>
        </p:nvSpPr>
        <p:spPr>
          <a:xfrm>
            <a:off x="4513030" y="6084550"/>
            <a:ext cx="3696661" cy="55327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66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Algorithm Implementations</a:t>
            </a:r>
          </a:p>
          <a:p>
            <a:pPr algn="ctr"/>
            <a:r>
              <a:rPr lang="en-US" sz="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Li-Mamba selective state space modeling, Battery GPT transformer attention mechanism,</a:t>
            </a:r>
          </a:p>
          <a:p>
            <a:pPr algn="ctr"/>
            <a:r>
              <a:rPr lang="en-US" sz="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Whale optimization for parameter tuning, Gaussian process regression anomaly detection</a:t>
            </a:r>
          </a:p>
          <a:p>
            <a:pPr algn="ctr"/>
            <a:r>
              <a:rPr lang="en-US" sz="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ensemble with uncertainty calibration, Multi-scale feature engineering</a:t>
            </a:r>
            <a:endParaRPr lang="en-IN" sz="66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CC17CB9-9BA5-E397-56FD-3FE54687F876}"/>
              </a:ext>
            </a:extLst>
          </p:cNvPr>
          <p:cNvSpPr/>
          <p:nvPr/>
        </p:nvSpPr>
        <p:spPr>
          <a:xfrm>
            <a:off x="4193796" y="6717025"/>
            <a:ext cx="4404063" cy="55327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49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F1D5B25-D8FB-313B-A0F7-3CE0A5D1ABD5}"/>
              </a:ext>
            </a:extLst>
          </p:cNvPr>
          <p:cNvSpPr/>
          <p:nvPr/>
        </p:nvSpPr>
        <p:spPr>
          <a:xfrm>
            <a:off x="4336331" y="6845392"/>
            <a:ext cx="824149" cy="192678"/>
          </a:xfrm>
          <a:prstGeom prst="roundRect">
            <a:avLst/>
          </a:prstGeom>
          <a:solidFill>
            <a:srgbClr val="99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6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Acquisition</a:t>
            </a:r>
            <a:endParaRPr lang="en-IN" sz="666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0EA4F4D-F02A-A87E-CF74-1FBDECC8F3CF}"/>
              </a:ext>
            </a:extLst>
          </p:cNvPr>
          <p:cNvSpPr/>
          <p:nvPr/>
        </p:nvSpPr>
        <p:spPr>
          <a:xfrm>
            <a:off x="5426934" y="6845392"/>
            <a:ext cx="824149" cy="192678"/>
          </a:xfrm>
          <a:prstGeom prst="roundRect">
            <a:avLst/>
          </a:prstGeom>
          <a:solidFill>
            <a:srgbClr val="99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6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Pre-processing</a:t>
            </a:r>
            <a:endParaRPr lang="en-IN" sz="666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D9725D0-F371-BD48-9F86-A5160B711114}"/>
              </a:ext>
            </a:extLst>
          </p:cNvPr>
          <p:cNvSpPr/>
          <p:nvPr/>
        </p:nvSpPr>
        <p:spPr>
          <a:xfrm>
            <a:off x="6513043" y="6845392"/>
            <a:ext cx="833326" cy="192678"/>
          </a:xfrm>
          <a:prstGeom prst="roundRect">
            <a:avLst/>
          </a:prstGeom>
          <a:solidFill>
            <a:srgbClr val="99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6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Intelligence</a:t>
            </a:r>
            <a:endParaRPr lang="en-IN" sz="666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753C21C-C0EF-BF3B-1473-471A502A3D31}"/>
              </a:ext>
            </a:extLst>
          </p:cNvPr>
          <p:cNvSpPr/>
          <p:nvPr/>
        </p:nvSpPr>
        <p:spPr>
          <a:xfrm>
            <a:off x="7616235" y="6845392"/>
            <a:ext cx="798244" cy="192678"/>
          </a:xfrm>
          <a:prstGeom prst="roundRect">
            <a:avLst/>
          </a:prstGeom>
          <a:solidFill>
            <a:srgbClr val="99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6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Post-Processing</a:t>
            </a:r>
            <a:endParaRPr lang="en-IN" sz="666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B6F71F2-4246-8BC4-34E0-31674F2F031C}"/>
              </a:ext>
            </a:extLst>
          </p:cNvPr>
          <p:cNvSpPr/>
          <p:nvPr/>
        </p:nvSpPr>
        <p:spPr>
          <a:xfrm>
            <a:off x="4271457" y="7112717"/>
            <a:ext cx="979904" cy="146244"/>
          </a:xfrm>
          <a:prstGeom prst="roundRect">
            <a:avLst/>
          </a:prstGeom>
          <a:solidFill>
            <a:srgbClr val="99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7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Streaming</a:t>
            </a:r>
            <a:endParaRPr lang="en-IN" sz="57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141A2F8-EEDC-B875-54BB-505BDA38C965}"/>
              </a:ext>
            </a:extLst>
          </p:cNvPr>
          <p:cNvSpPr/>
          <p:nvPr/>
        </p:nvSpPr>
        <p:spPr>
          <a:xfrm>
            <a:off x="5380417" y="7115450"/>
            <a:ext cx="942808" cy="140571"/>
          </a:xfrm>
          <a:prstGeom prst="roundRect">
            <a:avLst/>
          </a:prstGeom>
          <a:solidFill>
            <a:srgbClr val="99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7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  <a:endParaRPr lang="en-IN" sz="57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E478675-B791-38C7-1086-8AFE7AA0EE84}"/>
              </a:ext>
            </a:extLst>
          </p:cNvPr>
          <p:cNvSpPr/>
          <p:nvPr/>
        </p:nvSpPr>
        <p:spPr>
          <a:xfrm>
            <a:off x="6468222" y="7117270"/>
            <a:ext cx="930572" cy="138152"/>
          </a:xfrm>
          <a:prstGeom prst="roundRect">
            <a:avLst/>
          </a:prstGeom>
          <a:solidFill>
            <a:srgbClr val="99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7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Inference</a:t>
            </a:r>
            <a:endParaRPr lang="en-IN" sz="57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0E248B4-5B26-F8F0-1732-1EF77B8CCECE}"/>
              </a:ext>
            </a:extLst>
          </p:cNvPr>
          <p:cNvSpPr/>
          <p:nvPr/>
        </p:nvSpPr>
        <p:spPr>
          <a:xfrm>
            <a:off x="7535090" y="7109775"/>
            <a:ext cx="953794" cy="146244"/>
          </a:xfrm>
          <a:prstGeom prst="roundRect">
            <a:avLst/>
          </a:prstGeom>
          <a:solidFill>
            <a:srgbClr val="99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7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Generation</a:t>
            </a:r>
            <a:endParaRPr lang="en-IN" sz="57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3F76F90A-5B6F-02B2-CB64-936DE33815AD}"/>
              </a:ext>
            </a:extLst>
          </p:cNvPr>
          <p:cNvSpPr/>
          <p:nvPr/>
        </p:nvSpPr>
        <p:spPr>
          <a:xfrm>
            <a:off x="4235919" y="7344947"/>
            <a:ext cx="4318955" cy="59454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49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A5873E3-D92F-884E-B465-4EC3525FD97F}"/>
              </a:ext>
            </a:extLst>
          </p:cNvPr>
          <p:cNvSpPr/>
          <p:nvPr/>
        </p:nvSpPr>
        <p:spPr>
          <a:xfrm>
            <a:off x="4402989" y="7482574"/>
            <a:ext cx="1860717" cy="374345"/>
          </a:xfrm>
          <a:prstGeom prst="roundRect">
            <a:avLst/>
          </a:prstGeom>
          <a:solidFill>
            <a:srgbClr val="99FF99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7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Thing Speak Cloud</a:t>
            </a:r>
          </a:p>
          <a:p>
            <a:pPr algn="ctr"/>
            <a:r>
              <a:rPr lang="en-US" sz="57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Channel ID configuration</a:t>
            </a:r>
          </a:p>
          <a:p>
            <a:pPr algn="ctr"/>
            <a:r>
              <a:rPr lang="en-US" sz="57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Key authentication</a:t>
            </a:r>
          </a:p>
          <a:p>
            <a:pPr algn="ctr"/>
            <a:r>
              <a:rPr lang="en-US" sz="57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Eight data fields for monitoring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E16DC000-388D-55A5-BBA1-B2F1AD4DBFAF}"/>
              </a:ext>
            </a:extLst>
          </p:cNvPr>
          <p:cNvSpPr/>
          <p:nvPr/>
        </p:nvSpPr>
        <p:spPr>
          <a:xfrm>
            <a:off x="6354511" y="7482574"/>
            <a:ext cx="2001125" cy="374345"/>
          </a:xfrm>
          <a:prstGeom prst="roundRect">
            <a:avLst/>
          </a:prstGeom>
          <a:solidFill>
            <a:srgbClr val="99FF99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7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Node-RED Dashboard</a:t>
            </a:r>
          </a:p>
          <a:p>
            <a:pPr algn="ctr"/>
            <a:r>
              <a:rPr lang="en-US" sz="57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gauges</a:t>
            </a:r>
          </a:p>
          <a:p>
            <a:pPr algn="ctr"/>
            <a:r>
              <a:rPr lang="en-US" sz="57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trend plots</a:t>
            </a:r>
          </a:p>
          <a:p>
            <a:pPr algn="ctr"/>
            <a:r>
              <a:rPr lang="en-US" sz="57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notifications</a:t>
            </a:r>
            <a:endParaRPr lang="en-IN" sz="57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60C99A3-8BC8-0D8C-C7AF-5C0A399966D5}"/>
              </a:ext>
            </a:extLst>
          </p:cNvPr>
          <p:cNvSpPr/>
          <p:nvPr/>
        </p:nvSpPr>
        <p:spPr>
          <a:xfrm>
            <a:off x="5426934" y="8126669"/>
            <a:ext cx="2090875" cy="330305"/>
          </a:xfrm>
          <a:prstGeom prst="roundRect">
            <a:avLst/>
          </a:prstGeom>
          <a:solidFill>
            <a:srgbClr val="99FF9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95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CSV Data Export</a:t>
            </a:r>
          </a:p>
          <a:p>
            <a:pPr algn="ctr"/>
            <a:r>
              <a:rPr lang="en-US" sz="49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results, training data,</a:t>
            </a:r>
          </a:p>
          <a:p>
            <a:pPr algn="ctr"/>
            <a:r>
              <a:rPr lang="en-US" sz="49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weights</a:t>
            </a:r>
            <a:endParaRPr lang="en-IN" sz="49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77AF232-DE8A-22D8-F088-A8F58379D256}"/>
              </a:ext>
            </a:extLst>
          </p:cNvPr>
          <p:cNvSpPr txBox="1"/>
          <p:nvPr/>
        </p:nvSpPr>
        <p:spPr>
          <a:xfrm>
            <a:off x="5926470" y="2517486"/>
            <a:ext cx="1181160" cy="194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6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 Hardware Setup</a:t>
            </a:r>
            <a:endParaRPr lang="en-IN" sz="666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7CF43FD-D07E-F37E-C975-09E933E5A3A4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4708021" y="2888687"/>
            <a:ext cx="0" cy="3621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7DC9865-EDAD-22C6-578A-C5F8820EFCB1}"/>
              </a:ext>
            </a:extLst>
          </p:cNvPr>
          <p:cNvCxnSpPr>
            <a:cxnSpLocks/>
          </p:cNvCxnSpPr>
          <p:nvPr/>
        </p:nvCxnSpPr>
        <p:spPr>
          <a:xfrm>
            <a:off x="4708022" y="2924903"/>
            <a:ext cx="142365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D818FEA-6EA3-2C06-9C99-21E660BAFC6D}"/>
              </a:ext>
            </a:extLst>
          </p:cNvPr>
          <p:cNvCxnSpPr>
            <a:cxnSpLocks/>
          </p:cNvCxnSpPr>
          <p:nvPr/>
        </p:nvCxnSpPr>
        <p:spPr>
          <a:xfrm>
            <a:off x="6131680" y="2924903"/>
            <a:ext cx="0" cy="437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58EAAE93-AD1E-33A6-CF3D-40AF7EA7D4EB}"/>
              </a:ext>
            </a:extLst>
          </p:cNvPr>
          <p:cNvCxnSpPr>
            <a:stCxn id="15" idx="2"/>
          </p:cNvCxnSpPr>
          <p:nvPr/>
        </p:nvCxnSpPr>
        <p:spPr>
          <a:xfrm>
            <a:off x="5532172" y="2882059"/>
            <a:ext cx="138" cy="428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C4BBA05-AB93-628C-9264-37BAE3E7E348}"/>
              </a:ext>
            </a:extLst>
          </p:cNvPr>
          <p:cNvCxnSpPr>
            <a:cxnSpLocks/>
          </p:cNvCxnSpPr>
          <p:nvPr/>
        </p:nvCxnSpPr>
        <p:spPr>
          <a:xfrm>
            <a:off x="6354509" y="2880230"/>
            <a:ext cx="0" cy="859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55F83C82-810D-A5C8-B8AF-B61D47B0A44E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8053516" y="2882058"/>
            <a:ext cx="0" cy="487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1E438B67-1572-B6E3-DE29-F905784C59A4}"/>
              </a:ext>
            </a:extLst>
          </p:cNvPr>
          <p:cNvCxnSpPr>
            <a:cxnSpLocks/>
          </p:cNvCxnSpPr>
          <p:nvPr/>
        </p:nvCxnSpPr>
        <p:spPr>
          <a:xfrm flipH="1" flipV="1">
            <a:off x="6626460" y="2924303"/>
            <a:ext cx="1427057" cy="65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2CE9A190-B40C-095F-B80F-3B0EF4949511}"/>
              </a:ext>
            </a:extLst>
          </p:cNvPr>
          <p:cNvCxnSpPr/>
          <p:nvPr/>
        </p:nvCxnSpPr>
        <p:spPr>
          <a:xfrm>
            <a:off x="6626459" y="2927556"/>
            <a:ext cx="0" cy="385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72F074C2-4629-698F-FBA5-377694C93B6A}"/>
              </a:ext>
            </a:extLst>
          </p:cNvPr>
          <p:cNvCxnSpPr>
            <a:stCxn id="17" idx="2"/>
          </p:cNvCxnSpPr>
          <p:nvPr/>
        </p:nvCxnSpPr>
        <p:spPr>
          <a:xfrm>
            <a:off x="7204918" y="2884795"/>
            <a:ext cx="0" cy="427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73E2A5F6-9B92-247C-A052-5D7F65C7EED5}"/>
              </a:ext>
            </a:extLst>
          </p:cNvPr>
          <p:cNvSpPr txBox="1"/>
          <p:nvPr/>
        </p:nvSpPr>
        <p:spPr>
          <a:xfrm>
            <a:off x="6047977" y="3413196"/>
            <a:ext cx="1587390" cy="194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6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Layer</a:t>
            </a:r>
            <a:endParaRPr lang="en-IN" sz="666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29D47B41-32C9-DA66-CC49-9B2EEF4AE6AE}"/>
              </a:ext>
            </a:extLst>
          </p:cNvPr>
          <p:cNvCxnSpPr>
            <a:cxnSpLocks/>
          </p:cNvCxnSpPr>
          <p:nvPr/>
        </p:nvCxnSpPr>
        <p:spPr>
          <a:xfrm>
            <a:off x="6492433" y="3248202"/>
            <a:ext cx="0" cy="1649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870CD86B-F60B-BE25-7F7A-133A9A22B1F2}"/>
              </a:ext>
            </a:extLst>
          </p:cNvPr>
          <p:cNvCxnSpPr>
            <a:cxnSpLocks/>
          </p:cNvCxnSpPr>
          <p:nvPr/>
        </p:nvCxnSpPr>
        <p:spPr>
          <a:xfrm>
            <a:off x="6047977" y="3248203"/>
            <a:ext cx="0" cy="12368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1D1EFCFC-C973-6043-DDE1-8C7CB1A9B0FF}"/>
              </a:ext>
            </a:extLst>
          </p:cNvPr>
          <p:cNvCxnSpPr/>
          <p:nvPr/>
        </p:nvCxnSpPr>
        <p:spPr>
          <a:xfrm flipH="1">
            <a:off x="5021622" y="3371885"/>
            <a:ext cx="10263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BADDF36A-39FC-E460-F8BB-4D25D1D28E19}"/>
              </a:ext>
            </a:extLst>
          </p:cNvPr>
          <p:cNvCxnSpPr/>
          <p:nvPr/>
        </p:nvCxnSpPr>
        <p:spPr>
          <a:xfrm>
            <a:off x="5021621" y="3371886"/>
            <a:ext cx="0" cy="1935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38CD30D6-310D-A5FB-4F78-D4D16EA62205}"/>
              </a:ext>
            </a:extLst>
          </p:cNvPr>
          <p:cNvCxnSpPr/>
          <p:nvPr/>
        </p:nvCxnSpPr>
        <p:spPr>
          <a:xfrm>
            <a:off x="6902569" y="3248203"/>
            <a:ext cx="0" cy="12368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1848D77-6E9E-A52E-D48D-524C50AA24DA}"/>
              </a:ext>
            </a:extLst>
          </p:cNvPr>
          <p:cNvCxnSpPr/>
          <p:nvPr/>
        </p:nvCxnSpPr>
        <p:spPr>
          <a:xfrm>
            <a:off x="6902570" y="3371885"/>
            <a:ext cx="91691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9B18AF1E-7D9B-D793-9858-E1A645E4A1D3}"/>
              </a:ext>
            </a:extLst>
          </p:cNvPr>
          <p:cNvCxnSpPr>
            <a:cxnSpLocks/>
          </p:cNvCxnSpPr>
          <p:nvPr/>
        </p:nvCxnSpPr>
        <p:spPr>
          <a:xfrm>
            <a:off x="7819486" y="3371886"/>
            <a:ext cx="0" cy="1935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9918775C-D41D-0198-FD44-6B74AB34A8F6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6420086" y="3888545"/>
            <a:ext cx="6878" cy="143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04B8AC70-392A-F2E9-A1B3-0B988379E1AC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013535" y="3888545"/>
            <a:ext cx="0" cy="79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46F86DBF-E68E-A260-C5DD-4EC9BE94E2E3}"/>
              </a:ext>
            </a:extLst>
          </p:cNvPr>
          <p:cNvCxnSpPr/>
          <p:nvPr/>
        </p:nvCxnSpPr>
        <p:spPr>
          <a:xfrm>
            <a:off x="5013536" y="3967744"/>
            <a:ext cx="92258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45456E58-CE32-475A-2715-0C2965A871A8}"/>
              </a:ext>
            </a:extLst>
          </p:cNvPr>
          <p:cNvCxnSpPr>
            <a:cxnSpLocks/>
          </p:cNvCxnSpPr>
          <p:nvPr/>
        </p:nvCxnSpPr>
        <p:spPr>
          <a:xfrm>
            <a:off x="5936122" y="3967745"/>
            <a:ext cx="0" cy="641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A4F54AEF-E1C4-3A6A-0405-91FE5C466F07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6461039" y="4447076"/>
            <a:ext cx="95" cy="220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1D65FB8D-AD80-F5C3-754C-BBFB31931862}"/>
              </a:ext>
            </a:extLst>
          </p:cNvPr>
          <p:cNvCxnSpPr>
            <a:cxnSpLocks/>
          </p:cNvCxnSpPr>
          <p:nvPr/>
        </p:nvCxnSpPr>
        <p:spPr>
          <a:xfrm>
            <a:off x="7840392" y="3888545"/>
            <a:ext cx="0" cy="79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73DE5C8A-1D89-84C3-F6F4-478A3A27C0A6}"/>
              </a:ext>
            </a:extLst>
          </p:cNvPr>
          <p:cNvCxnSpPr>
            <a:cxnSpLocks/>
          </p:cNvCxnSpPr>
          <p:nvPr/>
        </p:nvCxnSpPr>
        <p:spPr>
          <a:xfrm flipH="1">
            <a:off x="6833228" y="3963515"/>
            <a:ext cx="1007165" cy="67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AEFEC5CF-03DC-086E-CF74-4268E684F2AE}"/>
              </a:ext>
            </a:extLst>
          </p:cNvPr>
          <p:cNvCxnSpPr/>
          <p:nvPr/>
        </p:nvCxnSpPr>
        <p:spPr>
          <a:xfrm>
            <a:off x="6833227" y="3967578"/>
            <a:ext cx="0" cy="642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5C1C3AFF-7635-AE07-9D77-31FA6532998A}"/>
              </a:ext>
            </a:extLst>
          </p:cNvPr>
          <p:cNvCxnSpPr>
            <a:cxnSpLocks/>
          </p:cNvCxnSpPr>
          <p:nvPr/>
        </p:nvCxnSpPr>
        <p:spPr>
          <a:xfrm>
            <a:off x="6323223" y="6005351"/>
            <a:ext cx="0" cy="746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EC4A8E4D-BC20-4B2A-981C-B668A586ECF8}"/>
              </a:ext>
            </a:extLst>
          </p:cNvPr>
          <p:cNvCxnSpPr>
            <a:cxnSpLocks/>
            <a:stCxn id="25" idx="2"/>
          </p:cNvCxnSpPr>
          <p:nvPr/>
        </p:nvCxnSpPr>
        <p:spPr>
          <a:xfrm>
            <a:off x="6361359" y="6637826"/>
            <a:ext cx="0" cy="746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AA182FE7-9554-82A3-18DE-BA6EC13FF612}"/>
              </a:ext>
            </a:extLst>
          </p:cNvPr>
          <p:cNvCxnSpPr>
            <a:cxnSpLocks/>
            <a:stCxn id="27" idx="3"/>
            <a:endCxn id="28" idx="1"/>
          </p:cNvCxnSpPr>
          <p:nvPr/>
        </p:nvCxnSpPr>
        <p:spPr>
          <a:xfrm>
            <a:off x="5160481" y="6941731"/>
            <a:ext cx="2664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FDB0B9A8-31F7-FFDB-DE6A-446743E0992C}"/>
              </a:ext>
            </a:extLst>
          </p:cNvPr>
          <p:cNvCxnSpPr>
            <a:cxnSpLocks/>
            <a:stCxn id="28" idx="3"/>
            <a:endCxn id="29" idx="1"/>
          </p:cNvCxnSpPr>
          <p:nvPr/>
        </p:nvCxnSpPr>
        <p:spPr>
          <a:xfrm>
            <a:off x="6251083" y="6941731"/>
            <a:ext cx="2619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E1803D39-E6EF-44E8-93E2-AC15BABB12C3}"/>
              </a:ext>
            </a:extLst>
          </p:cNvPr>
          <p:cNvCxnSpPr>
            <a:cxnSpLocks/>
            <a:stCxn id="29" idx="3"/>
            <a:endCxn id="30" idx="1"/>
          </p:cNvCxnSpPr>
          <p:nvPr/>
        </p:nvCxnSpPr>
        <p:spPr>
          <a:xfrm>
            <a:off x="7346370" y="6941731"/>
            <a:ext cx="2698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60D022BB-FB10-2A71-EDB2-34519C4270E4}"/>
              </a:ext>
            </a:extLst>
          </p:cNvPr>
          <p:cNvCxnSpPr>
            <a:cxnSpLocks/>
            <a:stCxn id="27" idx="2"/>
          </p:cNvCxnSpPr>
          <p:nvPr/>
        </p:nvCxnSpPr>
        <p:spPr>
          <a:xfrm>
            <a:off x="4748405" y="7038071"/>
            <a:ext cx="0" cy="677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BA32C283-D480-39C0-DFD5-FDA2E9A166D5}"/>
              </a:ext>
            </a:extLst>
          </p:cNvPr>
          <p:cNvCxnSpPr>
            <a:cxnSpLocks/>
            <a:stCxn id="28" idx="2"/>
          </p:cNvCxnSpPr>
          <p:nvPr/>
        </p:nvCxnSpPr>
        <p:spPr>
          <a:xfrm flipH="1">
            <a:off x="5838818" y="7038071"/>
            <a:ext cx="191" cy="677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BC163730-9B10-EF3C-4A34-EF8C3AF27F55}"/>
              </a:ext>
            </a:extLst>
          </p:cNvPr>
          <p:cNvCxnSpPr>
            <a:cxnSpLocks/>
            <a:endCxn id="33" idx="0"/>
          </p:cNvCxnSpPr>
          <p:nvPr/>
        </p:nvCxnSpPr>
        <p:spPr>
          <a:xfrm>
            <a:off x="6924807" y="7038497"/>
            <a:ext cx="8703" cy="787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D76F2225-0F04-EC73-8DA2-AB5378E1413A}"/>
              </a:ext>
            </a:extLst>
          </p:cNvPr>
          <p:cNvCxnSpPr>
            <a:cxnSpLocks/>
          </p:cNvCxnSpPr>
          <p:nvPr/>
        </p:nvCxnSpPr>
        <p:spPr>
          <a:xfrm>
            <a:off x="8029380" y="7042036"/>
            <a:ext cx="0" cy="63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F5A24FC0-FF62-9C49-9BBD-2F470C6C64B0}"/>
              </a:ext>
            </a:extLst>
          </p:cNvPr>
          <p:cNvCxnSpPr>
            <a:stCxn id="26" idx="2"/>
            <a:endCxn id="35" idx="0"/>
          </p:cNvCxnSpPr>
          <p:nvPr/>
        </p:nvCxnSpPr>
        <p:spPr>
          <a:xfrm flipH="1">
            <a:off x="6395395" y="7270301"/>
            <a:ext cx="432" cy="746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42283C03-20C4-5C96-2BE9-BA0B9D9D9118}"/>
              </a:ext>
            </a:extLst>
          </p:cNvPr>
          <p:cNvCxnSpPr>
            <a:cxnSpLocks/>
          </p:cNvCxnSpPr>
          <p:nvPr/>
        </p:nvCxnSpPr>
        <p:spPr>
          <a:xfrm>
            <a:off x="5332855" y="8016872"/>
            <a:ext cx="202221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7C5AEDA7-610C-AF55-0988-7CACF1B1278E}"/>
              </a:ext>
            </a:extLst>
          </p:cNvPr>
          <p:cNvCxnSpPr>
            <a:stCxn id="36" idx="2"/>
          </p:cNvCxnSpPr>
          <p:nvPr/>
        </p:nvCxnSpPr>
        <p:spPr>
          <a:xfrm flipH="1">
            <a:off x="5332853" y="7856920"/>
            <a:ext cx="494" cy="1599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A01CE832-6EB9-A78A-2C7A-4DC065BF914F}"/>
              </a:ext>
            </a:extLst>
          </p:cNvPr>
          <p:cNvCxnSpPr>
            <a:stCxn id="37" idx="2"/>
          </p:cNvCxnSpPr>
          <p:nvPr/>
        </p:nvCxnSpPr>
        <p:spPr>
          <a:xfrm flipH="1">
            <a:off x="7355073" y="7856918"/>
            <a:ext cx="0" cy="1599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A7CA48BC-A748-6292-2DE0-E418B1AC2D62}"/>
              </a:ext>
            </a:extLst>
          </p:cNvPr>
          <p:cNvCxnSpPr>
            <a:cxnSpLocks/>
          </p:cNvCxnSpPr>
          <p:nvPr/>
        </p:nvCxnSpPr>
        <p:spPr>
          <a:xfrm>
            <a:off x="6354509" y="8016872"/>
            <a:ext cx="0" cy="1097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1" name="TextBox 190">
            <a:extLst>
              <a:ext uri="{FF2B5EF4-FFF2-40B4-BE49-F238E27FC236}">
                <a16:creationId xmlns:a16="http://schemas.microsoft.com/office/drawing/2014/main" id="{DFC9D2A4-2E68-FDB9-D36E-70CA55320E99}"/>
              </a:ext>
            </a:extLst>
          </p:cNvPr>
          <p:cNvSpPr txBox="1"/>
          <p:nvPr/>
        </p:nvSpPr>
        <p:spPr>
          <a:xfrm>
            <a:off x="6069165" y="6706116"/>
            <a:ext cx="949534" cy="194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6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Pipeline</a:t>
            </a:r>
            <a:endParaRPr lang="en-IN" sz="666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8DE4B05A-02F7-3B4F-1F3E-C544970ACD9B}"/>
              </a:ext>
            </a:extLst>
          </p:cNvPr>
          <p:cNvSpPr txBox="1"/>
          <p:nvPr/>
        </p:nvSpPr>
        <p:spPr>
          <a:xfrm>
            <a:off x="5611073" y="7340570"/>
            <a:ext cx="1699740" cy="194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6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Generation and Visualization</a:t>
            </a:r>
            <a:endParaRPr lang="en-IN" sz="666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41013B-2596-99FC-59C1-5169F1A60216}"/>
              </a:ext>
            </a:extLst>
          </p:cNvPr>
          <p:cNvSpPr txBox="1"/>
          <p:nvPr/>
        </p:nvSpPr>
        <p:spPr>
          <a:xfrm>
            <a:off x="428263" y="2366392"/>
            <a:ext cx="3393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6. Experimental Setup Diagram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9784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57FCA0-90EF-7A9E-CDFF-ABC0441FB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815" y="2940311"/>
            <a:ext cx="9097702" cy="54060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231375-E967-C1A8-9BB4-4D47D69D973E}"/>
              </a:ext>
            </a:extLst>
          </p:cNvPr>
          <p:cNvSpPr txBox="1"/>
          <p:nvPr/>
        </p:nvSpPr>
        <p:spPr>
          <a:xfrm>
            <a:off x="254644" y="2141658"/>
            <a:ext cx="5034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7. Functional Layer Architecture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0168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82DC00D-5F59-5E35-FA25-8D3012468798}"/>
              </a:ext>
            </a:extLst>
          </p:cNvPr>
          <p:cNvSpPr/>
          <p:nvPr/>
        </p:nvSpPr>
        <p:spPr>
          <a:xfrm>
            <a:off x="636533" y="941494"/>
            <a:ext cx="8248488" cy="5073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495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368146-E1D7-C4E7-6134-1E123751E914}"/>
              </a:ext>
            </a:extLst>
          </p:cNvPr>
          <p:cNvSpPr/>
          <p:nvPr/>
        </p:nvSpPr>
        <p:spPr>
          <a:xfrm>
            <a:off x="1757157" y="1136971"/>
            <a:ext cx="980421" cy="2271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User/Operator</a:t>
            </a:r>
            <a:endParaRPr lang="en-IN" sz="1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F0A287-ECD5-AF0E-515B-B6566AFA40CF}"/>
              </a:ext>
            </a:extLst>
          </p:cNvPr>
          <p:cNvSpPr/>
          <p:nvPr/>
        </p:nvSpPr>
        <p:spPr>
          <a:xfrm>
            <a:off x="4273829" y="1136970"/>
            <a:ext cx="1061607" cy="2271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Physical Battery</a:t>
            </a:r>
            <a:endParaRPr lang="en-IN" sz="1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096231-81DA-B330-F31F-095E25641AAB}"/>
              </a:ext>
            </a:extLst>
          </p:cNvPr>
          <p:cNvSpPr/>
          <p:nvPr/>
        </p:nvSpPr>
        <p:spPr>
          <a:xfrm>
            <a:off x="6834822" y="1136970"/>
            <a:ext cx="1167739" cy="22711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Cloud Thing Speak</a:t>
            </a:r>
            <a:endParaRPr lang="en-IN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AA21CC-812F-1810-855E-7BD0C57D72A3}"/>
              </a:ext>
            </a:extLst>
          </p:cNvPr>
          <p:cNvSpPr txBox="1"/>
          <p:nvPr/>
        </p:nvSpPr>
        <p:spPr>
          <a:xfrm>
            <a:off x="594008" y="938402"/>
            <a:ext cx="23677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External Entities</a:t>
            </a:r>
            <a:endParaRPr lang="en-IN" sz="1000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6FB66B-0C73-EB48-A99C-D3E3170C6CE1}"/>
              </a:ext>
            </a:extLst>
          </p:cNvPr>
          <p:cNvSpPr/>
          <p:nvPr/>
        </p:nvSpPr>
        <p:spPr>
          <a:xfrm>
            <a:off x="636532" y="1491050"/>
            <a:ext cx="8234810" cy="51871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495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5E976E9-A9CE-EFD9-6EE8-D19AE8CE8409}"/>
              </a:ext>
            </a:extLst>
          </p:cNvPr>
          <p:cNvSpPr txBox="1"/>
          <p:nvPr/>
        </p:nvSpPr>
        <p:spPr>
          <a:xfrm>
            <a:off x="593078" y="1499937"/>
            <a:ext cx="14744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Processing Modules  </a:t>
            </a:r>
            <a:endParaRPr lang="en-IN" sz="10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E00E3AC-2C85-0531-38CD-1371D411BB0D}"/>
              </a:ext>
            </a:extLst>
          </p:cNvPr>
          <p:cNvSpPr txBox="1"/>
          <p:nvPr/>
        </p:nvSpPr>
        <p:spPr>
          <a:xfrm>
            <a:off x="757360" y="1732625"/>
            <a:ext cx="98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/>
              <a:t>Input sensor signals</a:t>
            </a:r>
          </a:p>
          <a:p>
            <a:r>
              <a:rPr lang="en-US" sz="600" dirty="0"/>
              <a:t>(voltage, current, temperature)</a:t>
            </a:r>
            <a:endParaRPr lang="en-IN" sz="6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068F29C-4608-F783-6135-79E1AEFDADA5}"/>
              </a:ext>
            </a:extLst>
          </p:cNvPr>
          <p:cNvSpPr txBox="1"/>
          <p:nvPr/>
        </p:nvSpPr>
        <p:spPr>
          <a:xfrm>
            <a:off x="622118" y="2061472"/>
            <a:ext cx="115578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/>
              <a:t>Simulation Parameters</a:t>
            </a:r>
            <a:endParaRPr lang="en-IN" sz="600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895E637-240A-817B-7735-F8FBF8F9037B}"/>
              </a:ext>
            </a:extLst>
          </p:cNvPr>
          <p:cNvCxnSpPr>
            <a:cxnSpLocks/>
          </p:cNvCxnSpPr>
          <p:nvPr/>
        </p:nvCxnSpPr>
        <p:spPr>
          <a:xfrm>
            <a:off x="1074851" y="2246138"/>
            <a:ext cx="3454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499158AB-1612-8F14-02CB-691F3A4E0B33}"/>
              </a:ext>
            </a:extLst>
          </p:cNvPr>
          <p:cNvSpPr txBox="1"/>
          <p:nvPr/>
        </p:nvSpPr>
        <p:spPr>
          <a:xfrm>
            <a:off x="191006" y="336382"/>
            <a:ext cx="364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8. Dataflow Diagram</a:t>
            </a:r>
            <a:endParaRPr lang="en-IN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A9957EF-BF95-1A27-D79D-287EF84B87C5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2247368" y="1364085"/>
            <a:ext cx="7227" cy="3612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61713E7-C1B7-03F5-EB22-257A62EB2FC6}"/>
              </a:ext>
            </a:extLst>
          </p:cNvPr>
          <p:cNvCxnSpPr>
            <a:cxnSpLocks/>
          </p:cNvCxnSpPr>
          <p:nvPr/>
        </p:nvCxnSpPr>
        <p:spPr>
          <a:xfrm>
            <a:off x="2657355" y="1605148"/>
            <a:ext cx="0" cy="115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E717C49-8028-BEF4-247E-B2F89AB22F20}"/>
              </a:ext>
            </a:extLst>
          </p:cNvPr>
          <p:cNvCxnSpPr>
            <a:cxnSpLocks/>
          </p:cNvCxnSpPr>
          <p:nvPr/>
        </p:nvCxnSpPr>
        <p:spPr>
          <a:xfrm>
            <a:off x="2657356" y="1605147"/>
            <a:ext cx="214727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024AAAE-AC8D-35EF-D6D9-292FB3008DC4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4804632" y="1364085"/>
            <a:ext cx="0" cy="2410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CCF7A568-5B78-9F41-AFF4-440897AE8477}"/>
              </a:ext>
            </a:extLst>
          </p:cNvPr>
          <p:cNvSpPr/>
          <p:nvPr/>
        </p:nvSpPr>
        <p:spPr>
          <a:xfrm>
            <a:off x="1792095" y="1728629"/>
            <a:ext cx="1882892" cy="689237"/>
          </a:xfrm>
          <a:prstGeom prst="roundRect">
            <a:avLst/>
          </a:prstGeom>
          <a:solidFill>
            <a:srgbClr val="FF66CC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Process 1 : Data Acquisition</a:t>
            </a:r>
          </a:p>
          <a:p>
            <a:pPr algn="ctr"/>
            <a:r>
              <a:rPr lang="en-US" sz="800" dirty="0"/>
              <a:t>Input : Voltage, Current, Temperature</a:t>
            </a:r>
          </a:p>
          <a:p>
            <a:pPr algn="ctr"/>
            <a:r>
              <a:rPr lang="en-US" sz="800" dirty="0"/>
              <a:t>Output : Raw Data + Timestamp</a:t>
            </a:r>
          </a:p>
          <a:p>
            <a:pPr algn="ctr"/>
            <a:r>
              <a:rPr lang="en-US" sz="800" dirty="0"/>
              <a:t>Task  : Sampling + Unit conversion</a:t>
            </a:r>
            <a:endParaRPr lang="en-IN" sz="800" dirty="0"/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1DA005B1-8328-B298-3872-3F74C1245200}"/>
              </a:ext>
            </a:extLst>
          </p:cNvPr>
          <p:cNvSpPr/>
          <p:nvPr/>
        </p:nvSpPr>
        <p:spPr>
          <a:xfrm>
            <a:off x="1792096" y="2581147"/>
            <a:ext cx="1882891" cy="838332"/>
          </a:xfrm>
          <a:prstGeom prst="roundRect">
            <a:avLst/>
          </a:prstGeom>
          <a:solidFill>
            <a:srgbClr val="FF66CC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Process 2 : Pre-Processing</a:t>
            </a:r>
          </a:p>
          <a:p>
            <a:pPr algn="ctr"/>
            <a:r>
              <a:rPr lang="en-US" sz="800" dirty="0"/>
              <a:t>Input  : Raw data</a:t>
            </a:r>
          </a:p>
          <a:p>
            <a:pPr algn="ctr"/>
            <a:r>
              <a:rPr lang="en-US" sz="800" dirty="0"/>
              <a:t>Output : Filtered signals + windows</a:t>
            </a:r>
          </a:p>
          <a:p>
            <a:pPr algn="ctr"/>
            <a:r>
              <a:rPr lang="en-US" sz="800" dirty="0"/>
              <a:t>Task : Filtering, normalization, windowing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3D3723B9-DE2A-1D9F-731F-E7FB8D9FF0D4}"/>
              </a:ext>
            </a:extLst>
          </p:cNvPr>
          <p:cNvSpPr/>
          <p:nvPr/>
        </p:nvSpPr>
        <p:spPr>
          <a:xfrm>
            <a:off x="1806553" y="3636826"/>
            <a:ext cx="1882890" cy="689237"/>
          </a:xfrm>
          <a:prstGeom prst="roundRect">
            <a:avLst/>
          </a:prstGeom>
          <a:solidFill>
            <a:srgbClr val="FF66CC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Process 3 : State Estimation</a:t>
            </a:r>
          </a:p>
          <a:p>
            <a:pPr algn="ctr"/>
            <a:r>
              <a:rPr lang="en-US" sz="800" dirty="0"/>
              <a:t>Input : Filtered V, I, T</a:t>
            </a:r>
          </a:p>
          <a:p>
            <a:pPr algn="ctr"/>
            <a:r>
              <a:rPr lang="en-US" sz="800" dirty="0"/>
              <a:t>Output : SOC, Vp1, Vp2, R0, OCV</a:t>
            </a:r>
          </a:p>
          <a:p>
            <a:pPr algn="ctr"/>
            <a:r>
              <a:rPr lang="en-US" sz="800" dirty="0"/>
              <a:t>Task : AEKF / Li-Mamba prediction</a:t>
            </a:r>
            <a:endParaRPr lang="en-IN" sz="800" dirty="0"/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8243E0E8-6393-AF50-ED5C-023BFC47AD12}"/>
              </a:ext>
            </a:extLst>
          </p:cNvPr>
          <p:cNvSpPr/>
          <p:nvPr/>
        </p:nvSpPr>
        <p:spPr>
          <a:xfrm>
            <a:off x="1792096" y="4537227"/>
            <a:ext cx="1911803" cy="927595"/>
          </a:xfrm>
          <a:prstGeom prst="roundRect">
            <a:avLst/>
          </a:prstGeom>
          <a:solidFill>
            <a:srgbClr val="FF66CC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Process 4 : Parameter Estimation</a:t>
            </a:r>
          </a:p>
          <a:p>
            <a:pPr algn="ctr"/>
            <a:r>
              <a:rPr lang="en-US" sz="800" dirty="0"/>
              <a:t>Input : Estimated states + measurements</a:t>
            </a:r>
          </a:p>
          <a:p>
            <a:pPr algn="ctr"/>
            <a:r>
              <a:rPr lang="en-US" sz="800" dirty="0"/>
              <a:t>Output : 22-parameter Battery Vector</a:t>
            </a:r>
          </a:p>
          <a:p>
            <a:pPr algn="ctr"/>
            <a:r>
              <a:rPr lang="en-US" sz="800" dirty="0"/>
              <a:t>Task : WOA optimization + cycle counting </a:t>
            </a:r>
            <a:endParaRPr lang="en-IN" sz="800" dirty="0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9330DF0B-827F-7992-6B9B-9E8FBEA25EE8}"/>
              </a:ext>
            </a:extLst>
          </p:cNvPr>
          <p:cNvSpPr/>
          <p:nvPr/>
        </p:nvSpPr>
        <p:spPr>
          <a:xfrm>
            <a:off x="1777906" y="5705838"/>
            <a:ext cx="1897080" cy="814663"/>
          </a:xfrm>
          <a:prstGeom prst="roundRect">
            <a:avLst/>
          </a:prstGeom>
          <a:solidFill>
            <a:srgbClr val="FF66CC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Process 5 : Feature Extraction</a:t>
            </a:r>
          </a:p>
          <a:p>
            <a:pPr algn="ctr"/>
            <a:r>
              <a:rPr lang="en-US" sz="800" dirty="0"/>
              <a:t>Input : 22-parameter vector</a:t>
            </a:r>
          </a:p>
          <a:p>
            <a:pPr algn="ctr"/>
            <a:r>
              <a:rPr lang="en-US" sz="800" dirty="0"/>
              <a:t>Output : Feature vector + anomaly score</a:t>
            </a:r>
          </a:p>
          <a:p>
            <a:pPr algn="ctr"/>
            <a:r>
              <a:rPr lang="en-US" sz="800" dirty="0"/>
              <a:t>Task : Multi-scale states + spectral analysis</a:t>
            </a:r>
            <a:endParaRPr lang="en-IN" sz="800" dirty="0"/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3EFC1DB2-5D03-4370-7CCD-04A8455AD25D}"/>
              </a:ext>
            </a:extLst>
          </p:cNvPr>
          <p:cNvSpPr/>
          <p:nvPr/>
        </p:nvSpPr>
        <p:spPr>
          <a:xfrm>
            <a:off x="4582647" y="1728629"/>
            <a:ext cx="1897077" cy="668317"/>
          </a:xfrm>
          <a:prstGeom prst="roundRect">
            <a:avLst/>
          </a:prstGeom>
          <a:solidFill>
            <a:srgbClr val="FF66CC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Process 10 : Cloud Integration</a:t>
            </a:r>
          </a:p>
          <a:p>
            <a:pPr algn="ctr"/>
            <a:r>
              <a:rPr lang="en-US" sz="800" dirty="0"/>
              <a:t>Output : Thing Speak + Node-RED dashboard</a:t>
            </a:r>
          </a:p>
          <a:p>
            <a:pPr algn="ctr"/>
            <a:r>
              <a:rPr lang="en-US" sz="800" dirty="0"/>
              <a:t>Task : MQTT publish  + channel update</a:t>
            </a:r>
            <a:endParaRPr lang="en-IN" sz="800" dirty="0"/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C0310007-5B8B-F337-3AE5-00B032B89CCA}"/>
              </a:ext>
            </a:extLst>
          </p:cNvPr>
          <p:cNvSpPr/>
          <p:nvPr/>
        </p:nvSpPr>
        <p:spPr>
          <a:xfrm>
            <a:off x="4582648" y="2655444"/>
            <a:ext cx="1882888" cy="689237"/>
          </a:xfrm>
          <a:prstGeom prst="roundRect">
            <a:avLst/>
          </a:prstGeom>
          <a:solidFill>
            <a:srgbClr val="FF66CC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Process 9 : Output Generation</a:t>
            </a:r>
          </a:p>
          <a:p>
            <a:pPr algn="ctr"/>
            <a:r>
              <a:rPr lang="en-US" sz="800" dirty="0"/>
              <a:t>Output : Displays, scopes, CSV logs</a:t>
            </a:r>
            <a:endParaRPr lang="en-IN" sz="800" dirty="0"/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A564A101-963C-47D3-27C2-90F8082A4FCF}"/>
              </a:ext>
            </a:extLst>
          </p:cNvPr>
          <p:cNvSpPr/>
          <p:nvPr/>
        </p:nvSpPr>
        <p:spPr>
          <a:xfrm>
            <a:off x="4582647" y="3610287"/>
            <a:ext cx="1882889" cy="859345"/>
          </a:xfrm>
          <a:prstGeom prst="roundRect">
            <a:avLst/>
          </a:prstGeom>
          <a:solidFill>
            <a:srgbClr val="FF66CC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Process 8 : Comparison</a:t>
            </a:r>
          </a:p>
          <a:p>
            <a:pPr algn="ctr"/>
            <a:r>
              <a:rPr lang="en-US" sz="800" dirty="0"/>
              <a:t>Input : Simulation vs Hardware parameters</a:t>
            </a:r>
          </a:p>
          <a:p>
            <a:pPr algn="ctr"/>
            <a:r>
              <a:rPr lang="en-US" sz="800" dirty="0"/>
              <a:t>Output : Errors, RMSE, efficiency metrics</a:t>
            </a:r>
            <a:endParaRPr lang="en-IN" sz="800" dirty="0"/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F68E224C-C631-D863-3BD9-B88FCCAC2C97}"/>
              </a:ext>
            </a:extLst>
          </p:cNvPr>
          <p:cNvSpPr/>
          <p:nvPr/>
        </p:nvSpPr>
        <p:spPr>
          <a:xfrm>
            <a:off x="4582647" y="4750995"/>
            <a:ext cx="1897079" cy="713826"/>
          </a:xfrm>
          <a:prstGeom prst="roundRect">
            <a:avLst/>
          </a:prstGeom>
          <a:solidFill>
            <a:srgbClr val="FF66CC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Process 7 : Federated Ensemble</a:t>
            </a:r>
          </a:p>
          <a:p>
            <a:pPr algn="ctr"/>
            <a:r>
              <a:rPr lang="en-US" sz="800" dirty="0"/>
              <a:t>Input : Prediction outputs</a:t>
            </a:r>
          </a:p>
          <a:p>
            <a:pPr algn="ctr"/>
            <a:r>
              <a:rPr lang="en-US" sz="800" dirty="0"/>
              <a:t>Output : Final SOC, SOH, RUL </a:t>
            </a:r>
          </a:p>
          <a:p>
            <a:pPr algn="ctr"/>
            <a:r>
              <a:rPr lang="en-US" sz="800" dirty="0"/>
              <a:t>Task : Ensemble learning + uncertainty</a:t>
            </a:r>
          </a:p>
          <a:p>
            <a:pPr algn="ctr"/>
            <a:endParaRPr lang="en-IN" sz="800" dirty="0"/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ED232E0C-0A39-284D-885E-48D569870EF5}"/>
              </a:ext>
            </a:extLst>
          </p:cNvPr>
          <p:cNvSpPr/>
          <p:nvPr/>
        </p:nvSpPr>
        <p:spPr>
          <a:xfrm>
            <a:off x="4582648" y="5705838"/>
            <a:ext cx="1897079" cy="814663"/>
          </a:xfrm>
          <a:prstGeom prst="roundRect">
            <a:avLst/>
          </a:prstGeom>
          <a:solidFill>
            <a:srgbClr val="FF66CC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b="1" dirty="0"/>
              <a:t>Process 6 : BatteryGPT Prediction</a:t>
            </a:r>
          </a:p>
          <a:p>
            <a:pPr algn="ctr"/>
            <a:r>
              <a:rPr lang="en-US" sz="800" dirty="0"/>
              <a:t>Input : Features</a:t>
            </a:r>
          </a:p>
          <a:p>
            <a:pPr algn="ctr"/>
            <a:r>
              <a:rPr lang="en-US" sz="800" dirty="0"/>
              <a:t>Output : SOC_pred, SOH_pred, RUL_pred</a:t>
            </a:r>
          </a:p>
          <a:p>
            <a:pPr algn="ctr"/>
            <a:r>
              <a:rPr lang="en-US" sz="800" dirty="0"/>
              <a:t>Task : Transformer based prediction</a:t>
            </a:r>
            <a:endParaRPr lang="en-IN" sz="800" dirty="0"/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74DE283C-2D02-9719-967C-B52A46AC6087}"/>
              </a:ext>
            </a:extLst>
          </p:cNvPr>
          <p:cNvCxnSpPr>
            <a:cxnSpLocks/>
            <a:stCxn id="69" idx="2"/>
            <a:endCxn id="72" idx="0"/>
          </p:cNvCxnSpPr>
          <p:nvPr/>
        </p:nvCxnSpPr>
        <p:spPr>
          <a:xfrm>
            <a:off x="2733541" y="2417866"/>
            <a:ext cx="1" cy="1632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9A69BCF1-F26A-0AFF-21F6-C05C92C6EEE0}"/>
              </a:ext>
            </a:extLst>
          </p:cNvPr>
          <p:cNvCxnSpPr>
            <a:cxnSpLocks/>
            <a:endCxn id="73" idx="0"/>
          </p:cNvCxnSpPr>
          <p:nvPr/>
        </p:nvCxnSpPr>
        <p:spPr>
          <a:xfrm>
            <a:off x="2747998" y="3419479"/>
            <a:ext cx="0" cy="2173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978A609C-EA47-E48F-80F0-0B886138B8BC}"/>
              </a:ext>
            </a:extLst>
          </p:cNvPr>
          <p:cNvCxnSpPr>
            <a:stCxn id="73" idx="2"/>
            <a:endCxn id="74" idx="0"/>
          </p:cNvCxnSpPr>
          <p:nvPr/>
        </p:nvCxnSpPr>
        <p:spPr>
          <a:xfrm>
            <a:off x="2747998" y="4326063"/>
            <a:ext cx="0" cy="211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6C92B197-1152-97A1-0B48-06C0DAEAECB4}"/>
              </a:ext>
            </a:extLst>
          </p:cNvPr>
          <p:cNvCxnSpPr>
            <a:stCxn id="74" idx="2"/>
          </p:cNvCxnSpPr>
          <p:nvPr/>
        </p:nvCxnSpPr>
        <p:spPr>
          <a:xfrm>
            <a:off x="2747998" y="5464822"/>
            <a:ext cx="0" cy="241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E5D08231-D0DD-D00B-D4DE-1D0B9B4C7DC1}"/>
              </a:ext>
            </a:extLst>
          </p:cNvPr>
          <p:cNvCxnSpPr>
            <a:stCxn id="78" idx="3"/>
            <a:endCxn id="88" idx="1"/>
          </p:cNvCxnSpPr>
          <p:nvPr/>
        </p:nvCxnSpPr>
        <p:spPr>
          <a:xfrm>
            <a:off x="3674986" y="6113170"/>
            <a:ext cx="9076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7EA738C6-1E25-CC95-353E-63E0B0AC10E5}"/>
              </a:ext>
            </a:extLst>
          </p:cNvPr>
          <p:cNvCxnSpPr>
            <a:stCxn id="88" idx="0"/>
            <a:endCxn id="87" idx="2"/>
          </p:cNvCxnSpPr>
          <p:nvPr/>
        </p:nvCxnSpPr>
        <p:spPr>
          <a:xfrm flipH="1" flipV="1">
            <a:off x="5531187" y="5464821"/>
            <a:ext cx="1" cy="2410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1A379BB9-5DD0-DC3E-2A75-29FF61C9E2A1}"/>
              </a:ext>
            </a:extLst>
          </p:cNvPr>
          <p:cNvCxnSpPr>
            <a:stCxn id="87" idx="0"/>
            <a:endCxn id="86" idx="2"/>
          </p:cNvCxnSpPr>
          <p:nvPr/>
        </p:nvCxnSpPr>
        <p:spPr>
          <a:xfrm flipV="1">
            <a:off x="5531187" y="4469632"/>
            <a:ext cx="0" cy="2813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9CA1A5CB-C6F9-F59F-137B-D7F0FFA97754}"/>
              </a:ext>
            </a:extLst>
          </p:cNvPr>
          <p:cNvCxnSpPr>
            <a:stCxn id="86" idx="0"/>
          </p:cNvCxnSpPr>
          <p:nvPr/>
        </p:nvCxnSpPr>
        <p:spPr>
          <a:xfrm flipV="1">
            <a:off x="5524092" y="3344681"/>
            <a:ext cx="7095" cy="2656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32ADC949-F40D-4A01-2D6C-0429C8A76E29}"/>
              </a:ext>
            </a:extLst>
          </p:cNvPr>
          <p:cNvCxnSpPr>
            <a:cxnSpLocks/>
            <a:stCxn id="84" idx="0"/>
          </p:cNvCxnSpPr>
          <p:nvPr/>
        </p:nvCxnSpPr>
        <p:spPr>
          <a:xfrm flipV="1">
            <a:off x="5524092" y="2396946"/>
            <a:ext cx="0" cy="2584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FC1B86E5-6E8B-E5D8-4E42-3C6406E63019}"/>
              </a:ext>
            </a:extLst>
          </p:cNvPr>
          <p:cNvCxnSpPr>
            <a:cxnSpLocks/>
            <a:stCxn id="80" idx="3"/>
          </p:cNvCxnSpPr>
          <p:nvPr/>
        </p:nvCxnSpPr>
        <p:spPr>
          <a:xfrm>
            <a:off x="6479724" y="2062788"/>
            <a:ext cx="96680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AF38539E-F742-D3FB-9ADB-101F5636CB30}"/>
              </a:ext>
            </a:extLst>
          </p:cNvPr>
          <p:cNvCxnSpPr>
            <a:endCxn id="6" idx="2"/>
          </p:cNvCxnSpPr>
          <p:nvPr/>
        </p:nvCxnSpPr>
        <p:spPr>
          <a:xfrm flipV="1">
            <a:off x="7446525" y="1364085"/>
            <a:ext cx="0" cy="6987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0" name="Rectangle 139">
            <a:extLst>
              <a:ext uri="{FF2B5EF4-FFF2-40B4-BE49-F238E27FC236}">
                <a16:creationId xmlns:a16="http://schemas.microsoft.com/office/drawing/2014/main" id="{041ACD47-886E-B152-A9C8-2D674659BAC6}"/>
              </a:ext>
            </a:extLst>
          </p:cNvPr>
          <p:cNvSpPr/>
          <p:nvPr/>
        </p:nvSpPr>
        <p:spPr>
          <a:xfrm>
            <a:off x="636532" y="6840638"/>
            <a:ext cx="8248488" cy="8424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B5BB447C-8D54-1287-FD9D-4791EB34D196}"/>
              </a:ext>
            </a:extLst>
          </p:cNvPr>
          <p:cNvSpPr txBox="1"/>
          <p:nvPr/>
        </p:nvSpPr>
        <p:spPr>
          <a:xfrm>
            <a:off x="636532" y="6801643"/>
            <a:ext cx="15973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Data Stores </a:t>
            </a:r>
            <a:endParaRPr lang="en-IN" sz="1000" b="1" dirty="0"/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BE308262-4018-3B2A-AF8E-6B7D7D349B2A}"/>
              </a:ext>
            </a:extLst>
          </p:cNvPr>
          <p:cNvSpPr/>
          <p:nvPr/>
        </p:nvSpPr>
        <p:spPr>
          <a:xfrm>
            <a:off x="764881" y="7171345"/>
            <a:ext cx="1211021" cy="44269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D1 : Raw Data Buffer</a:t>
            </a:r>
            <a:endParaRPr lang="en-IN" sz="800" dirty="0"/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E6E6B66C-7FF4-C929-DE2E-75E5C7B410FE}"/>
              </a:ext>
            </a:extLst>
          </p:cNvPr>
          <p:cNvSpPr/>
          <p:nvPr/>
        </p:nvSpPr>
        <p:spPr>
          <a:xfrm>
            <a:off x="2147853" y="7181380"/>
            <a:ext cx="1382972" cy="44269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D2 : Window Repository</a:t>
            </a:r>
            <a:endParaRPr lang="en-IN" sz="800" dirty="0"/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EE4768B9-0B06-62A8-FC84-EAB20E1CDDBC}"/>
              </a:ext>
            </a:extLst>
          </p:cNvPr>
          <p:cNvSpPr/>
          <p:nvPr/>
        </p:nvSpPr>
        <p:spPr>
          <a:xfrm>
            <a:off x="3737553" y="7171345"/>
            <a:ext cx="1120398" cy="44269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D3 : Feature Store</a:t>
            </a:r>
            <a:endParaRPr lang="en-IN" sz="800" dirty="0"/>
          </a:p>
        </p:txBody>
      </p: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3B41C3FB-38B3-61A8-D055-C5A5B142AFDE}"/>
              </a:ext>
            </a:extLst>
          </p:cNvPr>
          <p:cNvSpPr/>
          <p:nvPr/>
        </p:nvSpPr>
        <p:spPr>
          <a:xfrm>
            <a:off x="5048050" y="7171345"/>
            <a:ext cx="1085619" cy="44269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D4 : Model Weights</a:t>
            </a:r>
            <a:endParaRPr lang="en-IN" sz="800" dirty="0"/>
          </a:p>
        </p:txBody>
      </p:sp>
      <p:sp>
        <p:nvSpPr>
          <p:cNvPr id="149" name="Rectangle: Rounded Corners 148">
            <a:extLst>
              <a:ext uri="{FF2B5EF4-FFF2-40B4-BE49-F238E27FC236}">
                <a16:creationId xmlns:a16="http://schemas.microsoft.com/office/drawing/2014/main" id="{C46357D9-5BD7-B686-FC70-42319BD30E81}"/>
              </a:ext>
            </a:extLst>
          </p:cNvPr>
          <p:cNvSpPr/>
          <p:nvPr/>
        </p:nvSpPr>
        <p:spPr>
          <a:xfrm>
            <a:off x="6340398" y="7171345"/>
            <a:ext cx="1211021" cy="44269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D5 : Error History</a:t>
            </a:r>
            <a:endParaRPr lang="en-IN" sz="800" dirty="0"/>
          </a:p>
        </p:txBody>
      </p:sp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id="{97C89607-5E2A-9759-2A52-FE2FB64B8659}"/>
              </a:ext>
            </a:extLst>
          </p:cNvPr>
          <p:cNvSpPr/>
          <p:nvPr/>
        </p:nvSpPr>
        <p:spPr>
          <a:xfrm>
            <a:off x="7758147" y="7171345"/>
            <a:ext cx="1002668" cy="44269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D6 : Log File</a:t>
            </a:r>
            <a:endParaRPr lang="en-IN" sz="800" dirty="0"/>
          </a:p>
        </p:txBody>
      </p: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E03B36C9-08F5-D575-258E-F71019C04295}"/>
              </a:ext>
            </a:extLst>
          </p:cNvPr>
          <p:cNvCxnSpPr>
            <a:cxnSpLocks/>
            <a:stCxn id="69" idx="1"/>
          </p:cNvCxnSpPr>
          <p:nvPr/>
        </p:nvCxnSpPr>
        <p:spPr>
          <a:xfrm flipH="1" flipV="1">
            <a:off x="1476374" y="2071680"/>
            <a:ext cx="315721" cy="15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DA6F8ACA-22D5-6F21-1C29-DFB608671ED2}"/>
              </a:ext>
            </a:extLst>
          </p:cNvPr>
          <p:cNvCxnSpPr>
            <a:cxnSpLocks/>
          </p:cNvCxnSpPr>
          <p:nvPr/>
        </p:nvCxnSpPr>
        <p:spPr>
          <a:xfrm>
            <a:off x="1476374" y="2071680"/>
            <a:ext cx="1" cy="5099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E4D54CBA-4417-1827-B3B0-3DD4E30035D3}"/>
              </a:ext>
            </a:extLst>
          </p:cNvPr>
          <p:cNvCxnSpPr>
            <a:stCxn id="72" idx="1"/>
          </p:cNvCxnSpPr>
          <p:nvPr/>
        </p:nvCxnSpPr>
        <p:spPr>
          <a:xfrm flipH="1" flipV="1">
            <a:off x="1577340" y="3000062"/>
            <a:ext cx="214756" cy="2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5CC7E58A-4E0B-D681-2E2D-74BDD9E42D14}"/>
              </a:ext>
            </a:extLst>
          </p:cNvPr>
          <p:cNvCxnSpPr/>
          <p:nvPr/>
        </p:nvCxnSpPr>
        <p:spPr>
          <a:xfrm>
            <a:off x="1577340" y="3000062"/>
            <a:ext cx="0" cy="39246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62759F71-1F7F-AFCE-B37D-6DE6686436DB}"/>
              </a:ext>
            </a:extLst>
          </p:cNvPr>
          <p:cNvCxnSpPr>
            <a:cxnSpLocks/>
          </p:cNvCxnSpPr>
          <p:nvPr/>
        </p:nvCxnSpPr>
        <p:spPr>
          <a:xfrm>
            <a:off x="1577340" y="6924753"/>
            <a:ext cx="126199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B44CB841-CCE7-61C6-F640-93044973BB90}"/>
              </a:ext>
            </a:extLst>
          </p:cNvPr>
          <p:cNvCxnSpPr>
            <a:endCxn id="145" idx="0"/>
          </p:cNvCxnSpPr>
          <p:nvPr/>
        </p:nvCxnSpPr>
        <p:spPr>
          <a:xfrm>
            <a:off x="2839339" y="6924753"/>
            <a:ext cx="0" cy="2566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98666223-4B44-40BC-EB23-56E191FD0256}"/>
              </a:ext>
            </a:extLst>
          </p:cNvPr>
          <p:cNvCxnSpPr>
            <a:stCxn id="78" idx="2"/>
          </p:cNvCxnSpPr>
          <p:nvPr/>
        </p:nvCxnSpPr>
        <p:spPr>
          <a:xfrm>
            <a:off x="2726446" y="6520501"/>
            <a:ext cx="0" cy="2231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275B051B-56D6-CA05-0E20-8702EEDFFC6C}"/>
              </a:ext>
            </a:extLst>
          </p:cNvPr>
          <p:cNvCxnSpPr>
            <a:cxnSpLocks/>
          </p:cNvCxnSpPr>
          <p:nvPr/>
        </p:nvCxnSpPr>
        <p:spPr>
          <a:xfrm>
            <a:off x="2733541" y="6743700"/>
            <a:ext cx="156421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95CAE9E4-E181-39A4-A58F-8B22B9ABEE23}"/>
              </a:ext>
            </a:extLst>
          </p:cNvPr>
          <p:cNvCxnSpPr>
            <a:cxnSpLocks/>
            <a:endCxn id="147" idx="0"/>
          </p:cNvCxnSpPr>
          <p:nvPr/>
        </p:nvCxnSpPr>
        <p:spPr>
          <a:xfrm>
            <a:off x="4297752" y="6743700"/>
            <a:ext cx="0" cy="4276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0DBFD3B9-2AF9-8082-C7DA-FA766DD50BBE}"/>
              </a:ext>
            </a:extLst>
          </p:cNvPr>
          <p:cNvCxnSpPr>
            <a:stCxn id="87" idx="3"/>
          </p:cNvCxnSpPr>
          <p:nvPr/>
        </p:nvCxnSpPr>
        <p:spPr>
          <a:xfrm>
            <a:off x="6479726" y="5107908"/>
            <a:ext cx="17253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7751C37D-B759-F86B-4D77-965942F40DA2}"/>
              </a:ext>
            </a:extLst>
          </p:cNvPr>
          <p:cNvCxnSpPr/>
          <p:nvPr/>
        </p:nvCxnSpPr>
        <p:spPr>
          <a:xfrm>
            <a:off x="6652260" y="5107908"/>
            <a:ext cx="0" cy="16357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916A4C1C-C562-C1AA-2462-2B2DE568AE10}"/>
              </a:ext>
            </a:extLst>
          </p:cNvPr>
          <p:cNvCxnSpPr>
            <a:cxnSpLocks/>
          </p:cNvCxnSpPr>
          <p:nvPr/>
        </p:nvCxnSpPr>
        <p:spPr>
          <a:xfrm flipH="1">
            <a:off x="5590859" y="6743700"/>
            <a:ext cx="106140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722A589E-C810-13AC-B1A6-16D94AE6194E}"/>
              </a:ext>
            </a:extLst>
          </p:cNvPr>
          <p:cNvCxnSpPr>
            <a:cxnSpLocks/>
            <a:endCxn id="148" idx="0"/>
          </p:cNvCxnSpPr>
          <p:nvPr/>
        </p:nvCxnSpPr>
        <p:spPr>
          <a:xfrm>
            <a:off x="5590859" y="6743700"/>
            <a:ext cx="1" cy="4276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CA0BAD75-B215-73F9-9F82-5851F1937D82}"/>
              </a:ext>
            </a:extLst>
          </p:cNvPr>
          <p:cNvCxnSpPr>
            <a:cxnSpLocks/>
          </p:cNvCxnSpPr>
          <p:nvPr/>
        </p:nvCxnSpPr>
        <p:spPr>
          <a:xfrm>
            <a:off x="6479724" y="3981444"/>
            <a:ext cx="46618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2FE396B6-F579-2887-0689-4CBFEEABE64E}"/>
              </a:ext>
            </a:extLst>
          </p:cNvPr>
          <p:cNvCxnSpPr>
            <a:endCxn id="149" idx="0"/>
          </p:cNvCxnSpPr>
          <p:nvPr/>
        </p:nvCxnSpPr>
        <p:spPr>
          <a:xfrm>
            <a:off x="6945908" y="3981444"/>
            <a:ext cx="1" cy="31899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7A05ABDD-7203-51A0-AEBA-384E9FA61242}"/>
              </a:ext>
            </a:extLst>
          </p:cNvPr>
          <p:cNvCxnSpPr>
            <a:cxnSpLocks/>
            <a:stCxn id="84" idx="3"/>
          </p:cNvCxnSpPr>
          <p:nvPr/>
        </p:nvCxnSpPr>
        <p:spPr>
          <a:xfrm>
            <a:off x="6465536" y="3000063"/>
            <a:ext cx="1758029" cy="122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8DF7B228-2921-620B-243B-6E76FC48A9CB}"/>
              </a:ext>
            </a:extLst>
          </p:cNvPr>
          <p:cNvCxnSpPr>
            <a:cxnSpLocks/>
            <a:endCxn id="150" idx="0"/>
          </p:cNvCxnSpPr>
          <p:nvPr/>
        </p:nvCxnSpPr>
        <p:spPr>
          <a:xfrm>
            <a:off x="8223565" y="3012358"/>
            <a:ext cx="35916" cy="41589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1649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3705</TotalTime>
  <Words>872</Words>
  <Application>Microsoft Office PowerPoint</Application>
  <PresentationFormat>Custom</PresentationFormat>
  <Paragraphs>228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Likhitha</dc:creator>
  <cp:lastModifiedBy>jagadeeswara kamarajugadda | AP23122100002</cp:lastModifiedBy>
  <cp:revision>15</cp:revision>
  <dcterms:created xsi:type="dcterms:W3CDTF">2026-03-11T09:40:02Z</dcterms:created>
  <dcterms:modified xsi:type="dcterms:W3CDTF">2026-03-16T16:49:56Z</dcterms:modified>
</cp:coreProperties>
</file>